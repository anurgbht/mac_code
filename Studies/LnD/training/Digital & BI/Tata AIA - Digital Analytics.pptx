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318" r:id="rId2"/>
    <p:sldId id="347" r:id="rId3"/>
    <p:sldId id="365" r:id="rId4"/>
    <p:sldId id="349" r:id="rId5"/>
    <p:sldId id="341" r:id="rId6"/>
    <p:sldId id="355" r:id="rId7"/>
    <p:sldId id="350" r:id="rId8"/>
    <p:sldId id="363" r:id="rId9"/>
    <p:sldId id="359" r:id="rId10"/>
    <p:sldId id="362" r:id="rId11"/>
    <p:sldId id="360" r:id="rId12"/>
    <p:sldId id="361" r:id="rId13"/>
    <p:sldId id="343" r:id="rId14"/>
    <p:sldId id="364" r:id="rId15"/>
    <p:sldId id="340" r:id="rId16"/>
    <p:sldId id="366" r:id="rId17"/>
    <p:sldId id="367" r:id="rId18"/>
    <p:sldId id="368" r:id="rId19"/>
    <p:sldId id="36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CD433"/>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9" autoAdjust="0"/>
    <p:restoredTop sz="94660"/>
  </p:normalViewPr>
  <p:slideViewPr>
    <p:cSldViewPr snapToGrid="0">
      <p:cViewPr varScale="1">
        <p:scale>
          <a:sx n="71" d="100"/>
          <a:sy n="71" d="100"/>
        </p:scale>
        <p:origin x="726"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E89639-4074-41CA-8B1E-A79B4A30457A}" type="datetimeFigureOut">
              <a:rPr lang="en-IN" smtClean="0"/>
              <a:t>27-06-2016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B165B1-143E-48EF-8DB1-7F3084AA34BC}" type="slidenum">
              <a:rPr lang="en-IN" smtClean="0"/>
              <a:t>‹#›</a:t>
            </a:fld>
            <a:endParaRPr lang="en-IN"/>
          </a:p>
        </p:txBody>
      </p:sp>
    </p:spTree>
    <p:extLst>
      <p:ext uri="{BB962C8B-B14F-4D97-AF65-F5344CB8AC3E}">
        <p14:creationId xmlns:p14="http://schemas.microsoft.com/office/powerpoint/2010/main" val="3634751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7</a:t>
            </a:fld>
            <a:endParaRPr lang="en-IN" dirty="0">
              <a:solidFill>
                <a:prstClr val="black"/>
              </a:solidFill>
            </a:endParaRPr>
          </a:p>
        </p:txBody>
      </p:sp>
    </p:spTree>
    <p:extLst>
      <p:ext uri="{BB962C8B-B14F-4D97-AF65-F5344CB8AC3E}">
        <p14:creationId xmlns:p14="http://schemas.microsoft.com/office/powerpoint/2010/main" val="193042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8</a:t>
            </a:fld>
            <a:endParaRPr lang="en-IN" dirty="0">
              <a:solidFill>
                <a:prstClr val="black"/>
              </a:solidFill>
            </a:endParaRPr>
          </a:p>
        </p:txBody>
      </p:sp>
    </p:spTree>
    <p:extLst>
      <p:ext uri="{BB962C8B-B14F-4D97-AF65-F5344CB8AC3E}">
        <p14:creationId xmlns:p14="http://schemas.microsoft.com/office/powerpoint/2010/main" val="32106745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2AC23090-2C6E-473F-910F-5227A75FFBA1}" type="slidenum">
              <a:rPr lang="en-IN" smtClean="0">
                <a:solidFill>
                  <a:prstClr val="black"/>
                </a:solidFill>
              </a:rPr>
              <a:pPr/>
              <a:t>9</a:t>
            </a:fld>
            <a:endParaRPr lang="en-IN">
              <a:solidFill>
                <a:prstClr val="black"/>
              </a:solidFill>
            </a:endParaRPr>
          </a:p>
        </p:txBody>
      </p:sp>
    </p:spTree>
    <p:extLst>
      <p:ext uri="{BB962C8B-B14F-4D97-AF65-F5344CB8AC3E}">
        <p14:creationId xmlns:p14="http://schemas.microsoft.com/office/powerpoint/2010/main" val="41600499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10</a:t>
            </a:fld>
            <a:endParaRPr lang="en-IN" dirty="0">
              <a:solidFill>
                <a:prstClr val="black"/>
              </a:solidFill>
            </a:endParaRPr>
          </a:p>
        </p:txBody>
      </p:sp>
    </p:spTree>
    <p:extLst>
      <p:ext uri="{BB962C8B-B14F-4D97-AF65-F5344CB8AC3E}">
        <p14:creationId xmlns:p14="http://schemas.microsoft.com/office/powerpoint/2010/main" val="1270110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12</a:t>
            </a:fld>
            <a:endParaRPr lang="en-IN" dirty="0">
              <a:solidFill>
                <a:prstClr val="black"/>
              </a:solidFill>
            </a:endParaRPr>
          </a:p>
        </p:txBody>
      </p:sp>
    </p:spTree>
    <p:extLst>
      <p:ext uri="{BB962C8B-B14F-4D97-AF65-F5344CB8AC3E}">
        <p14:creationId xmlns:p14="http://schemas.microsoft.com/office/powerpoint/2010/main" val="852375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16</a:t>
            </a:fld>
            <a:endParaRPr lang="en-IN" dirty="0">
              <a:solidFill>
                <a:prstClr val="black"/>
              </a:solidFill>
            </a:endParaRPr>
          </a:p>
        </p:txBody>
      </p:sp>
    </p:spTree>
    <p:extLst>
      <p:ext uri="{BB962C8B-B14F-4D97-AF65-F5344CB8AC3E}">
        <p14:creationId xmlns:p14="http://schemas.microsoft.com/office/powerpoint/2010/main" val="31946329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17</a:t>
            </a:fld>
            <a:endParaRPr lang="en-IN" dirty="0">
              <a:solidFill>
                <a:prstClr val="black"/>
              </a:solidFill>
            </a:endParaRPr>
          </a:p>
        </p:txBody>
      </p:sp>
    </p:spTree>
    <p:extLst>
      <p:ext uri="{BB962C8B-B14F-4D97-AF65-F5344CB8AC3E}">
        <p14:creationId xmlns:p14="http://schemas.microsoft.com/office/powerpoint/2010/main" val="10442555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18</a:t>
            </a:fld>
            <a:endParaRPr lang="en-IN" dirty="0">
              <a:solidFill>
                <a:prstClr val="black"/>
              </a:solidFill>
            </a:endParaRPr>
          </a:p>
        </p:txBody>
      </p:sp>
    </p:spTree>
    <p:extLst>
      <p:ext uri="{BB962C8B-B14F-4D97-AF65-F5344CB8AC3E}">
        <p14:creationId xmlns:p14="http://schemas.microsoft.com/office/powerpoint/2010/main" val="7824424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5754D25-C531-45E1-9A3F-9D8C5D837AAD}" type="slidenum">
              <a:rPr lang="en-IN" smtClean="0">
                <a:solidFill>
                  <a:prstClr val="black"/>
                </a:solidFill>
              </a:rPr>
              <a:pPr/>
              <a:t>19</a:t>
            </a:fld>
            <a:endParaRPr lang="en-IN" dirty="0">
              <a:solidFill>
                <a:prstClr val="black"/>
              </a:solidFill>
            </a:endParaRPr>
          </a:p>
        </p:txBody>
      </p:sp>
    </p:spTree>
    <p:extLst>
      <p:ext uri="{BB962C8B-B14F-4D97-AF65-F5344CB8AC3E}">
        <p14:creationId xmlns:p14="http://schemas.microsoft.com/office/powerpoint/2010/main" val="14983685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27-06-2016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680088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27-06-2016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58608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21FACE-E8F9-4406-8FAD-E38769FF28FC}" type="datetimeFigureOut">
              <a:rPr lang="en-IN" smtClean="0"/>
              <a:t>27-06-2016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979009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D21FACE-E8F9-4406-8FAD-E38769FF28FC}" type="datetimeFigureOut">
              <a:rPr lang="en-IN" smtClean="0"/>
              <a:t>27-06-2016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784939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D21FACE-E8F9-4406-8FAD-E38769FF28FC}" type="datetimeFigureOut">
              <a:rPr lang="en-IN" smtClean="0"/>
              <a:t>27-06-2016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71149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D21FACE-E8F9-4406-8FAD-E38769FF28FC}" type="datetimeFigureOut">
              <a:rPr lang="en-IN" smtClean="0"/>
              <a:t>27-06-2016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24538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21FACE-E8F9-4406-8FAD-E38769FF28FC}" type="datetimeFigureOut">
              <a:rPr lang="en-IN" smtClean="0"/>
              <a:t>27-06-2016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162422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t>27-06-2016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415464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D21FACE-E8F9-4406-8FAD-E38769FF28FC}" type="datetimeFigureOut">
              <a:rPr lang="en-IN" smtClean="0"/>
              <a:t>27-06-2016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2694529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27-06-2016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167669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D21FACE-E8F9-4406-8FAD-E38769FF28FC}" type="datetimeFigureOut">
              <a:rPr lang="en-IN" smtClean="0"/>
              <a:t>27-06-2016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DB1803-5FB1-45C7-863C-2EB59EF6ECED}" type="slidenum">
              <a:rPr lang="en-IN" smtClean="0"/>
              <a:t>‹#›</a:t>
            </a:fld>
            <a:endParaRPr lang="en-IN"/>
          </a:p>
        </p:txBody>
      </p:sp>
    </p:spTree>
    <p:extLst>
      <p:ext uri="{BB962C8B-B14F-4D97-AF65-F5344CB8AC3E}">
        <p14:creationId xmlns:p14="http://schemas.microsoft.com/office/powerpoint/2010/main" val="38931960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6/27/2016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517730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D407EC7-0341-4417-B594-9FD4DA9E73DE}" type="datetime1">
              <a:rPr lang="en-US" smtClean="0">
                <a:solidFill>
                  <a:srgbClr val="ACD433"/>
                </a:solidFill>
              </a:rPr>
              <a:pPr/>
              <a:t>6/27/2016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19735359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pPr/>
              <a:t>6/27/2016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85856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pPr/>
              <a:t>6/27/2016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1078699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pPr/>
              <a:t>6/27/2016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3823476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21FACE-E8F9-4406-8FAD-E38769FF28FC}" type="datetimeFigureOut">
              <a:rPr lang="en-IN" smtClean="0"/>
              <a:t>27-06-2016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DB1803-5FB1-45C7-863C-2EB59EF6ECED}" type="slidenum">
              <a:rPr lang="en-IN" smtClean="0"/>
              <a:t>‹#›</a:t>
            </a:fld>
            <a:endParaRPr lang="en-IN"/>
          </a:p>
        </p:txBody>
      </p:sp>
    </p:spTree>
    <p:extLst>
      <p:ext uri="{BB962C8B-B14F-4D97-AF65-F5344CB8AC3E}">
        <p14:creationId xmlns:p14="http://schemas.microsoft.com/office/powerpoint/2010/main" val="28720615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3" r:id="rId12"/>
    <p:sldLayoutId id="2147483697" r:id="rId13"/>
    <p:sldLayoutId id="2147483698" r:id="rId14"/>
    <p:sldLayoutId id="2147483702" r:id="rId15"/>
    <p:sldLayoutId id="2147483703"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6.xml"/><Relationship Id="rId6" Type="http://schemas.openxmlformats.org/officeDocument/2006/relationships/image" Target="../media/image28.png"/><Relationship Id="rId5" Type="http://schemas.openxmlformats.org/officeDocument/2006/relationships/image" Target="../media/image27.jpe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7"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jpe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2007" t="7083" b="13722"/>
          <a:stretch/>
        </p:blipFill>
        <p:spPr>
          <a:xfrm flipH="1">
            <a:off x="0" y="0"/>
            <a:ext cx="12192000" cy="6858000"/>
          </a:xfrm>
          <a:prstGeom prst="rect">
            <a:avLst/>
          </a:prstGeom>
        </p:spPr>
      </p:pic>
      <p:sp>
        <p:nvSpPr>
          <p:cNvPr id="7" name="Rectangle 6"/>
          <p:cNvSpPr/>
          <p:nvPr/>
        </p:nvSpPr>
        <p:spPr>
          <a:xfrm>
            <a:off x="785076" y="5770919"/>
            <a:ext cx="10621848" cy="830997"/>
          </a:xfrm>
          <a:prstGeom prst="rect">
            <a:avLst/>
          </a:prstGeom>
        </p:spPr>
        <p:txBody>
          <a:bodyPr wrap="square" anchor="b">
            <a:spAutoFit/>
          </a:bodyPr>
          <a:lstStyle/>
          <a:p>
            <a:pPr lvl="0" algn="ctr"/>
            <a:r>
              <a:rPr lang="en-US" sz="800" dirty="0">
                <a:solidFill>
                  <a:prstClr val="white"/>
                </a:solidFill>
                <a:latin typeface="Century Gothic"/>
              </a:rPr>
              <a:t>The information contained in the document is proprietary to Tata Industries Limited- Tata Insights &amp; Quants Division and is strictly confidential. </a:t>
            </a:r>
            <a:r>
              <a:rPr lang="en-IN" sz="800" dirty="0">
                <a:solidFill>
                  <a:prstClr val="white"/>
                </a:solidFill>
                <a:latin typeface="Century Gothic"/>
              </a:rPr>
              <a:t>In consideration of receipt of this document, the recipient agrees that the information is being shared only for the limited purpose. The recipient of this information further agrees to maintain such information in confidence and to not reproduce, disclose, duplicate, electronically transmit or use in whole or in part for any other purpose. Prior written consent shall be obtained from the Insights &amp; Quants Division of Tata Industries in case the information is necessitated to be shared with anyone other than the Recipient to whom this information is addressed. The above restriction shall not limit the right to use the information contained in this deck, if it is obtained from another source without restriction.</a:t>
            </a:r>
            <a:br>
              <a:rPr lang="en-IN" sz="800" dirty="0">
                <a:solidFill>
                  <a:prstClr val="white"/>
                </a:solidFill>
                <a:latin typeface="Century Gothic"/>
              </a:rPr>
            </a:br>
            <a:r>
              <a:rPr lang="en-IN" sz="800" dirty="0">
                <a:solidFill>
                  <a:prstClr val="white"/>
                </a:solidFill>
                <a:latin typeface="Century Gothic"/>
              </a:rPr>
              <a:t> </a:t>
            </a:r>
            <a:br>
              <a:rPr lang="en-IN" sz="800" dirty="0">
                <a:solidFill>
                  <a:prstClr val="white"/>
                </a:solidFill>
                <a:latin typeface="Century Gothic"/>
              </a:rPr>
            </a:br>
            <a:r>
              <a:rPr lang="en-IN" sz="800" b="1" dirty="0">
                <a:solidFill>
                  <a:prstClr val="white"/>
                </a:solidFill>
                <a:latin typeface="Leelawadee UI" panose="020B0502040204020203" pitchFamily="34" charset="-34"/>
                <a:cs typeface="Leelawadee UI" panose="020B0502040204020203" pitchFamily="34" charset="-34"/>
              </a:rPr>
              <a:t>© Copyright, Tata Insights &amp; Quants Division, Tata Industries Limited</a:t>
            </a:r>
            <a:r>
              <a:rPr lang="en-IN" sz="800" dirty="0">
                <a:solidFill>
                  <a:prstClr val="white"/>
                </a:solidFill>
                <a:latin typeface="Century Gothic"/>
              </a:rPr>
              <a:t> </a:t>
            </a:r>
          </a:p>
        </p:txBody>
      </p:sp>
      <p:pic>
        <p:nvPicPr>
          <p:cNvPr id="2" name="Picture 1"/>
          <p:cNvPicPr>
            <a:picLocks noChangeAspect="1"/>
          </p:cNvPicPr>
          <p:nvPr/>
        </p:nvPicPr>
        <p:blipFill>
          <a:blip r:embed="rId3"/>
          <a:stretch>
            <a:fillRect/>
          </a:stretch>
        </p:blipFill>
        <p:spPr>
          <a:xfrm>
            <a:off x="228600" y="172938"/>
            <a:ext cx="2838386" cy="1015396"/>
          </a:xfrm>
          <a:prstGeom prst="rect">
            <a:avLst/>
          </a:prstGeom>
        </p:spPr>
      </p:pic>
      <p:sp>
        <p:nvSpPr>
          <p:cNvPr id="11" name="Rectangle 10"/>
          <p:cNvSpPr/>
          <p:nvPr/>
        </p:nvSpPr>
        <p:spPr>
          <a:xfrm>
            <a:off x="3066986" y="319088"/>
            <a:ext cx="9125014" cy="550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06924" y="356363"/>
            <a:ext cx="518376" cy="475868"/>
          </a:xfrm>
          <a:prstGeom prst="rect">
            <a:avLst/>
          </a:prstGeom>
        </p:spPr>
      </p:pic>
      <p:sp>
        <p:nvSpPr>
          <p:cNvPr id="13" name="Rectangle 12"/>
          <p:cNvSpPr/>
          <p:nvPr/>
        </p:nvSpPr>
        <p:spPr>
          <a:xfrm>
            <a:off x="0" y="319088"/>
            <a:ext cx="266701" cy="550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 name="Group 2"/>
          <p:cNvGrpSpPr/>
          <p:nvPr/>
        </p:nvGrpSpPr>
        <p:grpSpPr>
          <a:xfrm>
            <a:off x="2797030" y="2113564"/>
            <a:ext cx="6920673" cy="1092884"/>
            <a:chOff x="392060" y="1958412"/>
            <a:chExt cx="6920673" cy="1092884"/>
          </a:xfrm>
        </p:grpSpPr>
        <p:grpSp>
          <p:nvGrpSpPr>
            <p:cNvPr id="14" name="Group 13"/>
            <p:cNvGrpSpPr/>
            <p:nvPr/>
          </p:nvGrpSpPr>
          <p:grpSpPr>
            <a:xfrm>
              <a:off x="826622" y="2466521"/>
              <a:ext cx="6051550" cy="584775"/>
              <a:chOff x="1680697" y="5694680"/>
              <a:chExt cx="6051550" cy="584775"/>
            </a:xfrm>
          </p:grpSpPr>
          <p:sp>
            <p:nvSpPr>
              <p:cNvPr id="16" name="Rectangle 15"/>
              <p:cNvSpPr/>
              <p:nvPr/>
            </p:nvSpPr>
            <p:spPr>
              <a:xfrm>
                <a:off x="2309460" y="5694680"/>
                <a:ext cx="4525080" cy="584775"/>
              </a:xfrm>
              <a:prstGeom prst="rect">
                <a:avLst/>
              </a:prstGeom>
            </p:spPr>
            <p:txBody>
              <a:bodyPr wrap="square" anchor="ctr">
                <a:spAutoFit/>
              </a:bodyPr>
              <a:lstStyle/>
              <a:p>
                <a:pPr algn="ctr"/>
                <a:endParaRPr lang="en-US" sz="3200" spc="600" dirty="0">
                  <a:solidFill>
                    <a:schemeClr val="bg1"/>
                  </a:solidFill>
                  <a:latin typeface="Leelawadee UI" panose="020B0502040204020203" pitchFamily="34" charset="-34"/>
                  <a:cs typeface="Leelawadee UI" panose="020B0502040204020203" pitchFamily="34" charset="-34"/>
                </a:endParaRPr>
              </a:p>
            </p:txBody>
          </p:sp>
          <p:cxnSp>
            <p:nvCxnSpPr>
              <p:cNvPr id="18" name="Straight Connector 17"/>
              <p:cNvCxnSpPr/>
              <p:nvPr/>
            </p:nvCxnSpPr>
            <p:spPr>
              <a:xfrm>
                <a:off x="1680697" y="5987067"/>
                <a:ext cx="6051550" cy="0"/>
              </a:xfrm>
              <a:prstGeom prst="line">
                <a:avLst/>
              </a:prstGeom>
              <a:ln w="28575">
                <a:solidFill>
                  <a:srgbClr val="D41145"/>
                </a:solidFill>
              </a:ln>
            </p:spPr>
            <p:style>
              <a:lnRef idx="1">
                <a:schemeClr val="accent1"/>
              </a:lnRef>
              <a:fillRef idx="0">
                <a:schemeClr val="accent1"/>
              </a:fillRef>
              <a:effectRef idx="0">
                <a:schemeClr val="accent1"/>
              </a:effectRef>
              <a:fontRef idx="minor">
                <a:schemeClr val="tx1"/>
              </a:fontRef>
            </p:style>
          </p:cxnSp>
        </p:grpSp>
        <p:sp>
          <p:nvSpPr>
            <p:cNvPr id="19" name="Rectangle 18"/>
            <p:cNvSpPr/>
            <p:nvPr/>
          </p:nvSpPr>
          <p:spPr>
            <a:xfrm>
              <a:off x="392060" y="1958412"/>
              <a:ext cx="6920673" cy="584775"/>
            </a:xfrm>
            <a:prstGeom prst="rect">
              <a:avLst/>
            </a:prstGeom>
          </p:spPr>
          <p:txBody>
            <a:bodyPr wrap="square">
              <a:spAutoFit/>
            </a:bodyPr>
            <a:lstStyle/>
            <a:p>
              <a:pPr algn="ctr"/>
              <a:r>
                <a:rPr lang="en-US" sz="3200" b="1" dirty="0" smtClean="0">
                  <a:solidFill>
                    <a:schemeClr val="bg1"/>
                  </a:solidFill>
                  <a:latin typeface="Leelawadee UI" panose="020B0502040204020203" pitchFamily="34" charset="-34"/>
                  <a:cs typeface="Leelawadee UI" panose="020B0502040204020203" pitchFamily="34" charset="-34"/>
                </a:rPr>
                <a:t>Tata AIA – Digital Analytics</a:t>
              </a:r>
              <a:endParaRPr lang="en-US" sz="3200" b="1" dirty="0">
                <a:solidFill>
                  <a:schemeClr val="bg1"/>
                </a:solidFill>
                <a:latin typeface="Leelawadee UI" panose="020B0502040204020203" pitchFamily="34" charset="-34"/>
                <a:cs typeface="Leelawadee UI" panose="020B0502040204020203" pitchFamily="34" charset="-34"/>
              </a:endParaRPr>
            </a:p>
          </p:txBody>
        </p:sp>
      </p:grpSp>
    </p:spTree>
    <p:extLst>
      <p:ext uri="{BB962C8B-B14F-4D97-AF65-F5344CB8AC3E}">
        <p14:creationId xmlns:p14="http://schemas.microsoft.com/office/powerpoint/2010/main" val="30630272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3287446047"/>
              </p:ext>
            </p:extLst>
          </p:nvPr>
        </p:nvGraphicFramePr>
        <p:xfrm>
          <a:off x="288132" y="1504374"/>
          <a:ext cx="11638953" cy="4615420"/>
        </p:xfrm>
        <a:graphic>
          <a:graphicData uri="http://schemas.openxmlformats.org/drawingml/2006/table">
            <a:tbl>
              <a:tblPr>
                <a:tableStyleId>{616DA210-FB5B-4158-B5E0-FEB733F419BA}</a:tableStyleId>
              </a:tblPr>
              <a:tblGrid>
                <a:gridCol w="610583"/>
                <a:gridCol w="2906803"/>
                <a:gridCol w="2149363"/>
                <a:gridCol w="435837"/>
                <a:gridCol w="403001"/>
                <a:gridCol w="416434"/>
                <a:gridCol w="429866"/>
                <a:gridCol w="416434"/>
                <a:gridCol w="443301"/>
                <a:gridCol w="470168"/>
                <a:gridCol w="416434"/>
                <a:gridCol w="403001"/>
                <a:gridCol w="416433"/>
                <a:gridCol w="443302"/>
                <a:gridCol w="411102"/>
                <a:gridCol w="866891"/>
              </a:tblGrid>
              <a:tr h="294791">
                <a:tc>
                  <a:txBody>
                    <a:bodyPr/>
                    <a:lstStyle/>
                    <a:p>
                      <a:pPr lvl="2" algn="ctr" fontAlgn="ctr"/>
                      <a:endParaRPr lang="en-IN" sz="11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lvl="2" algn="ctr" fontAlgn="ctr"/>
                      <a:endParaRPr lang="en-IN" sz="11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gridSpan="3">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Q1</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gridSpan="3">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Q2</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gridSpan="3">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Q3</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tcP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gridSpan="3">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Q4</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hMerge="1">
                  <a:txBody>
                    <a:bodyPr/>
                    <a:lstStyle/>
                    <a:p>
                      <a:pPr algn="ctr" fontAlgn="ct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hMerge="1">
                  <a:txBody>
                    <a:bodyPr/>
                    <a:lstStyle/>
                    <a:p>
                      <a:pPr algn="ctr" fontAlgn="ctr"/>
                      <a:endParaRPr lang="en-IN" sz="1200" b="1"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tc>
                <a:tc rowSpan="2">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Effort per annum per FTE month</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r>
              <a:tr h="341034">
                <a:tc>
                  <a:txBody>
                    <a:bodyPr/>
                    <a:lstStyle/>
                    <a:p>
                      <a:pPr lvl="2" algn="ctr" fontAlgn="ctr"/>
                      <a:endParaRPr lang="en-IN" sz="11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2" algn="ctr" fontAlgn="ctr"/>
                      <a:endParaRPr lang="en-IN" sz="11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400" b="1" i="0" u="none" strike="noStrike" dirty="0" smtClean="0">
                          <a:solidFill>
                            <a:srgbClr val="000000"/>
                          </a:solidFill>
                          <a:effectLst/>
                          <a:latin typeface="Leelawadee" panose="020B0502040204020203" pitchFamily="34" charset="-34"/>
                          <a:cs typeface="Leelawadee" panose="020B0502040204020203" pitchFamily="34" charset="-34"/>
                        </a:rPr>
                        <a:t>Frequency &amp; Format</a:t>
                      </a: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Jun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Jul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Aug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Sep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Oct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Nov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Dec 16</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Jan 17</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Feb 17</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200" b="1" i="0" u="none" strike="noStrike" dirty="0" smtClean="0">
                          <a:solidFill>
                            <a:srgbClr val="000000"/>
                          </a:solidFill>
                          <a:effectLst/>
                          <a:latin typeface="Leelawadee" panose="020B0502040204020203" pitchFamily="34" charset="-34"/>
                          <a:cs typeface="Leelawadee" panose="020B0502040204020203" pitchFamily="34" charset="-34"/>
                        </a:rPr>
                        <a:t>Mar 17</a:t>
                      </a:r>
                      <a:endParaRPr lang="en-IN" sz="12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200" b="1" i="0" u="none" strike="noStrike" kern="1200" dirty="0" smtClean="0">
                          <a:solidFill>
                            <a:srgbClr val="000000"/>
                          </a:solidFill>
                          <a:effectLst/>
                          <a:latin typeface="Leelawadee" panose="020B0502040204020203" pitchFamily="34" charset="-34"/>
                          <a:ea typeface="+mn-ea"/>
                          <a:cs typeface="Leelawadee" panose="020B0502040204020203" pitchFamily="34" charset="-34"/>
                        </a:rPr>
                        <a:t>Apr 17</a:t>
                      </a:r>
                      <a:endParaRPr lang="en-IN" sz="1200" b="1"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tc>
                <a:tc>
                  <a:txBody>
                    <a:bodyPr/>
                    <a:lstStyle/>
                    <a:p>
                      <a:pPr algn="ctr" fontAlgn="ctr"/>
                      <a:r>
                        <a:rPr lang="en-IN" sz="1200" b="1" i="0" u="none" strike="noStrike" kern="1200" dirty="0" smtClean="0">
                          <a:solidFill>
                            <a:srgbClr val="000000"/>
                          </a:solidFill>
                          <a:effectLst/>
                          <a:latin typeface="Leelawadee" panose="020B0502040204020203" pitchFamily="34" charset="-34"/>
                          <a:ea typeface="+mn-ea"/>
                          <a:cs typeface="Leelawadee" panose="020B0502040204020203" pitchFamily="34" charset="-34"/>
                        </a:rPr>
                        <a:t>May 17</a:t>
                      </a:r>
                      <a:endParaRPr lang="en-IN" sz="1200" b="1"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tc>
                <a:tc vMerge="1">
                  <a:txBody>
                    <a:bodyPr/>
                    <a:lstStyle/>
                    <a:p>
                      <a:pPr algn="ctr" fontAlgn="ctr"/>
                      <a:endParaRPr lang="en-IN" sz="1200" b="1"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tc>
              </a:tr>
              <a:tr h="382717">
                <a:tc rowSpan="5">
                  <a:txBody>
                    <a:bodyPr/>
                    <a:lstStyle/>
                    <a:p>
                      <a:pPr lvl="0" algn="ctr" fontAlgn="ctr"/>
                      <a:r>
                        <a:rPr lang="en-IN" sz="1400" b="1" i="0" u="none" strike="noStrike" dirty="0" smtClean="0">
                          <a:solidFill>
                            <a:srgbClr val="000000"/>
                          </a:solidFill>
                          <a:effectLst/>
                          <a:latin typeface="Leelawadee" panose="020B0502040204020203" pitchFamily="34" charset="-34"/>
                          <a:cs typeface="Leelawadee" panose="020B0502040204020203" pitchFamily="34" charset="-34"/>
                        </a:rPr>
                        <a:t>A</a:t>
                      </a: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l"/>
                      <a:r>
                        <a:rPr lang="en-IN" sz="1400" b="1" u="none" strike="noStrike" dirty="0" smtClean="0">
                          <a:effectLst/>
                          <a:latin typeface="Leelawadee" panose="020B0502040204020203" pitchFamily="34" charset="-34"/>
                          <a:cs typeface="Leelawadee" panose="020B0502040204020203" pitchFamily="34" charset="-34"/>
                        </a:rPr>
                        <a:t>  Website  </a:t>
                      </a:r>
                      <a:r>
                        <a:rPr lang="en-IN" sz="1400" b="1" dirty="0" smtClean="0">
                          <a:latin typeface="Leelawadee" panose="020B0502040204020203" pitchFamily="34" charset="-34"/>
                          <a:cs typeface="Leelawadee" panose="020B0502040204020203" pitchFamily="34" charset="-34"/>
                        </a:rPr>
                        <a:t>Diagnosis</a:t>
                      </a: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r>
                        <a:rPr lang="en-IN" sz="1400" u="none" strike="noStrike" dirty="0" smtClean="0">
                          <a:effectLst/>
                          <a:latin typeface="Leelawadee" panose="020B0502040204020203" pitchFamily="34" charset="-34"/>
                          <a:cs typeface="Leelawadee" panose="020B0502040204020203" pitchFamily="34" charset="-34"/>
                        </a:rPr>
                        <a:t>Quarterly </a:t>
                      </a:r>
                      <a:r>
                        <a:rPr lang="en-IN" sz="1400" u="none" strike="noStrike" dirty="0">
                          <a:effectLst/>
                          <a:latin typeface="Leelawadee" panose="020B0502040204020203" pitchFamily="34" charset="-34"/>
                          <a:cs typeface="Leelawadee" panose="020B0502040204020203" pitchFamily="34" charset="-34"/>
                        </a:rPr>
                        <a:t>, PPT</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lnT w="12700" cap="flat" cmpd="sng" algn="ctr">
                      <a:solidFill>
                        <a:schemeClr val="tx1"/>
                      </a:solidFill>
                      <a:prstDash val="solid"/>
                      <a:round/>
                      <a:headEnd type="none" w="med" len="med"/>
                      <a:tailEnd type="none" w="med" len="med"/>
                    </a:lnT>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1.0</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382717">
                <a:tc vMerge="1">
                  <a:txBody>
                    <a:bodyPr/>
                    <a:lstStyle/>
                    <a:p>
                      <a:pPr lvl="0" algn="l" fontAlgn="ct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lvl="0" algn="l" fontAlgn="ctr"/>
                      <a:r>
                        <a:rPr lang="en-IN" sz="1400" b="1" u="none" strike="noStrike" dirty="0" smtClean="0">
                          <a:effectLst/>
                          <a:latin typeface="Leelawadee" panose="020B0502040204020203" pitchFamily="34" charset="-34"/>
                          <a:cs typeface="Leelawadee" panose="020B0502040204020203" pitchFamily="34" charset="-34"/>
                        </a:rPr>
                        <a:t>  Lead </a:t>
                      </a:r>
                      <a:r>
                        <a:rPr lang="en-IN" sz="1400" b="1" u="none" strike="noStrike" dirty="0">
                          <a:effectLst/>
                          <a:latin typeface="Leelawadee" panose="020B0502040204020203" pitchFamily="34" charset="-34"/>
                          <a:cs typeface="Leelawadee" panose="020B0502040204020203" pitchFamily="34" charset="-34"/>
                        </a:rPr>
                        <a:t>Funnel Analysis *</a:t>
                      </a: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Bi-Monthly , </a:t>
                      </a:r>
                      <a:r>
                        <a:rPr lang="en-IN" sz="1400" u="none" strike="noStrike" dirty="0" smtClean="0">
                          <a:effectLst/>
                          <a:latin typeface="Leelawadee" panose="020B0502040204020203" pitchFamily="34" charset="-34"/>
                          <a:cs typeface="Leelawadee" panose="020B0502040204020203" pitchFamily="34" charset="-34"/>
                        </a:rPr>
                        <a:t>PPT</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1.2</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382717">
                <a:tc vMerge="1">
                  <a:txBody>
                    <a:bodyPr/>
                    <a:lstStyle/>
                    <a:p>
                      <a:pPr lvl="0" algn="l" fontAlgn="ct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lvl="0" algn="l" fontAlgn="ctr"/>
                      <a:r>
                        <a:rPr lang="en-IN" sz="1400" b="1" u="none" strike="noStrike" dirty="0" smtClean="0">
                          <a:effectLst/>
                          <a:latin typeface="Leelawadee" panose="020B0502040204020203" pitchFamily="34" charset="-34"/>
                          <a:cs typeface="Leelawadee" panose="020B0502040204020203" pitchFamily="34" charset="-34"/>
                        </a:rPr>
                        <a:t>  Website </a:t>
                      </a:r>
                      <a:r>
                        <a:rPr lang="en-IN" sz="1400" b="1" u="none" strike="noStrike" dirty="0">
                          <a:effectLst/>
                          <a:latin typeface="Leelawadee" panose="020B0502040204020203" pitchFamily="34" charset="-34"/>
                          <a:cs typeface="Leelawadee" panose="020B0502040204020203" pitchFamily="34" charset="-34"/>
                        </a:rPr>
                        <a:t>Feature Analysis*</a:t>
                      </a: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400" u="none" strike="noStrike" dirty="0" smtClean="0">
                          <a:effectLst/>
                          <a:latin typeface="Leelawadee" panose="020B0502040204020203" pitchFamily="34" charset="-34"/>
                          <a:cs typeface="Leelawadee" panose="020B0502040204020203" pitchFamily="34" charset="-34"/>
                        </a:rPr>
                        <a:t>Three times a year, </a:t>
                      </a:r>
                      <a:r>
                        <a:rPr lang="en-IN" sz="1400" u="none" strike="noStrike" dirty="0">
                          <a:effectLst/>
                          <a:latin typeface="Leelawadee" panose="020B0502040204020203" pitchFamily="34" charset="-34"/>
                          <a:cs typeface="Leelawadee" panose="020B0502040204020203" pitchFamily="34" charset="-34"/>
                        </a:rPr>
                        <a:t>PPT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l"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l"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l"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2.4</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453270">
                <a:tc vMerge="1">
                  <a:txBody>
                    <a:bodyPr/>
                    <a:lstStyle/>
                    <a:p>
                      <a:pPr lvl="0" algn="l" fontAlgn="ct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lvl="0" algn="l" fontAlgn="ctr"/>
                      <a:r>
                        <a:rPr lang="en-IN" sz="1400" b="1" u="none" strike="noStrike" dirty="0" smtClean="0">
                          <a:effectLst/>
                          <a:latin typeface="Leelawadee" panose="020B0502040204020203" pitchFamily="34" charset="-34"/>
                          <a:cs typeface="Leelawadee" panose="020B0502040204020203" pitchFamily="34" charset="-34"/>
                        </a:rPr>
                        <a:t>  Segmentation </a:t>
                      </a:r>
                      <a:r>
                        <a:rPr lang="en-IN" sz="1400" b="1" u="none" strike="noStrike" dirty="0">
                          <a:effectLst/>
                          <a:latin typeface="Leelawadee" panose="020B0502040204020203" pitchFamily="34" charset="-34"/>
                          <a:cs typeface="Leelawadee" panose="020B0502040204020203" pitchFamily="34" charset="-34"/>
                        </a:rPr>
                        <a:t>&amp;  Retargeting *</a:t>
                      </a: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400" u="none" strike="noStrike" baseline="0" dirty="0" smtClean="0">
                          <a:effectLst/>
                          <a:latin typeface="Leelawadee" panose="020B0502040204020203" pitchFamily="34" charset="-34"/>
                          <a:cs typeface="Leelawadee" panose="020B0502040204020203" pitchFamily="34" charset="-34"/>
                        </a:rPr>
                        <a:t>Four times a year</a:t>
                      </a:r>
                      <a:r>
                        <a:rPr lang="en-IN" sz="1400" u="none" strike="noStrike" dirty="0" smtClean="0">
                          <a:effectLst/>
                          <a:latin typeface="Leelawadee" panose="020B0502040204020203" pitchFamily="34" charset="-34"/>
                          <a:cs typeface="Leelawadee" panose="020B0502040204020203" pitchFamily="34" charset="-34"/>
                        </a:rPr>
                        <a:t> </a:t>
                      </a:r>
                      <a:r>
                        <a:rPr lang="en-IN" sz="1400" u="none" strike="noStrike" dirty="0">
                          <a:effectLst/>
                          <a:latin typeface="Leelawadee" panose="020B0502040204020203" pitchFamily="34" charset="-34"/>
                          <a:cs typeface="Leelawadee" panose="020B0502040204020203" pitchFamily="34" charset="-34"/>
                        </a:rPr>
                        <a:t>, PPT</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gridSpan="1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hMerge="1">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a:txBody>
                    <a:bodyPr/>
                    <a:lstStyle/>
                    <a:p>
                      <a:pPr algn="ctr" fontAlgn="ctr"/>
                      <a:r>
                        <a:rPr lang="en-IN" sz="1100" b="0" i="0" u="none" strike="noStrike" dirty="0" smtClean="0">
                          <a:solidFill>
                            <a:srgbClr val="000000"/>
                          </a:solidFill>
                          <a:effectLst/>
                          <a:latin typeface="Leelawadee" panose="020B0502040204020203" pitchFamily="34" charset="-34"/>
                          <a:cs typeface="Leelawadee" panose="020B0502040204020203" pitchFamily="34" charset="-34"/>
                        </a:rPr>
                        <a:t>0.4</a:t>
                      </a: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r>
              <a:tr h="403003">
                <a:tc vMerge="1">
                  <a:txBody>
                    <a:bodyPr/>
                    <a:lstStyle/>
                    <a:p>
                      <a:pPr lvl="0" algn="ctr" fontAlgn="ct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lvl="0" algn="l" fontAlgn="ctr"/>
                      <a:r>
                        <a:rPr lang="en-IN" sz="1400" b="1" i="0" u="none" strike="noStrike" baseline="0" dirty="0" smtClean="0">
                          <a:solidFill>
                            <a:srgbClr val="000000"/>
                          </a:solidFill>
                          <a:effectLst/>
                          <a:latin typeface="Leelawadee" panose="020B0502040204020203" pitchFamily="34" charset="-34"/>
                          <a:cs typeface="Leelawadee" panose="020B0502040204020203" pitchFamily="34" charset="-34"/>
                        </a:rPr>
                        <a:t>  Personalization</a:t>
                      </a:r>
                      <a:endParaRPr lang="en-IN" sz="1400" b="1"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r>
                        <a:rPr lang="en-IN" sz="1400" b="0" i="0" u="none" strike="noStrike" dirty="0" smtClean="0">
                          <a:solidFill>
                            <a:srgbClr val="000000"/>
                          </a:solidFill>
                          <a:effectLst/>
                          <a:latin typeface="Leelawadee" panose="020B0502040204020203" pitchFamily="34" charset="-34"/>
                          <a:cs typeface="Leelawadee" panose="020B0502040204020203" pitchFamily="34" charset="-34"/>
                        </a:rPr>
                        <a:t>Twice</a:t>
                      </a:r>
                      <a:r>
                        <a:rPr lang="en-IN" sz="1400" b="0" i="0" u="none" strike="noStrike" baseline="0" dirty="0" smtClean="0">
                          <a:solidFill>
                            <a:srgbClr val="000000"/>
                          </a:solidFill>
                          <a:effectLst/>
                          <a:latin typeface="Leelawadee" panose="020B0502040204020203" pitchFamily="34" charset="-34"/>
                          <a:cs typeface="Leelawadee" panose="020B0502040204020203" pitchFamily="34" charset="-34"/>
                        </a:rPr>
                        <a:t> a year </a:t>
                      </a:r>
                      <a:r>
                        <a:rPr lang="en-IN" sz="1400" b="0" i="0" u="none" strike="noStrike" dirty="0" smtClean="0">
                          <a:solidFill>
                            <a:srgbClr val="000000"/>
                          </a:solidFill>
                          <a:effectLst/>
                          <a:latin typeface="Leelawadee" panose="020B0502040204020203" pitchFamily="34" charset="-34"/>
                          <a:cs typeface="Leelawadee" panose="020B0502040204020203" pitchFamily="34" charset="-34"/>
                        </a:rPr>
                        <a:t>,</a:t>
                      </a:r>
                      <a:r>
                        <a:rPr lang="en-IN" sz="1400" b="0" i="0" u="none" strike="noStrike" baseline="0" dirty="0" smtClean="0">
                          <a:solidFill>
                            <a:srgbClr val="000000"/>
                          </a:solidFill>
                          <a:effectLst/>
                          <a:latin typeface="Leelawadee" panose="020B0502040204020203" pitchFamily="34" charset="-34"/>
                          <a:cs typeface="Leelawadee" panose="020B0502040204020203" pitchFamily="34" charset="-34"/>
                        </a:rPr>
                        <a:t> PPT</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gridSpan="1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hMerge="1">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a:txBody>
                    <a:bodyPr/>
                    <a:lstStyle/>
                    <a:p>
                      <a:pPr algn="ctr" fontAlgn="ctr"/>
                      <a:r>
                        <a:rPr lang="en-IN" sz="1100" b="0" i="0" u="none" strike="noStrike" dirty="0" smtClean="0">
                          <a:solidFill>
                            <a:srgbClr val="000000"/>
                          </a:solidFill>
                          <a:effectLst/>
                          <a:latin typeface="Leelawadee" panose="020B0502040204020203" pitchFamily="34" charset="-34"/>
                          <a:cs typeface="Leelawadee" panose="020B0502040204020203" pitchFamily="34" charset="-34"/>
                        </a:rPr>
                        <a:t>0.2</a:t>
                      </a: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r>
              <a:tr h="426664">
                <a:tc>
                  <a:txBody>
                    <a:bodyPr/>
                    <a:lstStyle/>
                    <a:p>
                      <a:pPr lvl="0" algn="ctr"/>
                      <a:r>
                        <a:rPr lang="en-IN" sz="1400" b="1" dirty="0" smtClean="0">
                          <a:latin typeface="Leelawadee" panose="020B0502040204020203" pitchFamily="34" charset="-34"/>
                          <a:cs typeface="Leelawadee" panose="020B0502040204020203" pitchFamily="34" charset="-34"/>
                        </a:rPr>
                        <a:t>B</a:t>
                      </a:r>
                      <a:endParaRPr lang="en-IN" sz="1400" b="1" dirty="0">
                        <a:latin typeface="Leelawadee" panose="020B0502040204020203" pitchFamily="34" charset="-34"/>
                        <a:cs typeface="Leelawadee" panose="020B0502040204020203" pitchFamily="34" charset="-34"/>
                      </a:endParaRPr>
                    </a:p>
                  </a:txBody>
                  <a:tcPr anchor="ctr"/>
                </a:tc>
                <a:tc>
                  <a:txBody>
                    <a:bodyPr/>
                    <a:lstStyle/>
                    <a:p>
                      <a:pPr lvl="0"/>
                      <a:r>
                        <a:rPr lang="en-IN" sz="1400" b="1" dirty="0" smtClean="0">
                          <a:latin typeface="Leelawadee" panose="020B0502040204020203" pitchFamily="34" charset="-34"/>
                          <a:cs typeface="Leelawadee" panose="020B0502040204020203" pitchFamily="34" charset="-34"/>
                        </a:rPr>
                        <a:t>Social Media Analytics</a:t>
                      </a:r>
                      <a:endParaRPr lang="en-IN" sz="1400" b="1" dirty="0">
                        <a:latin typeface="Leelawadee" panose="020B0502040204020203" pitchFamily="34" charset="-34"/>
                        <a:cs typeface="Leelawadee" panose="020B0502040204020203" pitchFamily="34" charset="-34"/>
                      </a:endParaRPr>
                    </a:p>
                  </a:txBody>
                  <a:tcPr anchor="ctr"/>
                </a:tc>
                <a:tc>
                  <a:txBody>
                    <a:bodyPr/>
                    <a:lstStyle/>
                    <a:p>
                      <a:pPr algn="ctr" fontAlgn="ctr"/>
                      <a:r>
                        <a:rPr lang="en-IN" sz="1400" b="0" i="0" u="none" strike="noStrike" dirty="0" smtClean="0">
                          <a:solidFill>
                            <a:srgbClr val="000000"/>
                          </a:solidFill>
                          <a:effectLst/>
                          <a:latin typeface="Leelawadee" panose="020B0502040204020203" pitchFamily="34" charset="-34"/>
                          <a:cs typeface="Leelawadee" panose="020B0502040204020203" pitchFamily="34" charset="-34"/>
                        </a:rPr>
                        <a:t>Quarterly , Tableau</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1.0</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311779">
                <a:tc rowSpan="7">
                  <a:txBody>
                    <a:bodyPr/>
                    <a:lstStyle/>
                    <a:p>
                      <a:pPr lvl="0" algn="ctr"/>
                      <a:r>
                        <a:rPr lang="en-IN" sz="1400" b="1" dirty="0" smtClean="0">
                          <a:latin typeface="Leelawadee" panose="020B0502040204020203" pitchFamily="34" charset="-34"/>
                          <a:cs typeface="Leelawadee" panose="020B0502040204020203" pitchFamily="34" charset="-34"/>
                        </a:rPr>
                        <a:t>C</a:t>
                      </a:r>
                      <a:endParaRPr lang="en-IN" sz="1400" b="1" dirty="0">
                        <a:latin typeface="Leelawadee" panose="020B0502040204020203" pitchFamily="34" charset="-34"/>
                        <a:cs typeface="Leelawadee" panose="020B0502040204020203" pitchFamily="34" charset="-34"/>
                      </a:endParaRPr>
                    </a:p>
                  </a:txBody>
                  <a:tcPr anchor="ctr"/>
                </a:tc>
                <a:tc rowSpan="2">
                  <a:txBody>
                    <a:bodyPr/>
                    <a:lstStyle/>
                    <a:p>
                      <a:pPr lvl="0"/>
                      <a:r>
                        <a:rPr lang="en-IN" sz="1400" b="1" dirty="0" smtClean="0">
                          <a:latin typeface="Leelawadee" panose="020B0502040204020203" pitchFamily="34" charset="-34"/>
                          <a:cs typeface="Leelawadee" panose="020B0502040204020203" pitchFamily="34" charset="-34"/>
                        </a:rPr>
                        <a:t>Digital Benchmarking</a:t>
                      </a:r>
                      <a:endParaRPr lang="en-IN" sz="1400" b="1" dirty="0">
                        <a:latin typeface="Leelawadee" panose="020B0502040204020203" pitchFamily="34" charset="-34"/>
                        <a:cs typeface="Leelawadee" panose="020B0502040204020203" pitchFamily="34" charset="-34"/>
                      </a:endParaRPr>
                    </a:p>
                  </a:txBody>
                  <a:tcPr anchor="ctr"/>
                </a:tc>
                <a:tc rowSpan="7">
                  <a:txBody>
                    <a:bodyPr/>
                    <a:lstStyle/>
                    <a:p>
                      <a:pPr algn="ctr" fontAlgn="ctr"/>
                      <a:r>
                        <a:rPr lang="en-IN" sz="1400" b="0" i="0" u="none" strike="noStrike" dirty="0" smtClean="0">
                          <a:solidFill>
                            <a:srgbClr val="000000"/>
                          </a:solidFill>
                          <a:effectLst/>
                          <a:latin typeface="Leelawadee" panose="020B0502040204020203" pitchFamily="34" charset="-34"/>
                          <a:cs typeface="Leelawadee" panose="020B0502040204020203" pitchFamily="34" charset="-34"/>
                        </a:rPr>
                        <a:t>Quarterly</a:t>
                      </a:r>
                      <a:r>
                        <a:rPr lang="en-IN" sz="1400" b="0" i="0" u="none" strike="noStrike" baseline="0" dirty="0" smtClean="0">
                          <a:solidFill>
                            <a:srgbClr val="000000"/>
                          </a:solidFill>
                          <a:effectLst/>
                          <a:latin typeface="Leelawadee" panose="020B0502040204020203" pitchFamily="34" charset="-34"/>
                          <a:cs typeface="Leelawadee" panose="020B0502040204020203" pitchFamily="34" charset="-34"/>
                        </a:rPr>
                        <a:t>, PPT</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0.4</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0">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IN" sz="1400" b="1" dirty="0" smtClean="0">
                        <a:latin typeface="Leelawadee" panose="020B0502040204020203" pitchFamily="34" charset="-34"/>
                        <a:cs typeface="Leelawadee" panose="020B0502040204020203" pitchFamily="34" charset="-34"/>
                      </a:endParaRPr>
                    </a:p>
                  </a:txBody>
                  <a:tcPr anchor="ctr"/>
                </a:tc>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IN" sz="1400" b="1" dirty="0" smtClean="0">
                        <a:latin typeface="Leelawadee" panose="020B0502040204020203" pitchFamily="34" charset="-34"/>
                        <a:cs typeface="Leelawadee" panose="020B0502040204020203" pitchFamily="34" charset="-34"/>
                      </a:endParaRPr>
                    </a:p>
                  </a:txBody>
                  <a:tcPr anchor="ctr"/>
                </a:tc>
                <a:tc vMerge="1">
                  <a:txBody>
                    <a:bodyPr/>
                    <a:lstStyle/>
                    <a:p>
                      <a:pPr algn="ctr" fontAlgn="ct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rowSpan="2">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0.4</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254913">
                <a:tc vMerge="1">
                  <a:txBody>
                    <a:bodyPr/>
                    <a:lstStyle/>
                    <a:p>
                      <a:endParaRPr lang="en-IN"/>
                    </a:p>
                  </a:txBody>
                  <a:tcPr/>
                </a:tc>
                <a:tc row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Traffic Source Insights</a:t>
                      </a:r>
                    </a:p>
                  </a:txBody>
                  <a:tcPr anchor="ct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133331">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IN" sz="1400" b="1" dirty="0">
                        <a:latin typeface="Leelawadee" panose="020B0502040204020203" pitchFamily="34" charset="-34"/>
                        <a:cs typeface="Leelawadee" panose="020B0502040204020203" pitchFamily="34" charset="-34"/>
                      </a:endParaRPr>
                    </a:p>
                  </a:txBody>
                  <a:tcPr anchor="ctr"/>
                </a:tc>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IN" sz="1400" b="1" dirty="0">
                        <a:latin typeface="Leelawadee" panose="020B0502040204020203" pitchFamily="34" charset="-34"/>
                        <a:cs typeface="Leelawadee" panose="020B0502040204020203" pitchFamily="34" charset="-34"/>
                      </a:endParaRPr>
                    </a:p>
                  </a:txBody>
                  <a:tcPr anchor="ctr"/>
                </a:tc>
                <a:tc vMerge="1">
                  <a:txBody>
                    <a:bodyPr/>
                    <a:lstStyle/>
                    <a:p>
                      <a:pPr algn="ctr" fontAlgn="ct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rowSpan="2">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0.4</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185992">
                <a:tc vMerge="1">
                  <a:txBody>
                    <a:bodyPr/>
                    <a:lstStyle/>
                    <a:p>
                      <a:endParaRPr lang="en-IN"/>
                    </a:p>
                  </a:txBody>
                  <a:tcPr/>
                </a:tc>
                <a:tc rowSpan="2">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Keywords Analysis</a:t>
                      </a:r>
                      <a:endParaRPr lang="en-IN" sz="1400" b="1" dirty="0">
                        <a:latin typeface="Leelawadee" panose="020B0502040204020203" pitchFamily="34" charset="-34"/>
                        <a:cs typeface="Leelawadee" panose="020B0502040204020203" pitchFamily="34" charset="-34"/>
                      </a:endParaRPr>
                    </a:p>
                  </a:txBody>
                  <a:tcPr anchor="ct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r h="226966">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IN" sz="1400" b="1" dirty="0" smtClean="0">
                        <a:latin typeface="Leelawadee" panose="020B0502040204020203" pitchFamily="34" charset="-34"/>
                        <a:cs typeface="Leelawadee" panose="020B0502040204020203" pitchFamily="34" charset="-34"/>
                      </a:endParaRPr>
                    </a:p>
                  </a:txBody>
                  <a:tcPr anchor="ctr"/>
                </a:tc>
                <a:tc v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IN" sz="1400" b="1" dirty="0" smtClean="0">
                        <a:latin typeface="Leelawadee" panose="020B0502040204020203" pitchFamily="34" charset="-34"/>
                        <a:cs typeface="Leelawadee" panose="020B0502040204020203" pitchFamily="34" charset="-34"/>
                      </a:endParaRPr>
                    </a:p>
                  </a:txBody>
                  <a:tcPr anchor="ctr"/>
                </a:tc>
                <a:tc vMerge="1">
                  <a:txBody>
                    <a:bodyPr/>
                    <a:lstStyle/>
                    <a:p>
                      <a:pPr algn="ctr" fontAlgn="ct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l"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l"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l"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solidFill>
                      <a:schemeClr val="accent1">
                        <a:lumMod val="60000"/>
                        <a:lumOff val="40000"/>
                      </a:schemeClr>
                    </a:solidFill>
                  </a:tcPr>
                </a:tc>
                <a:tc rowSpan="2">
                  <a:txBody>
                    <a:bodyPr/>
                    <a:lstStyle/>
                    <a:p>
                      <a:pPr algn="ctr" fontAlgn="ctr"/>
                      <a:endParaRPr lang="en-IN" sz="1100" b="0" i="0" u="none" strike="noStrike" dirty="0">
                        <a:solidFill>
                          <a:srgbClr val="000000"/>
                        </a:solidFill>
                        <a:effectLst/>
                        <a:latin typeface="Leelawadee" panose="020B0502040204020203" pitchFamily="34" charset="-34"/>
                        <a:cs typeface="Leelawadee" panose="020B0502040204020203" pitchFamily="34" charset="-34"/>
                      </a:endParaRPr>
                    </a:p>
                  </a:txBody>
                  <a:tcPr marL="3503" marR="3503" marT="3503" marB="0" anchor="ctr">
                    <a:noFill/>
                  </a:tcPr>
                </a:tc>
                <a:tc rowSpan="2">
                  <a:txBody>
                    <a:bodyPr/>
                    <a:lstStyle/>
                    <a:p>
                      <a:pPr algn="ctr" fontAlgn="ct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c rowSpan="2">
                  <a:txBody>
                    <a:bodyPr/>
                    <a:lstStyle/>
                    <a:p>
                      <a:pPr algn="ctr" fontAlgn="ctr"/>
                      <a:r>
                        <a:rPr lang="en-IN" sz="1100" b="0" i="0" u="none" strike="noStrike" kern="1200" dirty="0" smtClean="0">
                          <a:solidFill>
                            <a:srgbClr val="000000"/>
                          </a:solidFill>
                          <a:effectLst/>
                          <a:latin typeface="Leelawadee" panose="020B0502040204020203" pitchFamily="34" charset="-34"/>
                          <a:ea typeface="+mn-ea"/>
                          <a:cs typeface="Leelawadee" panose="020B0502040204020203" pitchFamily="34" charset="-34"/>
                        </a:rPr>
                        <a:t>0.8</a:t>
                      </a:r>
                      <a:endParaRPr lang="en-IN" sz="1100" b="0" i="0" u="none" strike="noStrike" kern="1200" dirty="0">
                        <a:solidFill>
                          <a:srgbClr val="000000"/>
                        </a:solidFill>
                        <a:effectLst/>
                        <a:latin typeface="Leelawadee" panose="020B0502040204020203" pitchFamily="34" charset="-34"/>
                        <a:ea typeface="+mn-ea"/>
                        <a:cs typeface="Leelawadee" panose="020B0502040204020203" pitchFamily="34" charset="-34"/>
                      </a:endParaRPr>
                    </a:p>
                  </a:txBody>
                  <a:tcPr marL="3503" marR="3503" marT="3503" marB="0" anchor="ctr">
                    <a:noFill/>
                  </a:tcPr>
                </a:tc>
              </a:tr>
              <a:tr h="336177">
                <a:tc vMerge="1">
                  <a:txBody>
                    <a:bodyPr/>
                    <a:lstStyle/>
                    <a:p>
                      <a:endParaRPr lang="en-IN"/>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Customer Journey</a:t>
                      </a:r>
                    </a:p>
                  </a:txBody>
                  <a:tcPr anchor="ct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c vMerge="1">
                  <a:txBody>
                    <a:bodyPr/>
                    <a:lstStyle/>
                    <a:p>
                      <a:endParaRPr lang="en-IN"/>
                    </a:p>
                  </a:txBody>
                  <a:tcPr/>
                </a:tc>
              </a:tr>
            </a:tbl>
          </a:graphicData>
        </a:graphic>
      </p:graphicFrame>
      <p:sp>
        <p:nvSpPr>
          <p:cNvPr id="3" name="TextBox 2"/>
          <p:cNvSpPr txBox="1"/>
          <p:nvPr/>
        </p:nvSpPr>
        <p:spPr bwMode="gray">
          <a:xfrm>
            <a:off x="336345" y="6305961"/>
            <a:ext cx="8690235" cy="324268"/>
          </a:xfrm>
          <a:prstGeom prst="rect">
            <a:avLst/>
          </a:prstGeom>
        </p:spPr>
        <p:txBody>
          <a:bodyPr vert="horz" wrap="square" lIns="91440" tIns="45720" rIns="91440" bIns="45720" rtlCol="0" anchor="ctr">
            <a:noAutofit/>
          </a:bodyPr>
          <a:lstStyle/>
          <a:p>
            <a:r>
              <a:rPr lang="en-IN" sz="1200" dirty="0" smtClean="0">
                <a:latin typeface="Leelawadee" panose="020B0502040204020203" pitchFamily="34" charset="-34"/>
                <a:cs typeface="Leelawadee" panose="020B0502040204020203" pitchFamily="34" charset="-34"/>
              </a:rPr>
              <a:t>* Dependency from Tata AIA would be on procurement of personalization tool, tagging implementation in Adobe analytics, integration with marketing tools such as AdWords, Clickstream Data &amp; Customer Mapping .</a:t>
            </a:r>
          </a:p>
        </p:txBody>
      </p:sp>
      <p:grpSp>
        <p:nvGrpSpPr>
          <p:cNvPr id="7" name="Group 6"/>
          <p:cNvGrpSpPr/>
          <p:nvPr/>
        </p:nvGrpSpPr>
        <p:grpSpPr>
          <a:xfrm>
            <a:off x="11609" y="197969"/>
            <a:ext cx="12192000" cy="605447"/>
            <a:chOff x="1" y="155960"/>
            <a:chExt cx="12192000" cy="1131320"/>
          </a:xfrm>
        </p:grpSpPr>
        <p:sp>
          <p:nvSpPr>
            <p:cNvPr id="9" name="Rectangle 8"/>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10" name="Rectangle 9"/>
            <p:cNvSpPr/>
            <p:nvPr/>
          </p:nvSpPr>
          <p:spPr>
            <a:xfrm>
              <a:off x="2684291" y="216206"/>
              <a:ext cx="6823471" cy="862653"/>
            </a:xfrm>
            <a:prstGeom prst="rect">
              <a:avLst/>
            </a:prstGeom>
          </p:spPr>
          <p:txBody>
            <a:bodyPr wrap="none" anchor="t">
              <a:spAutoFit/>
            </a:bodyPr>
            <a:lstStyle/>
            <a:p>
              <a:pPr algn="ctr"/>
              <a:r>
                <a:rPr lang="en-IN" sz="2400" b="1" dirty="0">
                  <a:solidFill>
                    <a:srgbClr val="0070C0"/>
                  </a:solidFill>
                  <a:latin typeface="Leelawadee UI" panose="020B0502040204020203" pitchFamily="34" charset="-34"/>
                  <a:cs typeface="Leelawadee UI" panose="020B0502040204020203" pitchFamily="34" charset="-34"/>
                </a:rPr>
                <a:t>Digital Analytics – Finalized </a:t>
              </a:r>
              <a:r>
                <a:rPr lang="en-IN" sz="2400" b="1" dirty="0" smtClean="0">
                  <a:solidFill>
                    <a:srgbClr val="0070C0"/>
                  </a:solidFill>
                  <a:latin typeface="Leelawadee UI" panose="020B0502040204020203" pitchFamily="34" charset="-34"/>
                  <a:cs typeface="Leelawadee UI" panose="020B0502040204020203" pitchFamily="34" charset="-34"/>
                </a:rPr>
                <a:t>Deliverable Scope</a:t>
              </a:r>
              <a:endParaRPr lang="en-IN" sz="2400" b="1" dirty="0">
                <a:solidFill>
                  <a:srgbClr val="0070C0"/>
                </a:solidFill>
                <a:latin typeface="Leelawadee UI" panose="020B0502040204020203" pitchFamily="34" charset="-34"/>
                <a:cs typeface="Leelawadee UI" panose="020B0502040204020203" pitchFamily="34" charset="-34"/>
              </a:endParaRPr>
            </a:p>
          </p:txBody>
        </p:sp>
        <p:grpSp>
          <p:nvGrpSpPr>
            <p:cNvPr id="11" name="Group 10"/>
            <p:cNvGrpSpPr/>
            <p:nvPr/>
          </p:nvGrpSpPr>
          <p:grpSpPr>
            <a:xfrm>
              <a:off x="1" y="155960"/>
              <a:ext cx="12192000" cy="1131320"/>
              <a:chOff x="2424113" y="242463"/>
              <a:chExt cx="7343775" cy="1189679"/>
            </a:xfrm>
          </p:grpSpPr>
          <p:cxnSp>
            <p:nvCxnSpPr>
              <p:cNvPr id="12" name="Straight Connector 11"/>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14" name="TextBox 13"/>
          <p:cNvSpPr txBox="1"/>
          <p:nvPr/>
        </p:nvSpPr>
        <p:spPr>
          <a:xfrm>
            <a:off x="424841" y="896757"/>
            <a:ext cx="11638955" cy="369332"/>
          </a:xfrm>
          <a:prstGeom prst="rect">
            <a:avLst/>
          </a:prstGeom>
          <a:noFill/>
        </p:spPr>
        <p:txBody>
          <a:bodyPr wrap="square" rtlCol="0">
            <a:spAutoFit/>
          </a:bodyPr>
          <a:lstStyle/>
          <a:p>
            <a:r>
              <a:rPr lang="en-IN" dirty="0" smtClean="0">
                <a:solidFill>
                  <a:schemeClr val="accent1">
                    <a:lumMod val="75000"/>
                  </a:schemeClr>
                </a:solidFill>
              </a:rPr>
              <a:t>Following deliverables have been finalized in Digital Analytics with an overall effort per annum per FTE month as 8.2   </a:t>
            </a:r>
            <a:endParaRPr lang="en-IN" dirty="0">
              <a:solidFill>
                <a:schemeClr val="accent1">
                  <a:lumMod val="75000"/>
                </a:schemeClr>
              </a:solidFill>
            </a:endParaRPr>
          </a:p>
        </p:txBody>
      </p:sp>
      <p:pic>
        <p:nvPicPr>
          <p:cNvPr id="15" name="Picture 14"/>
          <p:cNvPicPr>
            <a:picLocks noChangeAspect="1"/>
          </p:cNvPicPr>
          <p:nvPr/>
        </p:nvPicPr>
        <p:blipFill>
          <a:blip r:embed="rId2"/>
          <a:stretch>
            <a:fillRect/>
          </a:stretch>
        </p:blipFill>
        <p:spPr>
          <a:xfrm>
            <a:off x="9858695" y="6305961"/>
            <a:ext cx="214238" cy="214238"/>
          </a:xfrm>
          <a:prstGeom prst="rect">
            <a:avLst/>
          </a:prstGeom>
        </p:spPr>
      </p:pic>
      <p:sp>
        <p:nvSpPr>
          <p:cNvPr id="16" name="TextBox 15"/>
          <p:cNvSpPr txBox="1"/>
          <p:nvPr/>
        </p:nvSpPr>
        <p:spPr>
          <a:xfrm>
            <a:off x="10274829" y="6263067"/>
            <a:ext cx="1328143" cy="276999"/>
          </a:xfrm>
          <a:prstGeom prst="rect">
            <a:avLst/>
          </a:prstGeom>
          <a:noFill/>
        </p:spPr>
        <p:txBody>
          <a:bodyPr wrap="square" rtlCol="0">
            <a:spAutoFit/>
          </a:bodyPr>
          <a:lstStyle/>
          <a:p>
            <a:r>
              <a:rPr lang="en-IN" sz="1200" dirty="0" smtClean="0"/>
              <a:t>To be delivered </a:t>
            </a:r>
            <a:endParaRPr lang="en-IN" sz="1200" dirty="0"/>
          </a:p>
        </p:txBody>
      </p:sp>
      <p:sp>
        <p:nvSpPr>
          <p:cNvPr id="2" name="TextBox 1"/>
          <p:cNvSpPr txBox="1"/>
          <p:nvPr/>
        </p:nvSpPr>
        <p:spPr>
          <a:xfrm>
            <a:off x="6817659" y="3779053"/>
            <a:ext cx="4397188" cy="307777"/>
          </a:xfrm>
          <a:prstGeom prst="rect">
            <a:avLst/>
          </a:prstGeom>
          <a:noFill/>
        </p:spPr>
        <p:txBody>
          <a:bodyPr wrap="square" rtlCol="0">
            <a:spAutoFit/>
          </a:bodyPr>
          <a:lstStyle/>
          <a:p>
            <a:pPr algn="ctr"/>
            <a:r>
              <a:rPr lang="en-IN" sz="1400" dirty="0" smtClean="0"/>
              <a:t>On Demand </a:t>
            </a:r>
            <a:endParaRPr lang="en-IN" sz="1400" dirty="0"/>
          </a:p>
        </p:txBody>
      </p:sp>
      <p:sp>
        <p:nvSpPr>
          <p:cNvPr id="17" name="TextBox 16"/>
          <p:cNvSpPr txBox="1"/>
          <p:nvPr/>
        </p:nvSpPr>
        <p:spPr>
          <a:xfrm>
            <a:off x="6817659" y="3342128"/>
            <a:ext cx="4397188" cy="307777"/>
          </a:xfrm>
          <a:prstGeom prst="rect">
            <a:avLst/>
          </a:prstGeom>
          <a:noFill/>
        </p:spPr>
        <p:txBody>
          <a:bodyPr wrap="square" rtlCol="0">
            <a:spAutoFit/>
          </a:bodyPr>
          <a:lstStyle/>
          <a:p>
            <a:pPr algn="ctr"/>
            <a:r>
              <a:rPr lang="en-IN" sz="1400" dirty="0" smtClean="0"/>
              <a:t>On Demand </a:t>
            </a:r>
            <a:endParaRPr lang="en-IN" sz="1400" dirty="0"/>
          </a:p>
        </p:txBody>
      </p:sp>
    </p:spTree>
    <p:extLst>
      <p:ext uri="{BB962C8B-B14F-4D97-AF65-F5344CB8AC3E}">
        <p14:creationId xmlns:p14="http://schemas.microsoft.com/office/powerpoint/2010/main" val="29773419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p:nvPr/>
        </p:nvGrpSpPr>
        <p:grpSpPr>
          <a:xfrm>
            <a:off x="11609" y="197969"/>
            <a:ext cx="12192000" cy="863239"/>
            <a:chOff x="1" y="155960"/>
            <a:chExt cx="12192000" cy="1613022"/>
          </a:xfrm>
        </p:grpSpPr>
        <p:sp>
          <p:nvSpPr>
            <p:cNvPr id="9" name="Rectangle 8"/>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10" name="Rectangle 9"/>
            <p:cNvSpPr/>
            <p:nvPr/>
          </p:nvSpPr>
          <p:spPr>
            <a:xfrm>
              <a:off x="3505933" y="216206"/>
              <a:ext cx="5180201" cy="1552776"/>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Business Themes* Based Approach</a:t>
              </a:r>
            </a:p>
            <a:p>
              <a:pPr algn="ctr"/>
              <a:endParaRPr lang="en-IN" sz="2400" b="1" dirty="0">
                <a:solidFill>
                  <a:srgbClr val="0070C0"/>
                </a:solidFill>
                <a:latin typeface="Leelawadee UI" panose="020B0502040204020203" pitchFamily="34" charset="-34"/>
                <a:cs typeface="Leelawadee UI" panose="020B0502040204020203" pitchFamily="34" charset="-34"/>
              </a:endParaRPr>
            </a:p>
          </p:txBody>
        </p:sp>
        <p:grpSp>
          <p:nvGrpSpPr>
            <p:cNvPr id="11" name="Group 10"/>
            <p:cNvGrpSpPr/>
            <p:nvPr/>
          </p:nvGrpSpPr>
          <p:grpSpPr>
            <a:xfrm>
              <a:off x="1" y="155960"/>
              <a:ext cx="12192000" cy="1131320"/>
              <a:chOff x="2424113" y="242463"/>
              <a:chExt cx="7343775" cy="1189679"/>
            </a:xfrm>
          </p:grpSpPr>
          <p:cxnSp>
            <p:nvCxnSpPr>
              <p:cNvPr id="12" name="Straight Connector 11"/>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14" name="TextBox 13"/>
          <p:cNvSpPr txBox="1"/>
          <p:nvPr/>
        </p:nvSpPr>
        <p:spPr>
          <a:xfrm>
            <a:off x="215153" y="896757"/>
            <a:ext cx="11848643" cy="923330"/>
          </a:xfrm>
          <a:prstGeom prst="rect">
            <a:avLst/>
          </a:prstGeom>
          <a:noFill/>
        </p:spPr>
        <p:txBody>
          <a:bodyPr wrap="square" rtlCol="0">
            <a:spAutoFit/>
          </a:bodyPr>
          <a:lstStyle/>
          <a:p>
            <a:r>
              <a:rPr lang="en-IN" dirty="0" smtClean="0">
                <a:solidFill>
                  <a:schemeClr val="accent1">
                    <a:lumMod val="75000"/>
                  </a:schemeClr>
                </a:solidFill>
              </a:rPr>
              <a:t>Instead of analysing full website each time, it would be more beneficial to deeply analyse certain sections of website  ( based on business priorities*) and benchmarking it to industry best practices. This would also provide Tata AIA with actionable recommendation in phased manner which can implemented and monitored thereafter.</a:t>
            </a:r>
            <a:endParaRPr lang="en-IN" dirty="0">
              <a:solidFill>
                <a:schemeClr val="accent1">
                  <a:lumMod val="75000"/>
                </a:schemeClr>
              </a:solidFill>
            </a:endParaRPr>
          </a:p>
        </p:txBody>
      </p:sp>
      <p:sp>
        <p:nvSpPr>
          <p:cNvPr id="5" name="Rounded Rectangle 4"/>
          <p:cNvSpPr/>
          <p:nvPr/>
        </p:nvSpPr>
        <p:spPr>
          <a:xfrm>
            <a:off x="463777" y="2578966"/>
            <a:ext cx="3264560" cy="831135"/>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latin typeface="Leelawadee" panose="020B0502040204020203" pitchFamily="34" charset="-34"/>
                <a:cs typeface="Leelawadee" panose="020B0502040204020203" pitchFamily="34" charset="-34"/>
              </a:rPr>
              <a:t>Analysing Website Section of Tata AIA  as per business priority*</a:t>
            </a:r>
            <a:endParaRPr lang="en-IN" sz="1600" dirty="0">
              <a:latin typeface="Leelawadee" panose="020B0502040204020203" pitchFamily="34" charset="-34"/>
              <a:cs typeface="Leelawadee" panose="020B0502040204020203" pitchFamily="34" charset="-34"/>
            </a:endParaRPr>
          </a:p>
        </p:txBody>
      </p:sp>
      <p:sp>
        <p:nvSpPr>
          <p:cNvPr id="18" name="Rounded Rectangle 17"/>
          <p:cNvSpPr/>
          <p:nvPr/>
        </p:nvSpPr>
        <p:spPr>
          <a:xfrm>
            <a:off x="463777" y="3996762"/>
            <a:ext cx="3189065" cy="845980"/>
          </a:xfrm>
          <a:prstGeom prst="round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schemeClr val="tx1"/>
                </a:solidFill>
                <a:latin typeface="Leelawadee" panose="020B0502040204020203" pitchFamily="34" charset="-34"/>
                <a:cs typeface="Leelawadee" panose="020B0502040204020203" pitchFamily="34" charset="-34"/>
              </a:rPr>
              <a:t>Analysing Similar Website Sections of top Competitors</a:t>
            </a:r>
            <a:endParaRPr lang="en-IN" sz="1600" dirty="0">
              <a:solidFill>
                <a:schemeClr val="tx1"/>
              </a:solidFill>
              <a:latin typeface="Leelawadee" panose="020B0502040204020203" pitchFamily="34" charset="-34"/>
              <a:cs typeface="Leelawadee" panose="020B0502040204020203" pitchFamily="34" charset="-34"/>
            </a:endParaRPr>
          </a:p>
        </p:txBody>
      </p:sp>
      <p:sp>
        <p:nvSpPr>
          <p:cNvPr id="19" name="Rounded Rectangle 18"/>
          <p:cNvSpPr/>
          <p:nvPr/>
        </p:nvSpPr>
        <p:spPr>
          <a:xfrm>
            <a:off x="509151" y="5429403"/>
            <a:ext cx="3219186" cy="919639"/>
          </a:xfrm>
          <a:prstGeom prst="round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latin typeface="Leelawadee" panose="020B0502040204020203" pitchFamily="34" charset="-34"/>
                <a:cs typeface="Leelawadee" panose="020B0502040204020203" pitchFamily="34" charset="-34"/>
              </a:rPr>
              <a:t>Relevant Funnel Analysis and Website feature analysis for similar website sections</a:t>
            </a:r>
            <a:endParaRPr lang="en-IN" sz="1600" dirty="0">
              <a:latin typeface="Leelawadee" panose="020B0502040204020203" pitchFamily="34" charset="-34"/>
              <a:cs typeface="Leelawadee" panose="020B0502040204020203" pitchFamily="34" charset="-34"/>
            </a:endParaRPr>
          </a:p>
        </p:txBody>
      </p:sp>
      <p:sp>
        <p:nvSpPr>
          <p:cNvPr id="20" name="Rounded Rectangle 19"/>
          <p:cNvSpPr/>
          <p:nvPr/>
        </p:nvSpPr>
        <p:spPr>
          <a:xfrm>
            <a:off x="4759499" y="3855085"/>
            <a:ext cx="2461573" cy="1416222"/>
          </a:xfrm>
          <a:prstGeom prst="round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latin typeface="Leelawadee" panose="020B0502040204020203" pitchFamily="34" charset="-34"/>
                <a:cs typeface="Leelawadee" panose="020B0502040204020203" pitchFamily="34" charset="-34"/>
              </a:rPr>
              <a:t>Recommendations &amp; best industry practices for particular Website &amp; Business sections </a:t>
            </a:r>
            <a:endParaRPr lang="en-IN" sz="1600" dirty="0">
              <a:latin typeface="Leelawadee" panose="020B0502040204020203" pitchFamily="34" charset="-34"/>
              <a:cs typeface="Leelawadee" panose="020B0502040204020203" pitchFamily="34" charset="-34"/>
            </a:endParaRPr>
          </a:p>
        </p:txBody>
      </p:sp>
      <p:sp>
        <p:nvSpPr>
          <p:cNvPr id="8" name="Plus 7"/>
          <p:cNvSpPr/>
          <p:nvPr/>
        </p:nvSpPr>
        <p:spPr>
          <a:xfrm>
            <a:off x="1809539" y="4969647"/>
            <a:ext cx="409226" cy="355448"/>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p:cNvSpPr txBox="1"/>
          <p:nvPr/>
        </p:nvSpPr>
        <p:spPr>
          <a:xfrm>
            <a:off x="2703664" y="1994893"/>
            <a:ext cx="3403945" cy="338554"/>
          </a:xfrm>
          <a:prstGeom prst="rect">
            <a:avLst/>
          </a:prstGeom>
          <a:noFill/>
        </p:spPr>
        <p:txBody>
          <a:bodyPr wrap="square" rtlCol="0">
            <a:spAutoFit/>
          </a:bodyPr>
          <a:lstStyle/>
          <a:p>
            <a:r>
              <a:rPr lang="en-IN" sz="1600" b="1" dirty="0" smtClean="0"/>
              <a:t>1 Business Theme : 3 Months </a:t>
            </a:r>
            <a:endParaRPr lang="en-IN" sz="1600" b="1" dirty="0"/>
          </a:p>
        </p:txBody>
      </p:sp>
      <p:sp>
        <p:nvSpPr>
          <p:cNvPr id="24" name="Rounded Rectangle 23"/>
          <p:cNvSpPr/>
          <p:nvPr/>
        </p:nvSpPr>
        <p:spPr>
          <a:xfrm>
            <a:off x="8271015" y="3833498"/>
            <a:ext cx="2863150" cy="1443693"/>
          </a:xfrm>
          <a:prstGeom prst="round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latin typeface="Leelawadee" panose="020B0502040204020203" pitchFamily="34" charset="-34"/>
                <a:cs typeface="Leelawadee" panose="020B0502040204020203" pitchFamily="34" charset="-34"/>
              </a:rPr>
              <a:t>Tata AIA to  Implement suitable recommendations of last theme on website &amp; in business plans</a:t>
            </a:r>
            <a:endParaRPr lang="en-IN" sz="1600" dirty="0">
              <a:latin typeface="Leelawadee" panose="020B0502040204020203" pitchFamily="34" charset="-34"/>
              <a:cs typeface="Leelawadee" panose="020B0502040204020203" pitchFamily="34" charset="-34"/>
            </a:endParaRPr>
          </a:p>
        </p:txBody>
      </p:sp>
      <p:sp>
        <p:nvSpPr>
          <p:cNvPr id="25" name="Plus 24"/>
          <p:cNvSpPr/>
          <p:nvPr/>
        </p:nvSpPr>
        <p:spPr>
          <a:xfrm>
            <a:off x="1809539" y="3508044"/>
            <a:ext cx="409226" cy="355448"/>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32" name="Straight Arrow Connector 31"/>
          <p:cNvCxnSpPr/>
          <p:nvPr/>
        </p:nvCxnSpPr>
        <p:spPr>
          <a:xfrm>
            <a:off x="477224" y="2365189"/>
            <a:ext cx="6743848" cy="4155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Right Arrow 33"/>
          <p:cNvSpPr/>
          <p:nvPr/>
        </p:nvSpPr>
        <p:spPr>
          <a:xfrm>
            <a:off x="7456932" y="4419752"/>
            <a:ext cx="578223" cy="42299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ight Brace 34"/>
          <p:cNvSpPr/>
          <p:nvPr/>
        </p:nvSpPr>
        <p:spPr>
          <a:xfrm>
            <a:off x="4114802" y="2994533"/>
            <a:ext cx="457200" cy="313732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36" name="Straight Arrow Connector 35"/>
          <p:cNvCxnSpPr/>
          <p:nvPr/>
        </p:nvCxnSpPr>
        <p:spPr>
          <a:xfrm flipV="1">
            <a:off x="7595063" y="2384523"/>
            <a:ext cx="4092217" cy="1861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7456932" y="1950752"/>
            <a:ext cx="4168643" cy="338554"/>
          </a:xfrm>
          <a:prstGeom prst="rect">
            <a:avLst/>
          </a:prstGeom>
          <a:noFill/>
        </p:spPr>
        <p:txBody>
          <a:bodyPr wrap="square" rtlCol="0">
            <a:spAutoFit/>
          </a:bodyPr>
          <a:lstStyle/>
          <a:p>
            <a:r>
              <a:rPr lang="en-IN" sz="1600" b="1" dirty="0" smtClean="0"/>
              <a:t>Next Business Theme to be analysed by Tata </a:t>
            </a:r>
            <a:r>
              <a:rPr lang="en-IN" sz="1600" b="1" dirty="0" err="1" smtClean="0"/>
              <a:t>iQ</a:t>
            </a:r>
            <a:endParaRPr lang="en-IN" sz="1600" b="1" dirty="0"/>
          </a:p>
        </p:txBody>
      </p:sp>
      <p:sp>
        <p:nvSpPr>
          <p:cNvPr id="43" name="TextBox 42"/>
          <p:cNvSpPr txBox="1"/>
          <p:nvPr/>
        </p:nvSpPr>
        <p:spPr>
          <a:xfrm>
            <a:off x="5390228" y="5839471"/>
            <a:ext cx="5976726" cy="584775"/>
          </a:xfrm>
          <a:prstGeom prst="rect">
            <a:avLst/>
          </a:prstGeom>
          <a:noFill/>
        </p:spPr>
        <p:txBody>
          <a:bodyPr wrap="square" rtlCol="0">
            <a:spAutoFit/>
          </a:bodyPr>
          <a:lstStyle/>
          <a:p>
            <a:r>
              <a:rPr lang="en-IN" sz="1600" b="1" dirty="0" smtClean="0"/>
              <a:t>* Relevant Business Themes ( in discussion with Tata AIA )</a:t>
            </a:r>
            <a:r>
              <a:rPr lang="en-IN" sz="1600" dirty="0" smtClean="0"/>
              <a:t>:            Mobile , Customer Service , Customer Acquisition , Digital Fabric </a:t>
            </a:r>
            <a:endParaRPr lang="en-IN" sz="1600" dirty="0"/>
          </a:p>
        </p:txBody>
      </p:sp>
    </p:spTree>
    <p:extLst>
      <p:ext uri="{BB962C8B-B14F-4D97-AF65-F5344CB8AC3E}">
        <p14:creationId xmlns:p14="http://schemas.microsoft.com/office/powerpoint/2010/main" val="23119270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Straight Connector 32"/>
          <p:cNvCxnSpPr/>
          <p:nvPr/>
        </p:nvCxnSpPr>
        <p:spPr>
          <a:xfrm>
            <a:off x="6166491" y="1030181"/>
            <a:ext cx="40341" cy="570001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12"/>
          </p:nvPr>
        </p:nvSpPr>
        <p:spPr>
          <a:xfrm>
            <a:off x="9132969" y="6489253"/>
            <a:ext cx="2743200" cy="365125"/>
          </a:xfrm>
        </p:spPr>
        <p:txBody>
          <a:bodyPr/>
          <a:lstStyle/>
          <a:p>
            <a:fld id="{D57F1E4F-1CFF-5643-939E-217C01CDF565}" type="slidenum">
              <a:rPr lang="en-US" smtClean="0">
                <a:solidFill>
                  <a:srgbClr val="0E5580"/>
                </a:solidFill>
              </a:rPr>
              <a:pPr/>
              <a:t>4</a:t>
            </a:fld>
            <a:endParaRPr lang="en-US" dirty="0">
              <a:solidFill>
                <a:srgbClr val="0E5580"/>
              </a:solidFill>
            </a:endParaRPr>
          </a:p>
        </p:txBody>
      </p:sp>
      <p:grpSp>
        <p:nvGrpSpPr>
          <p:cNvPr id="6" name="Group 5"/>
          <p:cNvGrpSpPr/>
          <p:nvPr/>
        </p:nvGrpSpPr>
        <p:grpSpPr>
          <a:xfrm>
            <a:off x="11609" y="197969"/>
            <a:ext cx="12192000" cy="605447"/>
            <a:chOff x="1" y="155960"/>
            <a:chExt cx="12192000" cy="1131320"/>
          </a:xfrm>
        </p:grpSpPr>
        <p:sp>
          <p:nvSpPr>
            <p:cNvPr id="7" name="Rectangle 6"/>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8" name="Rectangle 7"/>
            <p:cNvSpPr/>
            <p:nvPr/>
          </p:nvSpPr>
          <p:spPr>
            <a:xfrm>
              <a:off x="2014662" y="216206"/>
              <a:ext cx="8162747"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Relevant Business Themes : In discussion with Tata AIA </a:t>
              </a:r>
            </a:p>
          </p:txBody>
        </p:sp>
        <p:grpSp>
          <p:nvGrpSpPr>
            <p:cNvPr id="9" name="Group 8"/>
            <p:cNvGrpSpPr/>
            <p:nvPr/>
          </p:nvGrpSpPr>
          <p:grpSpPr>
            <a:xfrm>
              <a:off x="1" y="155960"/>
              <a:ext cx="12192000" cy="1131320"/>
              <a:chOff x="2424113" y="242463"/>
              <a:chExt cx="7343775" cy="1189679"/>
            </a:xfrm>
          </p:grpSpPr>
          <p:cxnSp>
            <p:nvCxnSpPr>
              <p:cNvPr id="10" name="Straight Connector 9"/>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2" name="Rounded Rectangle 1"/>
          <p:cNvSpPr/>
          <p:nvPr/>
        </p:nvSpPr>
        <p:spPr>
          <a:xfrm>
            <a:off x="185229" y="4566695"/>
            <a:ext cx="2790665" cy="19892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Mobile traffic in Life Insurance industry ( Tata AIA &amp; Competition )</a:t>
            </a: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Performance of mobile website sections – Lead generation forms, product pages , calculators, brand locater etc.</a:t>
            </a: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Recommendations &amp; best Practices </a:t>
            </a:r>
          </a:p>
        </p:txBody>
      </p:sp>
      <p:sp>
        <p:nvSpPr>
          <p:cNvPr id="16" name="Rounded Rectangle 15"/>
          <p:cNvSpPr/>
          <p:nvPr/>
        </p:nvSpPr>
        <p:spPr>
          <a:xfrm>
            <a:off x="185229" y="1863485"/>
            <a:ext cx="2790663" cy="183107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Are consumers preferring mobile as channels in life insurance industry </a:t>
            </a:r>
            <a:r>
              <a:rPr lang="en-IN" sz="1200" dirty="0">
                <a:solidFill>
                  <a:srgbClr val="000000"/>
                </a:solidFill>
                <a:latin typeface="Leelawadee" panose="020B0502040204020203" pitchFamily="34" charset="-34"/>
                <a:cs typeface="Leelawadee" panose="020B0502040204020203" pitchFamily="34" charset="-34"/>
              </a:rPr>
              <a:t>(</a:t>
            </a:r>
            <a:r>
              <a:rPr lang="en-IN" sz="1200" dirty="0" smtClean="0">
                <a:solidFill>
                  <a:srgbClr val="000000"/>
                </a:solidFill>
                <a:latin typeface="Leelawadee" panose="020B0502040204020203" pitchFamily="34" charset="-34"/>
                <a:cs typeface="Leelawadee" panose="020B0502040204020203" pitchFamily="34" charset="-34"/>
              </a:rPr>
              <a:t> </a:t>
            </a:r>
            <a:r>
              <a:rPr lang="en-IN" sz="1200" dirty="0">
                <a:solidFill>
                  <a:srgbClr val="000000"/>
                </a:solidFill>
                <a:latin typeface="Leelawadee" panose="020B0502040204020203" pitchFamily="34" charset="-34"/>
                <a:cs typeface="Leelawadee" panose="020B0502040204020203" pitchFamily="34" charset="-34"/>
              </a:rPr>
              <a:t>e</a:t>
            </a:r>
            <a:r>
              <a:rPr lang="en-IN" sz="1200" dirty="0" smtClean="0">
                <a:solidFill>
                  <a:srgbClr val="000000"/>
                </a:solidFill>
                <a:latin typeface="Leelawadee" panose="020B0502040204020203" pitchFamily="34" charset="-34"/>
                <a:cs typeface="Leelawadee" panose="020B0502040204020203" pitchFamily="34" charset="-34"/>
              </a:rPr>
              <a:t>ither in decision making or in online sales ) ? </a:t>
            </a:r>
          </a:p>
          <a:p>
            <a:pPr marL="171450" indent="-171450" fontAlgn="ctr">
              <a:buFont typeface="Arial" panose="020B0604020202020204" pitchFamily="34" charset="0"/>
              <a:buChar char="•"/>
            </a:pP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How is competition adopting Mobile channels as a strategy ?</a:t>
            </a:r>
            <a:endParaRPr lang="en-IN" sz="1200" dirty="0">
              <a:solidFill>
                <a:srgbClr val="000000"/>
              </a:solidFill>
              <a:latin typeface="Leelawadee" panose="020B0502040204020203" pitchFamily="34" charset="-34"/>
              <a:cs typeface="Leelawadee" panose="020B0502040204020203" pitchFamily="34" charset="-34"/>
            </a:endParaRPr>
          </a:p>
        </p:txBody>
      </p:sp>
      <p:sp>
        <p:nvSpPr>
          <p:cNvPr id="17" name="Rounded Rectangle 16"/>
          <p:cNvSpPr/>
          <p:nvPr/>
        </p:nvSpPr>
        <p:spPr>
          <a:xfrm>
            <a:off x="3303924" y="4566695"/>
            <a:ext cx="2790665" cy="19892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Website diagnosis &amp; funnel analysis of website sections related to customer service such as ‘Contact Us’, ‘Claims’, ‘Pay Premium’ etc.</a:t>
            </a: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Website feature analysis for customer service relevant sections</a:t>
            </a: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Industry benchmarking &amp; best practices</a:t>
            </a:r>
          </a:p>
        </p:txBody>
      </p:sp>
      <p:sp>
        <p:nvSpPr>
          <p:cNvPr id="18" name="Rounded Rectangle 17"/>
          <p:cNvSpPr/>
          <p:nvPr/>
        </p:nvSpPr>
        <p:spPr>
          <a:xfrm>
            <a:off x="3263767" y="1863485"/>
            <a:ext cx="2790663" cy="183107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Are customers able to effectively use Tata AIA website for resolve their queries ? </a:t>
            </a:r>
          </a:p>
          <a:p>
            <a:pPr marL="171450" indent="-171450" fontAlgn="ctr">
              <a:buFont typeface="Arial" panose="020B0604020202020204" pitchFamily="34" charset="0"/>
              <a:buChar char="•"/>
            </a:pP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What are best practices used by competitors to ensure satisfactory customer service ?</a:t>
            </a:r>
            <a:endParaRPr lang="en-IN" sz="1200" dirty="0">
              <a:solidFill>
                <a:srgbClr val="000000"/>
              </a:solidFill>
              <a:latin typeface="Leelawadee" panose="020B0502040204020203" pitchFamily="34" charset="-34"/>
              <a:cs typeface="Leelawadee" panose="020B0502040204020203" pitchFamily="34" charset="-34"/>
            </a:endParaRPr>
          </a:p>
        </p:txBody>
      </p:sp>
      <p:sp>
        <p:nvSpPr>
          <p:cNvPr id="21" name="Rounded Rectangle 20"/>
          <p:cNvSpPr/>
          <p:nvPr/>
        </p:nvSpPr>
        <p:spPr>
          <a:xfrm>
            <a:off x="6382463" y="4566695"/>
            <a:ext cx="2625060" cy="198922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Website diagnosis &amp; funnel analysis of website sections related to </a:t>
            </a:r>
            <a:r>
              <a:rPr lang="en-IN" sz="1200" dirty="0" smtClean="0">
                <a:solidFill>
                  <a:srgbClr val="000000"/>
                </a:solidFill>
                <a:latin typeface="Leelawadee" panose="020B0502040204020203" pitchFamily="34" charset="-34"/>
                <a:cs typeface="Leelawadee" panose="020B0502040204020203" pitchFamily="34" charset="-34"/>
              </a:rPr>
              <a:t>Product pages and planning tools  </a:t>
            </a: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Website feature analysis for customer </a:t>
            </a:r>
            <a:r>
              <a:rPr lang="en-IN" sz="1200" dirty="0" smtClean="0">
                <a:solidFill>
                  <a:srgbClr val="000000"/>
                </a:solidFill>
                <a:latin typeface="Leelawadee" panose="020B0502040204020203" pitchFamily="34" charset="-34"/>
                <a:cs typeface="Leelawadee" panose="020B0502040204020203" pitchFamily="34" charset="-34"/>
              </a:rPr>
              <a:t>portal and relevant </a:t>
            </a:r>
            <a:r>
              <a:rPr lang="en-IN" sz="1200" dirty="0">
                <a:solidFill>
                  <a:srgbClr val="000000"/>
                </a:solidFill>
                <a:latin typeface="Leelawadee" panose="020B0502040204020203" pitchFamily="34" charset="-34"/>
                <a:cs typeface="Leelawadee" panose="020B0502040204020203" pitchFamily="34" charset="-34"/>
              </a:rPr>
              <a:t>sections</a:t>
            </a: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Industry benchmarking &amp; best practices</a:t>
            </a:r>
          </a:p>
        </p:txBody>
      </p:sp>
      <p:sp>
        <p:nvSpPr>
          <p:cNvPr id="22" name="Rounded Rectangle 21"/>
          <p:cNvSpPr/>
          <p:nvPr/>
        </p:nvSpPr>
        <p:spPr>
          <a:xfrm>
            <a:off x="6342305" y="1863485"/>
            <a:ext cx="2665217" cy="183107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fontAlgn="ctr"/>
            <a:endParaRPr lang="en-IN" sz="1200" dirty="0">
              <a:solidFill>
                <a:srgbClr val="000000"/>
              </a:solidFill>
              <a:latin typeface="Leelawadee" panose="020B0502040204020203" pitchFamily="34" charset="-34"/>
              <a:cs typeface="Leelawadee" panose="020B0502040204020203" pitchFamily="34" charset="-34"/>
            </a:endParaRPr>
          </a:p>
          <a:p>
            <a:pPr fontAlgn="ct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Does Tata AIA Website enables customer in decision making through its Products pages and Planning Tools ?</a:t>
            </a:r>
          </a:p>
          <a:p>
            <a:pPr marL="171450" indent="-171450" fontAlgn="ctr">
              <a:buFont typeface="Arial" panose="020B0604020202020204" pitchFamily="34" charset="0"/>
              <a:buChar char="•"/>
            </a:pPr>
            <a:endParaRPr lang="en-IN" sz="1200" dirty="0" smtClean="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Does current customer portal enables user to perform smooth transactions online ?</a:t>
            </a:r>
          </a:p>
          <a:p>
            <a:pPr fontAlgn="ctr"/>
            <a:endParaRPr lang="en-IN" sz="1200" dirty="0">
              <a:solidFill>
                <a:srgbClr val="000000"/>
              </a:solidFill>
              <a:latin typeface="Leelawadee" panose="020B0502040204020203" pitchFamily="34" charset="-34"/>
              <a:cs typeface="Leelawadee" panose="020B0502040204020203" pitchFamily="34" charset="-34"/>
            </a:endParaRPr>
          </a:p>
          <a:p>
            <a:pPr fontAlgn="ctr"/>
            <a:r>
              <a:rPr lang="en-IN" sz="1200" dirty="0" smtClean="0">
                <a:solidFill>
                  <a:srgbClr val="000000"/>
                </a:solidFill>
                <a:latin typeface="Leelawadee" panose="020B0502040204020203" pitchFamily="34" charset="-34"/>
                <a:cs typeface="Leelawadee" panose="020B0502040204020203" pitchFamily="34" charset="-34"/>
              </a:rPr>
              <a:t> </a:t>
            </a:r>
            <a:endParaRPr lang="en-IN" sz="1200" dirty="0">
              <a:solidFill>
                <a:srgbClr val="000000"/>
              </a:solidFill>
              <a:latin typeface="Leelawadee" panose="020B0502040204020203" pitchFamily="34" charset="-34"/>
              <a:cs typeface="Leelawadee" panose="020B0502040204020203" pitchFamily="34" charset="-34"/>
            </a:endParaRPr>
          </a:p>
        </p:txBody>
      </p:sp>
      <p:sp>
        <p:nvSpPr>
          <p:cNvPr id="23" name="Rounded Rectangle 22"/>
          <p:cNvSpPr/>
          <p:nvPr/>
        </p:nvSpPr>
        <p:spPr>
          <a:xfrm>
            <a:off x="9327140" y="1852315"/>
            <a:ext cx="2549028" cy="184224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fontAlgn="ctr"/>
            <a:endParaRPr lang="en-IN" sz="1200" dirty="0" smtClean="0">
              <a:solidFill>
                <a:srgbClr val="000000"/>
              </a:solidFill>
              <a:latin typeface="Leelawadee" panose="020B0502040204020203" pitchFamily="34" charset="-34"/>
              <a:cs typeface="Leelawadee" panose="020B0502040204020203" pitchFamily="34" charset="-34"/>
            </a:endParaRPr>
          </a:p>
          <a:p>
            <a:pPr fontAlgn="ct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endParaRPr lang="en-IN" sz="1200" dirty="0" smtClean="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endParaRPr lang="en-IN" sz="1200" dirty="0" smtClean="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How do we stand in digital marketing strategy vis a vis  competition ?</a:t>
            </a:r>
          </a:p>
          <a:p>
            <a:pPr marL="171450" indent="-171450" fontAlgn="ctr">
              <a:buFont typeface="Arial" panose="020B0604020202020204" pitchFamily="34" charset="0"/>
              <a:buChar char="•"/>
            </a:pP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How do competitor utilize digital assets in integrated manner to achieve higher brand awareness and conversion ?</a:t>
            </a:r>
          </a:p>
          <a:p>
            <a:pPr fontAlgn="ctr"/>
            <a:endParaRPr lang="en-IN" sz="1200" dirty="0">
              <a:solidFill>
                <a:srgbClr val="000000"/>
              </a:solidFill>
              <a:latin typeface="Leelawadee" panose="020B0502040204020203" pitchFamily="34" charset="-34"/>
              <a:cs typeface="Leelawadee" panose="020B0502040204020203" pitchFamily="34" charset="-34"/>
            </a:endParaRPr>
          </a:p>
          <a:p>
            <a:pPr fontAlgn="ctr"/>
            <a:endParaRPr lang="en-IN" sz="1200" dirty="0">
              <a:solidFill>
                <a:srgbClr val="000000"/>
              </a:solidFill>
              <a:latin typeface="Leelawadee" panose="020B0502040204020203" pitchFamily="34" charset="-34"/>
              <a:cs typeface="Leelawadee" panose="020B0502040204020203" pitchFamily="34" charset="-34"/>
            </a:endParaRPr>
          </a:p>
          <a:p>
            <a:pPr fontAlgn="ctr"/>
            <a:endParaRPr lang="en-IN" sz="1200" dirty="0" smtClean="0">
              <a:solidFill>
                <a:srgbClr val="000000"/>
              </a:solidFill>
              <a:latin typeface="Leelawadee" panose="020B0502040204020203" pitchFamily="34" charset="-34"/>
              <a:cs typeface="Leelawadee" panose="020B0502040204020203" pitchFamily="34" charset="-34"/>
            </a:endParaRPr>
          </a:p>
          <a:p>
            <a:pPr fontAlgn="ctr"/>
            <a:endParaRPr lang="en-IN" sz="1200" dirty="0">
              <a:solidFill>
                <a:srgbClr val="000000"/>
              </a:solidFill>
              <a:latin typeface="Leelawadee" panose="020B0502040204020203" pitchFamily="34" charset="-34"/>
              <a:cs typeface="Leelawadee" panose="020B0502040204020203" pitchFamily="34" charset="-34"/>
            </a:endParaRPr>
          </a:p>
          <a:p>
            <a:pPr fontAlgn="ctr"/>
            <a:r>
              <a:rPr lang="en-IN" sz="1200" dirty="0" smtClean="0">
                <a:solidFill>
                  <a:srgbClr val="000000"/>
                </a:solidFill>
                <a:latin typeface="Leelawadee" panose="020B0502040204020203" pitchFamily="34" charset="-34"/>
                <a:cs typeface="Leelawadee" panose="020B0502040204020203" pitchFamily="34" charset="-34"/>
              </a:rPr>
              <a:t> </a:t>
            </a:r>
            <a:endParaRPr lang="en-IN" sz="1200" dirty="0">
              <a:solidFill>
                <a:srgbClr val="000000"/>
              </a:solidFill>
              <a:latin typeface="Leelawadee" panose="020B0502040204020203" pitchFamily="34" charset="-34"/>
              <a:cs typeface="Leelawadee" panose="020B0502040204020203" pitchFamily="34" charset="-34"/>
            </a:endParaRPr>
          </a:p>
        </p:txBody>
      </p:sp>
      <p:sp>
        <p:nvSpPr>
          <p:cNvPr id="25" name="Rectangle 24"/>
          <p:cNvSpPr/>
          <p:nvPr/>
        </p:nvSpPr>
        <p:spPr>
          <a:xfrm>
            <a:off x="292786" y="1020454"/>
            <a:ext cx="2657747" cy="271828"/>
          </a:xfrm>
          <a:prstGeom prst="rect">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600" b="1" dirty="0" smtClean="0">
                <a:solidFill>
                  <a:prstClr val="white"/>
                </a:solidFill>
                <a:latin typeface="Leelawadee UI" panose="020B0502040204020203" pitchFamily="34" charset="-34"/>
                <a:cs typeface="Leelawadee UI" panose="020B0502040204020203" pitchFamily="34" charset="-34"/>
              </a:rPr>
              <a:t>1.Mobile </a:t>
            </a:r>
            <a:endParaRPr lang="en-US" sz="1600" b="1" dirty="0">
              <a:solidFill>
                <a:prstClr val="white"/>
              </a:solidFill>
              <a:latin typeface="Leelawadee UI" panose="020B0502040204020203" pitchFamily="34" charset="-34"/>
              <a:cs typeface="Leelawadee UI" panose="020B0502040204020203" pitchFamily="34" charset="-34"/>
            </a:endParaRPr>
          </a:p>
        </p:txBody>
      </p:sp>
      <p:sp>
        <p:nvSpPr>
          <p:cNvPr id="26" name="Rectangle 25"/>
          <p:cNvSpPr/>
          <p:nvPr/>
        </p:nvSpPr>
        <p:spPr>
          <a:xfrm>
            <a:off x="3360254" y="1034147"/>
            <a:ext cx="2657747" cy="271828"/>
          </a:xfrm>
          <a:prstGeom prst="rect">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600" b="1" dirty="0" smtClean="0">
                <a:solidFill>
                  <a:prstClr val="white"/>
                </a:solidFill>
                <a:latin typeface="Leelawadee UI" panose="020B0502040204020203" pitchFamily="34" charset="-34"/>
                <a:cs typeface="Leelawadee UI" panose="020B0502040204020203" pitchFamily="34" charset="-34"/>
              </a:rPr>
              <a:t>2.Customer Service</a:t>
            </a:r>
            <a:endParaRPr lang="en-US" sz="1600" b="1" dirty="0">
              <a:solidFill>
                <a:prstClr val="white"/>
              </a:solidFill>
              <a:latin typeface="Leelawadee UI" panose="020B0502040204020203" pitchFamily="34" charset="-34"/>
              <a:cs typeface="Leelawadee UI" panose="020B0502040204020203" pitchFamily="34" charset="-34"/>
            </a:endParaRPr>
          </a:p>
        </p:txBody>
      </p:sp>
      <p:sp>
        <p:nvSpPr>
          <p:cNvPr id="27" name="Rectangle 26"/>
          <p:cNvSpPr/>
          <p:nvPr/>
        </p:nvSpPr>
        <p:spPr>
          <a:xfrm>
            <a:off x="6335911" y="1010380"/>
            <a:ext cx="2657747" cy="271828"/>
          </a:xfrm>
          <a:prstGeom prst="rect">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600" b="1" dirty="0" smtClean="0">
                <a:solidFill>
                  <a:prstClr val="white"/>
                </a:solidFill>
                <a:latin typeface="Leelawadee UI" panose="020B0502040204020203" pitchFamily="34" charset="-34"/>
                <a:cs typeface="Leelawadee UI" panose="020B0502040204020203" pitchFamily="34" charset="-34"/>
              </a:rPr>
              <a:t>3.Customer Acquisition</a:t>
            </a:r>
            <a:endParaRPr lang="en-US" sz="1600" b="1" dirty="0">
              <a:solidFill>
                <a:prstClr val="white"/>
              </a:solidFill>
              <a:latin typeface="Leelawadee UI" panose="020B0502040204020203" pitchFamily="34" charset="-34"/>
              <a:cs typeface="Leelawadee UI" panose="020B0502040204020203" pitchFamily="34" charset="-34"/>
            </a:endParaRPr>
          </a:p>
        </p:txBody>
      </p:sp>
      <p:sp>
        <p:nvSpPr>
          <p:cNvPr id="28" name="Rectangle 27"/>
          <p:cNvSpPr/>
          <p:nvPr/>
        </p:nvSpPr>
        <p:spPr>
          <a:xfrm>
            <a:off x="9218422" y="1026034"/>
            <a:ext cx="2657747" cy="271828"/>
          </a:xfrm>
          <a:prstGeom prst="rect">
            <a:avLst/>
          </a:prstGeom>
          <a:solidFill>
            <a:schemeClr val="tx1">
              <a:lumMod val="95000"/>
              <a:lumOff val="5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r>
              <a:rPr lang="en-US" sz="1600" b="1" dirty="0" smtClean="0">
                <a:solidFill>
                  <a:prstClr val="white"/>
                </a:solidFill>
                <a:latin typeface="Leelawadee UI" panose="020B0502040204020203" pitchFamily="34" charset="-34"/>
                <a:cs typeface="Leelawadee UI" panose="020B0502040204020203" pitchFamily="34" charset="-34"/>
              </a:rPr>
              <a:t>4.Digital Fabric </a:t>
            </a:r>
            <a:endParaRPr lang="en-US" sz="1600" b="1" dirty="0">
              <a:solidFill>
                <a:prstClr val="white"/>
              </a:solidFill>
              <a:latin typeface="Leelawadee UI" panose="020B0502040204020203" pitchFamily="34" charset="-34"/>
              <a:cs typeface="Leelawadee UI" panose="020B0502040204020203" pitchFamily="34" charset="-34"/>
            </a:endParaRPr>
          </a:p>
        </p:txBody>
      </p:sp>
      <p:sp>
        <p:nvSpPr>
          <p:cNvPr id="29" name="Rounded Rectangle 28"/>
          <p:cNvSpPr/>
          <p:nvPr/>
        </p:nvSpPr>
        <p:spPr>
          <a:xfrm>
            <a:off x="9327139" y="4567482"/>
            <a:ext cx="2549029" cy="199565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Digital Campaign Analysis for Tata AIA and competition across channels   </a:t>
            </a:r>
          </a:p>
          <a:p>
            <a:pPr marL="171450" indent="-171450" fontAlgn="ctr">
              <a:buFont typeface="Arial" panose="020B0604020202020204" pitchFamily="34" charset="0"/>
              <a:buChar char="•"/>
            </a:pPr>
            <a:r>
              <a:rPr lang="en-IN" sz="1200" dirty="0" smtClean="0">
                <a:solidFill>
                  <a:srgbClr val="000000"/>
                </a:solidFill>
                <a:latin typeface="Leelawadee" panose="020B0502040204020203" pitchFamily="34" charset="-34"/>
                <a:cs typeface="Leelawadee" panose="020B0502040204020203" pitchFamily="34" charset="-34"/>
              </a:rPr>
              <a:t>Website diagnosis and funnels analysis for various marketing channels </a:t>
            </a:r>
            <a:endParaRPr lang="en-IN" sz="1200" dirty="0">
              <a:solidFill>
                <a:srgbClr val="000000"/>
              </a:solidFill>
              <a:latin typeface="Leelawadee" panose="020B0502040204020203" pitchFamily="34" charset="-34"/>
              <a:cs typeface="Leelawadee" panose="020B0502040204020203" pitchFamily="34" charset="-34"/>
            </a:endParaRPr>
          </a:p>
          <a:p>
            <a:pPr marL="171450" indent="-171450" fontAlgn="ctr">
              <a:buFont typeface="Arial" panose="020B0604020202020204" pitchFamily="34" charset="0"/>
              <a:buChar char="•"/>
            </a:pPr>
            <a:r>
              <a:rPr lang="en-IN" sz="1200" dirty="0">
                <a:solidFill>
                  <a:srgbClr val="000000"/>
                </a:solidFill>
                <a:latin typeface="Leelawadee" panose="020B0502040204020203" pitchFamily="34" charset="-34"/>
                <a:cs typeface="Leelawadee" panose="020B0502040204020203" pitchFamily="34" charset="-34"/>
              </a:rPr>
              <a:t>Industry benchmarking &amp; best practices</a:t>
            </a:r>
          </a:p>
        </p:txBody>
      </p:sp>
      <p:cxnSp>
        <p:nvCxnSpPr>
          <p:cNvPr id="4" name="Straight Connector 3"/>
          <p:cNvCxnSpPr/>
          <p:nvPr/>
        </p:nvCxnSpPr>
        <p:spPr>
          <a:xfrm flipV="1">
            <a:off x="292786" y="3899647"/>
            <a:ext cx="11715438" cy="13447"/>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5261764" y="4007223"/>
            <a:ext cx="2012787" cy="369332"/>
          </a:xfrm>
          <a:prstGeom prst="rect">
            <a:avLst/>
          </a:prstGeom>
          <a:solidFill>
            <a:schemeClr val="bg1"/>
          </a:solidFill>
        </p:spPr>
        <p:txBody>
          <a:bodyPr wrap="square" rtlCol="0">
            <a:spAutoFit/>
          </a:bodyPr>
          <a:lstStyle/>
          <a:p>
            <a:r>
              <a:rPr lang="en-IN" dirty="0" smtClean="0">
                <a:solidFill>
                  <a:schemeClr val="accent4">
                    <a:lumMod val="50000"/>
                  </a:schemeClr>
                </a:solidFill>
              </a:rPr>
              <a:t>Deliverable Scope</a:t>
            </a:r>
            <a:endParaRPr lang="en-IN" dirty="0">
              <a:solidFill>
                <a:schemeClr val="accent4">
                  <a:lumMod val="50000"/>
                </a:schemeClr>
              </a:solidFill>
            </a:endParaRPr>
          </a:p>
        </p:txBody>
      </p:sp>
      <p:sp>
        <p:nvSpPr>
          <p:cNvPr id="30" name="TextBox 29"/>
          <p:cNvSpPr txBox="1"/>
          <p:nvPr/>
        </p:nvSpPr>
        <p:spPr>
          <a:xfrm>
            <a:off x="5139112" y="1429194"/>
            <a:ext cx="2135439" cy="369332"/>
          </a:xfrm>
          <a:prstGeom prst="rect">
            <a:avLst/>
          </a:prstGeom>
          <a:solidFill>
            <a:schemeClr val="bg1"/>
          </a:solidFill>
        </p:spPr>
        <p:txBody>
          <a:bodyPr wrap="square" rtlCol="0">
            <a:spAutoFit/>
          </a:bodyPr>
          <a:lstStyle/>
          <a:p>
            <a:r>
              <a:rPr lang="en-IN" dirty="0" smtClean="0">
                <a:solidFill>
                  <a:schemeClr val="accent4">
                    <a:lumMod val="50000"/>
                  </a:schemeClr>
                </a:solidFill>
              </a:rPr>
              <a:t>Business Relevancy </a:t>
            </a:r>
            <a:endParaRPr lang="en-IN" dirty="0">
              <a:solidFill>
                <a:schemeClr val="accent4">
                  <a:lumMod val="50000"/>
                </a:schemeClr>
              </a:solidFill>
            </a:endParaRPr>
          </a:p>
        </p:txBody>
      </p:sp>
      <p:cxnSp>
        <p:nvCxnSpPr>
          <p:cNvPr id="14" name="Straight Connector 13"/>
          <p:cNvCxnSpPr/>
          <p:nvPr/>
        </p:nvCxnSpPr>
        <p:spPr>
          <a:xfrm>
            <a:off x="3119718" y="1030182"/>
            <a:ext cx="40341" cy="570001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9130919" y="971800"/>
            <a:ext cx="40341" cy="5700015"/>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7543531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658980" y="6576506"/>
            <a:ext cx="2743200" cy="365125"/>
          </a:xfrm>
        </p:spPr>
        <p:txBody>
          <a:bodyPr/>
          <a:lstStyle/>
          <a:p>
            <a:fld id="{D57F1E4F-1CFF-5643-939E-217C01CDF565}" type="slidenum">
              <a:rPr lang="en-US" smtClean="0">
                <a:solidFill>
                  <a:srgbClr val="0E5580"/>
                </a:solidFill>
              </a:rPr>
              <a:pPr/>
              <a:t>5</a:t>
            </a:fld>
            <a:endParaRPr lang="en-US" dirty="0">
              <a:solidFill>
                <a:srgbClr val="0E5580"/>
              </a:solidFill>
            </a:endParaRPr>
          </a:p>
        </p:txBody>
      </p:sp>
      <p:grpSp>
        <p:nvGrpSpPr>
          <p:cNvPr id="6" name="Group 5"/>
          <p:cNvGrpSpPr/>
          <p:nvPr/>
        </p:nvGrpSpPr>
        <p:grpSpPr>
          <a:xfrm>
            <a:off x="11609" y="197969"/>
            <a:ext cx="12192000" cy="605447"/>
            <a:chOff x="1" y="155960"/>
            <a:chExt cx="12192000" cy="1131320"/>
          </a:xfrm>
        </p:grpSpPr>
        <p:sp>
          <p:nvSpPr>
            <p:cNvPr id="7" name="Rectangle 6"/>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8" name="Rectangle 7"/>
            <p:cNvSpPr/>
            <p:nvPr/>
          </p:nvSpPr>
          <p:spPr>
            <a:xfrm>
              <a:off x="2923435" y="216206"/>
              <a:ext cx="6345200"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Project Scope Mapped to Business Themes</a:t>
              </a:r>
            </a:p>
          </p:txBody>
        </p:sp>
        <p:grpSp>
          <p:nvGrpSpPr>
            <p:cNvPr id="9" name="Group 8"/>
            <p:cNvGrpSpPr/>
            <p:nvPr/>
          </p:nvGrpSpPr>
          <p:grpSpPr>
            <a:xfrm>
              <a:off x="1" y="155960"/>
              <a:ext cx="12192000" cy="1131320"/>
              <a:chOff x="2424113" y="242463"/>
              <a:chExt cx="7343775" cy="1189679"/>
            </a:xfrm>
          </p:grpSpPr>
          <p:cxnSp>
            <p:nvCxnSpPr>
              <p:cNvPr id="10" name="Straight Connector 9"/>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 name="Table 1"/>
          <p:cNvGraphicFramePr>
            <a:graphicFrameLocks noGrp="1"/>
          </p:cNvGraphicFramePr>
          <p:nvPr>
            <p:extLst>
              <p:ext uri="{D42A27DB-BD31-4B8C-83A1-F6EECF244321}">
                <p14:modId xmlns:p14="http://schemas.microsoft.com/office/powerpoint/2010/main" val="314402644"/>
              </p:ext>
            </p:extLst>
          </p:nvPr>
        </p:nvGraphicFramePr>
        <p:xfrm>
          <a:off x="382716" y="1663552"/>
          <a:ext cx="11220255" cy="4508652"/>
        </p:xfrm>
        <a:graphic>
          <a:graphicData uri="http://schemas.openxmlformats.org/drawingml/2006/table">
            <a:tbl>
              <a:tblPr>
                <a:tableStyleId>{5940675A-B579-460E-94D1-54222C63F5DA}</a:tableStyleId>
              </a:tblPr>
              <a:tblGrid>
                <a:gridCol w="1098170"/>
                <a:gridCol w="1014475"/>
                <a:gridCol w="1102927"/>
                <a:gridCol w="1102925"/>
                <a:gridCol w="1273965"/>
                <a:gridCol w="1335164"/>
                <a:gridCol w="1435662"/>
                <a:gridCol w="1335164"/>
                <a:gridCol w="1521803"/>
              </a:tblGrid>
              <a:tr h="917048">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Month</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a:effectLst/>
                          <a:latin typeface="Leelawadee" panose="020B0502040204020203" pitchFamily="34" charset="-34"/>
                          <a:cs typeface="Leelawadee" panose="020B0502040204020203" pitchFamily="34" charset="-34"/>
                        </a:rPr>
                        <a:t>Theme 1</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a:effectLst/>
                          <a:latin typeface="Leelawadee" panose="020B0502040204020203" pitchFamily="34" charset="-34"/>
                          <a:cs typeface="Leelawadee" panose="020B0502040204020203" pitchFamily="34" charset="-34"/>
                        </a:rPr>
                        <a:t>Theme 2</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a:effectLst/>
                          <a:latin typeface="Leelawadee" panose="020B0502040204020203" pitchFamily="34" charset="-34"/>
                          <a:cs typeface="Leelawadee" panose="020B0502040204020203" pitchFamily="34" charset="-34"/>
                        </a:rPr>
                        <a:t>Theme 3</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a:effectLst/>
                          <a:latin typeface="Leelawadee" panose="020B0502040204020203" pitchFamily="34" charset="-34"/>
                          <a:cs typeface="Leelawadee" panose="020B0502040204020203" pitchFamily="34" charset="-34"/>
                        </a:rPr>
                        <a:t>Theme 4</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a:effectLst/>
                          <a:latin typeface="Leelawadee" panose="020B0502040204020203" pitchFamily="34" charset="-34"/>
                          <a:cs typeface="Leelawadee" panose="020B0502040204020203" pitchFamily="34" charset="-34"/>
                        </a:rPr>
                        <a:t>Website  Diagnosis</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Lead Funnel </a:t>
                      </a:r>
                      <a:r>
                        <a:rPr lang="en-IN" sz="1400" u="none" strike="noStrike" dirty="0" smtClean="0">
                          <a:effectLst/>
                          <a:latin typeface="Leelawadee" panose="020B0502040204020203" pitchFamily="34" charset="-34"/>
                          <a:cs typeface="Leelawadee" panose="020B0502040204020203" pitchFamily="34" charset="-34"/>
                        </a:rPr>
                        <a:t>Analysis*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Website Feature </a:t>
                      </a:r>
                      <a:r>
                        <a:rPr lang="en-IN" sz="1400" u="none" strike="noStrike" dirty="0" smtClean="0">
                          <a:effectLst/>
                          <a:latin typeface="Leelawadee" panose="020B0502040204020203" pitchFamily="34" charset="-34"/>
                          <a:cs typeface="Leelawadee" panose="020B0502040204020203" pitchFamily="34" charset="-34"/>
                        </a:rPr>
                        <a:t>Analysis*</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ctr" fontAlgn="ctr"/>
                      <a:r>
                        <a:rPr lang="en-IN" sz="1400" u="none" strike="noStrike" dirty="0" err="1" smtClean="0">
                          <a:effectLst/>
                          <a:latin typeface="Leelawadee" panose="020B0502040204020203" pitchFamily="34" charset="-34"/>
                          <a:cs typeface="Leelawadee" panose="020B0502040204020203" pitchFamily="34" charset="-34"/>
                        </a:rPr>
                        <a:t>DigiSights</a:t>
                      </a:r>
                      <a:r>
                        <a:rPr lang="en-IN" sz="1400" u="none" strike="noStrike" dirty="0" smtClean="0">
                          <a:effectLst/>
                          <a:latin typeface="Leelawadee" panose="020B0502040204020203" pitchFamily="34" charset="-34"/>
                          <a:cs typeface="Leelawadee" panose="020B0502040204020203" pitchFamily="34" charset="-34"/>
                        </a:rPr>
                        <a:t> – Digital Competitive Insights</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Jun-16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Jul-16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bg1"/>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r>
              <a:tr h="378933">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Aug-16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Sep-16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Oct-16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Nov-16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bg1"/>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Dec-16</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Jan-17</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bg1"/>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Feb-17</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Mar-17</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r h="292061">
                <a:tc>
                  <a:txBody>
                    <a:bodyPr/>
                    <a:lstStyle/>
                    <a:p>
                      <a:pPr algn="ctr" fontAlgn="ctr"/>
                      <a:r>
                        <a:rPr lang="en-IN" sz="1400" u="none" strike="noStrike" dirty="0">
                          <a:effectLst/>
                          <a:latin typeface="Leelawadee" panose="020B0502040204020203" pitchFamily="34" charset="-34"/>
                          <a:cs typeface="Leelawadee" panose="020B0502040204020203" pitchFamily="34" charset="-34"/>
                        </a:rPr>
                        <a:t>Apr-17</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bg1"/>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r>
              <a:tr h="292061">
                <a:tc>
                  <a:txBody>
                    <a:bodyPr/>
                    <a:lstStyle/>
                    <a:p>
                      <a:pPr algn="ctr" fontAlgn="ctr"/>
                      <a:r>
                        <a:rPr lang="en-IN" sz="1400" u="none" strike="noStrike" dirty="0" smtClean="0">
                          <a:effectLst/>
                          <a:latin typeface="Leelawadee" panose="020B0502040204020203" pitchFamily="34" charset="-34"/>
                          <a:cs typeface="Leelawadee" panose="020B0502040204020203" pitchFamily="34" charset="-34"/>
                        </a:rPr>
                        <a:t>May-17</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a:effectLst/>
                          <a:latin typeface="Leelawadee" panose="020B0502040204020203" pitchFamily="34" charset="-34"/>
                          <a:cs typeface="Leelawadee" panose="020B0502040204020203" pitchFamily="34" charset="-34"/>
                        </a:rPr>
                        <a:t> </a:t>
                      </a:r>
                      <a:endParaRPr lang="en-IN" sz="1400" b="0" i="0" u="none" strike="noStrike">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1">
                        <a:lumMod val="60000"/>
                        <a:lumOff val="4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solidFill>
                      <a:schemeClr val="accent6">
                        <a:lumMod val="40000"/>
                        <a:lumOff val="60000"/>
                      </a:schemeClr>
                    </a:solid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noFill/>
                  </a:tcPr>
                </a:tc>
                <a:tc>
                  <a:txBody>
                    <a:bodyPr/>
                    <a:lstStyle/>
                    <a:p>
                      <a:pPr algn="l" fontAlgn="ctr"/>
                      <a:r>
                        <a:rPr lang="en-IN" sz="1400" u="none" strike="noStrike" dirty="0">
                          <a:effectLst/>
                          <a:latin typeface="Leelawadee" panose="020B0502040204020203" pitchFamily="34" charset="-34"/>
                          <a:cs typeface="Leelawadee" panose="020B0502040204020203" pitchFamily="34" charset="-34"/>
                        </a:rPr>
                        <a:t> </a:t>
                      </a:r>
                      <a:endParaRPr lang="en-IN" sz="1400" b="0" i="0" u="none" strike="noStrike" dirty="0">
                        <a:solidFill>
                          <a:srgbClr val="000000"/>
                        </a:solidFill>
                        <a:effectLst/>
                        <a:latin typeface="Leelawadee" panose="020B0502040204020203" pitchFamily="34" charset="-34"/>
                        <a:cs typeface="Leelawadee" panose="020B0502040204020203" pitchFamily="34" charset="-34"/>
                      </a:endParaRPr>
                    </a:p>
                  </a:txBody>
                  <a:tcPr marL="7468" marR="7468" marT="7468" marB="0" anchor="ctr"/>
                </a:tc>
              </a:tr>
            </a:tbl>
          </a:graphicData>
        </a:graphic>
      </p:graphicFrame>
      <p:cxnSp>
        <p:nvCxnSpPr>
          <p:cNvPr id="4" name="Straight Arrow Connector 3"/>
          <p:cNvCxnSpPr/>
          <p:nvPr/>
        </p:nvCxnSpPr>
        <p:spPr>
          <a:xfrm>
            <a:off x="1695646" y="1463563"/>
            <a:ext cx="3603811" cy="1344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5992843" y="1463563"/>
            <a:ext cx="529952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676959" y="1059084"/>
            <a:ext cx="1990165" cy="338554"/>
          </a:xfrm>
          <a:prstGeom prst="rect">
            <a:avLst/>
          </a:prstGeom>
          <a:noFill/>
        </p:spPr>
        <p:txBody>
          <a:bodyPr wrap="square" rtlCol="0">
            <a:spAutoFit/>
          </a:bodyPr>
          <a:lstStyle/>
          <a:p>
            <a:pPr algn="ctr"/>
            <a:r>
              <a:rPr lang="en-IN" sz="1600" dirty="0" smtClean="0"/>
              <a:t>Business Themes</a:t>
            </a:r>
            <a:endParaRPr lang="en-IN" sz="1600" dirty="0"/>
          </a:p>
        </p:txBody>
      </p:sp>
      <p:sp>
        <p:nvSpPr>
          <p:cNvPr id="16" name="TextBox 15"/>
          <p:cNvSpPr txBox="1"/>
          <p:nvPr/>
        </p:nvSpPr>
        <p:spPr>
          <a:xfrm>
            <a:off x="6185647" y="1055798"/>
            <a:ext cx="5106716" cy="338554"/>
          </a:xfrm>
          <a:prstGeom prst="rect">
            <a:avLst/>
          </a:prstGeom>
          <a:noFill/>
        </p:spPr>
        <p:txBody>
          <a:bodyPr wrap="square" rtlCol="0">
            <a:spAutoFit/>
          </a:bodyPr>
          <a:lstStyle/>
          <a:p>
            <a:pPr algn="ctr"/>
            <a:r>
              <a:rPr lang="en-IN" sz="1600" dirty="0" smtClean="0"/>
              <a:t>Deliverables (Web Analytics + Digital Competitive Insights)</a:t>
            </a:r>
            <a:endParaRPr lang="en-IN" sz="1600" dirty="0"/>
          </a:p>
        </p:txBody>
      </p:sp>
      <p:sp>
        <p:nvSpPr>
          <p:cNvPr id="3" name="TextBox 2"/>
          <p:cNvSpPr txBox="1"/>
          <p:nvPr/>
        </p:nvSpPr>
        <p:spPr>
          <a:xfrm>
            <a:off x="382717" y="6372193"/>
            <a:ext cx="11122500" cy="307777"/>
          </a:xfrm>
          <a:prstGeom prst="rect">
            <a:avLst/>
          </a:prstGeom>
          <a:noFill/>
        </p:spPr>
        <p:txBody>
          <a:bodyPr wrap="square" rtlCol="0">
            <a:spAutoFit/>
          </a:bodyPr>
          <a:lstStyle/>
          <a:p>
            <a:r>
              <a:rPr lang="en-IN" sz="1400" dirty="0" smtClean="0"/>
              <a:t>*‘Website feature analysis’ and ‘Lead funnel analysis’ are dependent on data availability from Adobe Analytics post implementation of  custom tracking </a:t>
            </a:r>
            <a:endParaRPr lang="en-IN" sz="1400" dirty="0"/>
          </a:p>
        </p:txBody>
      </p:sp>
    </p:spTree>
    <p:extLst>
      <p:ext uri="{BB962C8B-B14F-4D97-AF65-F5344CB8AC3E}">
        <p14:creationId xmlns:p14="http://schemas.microsoft.com/office/powerpoint/2010/main" val="33440419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graphicFrame>
        <p:nvGraphicFramePr>
          <p:cNvPr id="21" name="Table 20"/>
          <p:cNvGraphicFramePr>
            <a:graphicFrameLocks noGrp="1"/>
          </p:cNvGraphicFramePr>
          <p:nvPr>
            <p:extLst>
              <p:ext uri="{D42A27DB-BD31-4B8C-83A1-F6EECF244321}">
                <p14:modId xmlns:p14="http://schemas.microsoft.com/office/powerpoint/2010/main" val="3330924738"/>
              </p:ext>
            </p:extLst>
          </p:nvPr>
        </p:nvGraphicFramePr>
        <p:xfrm>
          <a:off x="492696" y="1408863"/>
          <a:ext cx="11353492" cy="4699442"/>
        </p:xfrm>
        <a:graphic>
          <a:graphicData uri="http://schemas.openxmlformats.org/drawingml/2006/table">
            <a:tbl>
              <a:tblPr firstRow="1" bandRow="1">
                <a:tableStyleId>{BC89EF96-8CEA-46FF-86C4-4CE0E7609802}</a:tableStyleId>
              </a:tblPr>
              <a:tblGrid>
                <a:gridCol w="3569757"/>
                <a:gridCol w="7783735"/>
              </a:tblGrid>
              <a:tr h="451708">
                <a:tc>
                  <a:txBody>
                    <a:bodyPr/>
                    <a:lstStyle/>
                    <a:p>
                      <a:pPr algn="ctr"/>
                      <a:r>
                        <a:rPr lang="en-IN" sz="1600" dirty="0" smtClean="0">
                          <a:latin typeface="Leelawadee" panose="020B0502040204020203" pitchFamily="34" charset="-34"/>
                          <a:cs typeface="Leelawadee" panose="020B0502040204020203" pitchFamily="34" charset="-34"/>
                        </a:rPr>
                        <a:t>          </a:t>
                      </a:r>
                      <a:r>
                        <a:rPr lang="en-IN" sz="1600" baseline="0" dirty="0" smtClean="0">
                          <a:latin typeface="Leelawadee" panose="020B0502040204020203" pitchFamily="34" charset="-34"/>
                          <a:cs typeface="Leelawadee" panose="020B0502040204020203" pitchFamily="34" charset="-34"/>
                        </a:rPr>
                        <a:t>Area </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Output</a:t>
                      </a:r>
                      <a:endParaRPr lang="en-IN" sz="1600" dirty="0">
                        <a:latin typeface="Leelawadee" panose="020B0502040204020203" pitchFamily="34" charset="-34"/>
                        <a:cs typeface="Leelawadee" panose="020B0502040204020203" pitchFamily="34" charset="-34"/>
                      </a:endParaRPr>
                    </a:p>
                  </a:txBody>
                  <a:tcPr anchor="ctr"/>
                </a:tc>
              </a:tr>
              <a:tr h="958254">
                <a:tc>
                  <a:txBody>
                    <a:bodyPr/>
                    <a:lstStyle/>
                    <a:p>
                      <a:pPr algn="ctr"/>
                      <a:r>
                        <a:rPr lang="en-IN" sz="1400" b="1" dirty="0" smtClean="0">
                          <a:latin typeface="Leelawadee" panose="020B0502040204020203" pitchFamily="34" charset="-34"/>
                          <a:cs typeface="Leelawadee" panose="020B0502040204020203" pitchFamily="34" charset="-34"/>
                        </a:rPr>
                        <a:t>              Website</a:t>
                      </a:r>
                      <a:r>
                        <a:rPr lang="en-IN" sz="1400" b="1" baseline="0" dirty="0" smtClean="0">
                          <a:latin typeface="Leelawadee" panose="020B0502040204020203" pitchFamily="34" charset="-34"/>
                          <a:cs typeface="Leelawadee" panose="020B0502040204020203" pitchFamily="34" charset="-34"/>
                        </a:rPr>
                        <a:t> </a:t>
                      </a:r>
                    </a:p>
                    <a:p>
                      <a:pPr algn="ctr"/>
                      <a:r>
                        <a:rPr lang="en-IN" sz="1400" b="1" dirty="0" smtClean="0">
                          <a:latin typeface="Leelawadee" panose="020B0502040204020203" pitchFamily="34" charset="-34"/>
                          <a:cs typeface="Leelawadee" panose="020B0502040204020203" pitchFamily="34" charset="-34"/>
                        </a:rPr>
                        <a:t>               Diagnosis</a:t>
                      </a:r>
                    </a:p>
                  </a:txBody>
                  <a:tcPr anchor="ctr">
                    <a:solidFill>
                      <a:schemeClr val="bg1"/>
                    </a:solidFill>
                  </a:tcPr>
                </a:tc>
                <a:tc>
                  <a:txBody>
                    <a:bodyPr/>
                    <a:lstStyle/>
                    <a:p>
                      <a:pPr marL="285750" lvl="0"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Performance of Key Business Metrics </a:t>
                      </a:r>
                    </a:p>
                    <a:p>
                      <a:pPr marL="285750" lvl="0"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Performance of customized variables and success events </a:t>
                      </a:r>
                    </a:p>
                    <a:p>
                      <a:pPr marL="285750" lvl="0"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Performance across Devices &amp; Channels </a:t>
                      </a:r>
                      <a:endParaRPr lang="en-IN" sz="1400" dirty="0">
                        <a:latin typeface="Leelawadee" panose="020B0502040204020203" pitchFamily="34" charset="-34"/>
                        <a:cs typeface="Leelawadee" panose="020B0502040204020203" pitchFamily="34" charset="-34"/>
                      </a:endParaRPr>
                    </a:p>
                  </a:txBody>
                  <a:tcPr anchor="ctr"/>
                </a:tc>
              </a:tr>
              <a:tr h="958254">
                <a:tc>
                  <a:txBody>
                    <a:bodyPr/>
                    <a:lstStyle/>
                    <a:p>
                      <a:pPr algn="ctr"/>
                      <a:r>
                        <a:rPr lang="en-IN" sz="1400" b="1" dirty="0" smtClean="0">
                          <a:latin typeface="Leelawadee" panose="020B0502040204020203" pitchFamily="34" charset="-34"/>
                          <a:cs typeface="Leelawadee" panose="020B0502040204020203" pitchFamily="34" charset="-34"/>
                        </a:rPr>
                        <a:t>            Lead</a:t>
                      </a:r>
                      <a:r>
                        <a:rPr lang="en-IN" sz="1400" b="1" baseline="0" dirty="0" smtClean="0">
                          <a:latin typeface="Leelawadee" panose="020B0502040204020203" pitchFamily="34" charset="-34"/>
                          <a:cs typeface="Leelawadee" panose="020B0502040204020203" pitchFamily="34" charset="-34"/>
                        </a:rPr>
                        <a:t> Funnel</a:t>
                      </a:r>
                    </a:p>
                    <a:p>
                      <a:pPr algn="ctr"/>
                      <a:r>
                        <a:rPr lang="en-IN" sz="1400" b="1" baseline="0" dirty="0" smtClean="0">
                          <a:latin typeface="Leelawadee" panose="020B0502040204020203" pitchFamily="34" charset="-34"/>
                          <a:cs typeface="Leelawadee" panose="020B0502040204020203" pitchFamily="34" charset="-34"/>
                        </a:rPr>
                        <a:t>              Analysis </a:t>
                      </a:r>
                      <a:endParaRPr lang="en-IN" sz="1400" b="0"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285750" lvl="0"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Improving Lead Submission using Visitor Path Analysis </a:t>
                      </a:r>
                    </a:p>
                    <a:p>
                      <a:pPr marL="285750" lvl="0"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Segmenting visitor based on paths </a:t>
                      </a:r>
                    </a:p>
                    <a:p>
                      <a:pPr marL="285750" lvl="0"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Understanding Top paths</a:t>
                      </a:r>
                      <a:r>
                        <a:rPr lang="en-IN" sz="1400" baseline="0" dirty="0" smtClean="0">
                          <a:latin typeface="Leelawadee" panose="020B0502040204020203" pitchFamily="34" charset="-34"/>
                          <a:cs typeface="Leelawadee" panose="020B0502040204020203" pitchFamily="34" charset="-34"/>
                        </a:rPr>
                        <a:t> and their conversion rate</a:t>
                      </a:r>
                      <a:endParaRPr lang="en-IN" sz="1400" dirty="0">
                        <a:latin typeface="Leelawadee" panose="020B0502040204020203" pitchFamily="34" charset="-34"/>
                        <a:cs typeface="Leelawadee" panose="020B0502040204020203" pitchFamily="34" charset="-34"/>
                      </a:endParaRPr>
                    </a:p>
                  </a:txBody>
                  <a:tcPr anchor="ctr"/>
                </a:tc>
              </a:tr>
              <a:tr h="851763">
                <a:tc>
                  <a:txBody>
                    <a:bodyPr/>
                    <a:lstStyle/>
                    <a:p>
                      <a:pPr algn="ctr"/>
                      <a:r>
                        <a:rPr lang="en-IN" sz="1400" b="1" dirty="0" smtClean="0">
                          <a:latin typeface="Leelawadee" panose="020B0502040204020203" pitchFamily="34" charset="-34"/>
                          <a:cs typeface="Leelawadee" panose="020B0502040204020203" pitchFamily="34" charset="-34"/>
                        </a:rPr>
                        <a:t>                 Website Feature</a:t>
                      </a:r>
                    </a:p>
                    <a:p>
                      <a:pPr algn="ctr"/>
                      <a:r>
                        <a:rPr lang="en-IN" sz="1400" b="1" dirty="0" smtClean="0">
                          <a:latin typeface="Leelawadee" panose="020B0502040204020203" pitchFamily="34" charset="-34"/>
                          <a:cs typeface="Leelawadee" panose="020B0502040204020203" pitchFamily="34" charset="-34"/>
                        </a:rPr>
                        <a:t>                Analysis </a:t>
                      </a:r>
                      <a:endParaRPr lang="en-IN" sz="1400" b="0"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285750" lvl="0"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Usage and  Performance</a:t>
                      </a:r>
                      <a:r>
                        <a:rPr lang="en-IN" sz="1400" baseline="0" dirty="0" smtClean="0">
                          <a:latin typeface="Leelawadee" panose="020B0502040204020203" pitchFamily="34" charset="-34"/>
                          <a:cs typeface="Leelawadee" panose="020B0502040204020203" pitchFamily="34" charset="-34"/>
                        </a:rPr>
                        <a:t> of Website Features such as links, buttons etc.</a:t>
                      </a:r>
                    </a:p>
                    <a:p>
                      <a:pPr marL="285750" lvl="0"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Analysis of website</a:t>
                      </a:r>
                      <a:r>
                        <a:rPr lang="en-IN" sz="1400" baseline="0" dirty="0" smtClean="0">
                          <a:latin typeface="Leelawadee" panose="020B0502040204020203" pitchFamily="34" charset="-34"/>
                          <a:cs typeface="Leelawadee" panose="020B0502040204020203" pitchFamily="34" charset="-34"/>
                        </a:rPr>
                        <a:t> sections &amp; sub-sections for engaged user experience </a:t>
                      </a:r>
                      <a:endParaRPr lang="en-IN" sz="1400" dirty="0">
                        <a:latin typeface="Leelawadee" panose="020B0502040204020203" pitchFamily="34" charset="-34"/>
                        <a:cs typeface="Leelawadee" panose="020B0502040204020203" pitchFamily="34" charset="-34"/>
                      </a:endParaRPr>
                    </a:p>
                  </a:txBody>
                  <a:tcPr anchor="ctr"/>
                </a:tc>
              </a:tr>
              <a:tr h="741873">
                <a:tc>
                  <a:txBody>
                    <a:bodyPr/>
                    <a:lstStyle/>
                    <a:p>
                      <a:pPr marL="0" lvl="2" algn="ctr" defTabSz="914400" rtl="0" eaLnBrk="1" latinLnBrk="0" hangingPunct="1"/>
                      <a:r>
                        <a:rPr lang="en-IN" sz="1400" b="1" baseline="0" dirty="0" smtClean="0">
                          <a:latin typeface="Leelawadee" panose="020B0502040204020203" pitchFamily="34" charset="-34"/>
                          <a:cs typeface="Leelawadee" panose="020B0502040204020203" pitchFamily="34" charset="-34"/>
                        </a:rPr>
                        <a:t>   </a:t>
                      </a:r>
                      <a:r>
                        <a:rPr lang="en-IN" sz="1400" b="1" kern="1200" dirty="0" smtClean="0">
                          <a:solidFill>
                            <a:schemeClr val="tx1"/>
                          </a:solidFill>
                          <a:latin typeface="Leelawadee" panose="020B0502040204020203" pitchFamily="34" charset="-34"/>
                          <a:ea typeface="+mn-ea"/>
                          <a:cs typeface="Leelawadee" panose="020B0502040204020203" pitchFamily="34" charset="-34"/>
                        </a:rPr>
                        <a:t>       Segmentation &amp; Retargeting</a:t>
                      </a:r>
                      <a:endParaRPr lang="en-IN" sz="1400" b="1" kern="1200" dirty="0">
                        <a:solidFill>
                          <a:schemeClr val="tx1"/>
                        </a:solidFill>
                        <a:latin typeface="Leelawadee" panose="020B0502040204020203" pitchFamily="34" charset="-34"/>
                        <a:ea typeface="+mn-ea"/>
                        <a:cs typeface="Leelawadee" panose="020B0502040204020203" pitchFamily="34" charset="-34"/>
                      </a:endParaRPr>
                    </a:p>
                  </a:txBody>
                  <a:tcPr anchor="ctr">
                    <a:solidFill>
                      <a:schemeClr val="bg1"/>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smtClean="0">
                          <a:latin typeface="Leelawadee" panose="020B0502040204020203" pitchFamily="34" charset="-34"/>
                          <a:cs typeface="Leelawadee" panose="020B0502040204020203" pitchFamily="34" charset="-34"/>
                        </a:rPr>
                        <a:t>Integrating Web Analytics into Digital Campaign Planning for Optimized Results</a:t>
                      </a:r>
                    </a:p>
                  </a:txBody>
                  <a:tcPr anchor="ctr"/>
                </a:tc>
              </a:tr>
              <a:tr h="737590">
                <a:tc>
                  <a:txBody>
                    <a:bodyPr/>
                    <a:lstStyle/>
                    <a:p>
                      <a:pPr lvl="2" algn="ctr"/>
                      <a:r>
                        <a:rPr lang="en-IN" sz="1400" b="1" dirty="0" smtClean="0">
                          <a:latin typeface="Leelawadee" panose="020B0502040204020203" pitchFamily="34" charset="-34"/>
                          <a:cs typeface="Leelawadee" panose="020B0502040204020203" pitchFamily="34" charset="-34"/>
                        </a:rPr>
                        <a:t>Personalization</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285750" lvl="0" indent="-285750" algn="l">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Tool Selection</a:t>
                      </a:r>
                    </a:p>
                    <a:p>
                      <a:pPr marL="285750" lvl="0" indent="-285750" algn="l">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A</a:t>
                      </a:r>
                      <a:r>
                        <a:rPr lang="en-IN" sz="1400" dirty="0" smtClean="0">
                          <a:latin typeface="Leelawadee" panose="020B0502040204020203" pitchFamily="34" charset="-34"/>
                          <a:cs typeface="Leelawadee" panose="020B0502040204020203" pitchFamily="34" charset="-34"/>
                        </a:rPr>
                        <a:t>ll other efforts</a:t>
                      </a:r>
                      <a:r>
                        <a:rPr lang="en-IN" sz="1400" baseline="0" dirty="0" smtClean="0">
                          <a:latin typeface="Leelawadee" panose="020B0502040204020203" pitchFamily="34" charset="-34"/>
                          <a:cs typeface="Leelawadee" panose="020B0502040204020203" pitchFamily="34" charset="-34"/>
                        </a:rPr>
                        <a:t> would be factored later</a:t>
                      </a:r>
                      <a:r>
                        <a:rPr lang="en-IN" sz="1400" dirty="0" smtClean="0">
                          <a:latin typeface="Leelawadee" panose="020B0502040204020203" pitchFamily="34" charset="-34"/>
                          <a:cs typeface="Leelawadee" panose="020B0502040204020203" pitchFamily="34" charset="-34"/>
                        </a:rPr>
                        <a:t> </a:t>
                      </a:r>
                      <a:endParaRPr lang="en-IN" sz="1400" dirty="0">
                        <a:latin typeface="Leelawadee" panose="020B0502040204020203" pitchFamily="34" charset="-34"/>
                        <a:cs typeface="Leelawadee" panose="020B0502040204020203" pitchFamily="34" charset="-34"/>
                      </a:endParaRPr>
                    </a:p>
                  </a:txBody>
                  <a:tcPr anchor="ctr"/>
                </a:tc>
              </a:tr>
            </a:tbl>
          </a:graphicData>
        </a:graphic>
      </p:graphicFrame>
      <p:pic>
        <p:nvPicPr>
          <p:cNvPr id="26" name="Picture 2" descr="http://www.danbeldowicz.com/wp-content/uploads/2014/07/icon-sales-funne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5709" y="2915881"/>
            <a:ext cx="669147" cy="60616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ttp://www.pbpmedia.com/wp-content/uploads/icon_home_leadgen-150x15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2639" y="4825956"/>
            <a:ext cx="460573" cy="460573"/>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https://cdn4.iconfinder.com/data/icons/111-seo-services-pack/128/new_seo2-01-512.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1239" y="1947098"/>
            <a:ext cx="714176" cy="71417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p:cNvPicPr>
            <a:picLocks noChangeAspect="1"/>
          </p:cNvPicPr>
          <p:nvPr/>
        </p:nvPicPr>
        <p:blipFill>
          <a:blip r:embed="rId5"/>
          <a:stretch>
            <a:fillRect/>
          </a:stretch>
        </p:blipFill>
        <p:spPr>
          <a:xfrm>
            <a:off x="628680" y="3925267"/>
            <a:ext cx="478659" cy="466063"/>
          </a:xfrm>
          <a:prstGeom prst="rect">
            <a:avLst/>
          </a:prstGeom>
        </p:spPr>
      </p:pic>
      <p:pic>
        <p:nvPicPr>
          <p:cNvPr id="39" name="Picture 2" descr="http://1gga5c4bwhrvq4yfj1x22pxl1r.wpengine.netdna-cdn.com/wp-content/uploads/2014/02/personalization-guys-me.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2639" y="5555337"/>
            <a:ext cx="569062" cy="445450"/>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p:cNvGrpSpPr/>
          <p:nvPr/>
        </p:nvGrpSpPr>
        <p:grpSpPr>
          <a:xfrm>
            <a:off x="11609" y="197969"/>
            <a:ext cx="12192000" cy="605447"/>
            <a:chOff x="1" y="155960"/>
            <a:chExt cx="12192000" cy="1131320"/>
          </a:xfrm>
        </p:grpSpPr>
        <p:sp>
          <p:nvSpPr>
            <p:cNvPr id="30" name="Rectangle 29"/>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31" name="Rectangle 30"/>
            <p:cNvSpPr/>
            <p:nvPr/>
          </p:nvSpPr>
          <p:spPr>
            <a:xfrm>
              <a:off x="4976019" y="216206"/>
              <a:ext cx="2240037"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Web Analytics</a:t>
              </a:r>
            </a:p>
          </p:txBody>
        </p:sp>
        <p:grpSp>
          <p:nvGrpSpPr>
            <p:cNvPr id="32" name="Group 31"/>
            <p:cNvGrpSpPr/>
            <p:nvPr/>
          </p:nvGrpSpPr>
          <p:grpSpPr>
            <a:xfrm>
              <a:off x="1" y="155960"/>
              <a:ext cx="12192000" cy="1131320"/>
              <a:chOff x="2424113" y="242463"/>
              <a:chExt cx="7343775" cy="1189679"/>
            </a:xfrm>
          </p:grpSpPr>
          <p:cxnSp>
            <p:nvCxnSpPr>
              <p:cNvPr id="33" name="Straight Connector 32"/>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601052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342730" y="322556"/>
              <a:ext cx="550676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Website Diagnosis &amp; Funnel Analysis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grpSp>
        <p:nvGrpSpPr>
          <p:cNvPr id="27" name="Group 26"/>
          <p:cNvGrpSpPr/>
          <p:nvPr/>
        </p:nvGrpSpPr>
        <p:grpSpPr>
          <a:xfrm>
            <a:off x="307316" y="1439381"/>
            <a:ext cx="4775672" cy="2860430"/>
            <a:chOff x="468947" y="2849769"/>
            <a:chExt cx="5485024" cy="2799711"/>
          </a:xfrm>
        </p:grpSpPr>
        <p:pic>
          <p:nvPicPr>
            <p:cNvPr id="28" name="Picture 27"/>
            <p:cNvPicPr>
              <a:picLocks noChangeAspect="1"/>
            </p:cNvPicPr>
            <p:nvPr/>
          </p:nvPicPr>
          <p:blipFill>
            <a:blip r:embed="rId4"/>
            <a:stretch>
              <a:fillRect/>
            </a:stretch>
          </p:blipFill>
          <p:spPr>
            <a:xfrm>
              <a:off x="3828490" y="5375716"/>
              <a:ext cx="1684805" cy="235089"/>
            </a:xfrm>
            <a:prstGeom prst="rect">
              <a:avLst/>
            </a:prstGeom>
          </p:spPr>
        </p:pic>
        <p:pic>
          <p:nvPicPr>
            <p:cNvPr id="29" name="Picture 28"/>
            <p:cNvPicPr>
              <a:picLocks noChangeAspect="1"/>
            </p:cNvPicPr>
            <p:nvPr/>
          </p:nvPicPr>
          <p:blipFill>
            <a:blip r:embed="rId5"/>
            <a:stretch>
              <a:fillRect/>
            </a:stretch>
          </p:blipFill>
          <p:spPr>
            <a:xfrm>
              <a:off x="468947" y="2849769"/>
              <a:ext cx="5485024" cy="2799711"/>
            </a:xfrm>
            <a:prstGeom prst="rect">
              <a:avLst/>
            </a:prstGeom>
            <a:ln>
              <a:noFill/>
            </a:ln>
            <a:effectLst>
              <a:outerShdw blurRad="190500" algn="tl" rotWithShape="0">
                <a:srgbClr val="000000">
                  <a:alpha val="70000"/>
                </a:srgbClr>
              </a:outerShdw>
            </a:effectLst>
          </p:spPr>
        </p:pic>
      </p:grpSp>
      <p:pic>
        <p:nvPicPr>
          <p:cNvPr id="30" name="Picture 29"/>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6868195" y="1777134"/>
            <a:ext cx="4911428" cy="4173547"/>
          </a:xfrm>
          <a:prstGeom prst="rect">
            <a:avLst/>
          </a:prstGeom>
          <a:ln>
            <a:noFill/>
          </a:ln>
          <a:effectLst>
            <a:outerShdw blurRad="190500" algn="tl" rotWithShape="0">
              <a:srgbClr val="000000">
                <a:alpha val="70000"/>
              </a:srgbClr>
            </a:outerShdw>
          </a:effectLst>
        </p:spPr>
      </p:pic>
      <p:sp>
        <p:nvSpPr>
          <p:cNvPr id="31" name="TextBox 30"/>
          <p:cNvSpPr txBox="1"/>
          <p:nvPr/>
        </p:nvSpPr>
        <p:spPr bwMode="gray">
          <a:xfrm>
            <a:off x="1292677" y="950718"/>
            <a:ext cx="2232406"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Key Website Metrics</a:t>
            </a:r>
            <a:endParaRPr lang="en-IN" b="1" dirty="0">
              <a:solidFill>
                <a:prstClr val="black"/>
              </a:solidFill>
            </a:endParaRPr>
          </a:p>
        </p:txBody>
      </p:sp>
      <p:sp>
        <p:nvSpPr>
          <p:cNvPr id="32" name="TextBox 31"/>
          <p:cNvSpPr txBox="1"/>
          <p:nvPr/>
        </p:nvSpPr>
        <p:spPr bwMode="gray">
          <a:xfrm>
            <a:off x="1760332" y="5095817"/>
            <a:ext cx="208552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Conversion Funnels</a:t>
            </a:r>
            <a:endParaRPr lang="en-IN" b="1" dirty="0">
              <a:solidFill>
                <a:prstClr val="black"/>
              </a:solidFill>
            </a:endParaRPr>
          </a:p>
        </p:txBody>
      </p:sp>
      <p:sp>
        <p:nvSpPr>
          <p:cNvPr id="33" name="TextBox 32"/>
          <p:cNvSpPr txBox="1"/>
          <p:nvPr/>
        </p:nvSpPr>
        <p:spPr bwMode="gray">
          <a:xfrm>
            <a:off x="8092605" y="1071146"/>
            <a:ext cx="3101318"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Customer Journey</a:t>
            </a:r>
            <a:endParaRPr lang="en-IN" b="1" dirty="0">
              <a:solidFill>
                <a:prstClr val="black"/>
              </a:solidFill>
            </a:endParaRPr>
          </a:p>
        </p:txBody>
      </p:sp>
      <p:pic>
        <p:nvPicPr>
          <p:cNvPr id="1026" name="Picture 2" descr="http://remon.us/uploads/3/2/4/3/3243909/_8373481_orig.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37158" y="3313333"/>
            <a:ext cx="3030124" cy="278674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79858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46421" y="322556"/>
              <a:ext cx="4699364"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Marketing Effectiveness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3" name="TextBox 22"/>
          <p:cNvSpPr txBox="1"/>
          <p:nvPr/>
        </p:nvSpPr>
        <p:spPr bwMode="gray">
          <a:xfrm>
            <a:off x="1185100" y="1087253"/>
            <a:ext cx="2232406"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Channel Effectiveness</a:t>
            </a:r>
            <a:endParaRPr lang="en-IN" b="1" dirty="0">
              <a:solidFill>
                <a:prstClr val="black"/>
              </a:solidFill>
            </a:endParaRPr>
          </a:p>
        </p:txBody>
      </p:sp>
      <p:sp>
        <p:nvSpPr>
          <p:cNvPr id="18" name="TextBox 17"/>
          <p:cNvSpPr txBox="1"/>
          <p:nvPr/>
        </p:nvSpPr>
        <p:spPr bwMode="gray">
          <a:xfrm>
            <a:off x="7776769" y="1442081"/>
            <a:ext cx="216060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Campaign Effectiveness</a:t>
            </a:r>
            <a:endParaRPr lang="en-IN" b="1" dirty="0">
              <a:solidFill>
                <a:prstClr val="black"/>
              </a:solidFill>
            </a:endParaRPr>
          </a:p>
        </p:txBody>
      </p:sp>
      <p:pic>
        <p:nvPicPr>
          <p:cNvPr id="19" name="Picture 18"/>
          <p:cNvPicPr>
            <a:picLocks noChangeAspect="1"/>
          </p:cNvPicPr>
          <p:nvPr/>
        </p:nvPicPr>
        <p:blipFill>
          <a:blip r:embed="rId4"/>
          <a:stretch>
            <a:fillRect/>
          </a:stretch>
        </p:blipFill>
        <p:spPr>
          <a:xfrm>
            <a:off x="5328230" y="2174887"/>
            <a:ext cx="6645193" cy="2922375"/>
          </a:xfrm>
          <a:prstGeom prst="rect">
            <a:avLst/>
          </a:prstGeom>
          <a:ln>
            <a:noFill/>
          </a:ln>
          <a:effectLst>
            <a:outerShdw blurRad="190500" algn="tl" rotWithShape="0">
              <a:srgbClr val="000000">
                <a:alpha val="70000"/>
              </a:srgbClr>
            </a:outerShdw>
          </a:effectLst>
        </p:spPr>
      </p:pic>
      <p:pic>
        <p:nvPicPr>
          <p:cNvPr id="20" name="Picture 19"/>
          <p:cNvPicPr>
            <a:picLocks noChangeAspect="1"/>
          </p:cNvPicPr>
          <p:nvPr/>
        </p:nvPicPr>
        <p:blipFill>
          <a:blip r:embed="rId5"/>
          <a:stretch>
            <a:fillRect/>
          </a:stretch>
        </p:blipFill>
        <p:spPr>
          <a:xfrm>
            <a:off x="271377" y="1863952"/>
            <a:ext cx="4737153" cy="3929684"/>
          </a:xfrm>
          <a:prstGeom prst="rect">
            <a:avLst/>
          </a:prstGeom>
        </p:spPr>
      </p:pic>
    </p:spTree>
    <p:extLst>
      <p:ext uri="{BB962C8B-B14F-4D97-AF65-F5344CB8AC3E}">
        <p14:creationId xmlns:p14="http://schemas.microsoft.com/office/powerpoint/2010/main" val="131218957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7" name="TextBox 6"/>
          <p:cNvSpPr txBox="1"/>
          <p:nvPr/>
        </p:nvSpPr>
        <p:spPr bwMode="gray">
          <a:xfrm>
            <a:off x="780131" y="2366395"/>
            <a:ext cx="7140388" cy="2985247"/>
          </a:xfrm>
          <a:prstGeom prst="rect">
            <a:avLst/>
          </a:prstGeom>
        </p:spPr>
        <p:txBody>
          <a:bodyPr vert="horz" wrap="square" lIns="91440" tIns="45720" rIns="91440" bIns="45720" rtlCol="0" anchor="ctr">
            <a:noAutofit/>
          </a:bodyPr>
          <a:lstStyle/>
          <a:p>
            <a:pPr defTabSz="914400"/>
            <a:endParaRPr lang="en-IN" sz="2000" dirty="0" smtClean="0">
              <a:solidFill>
                <a:prstClr val="black"/>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343298361"/>
              </p:ext>
            </p:extLst>
          </p:nvPr>
        </p:nvGraphicFramePr>
        <p:xfrm>
          <a:off x="539082" y="1583637"/>
          <a:ext cx="10814717" cy="4445736"/>
        </p:xfrm>
        <a:graphic>
          <a:graphicData uri="http://schemas.openxmlformats.org/drawingml/2006/table">
            <a:tbl>
              <a:tblPr firstRow="1" bandRow="1">
                <a:tableStyleId>{ED083AE6-46FA-4A59-8FB0-9F97EB10719F}</a:tableStyleId>
              </a:tblPr>
              <a:tblGrid>
                <a:gridCol w="3998207"/>
                <a:gridCol w="6816510"/>
              </a:tblGrid>
              <a:tr h="399155">
                <a:tc>
                  <a:txBody>
                    <a:bodyPr/>
                    <a:lstStyle/>
                    <a:p>
                      <a:pPr algn="ctr"/>
                      <a:r>
                        <a:rPr lang="en-IN" sz="1600" dirty="0" smtClean="0">
                          <a:latin typeface="Leelawadee" panose="020B0502040204020203" pitchFamily="34" charset="-34"/>
                          <a:cs typeface="Leelawadee" panose="020B0502040204020203" pitchFamily="34" charset="-34"/>
                        </a:rPr>
                        <a:t>               Area</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Output</a:t>
                      </a:r>
                      <a:endParaRPr lang="en-IN" sz="1600" dirty="0">
                        <a:latin typeface="Leelawadee" panose="020B0502040204020203" pitchFamily="34" charset="-34"/>
                        <a:cs typeface="Leelawadee" panose="020B0502040204020203" pitchFamily="34" charset="-34"/>
                      </a:endParaRPr>
                    </a:p>
                  </a:txBody>
                  <a:tcPr anchor="ctr"/>
                </a:tc>
              </a:tr>
              <a:tr h="975623">
                <a:tc>
                  <a:txBody>
                    <a:bodyPr/>
                    <a:lstStyle/>
                    <a:p>
                      <a:pPr lvl="3"/>
                      <a:r>
                        <a:rPr lang="en-IN" sz="1400" b="1" dirty="0" smtClean="0">
                          <a:latin typeface="Leelawadee" panose="020B0502040204020203" pitchFamily="34" charset="-34"/>
                          <a:cs typeface="Leelawadee" panose="020B0502040204020203" pitchFamily="34" charset="-34"/>
                        </a:rPr>
                        <a:t>Digital Benchmarking</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Website Traffic Estimates – Desktop &amp; Mobile</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Website Engagement – time on site , Bounce rate , page/visit</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Website Traffic trend and Insights </a:t>
                      </a:r>
                    </a:p>
                  </a:txBody>
                  <a:tcPr anchor="ctr"/>
                </a:tc>
              </a:tr>
              <a:tr h="1256084">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Traffic Source Insights</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Analysis</a:t>
                      </a:r>
                      <a:r>
                        <a:rPr lang="en-IN" sz="1400" baseline="0" dirty="0" smtClean="0">
                          <a:latin typeface="Leelawadee" panose="020B0502040204020203" pitchFamily="34" charset="-34"/>
                          <a:cs typeface="Leelawadee" panose="020B0502040204020203" pitchFamily="34" charset="-34"/>
                        </a:rPr>
                        <a:t> of digital marketing strategy of </a:t>
                      </a:r>
                      <a:r>
                        <a:rPr lang="en-IN" sz="1400" dirty="0" smtClean="0">
                          <a:latin typeface="Leelawadee" panose="020B0502040204020203" pitchFamily="34" charset="-34"/>
                          <a:cs typeface="Leelawadee" panose="020B0502040204020203" pitchFamily="34" charset="-34"/>
                        </a:rPr>
                        <a:t>direct competitors by</a:t>
                      </a:r>
                      <a:r>
                        <a:rPr lang="en-IN" sz="1400" baseline="0" dirty="0" smtClean="0">
                          <a:latin typeface="Leelawadee" panose="020B0502040204020203" pitchFamily="34" charset="-34"/>
                          <a:cs typeface="Leelawadee" panose="020B0502040204020203" pitchFamily="34" charset="-34"/>
                        </a:rPr>
                        <a:t> studying top website traffic sources :</a:t>
                      </a:r>
                    </a:p>
                    <a:p>
                      <a:pPr marL="1200150" lvl="2" indent="-285750">
                        <a:buFont typeface="Courier New" panose="02070309020205020404" pitchFamily="49" charset="0"/>
                        <a:buChar char="o"/>
                      </a:pPr>
                      <a:r>
                        <a:rPr lang="en-IN" sz="1400" baseline="0" dirty="0" smtClean="0">
                          <a:latin typeface="Leelawadee" panose="020B0502040204020203" pitchFamily="34" charset="-34"/>
                          <a:cs typeface="Leelawadee" panose="020B0502040204020203" pitchFamily="34" charset="-34"/>
                        </a:rPr>
                        <a:t>Referral Traffic – Top Referring website </a:t>
                      </a:r>
                    </a:p>
                    <a:p>
                      <a:pPr marL="1200150" lvl="2" indent="-285750">
                        <a:buFont typeface="Courier New" panose="02070309020205020404" pitchFamily="49" charset="0"/>
                        <a:buChar char="o"/>
                      </a:pPr>
                      <a:r>
                        <a:rPr lang="en-IN" sz="1400" baseline="0" dirty="0" smtClean="0">
                          <a:latin typeface="Leelawadee" panose="020B0502040204020203" pitchFamily="34" charset="-34"/>
                          <a:cs typeface="Leelawadee" panose="020B0502040204020203" pitchFamily="34" charset="-34"/>
                        </a:rPr>
                        <a:t>Paid Traffic – Top Ad networks </a:t>
                      </a:r>
                    </a:p>
                    <a:p>
                      <a:pPr marL="1200150" lvl="2" indent="-285750">
                        <a:buFont typeface="Courier New" panose="02070309020205020404" pitchFamily="49" charset="0"/>
                        <a:buChar char="o"/>
                      </a:pPr>
                      <a:r>
                        <a:rPr lang="en-IN" sz="1400" baseline="0" dirty="0" smtClean="0">
                          <a:latin typeface="Leelawadee" panose="020B0502040204020203" pitchFamily="34" charset="-34"/>
                          <a:cs typeface="Leelawadee" panose="020B0502040204020203" pitchFamily="34" charset="-34"/>
                        </a:rPr>
                        <a:t>Social – Top Social Channels </a:t>
                      </a:r>
                      <a:endParaRPr lang="en-IN" sz="1400" dirty="0">
                        <a:latin typeface="Leelawadee" panose="020B0502040204020203" pitchFamily="34" charset="-34"/>
                        <a:cs typeface="Leelawadee" panose="020B0502040204020203" pitchFamily="34" charset="-34"/>
                      </a:endParaRPr>
                    </a:p>
                  </a:txBody>
                  <a:tcPr anchor="ctr"/>
                </a:tc>
              </a:tr>
              <a:tr h="830658">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Keywords Analysis</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Performance of Keywords among direct competitors in generating website traffic </a:t>
                      </a:r>
                    </a:p>
                  </a:txBody>
                  <a:tcPr anchor="ctr"/>
                </a:tc>
              </a:tr>
              <a:tr h="984216">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Customer Journey</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Top Website Sections and Pages on Competitor’s Website</a:t>
                      </a:r>
                      <a:r>
                        <a:rPr lang="en-IN" sz="1400" baseline="0" dirty="0" smtClean="0">
                          <a:latin typeface="Leelawadee" panose="020B0502040204020203" pitchFamily="34" charset="-34"/>
                          <a:cs typeface="Leelawadee" panose="020B0502040204020203" pitchFamily="34" charset="-34"/>
                        </a:rPr>
                        <a:t>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Estimate of Digital Business Performance and online customer journey on Competitor’s Website </a:t>
                      </a:r>
                    </a:p>
                  </a:txBody>
                  <a:tcPr anchor="ctr"/>
                </a:tc>
              </a:tr>
            </a:tbl>
          </a:graphicData>
        </a:graphic>
      </p:graphicFrame>
      <p:pic>
        <p:nvPicPr>
          <p:cNvPr id="2050" name="Picture 2" descr="http://www.exacttarget.com/blog/wp-content/uploads/2014/07/journey_map_icon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048" y="5203829"/>
            <a:ext cx="1072355" cy="825543"/>
          </a:xfrm>
          <a:prstGeom prst="rect">
            <a:avLst/>
          </a:prstGeom>
          <a:noFill/>
          <a:extLst>
            <a:ext uri="{909E8E84-426E-40DD-AFC4-6F175D3DCCD1}">
              <a14:hiddenFill xmlns:a14="http://schemas.microsoft.com/office/drawing/2010/main">
                <a:solidFill>
                  <a:srgbClr val="FFFFFF"/>
                </a:solidFill>
              </a14:hiddenFill>
            </a:ext>
          </a:extLst>
        </p:spPr>
      </p:pic>
      <p:sp>
        <p:nvSpPr>
          <p:cNvPr id="24" name="AutoShape 4" descr="http://files.softicons.com/download/web-icons/seo-icons-by-design-bolts/ico/Organic-Search-Icon.ico"/>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defTabSz="914400"/>
            <a:endParaRPr lang="en-IN">
              <a:solidFill>
                <a:prstClr val="black"/>
              </a:solidFill>
            </a:endParaRPr>
          </a:p>
        </p:txBody>
      </p:sp>
      <p:pic>
        <p:nvPicPr>
          <p:cNvPr id="28" name="Picture 27"/>
          <p:cNvPicPr>
            <a:picLocks noChangeAspect="1"/>
          </p:cNvPicPr>
          <p:nvPr/>
        </p:nvPicPr>
        <p:blipFill>
          <a:blip r:embed="rId4">
            <a:biLevel thresh="50000"/>
          </a:blip>
          <a:stretch>
            <a:fillRect/>
          </a:stretch>
        </p:blipFill>
        <p:spPr>
          <a:xfrm>
            <a:off x="778823" y="4347763"/>
            <a:ext cx="992988" cy="613316"/>
          </a:xfrm>
          <a:prstGeom prst="rect">
            <a:avLst/>
          </a:prstGeom>
        </p:spPr>
      </p:pic>
      <p:pic>
        <p:nvPicPr>
          <p:cNvPr id="2058" name="Picture 10" descr="http://www.surdej.com/files/seo-icon.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1789" y="2101436"/>
            <a:ext cx="805484" cy="683869"/>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ttps://www.aliasmarketinganddesign.ie/wp-content/uploads/2013/10/Alias-Marketing-and-Design-consultancy-icon-2-300x300.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7048" y="3248802"/>
            <a:ext cx="770225" cy="770225"/>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p:cNvGrpSpPr/>
          <p:nvPr/>
        </p:nvGrpSpPr>
        <p:grpSpPr>
          <a:xfrm>
            <a:off x="11609" y="197969"/>
            <a:ext cx="12192000" cy="605447"/>
            <a:chOff x="1" y="155960"/>
            <a:chExt cx="12192000" cy="1131320"/>
          </a:xfrm>
        </p:grpSpPr>
        <p:sp>
          <p:nvSpPr>
            <p:cNvPr id="34" name="Rectangle 33"/>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35" name="Rectangle 34"/>
            <p:cNvSpPr/>
            <p:nvPr/>
          </p:nvSpPr>
          <p:spPr>
            <a:xfrm>
              <a:off x="3982228" y="216206"/>
              <a:ext cx="4227632"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Digital Competitive Insights</a:t>
              </a:r>
            </a:p>
          </p:txBody>
        </p:sp>
        <p:grpSp>
          <p:nvGrpSpPr>
            <p:cNvPr id="36" name="Group 35"/>
            <p:cNvGrpSpPr/>
            <p:nvPr/>
          </p:nvGrpSpPr>
          <p:grpSpPr>
            <a:xfrm>
              <a:off x="1" y="155960"/>
              <a:ext cx="12192000" cy="1131320"/>
              <a:chOff x="2424113" y="242463"/>
              <a:chExt cx="7343775" cy="1189679"/>
            </a:xfrm>
          </p:grpSpPr>
          <p:cxnSp>
            <p:nvCxnSpPr>
              <p:cNvPr id="37" name="Straight Connector 36"/>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094646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82282" y="322556"/>
              <a:ext cx="4227632"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Competitive Insights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1" name="TextBox 20"/>
          <p:cNvSpPr txBox="1"/>
          <p:nvPr/>
        </p:nvSpPr>
        <p:spPr bwMode="gray">
          <a:xfrm>
            <a:off x="1530886" y="5248904"/>
            <a:ext cx="2274161"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Engagement</a:t>
            </a:r>
            <a:endParaRPr lang="en-IN" b="1" dirty="0">
              <a:solidFill>
                <a:prstClr val="black"/>
              </a:solidFill>
            </a:endParaRPr>
          </a:p>
        </p:txBody>
      </p:sp>
      <p:sp>
        <p:nvSpPr>
          <p:cNvPr id="23" name="TextBox 22"/>
          <p:cNvSpPr txBox="1"/>
          <p:nvPr/>
        </p:nvSpPr>
        <p:spPr bwMode="gray">
          <a:xfrm>
            <a:off x="1749876" y="969942"/>
            <a:ext cx="1870699"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Traffic </a:t>
            </a:r>
            <a:endParaRPr lang="en-IN" b="1" dirty="0">
              <a:solidFill>
                <a:prstClr val="black"/>
              </a:solidFill>
            </a:endParaRPr>
          </a:p>
        </p:txBody>
      </p:sp>
      <p:pic>
        <p:nvPicPr>
          <p:cNvPr id="8" name="Picture 7"/>
          <p:cNvPicPr>
            <a:picLocks noChangeAspect="1"/>
          </p:cNvPicPr>
          <p:nvPr/>
        </p:nvPicPr>
        <p:blipFill>
          <a:blip r:embed="rId4"/>
          <a:stretch>
            <a:fillRect/>
          </a:stretch>
        </p:blipFill>
        <p:spPr>
          <a:xfrm>
            <a:off x="314359" y="1500457"/>
            <a:ext cx="4741735" cy="2912526"/>
          </a:xfrm>
          <a:prstGeom prst="rect">
            <a:avLst/>
          </a:prstGeom>
          <a:ln>
            <a:noFill/>
          </a:ln>
          <a:effectLst>
            <a:outerShdw blurRad="190500" algn="tl" rotWithShape="0">
              <a:srgbClr val="000000">
                <a:alpha val="70000"/>
              </a:srgbClr>
            </a:outerShdw>
          </a:effectLst>
        </p:spPr>
      </p:pic>
      <p:pic>
        <p:nvPicPr>
          <p:cNvPr id="9" name="Picture 8"/>
          <p:cNvPicPr>
            <a:picLocks noChangeAspect="1"/>
          </p:cNvPicPr>
          <p:nvPr/>
        </p:nvPicPr>
        <p:blipFill>
          <a:blip r:embed="rId5"/>
          <a:stretch>
            <a:fillRect/>
          </a:stretch>
        </p:blipFill>
        <p:spPr>
          <a:xfrm>
            <a:off x="6425122" y="1520807"/>
            <a:ext cx="5432735" cy="2370648"/>
          </a:xfrm>
          <a:prstGeom prst="rect">
            <a:avLst/>
          </a:prstGeom>
          <a:ln>
            <a:noFill/>
          </a:ln>
          <a:effectLst>
            <a:outerShdw blurRad="190500" algn="tl" rotWithShape="0">
              <a:srgbClr val="000000">
                <a:alpha val="70000"/>
              </a:srgbClr>
            </a:outerShdw>
          </a:effectLst>
        </p:spPr>
      </p:pic>
      <p:pic>
        <p:nvPicPr>
          <p:cNvPr id="2" name="Picture 1"/>
          <p:cNvPicPr>
            <a:picLocks noChangeAspect="1"/>
          </p:cNvPicPr>
          <p:nvPr/>
        </p:nvPicPr>
        <p:blipFill>
          <a:blip r:embed="rId6"/>
          <a:stretch>
            <a:fillRect/>
          </a:stretch>
        </p:blipFill>
        <p:spPr>
          <a:xfrm>
            <a:off x="4122376" y="3695824"/>
            <a:ext cx="5788107" cy="2495348"/>
          </a:xfrm>
          <a:prstGeom prst="rect">
            <a:avLst/>
          </a:prstGeom>
          <a:ln>
            <a:noFill/>
          </a:ln>
          <a:effectLst>
            <a:outerShdw blurRad="190500" algn="tl" rotWithShape="0">
              <a:srgbClr val="000000">
                <a:alpha val="70000"/>
              </a:srgbClr>
            </a:outerShdw>
          </a:effectLst>
        </p:spPr>
      </p:pic>
      <p:sp>
        <p:nvSpPr>
          <p:cNvPr id="18" name="TextBox 17"/>
          <p:cNvSpPr txBox="1"/>
          <p:nvPr/>
        </p:nvSpPr>
        <p:spPr bwMode="gray">
          <a:xfrm>
            <a:off x="8650827" y="956785"/>
            <a:ext cx="1549597"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Traffic Source</a:t>
            </a:r>
            <a:endParaRPr lang="en-IN" b="1" dirty="0">
              <a:solidFill>
                <a:prstClr val="black"/>
              </a:solidFill>
            </a:endParaRPr>
          </a:p>
        </p:txBody>
      </p:sp>
    </p:spTree>
    <p:extLst>
      <p:ext uri="{BB962C8B-B14F-4D97-AF65-F5344CB8AC3E}">
        <p14:creationId xmlns:p14="http://schemas.microsoft.com/office/powerpoint/2010/main" val="71517765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610488403"/>
              </p:ext>
            </p:extLst>
          </p:nvPr>
        </p:nvGraphicFramePr>
        <p:xfrm>
          <a:off x="664389" y="1584733"/>
          <a:ext cx="10689411" cy="4437684"/>
        </p:xfrm>
        <a:graphic>
          <a:graphicData uri="http://schemas.openxmlformats.org/drawingml/2006/table">
            <a:tbl>
              <a:tblPr firstRow="1" bandRow="1">
                <a:tableStyleId>{5DA37D80-6434-44D0-A028-1B22A696006F}</a:tableStyleId>
              </a:tblPr>
              <a:tblGrid>
                <a:gridCol w="4410074"/>
                <a:gridCol w="6279337"/>
              </a:tblGrid>
              <a:tr h="443779">
                <a:tc>
                  <a:txBody>
                    <a:bodyPr/>
                    <a:lstStyle/>
                    <a:p>
                      <a:pPr algn="ctr"/>
                      <a:r>
                        <a:rPr lang="en-IN" sz="1600" dirty="0" smtClean="0">
                          <a:latin typeface="Leelawadee" panose="020B0502040204020203" pitchFamily="34" charset="-34"/>
                          <a:cs typeface="Leelawadee" panose="020B0502040204020203" pitchFamily="34" charset="-34"/>
                        </a:rPr>
                        <a:t>             Area</a:t>
                      </a:r>
                      <a:endParaRPr lang="en-IN" sz="1600" dirty="0">
                        <a:latin typeface="Leelawadee" panose="020B0502040204020203" pitchFamily="34" charset="-34"/>
                        <a:cs typeface="Leelawadee" panose="020B0502040204020203" pitchFamily="34" charset="-34"/>
                      </a:endParaRPr>
                    </a:p>
                  </a:txBody>
                  <a:tcPr anchor="ctr"/>
                </a:tc>
                <a:tc>
                  <a:txBody>
                    <a:bodyPr/>
                    <a:lstStyle/>
                    <a:p>
                      <a:pPr algn="ctr"/>
                      <a:r>
                        <a:rPr lang="en-IN" sz="1600" dirty="0" smtClean="0">
                          <a:latin typeface="Leelawadee" panose="020B0502040204020203" pitchFamily="34" charset="-34"/>
                          <a:cs typeface="Leelawadee" panose="020B0502040204020203" pitchFamily="34" charset="-34"/>
                        </a:rPr>
                        <a:t>Output</a:t>
                      </a:r>
                      <a:endParaRPr lang="en-IN" sz="1600" dirty="0">
                        <a:latin typeface="Leelawadee" panose="020B0502040204020203" pitchFamily="34" charset="-34"/>
                        <a:cs typeface="Leelawadee" panose="020B0502040204020203" pitchFamily="34" charset="-34"/>
                      </a:endParaRPr>
                    </a:p>
                  </a:txBody>
                  <a:tcPr anchor="ctr"/>
                </a:tc>
              </a:tr>
              <a:tr h="953725">
                <a:tc>
                  <a:txBody>
                    <a:bodyPr/>
                    <a:lstStyle/>
                    <a:p>
                      <a:pPr lvl="3"/>
                      <a:r>
                        <a:rPr lang="en-IN" sz="1400" b="1" dirty="0" smtClean="0">
                          <a:latin typeface="Leelawadee" panose="020B0502040204020203" pitchFamily="34" charset="-34"/>
                          <a:cs typeface="Leelawadee" panose="020B0502040204020203" pitchFamily="34" charset="-34"/>
                        </a:rPr>
                        <a:t>Social Reach &amp; Engagement</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Monthly performance of brand across all key Social Media KPI’s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All KPI’s benchmarked to top industry players</a:t>
                      </a:r>
                      <a:endParaRPr lang="en-IN" sz="1400" dirty="0">
                        <a:latin typeface="Leelawadee" panose="020B0502040204020203" pitchFamily="34" charset="-34"/>
                        <a:cs typeface="Leelawadee" panose="020B0502040204020203" pitchFamily="34" charset="-34"/>
                      </a:endParaRPr>
                    </a:p>
                  </a:txBody>
                  <a:tcPr anchor="ctr"/>
                </a:tc>
              </a:tr>
              <a:tr h="741468">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Sentiment Analysis </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Monthly Sentiment Analysis benchmarking across social media</a:t>
                      </a:r>
                      <a:endParaRPr lang="en-IN" sz="1400" dirty="0">
                        <a:latin typeface="Leelawadee" panose="020B0502040204020203" pitchFamily="34" charset="-34"/>
                        <a:cs typeface="Leelawadee" panose="020B0502040204020203" pitchFamily="34" charset="-34"/>
                      </a:endParaRPr>
                    </a:p>
                  </a:txBody>
                  <a:tcPr anchor="ctr"/>
                </a:tc>
              </a:tr>
              <a:tr h="790899">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Voice of Customer</a:t>
                      </a:r>
                      <a:endParaRPr lang="en-IN" sz="1400" b="1" dirty="0">
                        <a:latin typeface="Leelawadee" panose="020B0502040204020203" pitchFamily="34" charset="-34"/>
                        <a:cs typeface="Leelawadee" panose="020B0502040204020203" pitchFamily="34" charset="-34"/>
                      </a:endParaRP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Customer</a:t>
                      </a:r>
                      <a:r>
                        <a:rPr lang="en-IN" sz="1400" baseline="0" dirty="0" smtClean="0">
                          <a:latin typeface="Leelawadee" panose="020B0502040204020203" pitchFamily="34" charset="-34"/>
                          <a:cs typeface="Leelawadee" panose="020B0502040204020203" pitchFamily="34" charset="-34"/>
                        </a:rPr>
                        <a:t> topic detection </a:t>
                      </a:r>
                    </a:p>
                    <a:p>
                      <a:pPr marL="742950" lvl="1" indent="-285750">
                        <a:buFont typeface="Arial" panose="020B0604020202020204" pitchFamily="34" charset="0"/>
                        <a:buChar char="•"/>
                      </a:pPr>
                      <a:r>
                        <a:rPr lang="en-IN" sz="1400" baseline="0" dirty="0" smtClean="0">
                          <a:latin typeface="Leelawadee" panose="020B0502040204020203" pitchFamily="34" charset="-34"/>
                          <a:cs typeface="Leelawadee" panose="020B0502040204020203" pitchFamily="34" charset="-34"/>
                        </a:rPr>
                        <a:t>Customer sentiment across topics and social channels</a:t>
                      </a:r>
                      <a:endParaRPr lang="en-IN" sz="1400" dirty="0">
                        <a:latin typeface="Leelawadee" panose="020B0502040204020203" pitchFamily="34" charset="-34"/>
                        <a:cs typeface="Leelawadee" panose="020B0502040204020203" pitchFamily="34" charset="-34"/>
                      </a:endParaRPr>
                    </a:p>
                  </a:txBody>
                  <a:tcPr anchor="ctr"/>
                </a:tc>
              </a:tr>
              <a:tr h="781684">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Brand Topic</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Performance of Brand posts on social</a:t>
                      </a:r>
                      <a:r>
                        <a:rPr lang="en-IN" sz="1400" baseline="0" dirty="0" smtClean="0">
                          <a:latin typeface="Leelawadee" panose="020B0502040204020203" pitchFamily="34" charset="-34"/>
                          <a:cs typeface="Leelawadee" panose="020B0502040204020203" pitchFamily="34" charset="-34"/>
                        </a:rPr>
                        <a:t> media</a:t>
                      </a:r>
                      <a:r>
                        <a:rPr lang="en-IN" sz="1400" dirty="0" smtClean="0">
                          <a:latin typeface="Leelawadee" panose="020B0502040204020203" pitchFamily="34" charset="-34"/>
                          <a:cs typeface="Leelawadee" panose="020B0502040204020203" pitchFamily="34" charset="-34"/>
                        </a:rPr>
                        <a:t> across industry</a:t>
                      </a:r>
                      <a:r>
                        <a:rPr lang="en-IN" sz="1400" baseline="0" dirty="0" smtClean="0">
                          <a:latin typeface="Leelawadee" panose="020B0502040204020203" pitchFamily="34" charset="-34"/>
                          <a:cs typeface="Leelawadee" panose="020B0502040204020203" pitchFamily="34" charset="-34"/>
                        </a:rPr>
                        <a:t> </a:t>
                      </a:r>
                    </a:p>
                  </a:txBody>
                  <a:tcPr anchor="ctr"/>
                </a:tc>
              </a:tr>
              <a:tr h="726129">
                <a:tc>
                  <a:txBody>
                    <a:bodyPr/>
                    <a:lstStyle/>
                    <a:p>
                      <a:pPr marL="1371600" marR="0" lvl="3" indent="0" algn="l" defTabSz="457200" rtl="0" eaLnBrk="1" fontAlgn="auto" latinLnBrk="0" hangingPunct="1">
                        <a:lnSpc>
                          <a:spcPct val="100000"/>
                        </a:lnSpc>
                        <a:spcBef>
                          <a:spcPts val="0"/>
                        </a:spcBef>
                        <a:spcAft>
                          <a:spcPts val="0"/>
                        </a:spcAft>
                        <a:buClrTx/>
                        <a:buSzTx/>
                        <a:buFontTx/>
                        <a:buNone/>
                        <a:tabLst/>
                        <a:defRPr/>
                      </a:pPr>
                      <a:r>
                        <a:rPr lang="en-IN" sz="1400" b="1" dirty="0" smtClean="0">
                          <a:latin typeface="Leelawadee" panose="020B0502040204020203" pitchFamily="34" charset="-34"/>
                          <a:cs typeface="Leelawadee" panose="020B0502040204020203" pitchFamily="34" charset="-34"/>
                        </a:rPr>
                        <a:t>Social Campaign</a:t>
                      </a:r>
                    </a:p>
                  </a:txBody>
                  <a:tcPr anchor="ctr">
                    <a:solidFill>
                      <a:schemeClr val="bg1"/>
                    </a:solidFill>
                  </a:tcPr>
                </a:tc>
                <a:tc>
                  <a:txBody>
                    <a:bodyPr/>
                    <a:lstStyle/>
                    <a:p>
                      <a:pPr marL="742950" lvl="1" indent="-285750">
                        <a:buFont typeface="Arial" panose="020B0604020202020204" pitchFamily="34" charset="0"/>
                        <a:buChar char="•"/>
                      </a:pPr>
                      <a:r>
                        <a:rPr lang="en-IN" sz="1400" dirty="0" smtClean="0">
                          <a:latin typeface="Leelawadee" panose="020B0502040204020203" pitchFamily="34" charset="-34"/>
                          <a:cs typeface="Leelawadee" panose="020B0502040204020203" pitchFamily="34" charset="-34"/>
                        </a:rPr>
                        <a:t>Performance of Social media Campaigns</a:t>
                      </a:r>
                      <a:r>
                        <a:rPr lang="en-IN" sz="1400" baseline="0" dirty="0" smtClean="0">
                          <a:latin typeface="Leelawadee" panose="020B0502040204020203" pitchFamily="34" charset="-34"/>
                          <a:cs typeface="Leelawadee" panose="020B0502040204020203" pitchFamily="34" charset="-34"/>
                        </a:rPr>
                        <a:t> of direct competitors </a:t>
                      </a:r>
                      <a:endParaRPr lang="en-IN" sz="1400" dirty="0">
                        <a:latin typeface="Leelawadee" panose="020B0502040204020203" pitchFamily="34" charset="-34"/>
                        <a:cs typeface="Leelawadee" panose="020B0502040204020203" pitchFamily="34" charset="-34"/>
                      </a:endParaRPr>
                    </a:p>
                  </a:txBody>
                  <a:tcPr anchor="ctr"/>
                </a:tc>
              </a:tr>
            </a:tbl>
          </a:graphicData>
        </a:graphic>
      </p:graphicFrame>
      <p:pic>
        <p:nvPicPr>
          <p:cNvPr id="3074" name="Picture 2" descr="http://socialpulse.co/addons/shared_addons/themes/socialpulse/img/product_icons/02_Reach.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1677" y="4457785"/>
            <a:ext cx="1065773" cy="62083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newviewanalytics.com/html/images/icon-sentimen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4110" y="3076574"/>
            <a:ext cx="566677" cy="42500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http://excelliscorp.com/wp-content/uploads/2013/02/VOC_icon.png"/>
          <p:cNvPicPr>
            <a:picLocks noChangeAspect="1" noChangeArrowheads="1"/>
          </p:cNvPicPr>
          <p:nvPr/>
        </p:nvPicPr>
        <p:blipFill>
          <a:blip r:embed="rId4" cstate="print">
            <a:duotone>
              <a:prstClr val="black"/>
              <a:schemeClr val="bg1">
                <a:lumMod val="50000"/>
                <a:tint val="45000"/>
                <a:satMod val="400000"/>
              </a:schemeClr>
            </a:duotone>
            <a:extLst>
              <a:ext uri="{28A0092B-C50C-407E-A947-70E740481C1C}">
                <a14:useLocalDpi xmlns:a14="http://schemas.microsoft.com/office/drawing/2010/main" val="0"/>
              </a:ext>
            </a:extLst>
          </a:blip>
          <a:srcRect/>
          <a:stretch>
            <a:fillRect/>
          </a:stretch>
        </p:blipFill>
        <p:spPr bwMode="auto">
          <a:xfrm>
            <a:off x="1020054" y="3733191"/>
            <a:ext cx="674788" cy="596751"/>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https://i.smartmailpro.com/583/rsz_organization_chart_-_colourful.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62506" y="2144621"/>
            <a:ext cx="883800" cy="662851"/>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http://weareyellowball.com/wp-content/uploads/2015/02/Yellowball-Icon-MARKETING.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6215" y="5340691"/>
            <a:ext cx="656382" cy="455821"/>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Group 24"/>
          <p:cNvGrpSpPr/>
          <p:nvPr/>
        </p:nvGrpSpPr>
        <p:grpSpPr>
          <a:xfrm>
            <a:off x="11609" y="197969"/>
            <a:ext cx="12192000" cy="605447"/>
            <a:chOff x="1" y="155960"/>
            <a:chExt cx="12192000" cy="1131320"/>
          </a:xfrm>
        </p:grpSpPr>
        <p:sp>
          <p:nvSpPr>
            <p:cNvPr id="31" name="Rectangle 30"/>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35" name="Rectangle 34"/>
            <p:cNvSpPr/>
            <p:nvPr/>
          </p:nvSpPr>
          <p:spPr>
            <a:xfrm>
              <a:off x="4385187" y="216206"/>
              <a:ext cx="3421706"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Social Media Analytics</a:t>
              </a:r>
            </a:p>
          </p:txBody>
        </p:sp>
        <p:grpSp>
          <p:nvGrpSpPr>
            <p:cNvPr id="36" name="Group 35"/>
            <p:cNvGrpSpPr/>
            <p:nvPr/>
          </p:nvGrpSpPr>
          <p:grpSpPr>
            <a:xfrm>
              <a:off x="1" y="155960"/>
              <a:ext cx="12192000" cy="1131320"/>
              <a:chOff x="2424113" y="242463"/>
              <a:chExt cx="7343775" cy="1189679"/>
            </a:xfrm>
          </p:grpSpPr>
          <p:cxnSp>
            <p:nvCxnSpPr>
              <p:cNvPr id="37" name="Straight Connector 36"/>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1546201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11902"/>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4385212" y="322556"/>
              <a:ext cx="3421706"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Social Media Analytics</a:t>
              </a:r>
            </a:p>
          </p:txBody>
        </p:sp>
      </p:grpSp>
      <p:pic>
        <p:nvPicPr>
          <p:cNvPr id="7" name="Picture 6"/>
          <p:cNvPicPr>
            <a:picLocks noChangeAspect="1"/>
          </p:cNvPicPr>
          <p:nvPr/>
        </p:nvPicPr>
        <p:blipFill>
          <a:blip r:embed="rId4"/>
          <a:stretch>
            <a:fillRect/>
          </a:stretch>
        </p:blipFill>
        <p:spPr>
          <a:xfrm>
            <a:off x="2314997" y="1209678"/>
            <a:ext cx="3266256" cy="2263144"/>
          </a:xfrm>
          <a:prstGeom prst="rect">
            <a:avLst/>
          </a:prstGeom>
          <a:ln>
            <a:noFill/>
          </a:ln>
          <a:effectLst>
            <a:outerShdw blurRad="190500" algn="tl" rotWithShape="0">
              <a:srgbClr val="000000">
                <a:alpha val="70000"/>
              </a:srgbClr>
            </a:outerShdw>
          </a:effectLst>
        </p:spPr>
      </p:pic>
      <p:pic>
        <p:nvPicPr>
          <p:cNvPr id="8" name="Picture 7"/>
          <p:cNvPicPr>
            <a:picLocks noChangeAspect="1"/>
          </p:cNvPicPr>
          <p:nvPr/>
        </p:nvPicPr>
        <p:blipFill>
          <a:blip r:embed="rId5"/>
          <a:stretch>
            <a:fillRect/>
          </a:stretch>
        </p:blipFill>
        <p:spPr>
          <a:xfrm>
            <a:off x="2450269" y="3832713"/>
            <a:ext cx="2995713" cy="2115695"/>
          </a:xfrm>
          <a:prstGeom prst="rect">
            <a:avLst/>
          </a:prstGeom>
          <a:ln>
            <a:noFill/>
          </a:ln>
          <a:effectLst>
            <a:outerShdw blurRad="190500" algn="tl" rotWithShape="0">
              <a:srgbClr val="000000">
                <a:alpha val="70000"/>
              </a:srgbClr>
            </a:outerShdw>
          </a:effectLst>
        </p:spPr>
      </p:pic>
      <p:sp>
        <p:nvSpPr>
          <p:cNvPr id="10" name="TextBox 9"/>
          <p:cNvSpPr txBox="1"/>
          <p:nvPr/>
        </p:nvSpPr>
        <p:spPr bwMode="gray">
          <a:xfrm>
            <a:off x="361242" y="1925285"/>
            <a:ext cx="1693081" cy="824723"/>
          </a:xfrm>
          <a:prstGeom prst="rect">
            <a:avLst/>
          </a:prstGeom>
        </p:spPr>
        <p:txBody>
          <a:bodyPr vert="horz" wrap="square" lIns="91440" tIns="45720" rIns="91440" bIns="45720" rtlCol="0" anchor="ctr">
            <a:noAutofit/>
          </a:bodyPr>
          <a:lstStyle/>
          <a:p>
            <a:pPr algn="ctr"/>
            <a:r>
              <a:rPr lang="en-IN" b="1" dirty="0">
                <a:solidFill>
                  <a:prstClr val="black"/>
                </a:solidFill>
              </a:rPr>
              <a:t>Brand Content Analysis  </a:t>
            </a:r>
          </a:p>
        </p:txBody>
      </p:sp>
      <p:sp>
        <p:nvSpPr>
          <p:cNvPr id="16" name="TextBox 15"/>
          <p:cNvSpPr txBox="1"/>
          <p:nvPr/>
        </p:nvSpPr>
        <p:spPr bwMode="gray">
          <a:xfrm>
            <a:off x="361242" y="4333521"/>
            <a:ext cx="1722602" cy="666549"/>
          </a:xfrm>
          <a:prstGeom prst="rect">
            <a:avLst/>
          </a:prstGeom>
        </p:spPr>
        <p:txBody>
          <a:bodyPr vert="horz" wrap="square" lIns="91440" tIns="45720" rIns="91440" bIns="45720" rtlCol="0" anchor="ctr">
            <a:noAutofit/>
          </a:bodyPr>
          <a:lstStyle/>
          <a:p>
            <a:pPr algn="ctr"/>
            <a:r>
              <a:rPr lang="en-IN" b="1" dirty="0" smtClean="0">
                <a:solidFill>
                  <a:prstClr val="black"/>
                </a:solidFill>
              </a:rPr>
              <a:t>Customer Topic Analysis </a:t>
            </a:r>
            <a:endParaRPr lang="en-IN" b="1" dirty="0">
              <a:solidFill>
                <a:prstClr val="black"/>
              </a:solidFill>
            </a:endParaRPr>
          </a:p>
        </p:txBody>
      </p:sp>
      <p:pic>
        <p:nvPicPr>
          <p:cNvPr id="18" name="Picture 17"/>
          <p:cNvPicPr>
            <a:picLocks noChangeAspect="1"/>
          </p:cNvPicPr>
          <p:nvPr/>
        </p:nvPicPr>
        <p:blipFill>
          <a:blip r:embed="rId6"/>
          <a:stretch>
            <a:fillRect/>
          </a:stretch>
        </p:blipFill>
        <p:spPr>
          <a:xfrm>
            <a:off x="8074651" y="1094843"/>
            <a:ext cx="3078333" cy="2485606"/>
          </a:xfrm>
          <a:prstGeom prst="rect">
            <a:avLst/>
          </a:prstGeom>
          <a:ln>
            <a:noFill/>
          </a:ln>
          <a:effectLst>
            <a:outerShdw blurRad="190500" algn="tl" rotWithShape="0">
              <a:srgbClr val="000000">
                <a:alpha val="70000"/>
              </a:srgbClr>
            </a:outerShdw>
          </a:effectLst>
        </p:spPr>
      </p:pic>
      <p:pic>
        <p:nvPicPr>
          <p:cNvPr id="19" name="Picture 18"/>
          <p:cNvPicPr>
            <a:picLocks noChangeAspect="1"/>
          </p:cNvPicPr>
          <p:nvPr/>
        </p:nvPicPr>
        <p:blipFill>
          <a:blip r:embed="rId7"/>
          <a:stretch>
            <a:fillRect/>
          </a:stretch>
        </p:blipFill>
        <p:spPr>
          <a:xfrm>
            <a:off x="8074651" y="3777003"/>
            <a:ext cx="3016395" cy="2353152"/>
          </a:xfrm>
          <a:prstGeom prst="rect">
            <a:avLst/>
          </a:prstGeom>
          <a:ln>
            <a:noFill/>
          </a:ln>
          <a:effectLst>
            <a:outerShdw blurRad="190500" algn="tl" rotWithShape="0">
              <a:srgbClr val="000000">
                <a:alpha val="70000"/>
              </a:srgbClr>
            </a:outerShdw>
          </a:effectLst>
        </p:spPr>
      </p:pic>
      <p:sp>
        <p:nvSpPr>
          <p:cNvPr id="20" name="TextBox 19"/>
          <p:cNvSpPr txBox="1"/>
          <p:nvPr/>
        </p:nvSpPr>
        <p:spPr bwMode="gray">
          <a:xfrm>
            <a:off x="6096000" y="4541217"/>
            <a:ext cx="1693081" cy="824723"/>
          </a:xfrm>
          <a:prstGeom prst="rect">
            <a:avLst/>
          </a:prstGeom>
        </p:spPr>
        <p:txBody>
          <a:bodyPr vert="horz" wrap="square" lIns="91440" tIns="45720" rIns="91440" bIns="45720" rtlCol="0" anchor="ctr">
            <a:noAutofit/>
          </a:bodyPr>
          <a:lstStyle/>
          <a:p>
            <a:pPr algn="ctr"/>
            <a:r>
              <a:rPr lang="en-IN" b="1" dirty="0" smtClean="0">
                <a:solidFill>
                  <a:prstClr val="black"/>
                </a:solidFill>
              </a:rPr>
              <a:t>Social Benchmarking</a:t>
            </a:r>
            <a:endParaRPr lang="en-IN" b="1" dirty="0">
              <a:solidFill>
                <a:prstClr val="black"/>
              </a:solidFill>
            </a:endParaRPr>
          </a:p>
        </p:txBody>
      </p:sp>
      <p:sp>
        <p:nvSpPr>
          <p:cNvPr id="21" name="TextBox 20"/>
          <p:cNvSpPr txBox="1"/>
          <p:nvPr/>
        </p:nvSpPr>
        <p:spPr bwMode="gray">
          <a:xfrm>
            <a:off x="6330559" y="1870778"/>
            <a:ext cx="1693081" cy="824723"/>
          </a:xfrm>
          <a:prstGeom prst="rect">
            <a:avLst/>
          </a:prstGeom>
        </p:spPr>
        <p:txBody>
          <a:bodyPr vert="horz" wrap="square" lIns="91440" tIns="45720" rIns="91440" bIns="45720" rtlCol="0" anchor="ctr">
            <a:noAutofit/>
          </a:bodyPr>
          <a:lstStyle/>
          <a:p>
            <a:pPr algn="ctr"/>
            <a:r>
              <a:rPr lang="en-IN" b="1" dirty="0" smtClean="0">
                <a:solidFill>
                  <a:prstClr val="black"/>
                </a:solidFill>
              </a:rPr>
              <a:t>Social Media Trend</a:t>
            </a:r>
            <a:endParaRPr lang="en-IN" b="1" dirty="0">
              <a:solidFill>
                <a:prstClr val="black"/>
              </a:solidFill>
            </a:endParaRPr>
          </a:p>
        </p:txBody>
      </p:sp>
    </p:spTree>
    <p:extLst>
      <p:ext uri="{BB962C8B-B14F-4D97-AF65-F5344CB8AC3E}">
        <p14:creationId xmlns:p14="http://schemas.microsoft.com/office/powerpoint/2010/main" val="375177347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6010224" y="2597047"/>
            <a:ext cx="1858395" cy="1062692"/>
            <a:chOff x="6010224" y="2188884"/>
            <a:chExt cx="1858395" cy="1062692"/>
          </a:xfrm>
        </p:grpSpPr>
        <p:pic>
          <p:nvPicPr>
            <p:cNvPr id="23" name="Picture 22"/>
            <p:cNvPicPr>
              <a:picLocks noChangeAspect="1"/>
            </p:cNvPicPr>
            <p:nvPr/>
          </p:nvPicPr>
          <p:blipFill>
            <a:blip r:embed="rId2"/>
            <a:stretch>
              <a:fillRect/>
            </a:stretch>
          </p:blipFill>
          <p:spPr>
            <a:xfrm>
              <a:off x="6140465" y="2272018"/>
              <a:ext cx="1576380" cy="693557"/>
            </a:xfrm>
            <a:prstGeom prst="rect">
              <a:avLst/>
            </a:prstGeom>
          </p:spPr>
        </p:pic>
        <p:pic>
          <p:nvPicPr>
            <p:cNvPr id="92" name="Picture 2" descr="http://www.annembaker.com/images/comp1_trac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0224" y="2188884"/>
              <a:ext cx="1858395" cy="106269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p:cNvGrpSpPr/>
          <p:nvPr/>
        </p:nvGrpSpPr>
        <p:grpSpPr>
          <a:xfrm>
            <a:off x="0" y="1717526"/>
            <a:ext cx="12192000" cy="541680"/>
            <a:chOff x="-4693772" y="2132960"/>
            <a:chExt cx="7307358" cy="479192"/>
          </a:xfrm>
        </p:grpSpPr>
        <p:sp>
          <p:nvSpPr>
            <p:cNvPr id="34" name="Pentagon 33"/>
            <p:cNvSpPr/>
            <p:nvPr/>
          </p:nvSpPr>
          <p:spPr>
            <a:xfrm>
              <a:off x="-4693772" y="2132960"/>
              <a:ext cx="2993836" cy="479192"/>
            </a:xfrm>
            <a:prstGeom prst="homePlat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smtClean="0">
                  <a:solidFill>
                    <a:prstClr val="white"/>
                  </a:solidFill>
                  <a:latin typeface="Leelawadee UI" panose="020B0502040204020203" pitchFamily="34" charset="-34"/>
                  <a:cs typeface="Leelawadee UI" panose="020B0502040204020203" pitchFamily="34" charset="-34"/>
                </a:rPr>
                <a:t>Process</a:t>
              </a:r>
              <a:endParaRPr lang="en-US" sz="1600" b="1" dirty="0">
                <a:solidFill>
                  <a:prstClr val="white"/>
                </a:solidFill>
                <a:latin typeface="Leelawadee UI" panose="020B0502040204020203" pitchFamily="34" charset="-34"/>
                <a:cs typeface="Leelawadee UI" panose="020B0502040204020203" pitchFamily="34" charset="-34"/>
              </a:endParaRPr>
            </a:p>
          </p:txBody>
        </p:sp>
        <p:sp>
          <p:nvSpPr>
            <p:cNvPr id="33" name="Pentagon 32"/>
            <p:cNvSpPr/>
            <p:nvPr/>
          </p:nvSpPr>
          <p:spPr>
            <a:xfrm>
              <a:off x="-2018952" y="2132960"/>
              <a:ext cx="2533636" cy="479192"/>
            </a:xfrm>
            <a:prstGeom prst="homePlat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prstClr val="white"/>
                  </a:solidFill>
                  <a:latin typeface="Leelawadee UI" panose="020B0502040204020203" pitchFamily="34" charset="-34"/>
                  <a:cs typeface="Leelawadee UI" panose="020B0502040204020203" pitchFamily="34" charset="-34"/>
                </a:rPr>
                <a:t>Channel</a:t>
              </a:r>
              <a:endParaRPr lang="en-IN" sz="1600" b="1" dirty="0">
                <a:solidFill>
                  <a:prstClr val="white"/>
                </a:solidFill>
                <a:latin typeface="Leelawadee UI" panose="020B0502040204020203" pitchFamily="34" charset="-34"/>
                <a:cs typeface="Leelawadee UI" panose="020B0502040204020203" pitchFamily="34" charset="-34"/>
              </a:endParaRPr>
            </a:p>
          </p:txBody>
        </p:sp>
        <p:sp>
          <p:nvSpPr>
            <p:cNvPr id="31" name="Pentagon 30"/>
            <p:cNvSpPr/>
            <p:nvPr/>
          </p:nvSpPr>
          <p:spPr>
            <a:xfrm>
              <a:off x="209115" y="2132960"/>
              <a:ext cx="2404471" cy="479192"/>
            </a:xfrm>
            <a:prstGeom prst="homePlat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dirty="0" smtClean="0">
                  <a:solidFill>
                    <a:prstClr val="white"/>
                  </a:solidFill>
                  <a:latin typeface="Leelawadee UI" panose="020B0502040204020203" pitchFamily="34" charset="-34"/>
                  <a:cs typeface="Leelawadee UI" panose="020B0502040204020203" pitchFamily="34" charset="-34"/>
                </a:rPr>
                <a:t> </a:t>
              </a:r>
              <a:r>
                <a:rPr lang="en-IN" sz="1600" b="1" dirty="0" smtClean="0">
                  <a:solidFill>
                    <a:prstClr val="white"/>
                  </a:solidFill>
                  <a:latin typeface="Leelawadee UI" panose="020B0502040204020203" pitchFamily="34" charset="-34"/>
                  <a:cs typeface="Leelawadee UI" panose="020B0502040204020203" pitchFamily="34" charset="-34"/>
                </a:rPr>
                <a:t>Benefits</a:t>
              </a:r>
              <a:endParaRPr lang="en-IN" sz="1600" b="1" dirty="0">
                <a:solidFill>
                  <a:prstClr val="white"/>
                </a:solidFill>
                <a:latin typeface="Leelawadee UI" panose="020B0502040204020203" pitchFamily="34" charset="-34"/>
                <a:cs typeface="Leelawadee UI" panose="020B0502040204020203" pitchFamily="34" charset="-34"/>
              </a:endParaRPr>
            </a:p>
          </p:txBody>
        </p:sp>
      </p:grpSp>
      <p:grpSp>
        <p:nvGrpSpPr>
          <p:cNvPr id="11" name="Group 10"/>
          <p:cNvGrpSpPr/>
          <p:nvPr/>
        </p:nvGrpSpPr>
        <p:grpSpPr>
          <a:xfrm>
            <a:off x="124723" y="2463253"/>
            <a:ext cx="11800578" cy="4004515"/>
            <a:chOff x="529002" y="2232515"/>
            <a:chExt cx="11133996" cy="3213994"/>
          </a:xfrm>
        </p:grpSpPr>
        <p:sp>
          <p:nvSpPr>
            <p:cNvPr id="36" name="Rectangle 35"/>
            <p:cNvSpPr/>
            <p:nvPr/>
          </p:nvSpPr>
          <p:spPr>
            <a:xfrm>
              <a:off x="529002" y="2232515"/>
              <a:ext cx="3987831" cy="3213994"/>
            </a:xfrm>
            <a:prstGeom prst="rect">
              <a:avLst/>
            </a:prstGeom>
            <a:noFill/>
            <a:ln w="28575">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sp>
          <p:nvSpPr>
            <p:cNvPr id="37" name="Rectangle 36"/>
            <p:cNvSpPr/>
            <p:nvPr/>
          </p:nvSpPr>
          <p:spPr>
            <a:xfrm>
              <a:off x="4622050" y="2232515"/>
              <a:ext cx="3530177" cy="3213994"/>
            </a:xfrm>
            <a:prstGeom prst="rect">
              <a:avLst/>
            </a:prstGeom>
            <a:noFill/>
            <a:ln w="28575">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sp>
          <p:nvSpPr>
            <p:cNvPr id="38" name="Rectangle 37"/>
            <p:cNvSpPr/>
            <p:nvPr/>
          </p:nvSpPr>
          <p:spPr>
            <a:xfrm>
              <a:off x="8305899" y="2232515"/>
              <a:ext cx="3357099" cy="3213994"/>
            </a:xfrm>
            <a:prstGeom prst="rect">
              <a:avLst/>
            </a:prstGeom>
            <a:noFill/>
            <a:ln w="28575">
              <a:solidFill>
                <a:schemeClr val="bg1">
                  <a:lumMod val="6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2060"/>
                </a:solidFill>
              </a:endParaRPr>
            </a:p>
          </p:txBody>
        </p:sp>
      </p:grpSp>
      <p:sp>
        <p:nvSpPr>
          <p:cNvPr id="67" name="Rectangle 66"/>
          <p:cNvSpPr/>
          <p:nvPr/>
        </p:nvSpPr>
        <p:spPr>
          <a:xfrm>
            <a:off x="4276767" y="2750657"/>
            <a:ext cx="1882173" cy="5355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rgbClr val="002060"/>
                </a:solidFill>
                <a:latin typeface="Leelawadee UI" panose="020B0502040204020203" pitchFamily="34" charset="-34"/>
                <a:cs typeface="Leelawadee UI" panose="020B0502040204020203" pitchFamily="34" charset="-34"/>
              </a:rPr>
              <a:t>Search</a:t>
            </a:r>
            <a:endParaRPr lang="en-IN" sz="1600" b="1" dirty="0">
              <a:solidFill>
                <a:srgbClr val="002060"/>
              </a:solidFill>
              <a:latin typeface="Leelawadee UI" panose="020B0502040204020203" pitchFamily="34" charset="-34"/>
              <a:cs typeface="Leelawadee UI" panose="020B0502040204020203" pitchFamily="34" charset="-34"/>
            </a:endParaRPr>
          </a:p>
        </p:txBody>
      </p:sp>
      <p:sp>
        <p:nvSpPr>
          <p:cNvPr id="51" name="Slide Number Placeholder 3"/>
          <p:cNvSpPr>
            <a:spLocks noGrp="1"/>
          </p:cNvSpPr>
          <p:nvPr>
            <p:ph type="sldNum" sz="quarter" idx="12"/>
          </p:nvPr>
        </p:nvSpPr>
        <p:spPr>
          <a:xfrm>
            <a:off x="9448800" y="6350"/>
            <a:ext cx="2743200" cy="365125"/>
          </a:xfrm>
        </p:spPr>
        <p:txBody>
          <a:bodyPr/>
          <a:lstStyle/>
          <a:p>
            <a:r>
              <a:rPr lang="en-IN" dirty="0" smtClean="0"/>
              <a:t>15</a:t>
            </a:r>
            <a:endParaRPr lang="en-IN" dirty="0"/>
          </a:p>
        </p:txBody>
      </p:sp>
      <p:grpSp>
        <p:nvGrpSpPr>
          <p:cNvPr id="52" name="Group 51"/>
          <p:cNvGrpSpPr/>
          <p:nvPr/>
        </p:nvGrpSpPr>
        <p:grpSpPr>
          <a:xfrm>
            <a:off x="322354" y="2805542"/>
            <a:ext cx="648000" cy="648000"/>
            <a:chOff x="1400527" y="2606722"/>
            <a:chExt cx="914400" cy="914400"/>
          </a:xfrm>
        </p:grpSpPr>
        <p:sp>
          <p:nvSpPr>
            <p:cNvPr id="53" name="Oval 52"/>
            <p:cNvSpPr/>
            <p:nvPr/>
          </p:nvSpPr>
          <p:spPr>
            <a:xfrm>
              <a:off x="1400527" y="2606722"/>
              <a:ext cx="914400" cy="914400"/>
            </a:xfrm>
            <a:prstGeom prst="ellipse">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4" name="Picture 18" descr="Image result for man in suit clip art"/>
            <p:cNvPicPr>
              <a:picLocks noChangeAspect="1" noChangeArrowheads="1"/>
            </p:cNvPicPr>
            <p:nvPr/>
          </p:nvPicPr>
          <p:blipFill>
            <a:blip r:embed="rId4"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1719184" y="2617893"/>
              <a:ext cx="277086" cy="90322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4" name="Group 13"/>
          <p:cNvGrpSpPr/>
          <p:nvPr/>
        </p:nvGrpSpPr>
        <p:grpSpPr>
          <a:xfrm>
            <a:off x="2317481" y="2578520"/>
            <a:ext cx="1704843" cy="1084600"/>
            <a:chOff x="2238012" y="2240204"/>
            <a:chExt cx="1782407" cy="1252368"/>
          </a:xfrm>
        </p:grpSpPr>
        <p:pic>
          <p:nvPicPr>
            <p:cNvPr id="1026" name="Picture 2" descr="http://www.annembaker.com/images/comp1_trace.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38012" y="2240204"/>
              <a:ext cx="1782407" cy="12523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preferRelativeResize="0">
              <a:picLocks/>
            </p:cNvPicPr>
            <p:nvPr/>
          </p:nvPicPr>
          <p:blipFill>
            <a:blip r:embed="rId6"/>
            <a:stretch>
              <a:fillRect/>
            </a:stretch>
          </p:blipFill>
          <p:spPr>
            <a:xfrm>
              <a:off x="2453696" y="2294428"/>
              <a:ext cx="1357200" cy="864000"/>
            </a:xfrm>
            <a:prstGeom prst="rect">
              <a:avLst/>
            </a:prstGeom>
          </p:spPr>
        </p:pic>
      </p:grpSp>
      <p:grpSp>
        <p:nvGrpSpPr>
          <p:cNvPr id="17" name="Group 16"/>
          <p:cNvGrpSpPr/>
          <p:nvPr/>
        </p:nvGrpSpPr>
        <p:grpSpPr>
          <a:xfrm>
            <a:off x="332179" y="4702840"/>
            <a:ext cx="1028133" cy="1025127"/>
            <a:chOff x="646354" y="3835622"/>
            <a:chExt cx="1276350" cy="1162050"/>
          </a:xfrm>
        </p:grpSpPr>
        <p:pic>
          <p:nvPicPr>
            <p:cNvPr id="16" name="Picture 15"/>
            <p:cNvPicPr>
              <a:picLocks noChangeAspect="1"/>
            </p:cNvPicPr>
            <p:nvPr/>
          </p:nvPicPr>
          <p:blipFill>
            <a:blip r:embed="rId7"/>
            <a:stretch>
              <a:fillRect/>
            </a:stretch>
          </p:blipFill>
          <p:spPr>
            <a:xfrm>
              <a:off x="646354" y="3835622"/>
              <a:ext cx="1276350" cy="1162050"/>
            </a:xfrm>
            <a:prstGeom prst="rect">
              <a:avLst/>
            </a:prstGeom>
          </p:spPr>
        </p:pic>
        <p:pic>
          <p:nvPicPr>
            <p:cNvPr id="9" name="Picture 8"/>
            <p:cNvPicPr>
              <a:picLocks noChangeAspect="1"/>
            </p:cNvPicPr>
            <p:nvPr/>
          </p:nvPicPr>
          <p:blipFill>
            <a:blip r:embed="rId8"/>
            <a:stretch>
              <a:fillRect/>
            </a:stretch>
          </p:blipFill>
          <p:spPr>
            <a:xfrm>
              <a:off x="868489" y="4774446"/>
              <a:ext cx="1054215" cy="197475"/>
            </a:xfrm>
            <a:prstGeom prst="rect">
              <a:avLst/>
            </a:prstGeom>
          </p:spPr>
        </p:pic>
      </p:grpSp>
      <p:sp>
        <p:nvSpPr>
          <p:cNvPr id="18" name="TextBox 17"/>
          <p:cNvSpPr txBox="1"/>
          <p:nvPr/>
        </p:nvSpPr>
        <p:spPr>
          <a:xfrm>
            <a:off x="-57963" y="3816984"/>
            <a:ext cx="1493478" cy="338554"/>
          </a:xfrm>
          <a:prstGeom prst="rect">
            <a:avLst/>
          </a:prstGeom>
          <a:noFill/>
        </p:spPr>
        <p:txBody>
          <a:bodyPr wrap="square" rtlCol="0">
            <a:spAutoFit/>
          </a:bodyPr>
          <a:lstStyle/>
          <a:p>
            <a:pPr algn="ctr"/>
            <a:r>
              <a:rPr lang="en-US" sz="1600" b="1" dirty="0" smtClean="0">
                <a:solidFill>
                  <a:srgbClr val="002060"/>
                </a:solidFill>
                <a:latin typeface="Leelawadee UI" panose="020B0502040204020203" pitchFamily="34" charset="-34"/>
                <a:cs typeface="Leelawadee UI" panose="020B0502040204020203" pitchFamily="34" charset="-34"/>
              </a:rPr>
              <a:t>1</a:t>
            </a:r>
            <a:r>
              <a:rPr lang="en-US" sz="1600" dirty="0" smtClean="0">
                <a:solidFill>
                  <a:srgbClr val="002060"/>
                </a:solidFill>
                <a:latin typeface="Leelawadee UI" panose="020B0502040204020203" pitchFamily="34" charset="-34"/>
                <a:cs typeface="Leelawadee UI" panose="020B0502040204020203" pitchFamily="34" charset="-34"/>
              </a:rPr>
              <a:t>. Prospect</a:t>
            </a:r>
            <a:endParaRPr lang="en-IN" sz="1600" dirty="0"/>
          </a:p>
        </p:txBody>
      </p:sp>
      <p:sp>
        <p:nvSpPr>
          <p:cNvPr id="64" name="TextBox 63"/>
          <p:cNvSpPr txBox="1"/>
          <p:nvPr/>
        </p:nvSpPr>
        <p:spPr>
          <a:xfrm>
            <a:off x="2440848" y="3635112"/>
            <a:ext cx="1493478" cy="584775"/>
          </a:xfrm>
          <a:prstGeom prst="rect">
            <a:avLst/>
          </a:prstGeom>
          <a:noFill/>
        </p:spPr>
        <p:txBody>
          <a:bodyPr wrap="square" rtlCol="0">
            <a:spAutoFit/>
          </a:bodyPr>
          <a:lstStyle/>
          <a:p>
            <a:pPr algn="ctr"/>
            <a:r>
              <a:rPr lang="en-US" sz="1600" b="1" dirty="0" smtClean="0">
                <a:solidFill>
                  <a:srgbClr val="002060"/>
                </a:solidFill>
                <a:latin typeface="Leelawadee UI" panose="020B0502040204020203" pitchFamily="34" charset="-34"/>
                <a:cs typeface="Leelawadee UI" panose="020B0502040204020203" pitchFamily="34" charset="-34"/>
              </a:rPr>
              <a:t>2.</a:t>
            </a:r>
            <a:r>
              <a:rPr lang="en-US" sz="1600" dirty="0" smtClean="0">
                <a:solidFill>
                  <a:srgbClr val="002060"/>
                </a:solidFill>
                <a:latin typeface="Leelawadee UI" panose="020B0502040204020203" pitchFamily="34" charset="-34"/>
                <a:cs typeface="Leelawadee UI" panose="020B0502040204020203" pitchFamily="34" charset="-34"/>
              </a:rPr>
              <a:t> Visited Tata AIA website</a:t>
            </a:r>
            <a:endParaRPr lang="en-IN" sz="1600" dirty="0"/>
          </a:p>
        </p:txBody>
      </p:sp>
      <p:sp>
        <p:nvSpPr>
          <p:cNvPr id="19" name="Right Arrow 18"/>
          <p:cNvSpPr/>
          <p:nvPr/>
        </p:nvSpPr>
        <p:spPr>
          <a:xfrm>
            <a:off x="1468368" y="2982007"/>
            <a:ext cx="393285" cy="385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TextBox 64"/>
          <p:cNvSpPr txBox="1"/>
          <p:nvPr/>
        </p:nvSpPr>
        <p:spPr>
          <a:xfrm>
            <a:off x="22500" y="5784982"/>
            <a:ext cx="2099439" cy="584775"/>
          </a:xfrm>
          <a:prstGeom prst="rect">
            <a:avLst/>
          </a:prstGeom>
          <a:noFill/>
        </p:spPr>
        <p:txBody>
          <a:bodyPr wrap="square" rtlCol="0">
            <a:spAutoFit/>
          </a:bodyPr>
          <a:lstStyle/>
          <a:p>
            <a:pPr algn="ctr"/>
            <a:r>
              <a:rPr lang="en-US" sz="1600" b="1" dirty="0" smtClean="0">
                <a:solidFill>
                  <a:srgbClr val="002060"/>
                </a:solidFill>
                <a:latin typeface="Leelawadee UI" panose="020B0502040204020203" pitchFamily="34" charset="-34"/>
                <a:cs typeface="Leelawadee UI" panose="020B0502040204020203" pitchFamily="34" charset="-34"/>
              </a:rPr>
              <a:t>4. </a:t>
            </a:r>
            <a:r>
              <a:rPr lang="en-US" sz="1600" dirty="0" smtClean="0">
                <a:solidFill>
                  <a:srgbClr val="002060"/>
                </a:solidFill>
                <a:latin typeface="Leelawadee UI" panose="020B0502040204020203" pitchFamily="34" charset="-34"/>
                <a:cs typeface="Leelawadee UI" panose="020B0502040204020203" pitchFamily="34" charset="-34"/>
              </a:rPr>
              <a:t>Watches Remarketing Banner</a:t>
            </a:r>
            <a:endParaRPr lang="en-IN" sz="1600" dirty="0"/>
          </a:p>
        </p:txBody>
      </p:sp>
      <p:pic>
        <p:nvPicPr>
          <p:cNvPr id="20" name="Picture 19"/>
          <p:cNvPicPr>
            <a:picLocks noChangeAspect="1"/>
          </p:cNvPicPr>
          <p:nvPr/>
        </p:nvPicPr>
        <p:blipFill>
          <a:blip r:embed="rId9"/>
          <a:stretch>
            <a:fillRect/>
          </a:stretch>
        </p:blipFill>
        <p:spPr>
          <a:xfrm>
            <a:off x="2916210" y="4788602"/>
            <a:ext cx="771525" cy="923925"/>
          </a:xfrm>
          <a:prstGeom prst="rect">
            <a:avLst/>
          </a:prstGeom>
        </p:spPr>
      </p:pic>
      <p:sp>
        <p:nvSpPr>
          <p:cNvPr id="84" name="Right Arrow 83"/>
          <p:cNvSpPr/>
          <p:nvPr/>
        </p:nvSpPr>
        <p:spPr>
          <a:xfrm rot="5400000">
            <a:off x="2994116" y="4215761"/>
            <a:ext cx="393285" cy="385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5" name="TextBox 84"/>
          <p:cNvSpPr txBox="1"/>
          <p:nvPr/>
        </p:nvSpPr>
        <p:spPr>
          <a:xfrm>
            <a:off x="2440848" y="5738278"/>
            <a:ext cx="1835919" cy="584775"/>
          </a:xfrm>
          <a:prstGeom prst="rect">
            <a:avLst/>
          </a:prstGeom>
          <a:noFill/>
        </p:spPr>
        <p:txBody>
          <a:bodyPr wrap="square" rtlCol="0">
            <a:spAutoFit/>
          </a:bodyPr>
          <a:lstStyle/>
          <a:p>
            <a:pPr algn="ctr"/>
            <a:r>
              <a:rPr lang="en-US" sz="1600" b="1" dirty="0" smtClean="0">
                <a:solidFill>
                  <a:srgbClr val="002060"/>
                </a:solidFill>
                <a:latin typeface="Leelawadee UI" panose="020B0502040204020203" pitchFamily="34" charset="-34"/>
                <a:cs typeface="Leelawadee UI" panose="020B0502040204020203" pitchFamily="34" charset="-34"/>
              </a:rPr>
              <a:t>3. </a:t>
            </a:r>
            <a:r>
              <a:rPr lang="en-US" sz="1600" dirty="0" smtClean="0">
                <a:solidFill>
                  <a:srgbClr val="002060"/>
                </a:solidFill>
                <a:latin typeface="Leelawadee UI" panose="020B0502040204020203" pitchFamily="34" charset="-34"/>
                <a:cs typeface="Leelawadee UI" panose="020B0502040204020203" pitchFamily="34" charset="-34"/>
              </a:rPr>
              <a:t>Prospect Interest tracked</a:t>
            </a:r>
            <a:endParaRPr lang="en-IN" sz="1600" dirty="0"/>
          </a:p>
        </p:txBody>
      </p:sp>
      <p:sp>
        <p:nvSpPr>
          <p:cNvPr id="86" name="Right Arrow 85"/>
          <p:cNvSpPr/>
          <p:nvPr/>
        </p:nvSpPr>
        <p:spPr>
          <a:xfrm flipH="1">
            <a:off x="1924196" y="5073616"/>
            <a:ext cx="393285" cy="3851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2" name="Straight Arrow Connector 21"/>
          <p:cNvCxnSpPr/>
          <p:nvPr/>
        </p:nvCxnSpPr>
        <p:spPr>
          <a:xfrm flipV="1">
            <a:off x="1307823" y="3532009"/>
            <a:ext cx="1107659" cy="1136292"/>
          </a:xfrm>
          <a:prstGeom prst="straightConnector1">
            <a:avLst/>
          </a:prstGeom>
          <a:ln w="28575">
            <a:prstDash val="sysDot"/>
            <a:tailEnd type="triangle"/>
          </a:ln>
        </p:spPr>
        <p:style>
          <a:lnRef idx="1">
            <a:schemeClr val="accent1"/>
          </a:lnRef>
          <a:fillRef idx="0">
            <a:schemeClr val="accent1"/>
          </a:fillRef>
          <a:effectRef idx="0">
            <a:schemeClr val="accent1"/>
          </a:effectRef>
          <a:fontRef idx="minor">
            <a:schemeClr val="tx1"/>
          </a:fontRef>
        </p:style>
      </p:cxnSp>
      <p:sp>
        <p:nvSpPr>
          <p:cNvPr id="94" name="Rectangle 93"/>
          <p:cNvSpPr/>
          <p:nvPr/>
        </p:nvSpPr>
        <p:spPr>
          <a:xfrm>
            <a:off x="4182882" y="3929942"/>
            <a:ext cx="1882173" cy="5355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rgbClr val="002060"/>
                </a:solidFill>
                <a:latin typeface="Leelawadee UI" panose="020B0502040204020203" pitchFamily="34" charset="-34"/>
                <a:cs typeface="Leelawadee UI" panose="020B0502040204020203" pitchFamily="34" charset="-34"/>
              </a:rPr>
              <a:t>Social</a:t>
            </a:r>
            <a:endParaRPr lang="en-IN" sz="1600" b="1" dirty="0">
              <a:solidFill>
                <a:srgbClr val="002060"/>
              </a:solidFill>
              <a:latin typeface="Leelawadee UI" panose="020B0502040204020203" pitchFamily="34" charset="-34"/>
              <a:cs typeface="Leelawadee UI" panose="020B0502040204020203" pitchFamily="34" charset="-34"/>
            </a:endParaRPr>
          </a:p>
        </p:txBody>
      </p:sp>
      <p:pic>
        <p:nvPicPr>
          <p:cNvPr id="25" name="Picture 24"/>
          <p:cNvPicPr>
            <a:picLocks noChangeAspect="1"/>
          </p:cNvPicPr>
          <p:nvPr/>
        </p:nvPicPr>
        <p:blipFill>
          <a:blip r:embed="rId10"/>
          <a:stretch>
            <a:fillRect/>
          </a:stretch>
        </p:blipFill>
        <p:spPr>
          <a:xfrm>
            <a:off x="5910565" y="3903517"/>
            <a:ext cx="1954518" cy="718417"/>
          </a:xfrm>
          <a:prstGeom prst="rect">
            <a:avLst/>
          </a:prstGeom>
        </p:spPr>
      </p:pic>
      <p:sp>
        <p:nvSpPr>
          <p:cNvPr id="95" name="Rectangle 94"/>
          <p:cNvSpPr/>
          <p:nvPr/>
        </p:nvSpPr>
        <p:spPr>
          <a:xfrm>
            <a:off x="4187121" y="4910346"/>
            <a:ext cx="1882173" cy="5355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rgbClr val="002060"/>
                </a:solidFill>
                <a:latin typeface="Leelawadee UI" panose="020B0502040204020203" pitchFamily="34" charset="-34"/>
                <a:cs typeface="Leelawadee UI" panose="020B0502040204020203" pitchFamily="34" charset="-34"/>
              </a:rPr>
              <a:t>Display</a:t>
            </a:r>
            <a:endParaRPr lang="en-IN" sz="1600" b="1" dirty="0">
              <a:solidFill>
                <a:srgbClr val="002060"/>
              </a:solidFill>
              <a:latin typeface="Leelawadee UI" panose="020B0502040204020203" pitchFamily="34" charset="-34"/>
              <a:cs typeface="Leelawadee UI" panose="020B0502040204020203" pitchFamily="34" charset="-34"/>
            </a:endParaRPr>
          </a:p>
        </p:txBody>
      </p:sp>
      <p:cxnSp>
        <p:nvCxnSpPr>
          <p:cNvPr id="27" name="Straight Arrow Connector 26"/>
          <p:cNvCxnSpPr/>
          <p:nvPr/>
        </p:nvCxnSpPr>
        <p:spPr>
          <a:xfrm flipV="1">
            <a:off x="5500468" y="4982931"/>
            <a:ext cx="716462" cy="212117"/>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6269518" y="4806287"/>
            <a:ext cx="1595565" cy="307777"/>
          </a:xfrm>
          <a:prstGeom prst="rect">
            <a:avLst/>
          </a:prstGeom>
          <a:noFill/>
        </p:spPr>
        <p:txBody>
          <a:bodyPr wrap="none" rtlCol="0">
            <a:spAutoFit/>
          </a:bodyPr>
          <a:lstStyle/>
          <a:p>
            <a:r>
              <a:rPr lang="en-IN" sz="1400" b="1" i="1" dirty="0" smtClean="0">
                <a:solidFill>
                  <a:schemeClr val="tx2">
                    <a:lumMod val="50000"/>
                  </a:schemeClr>
                </a:solidFill>
              </a:rPr>
              <a:t>Advertiser Website</a:t>
            </a:r>
            <a:endParaRPr lang="en-IN" sz="1400" b="1" i="1" dirty="0">
              <a:solidFill>
                <a:schemeClr val="tx2">
                  <a:lumMod val="50000"/>
                </a:schemeClr>
              </a:solidFill>
            </a:endParaRPr>
          </a:p>
        </p:txBody>
      </p:sp>
      <p:cxnSp>
        <p:nvCxnSpPr>
          <p:cNvPr id="97" name="Straight Arrow Connector 96"/>
          <p:cNvCxnSpPr/>
          <p:nvPr/>
        </p:nvCxnSpPr>
        <p:spPr>
          <a:xfrm>
            <a:off x="5498767" y="5204892"/>
            <a:ext cx="718163" cy="185847"/>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6265218" y="5253679"/>
            <a:ext cx="849913" cy="307777"/>
          </a:xfrm>
          <a:prstGeom prst="rect">
            <a:avLst/>
          </a:prstGeom>
          <a:noFill/>
        </p:spPr>
        <p:txBody>
          <a:bodyPr wrap="none" rtlCol="0">
            <a:spAutoFit/>
          </a:bodyPr>
          <a:lstStyle/>
          <a:p>
            <a:r>
              <a:rPr lang="en-IN" sz="1400" b="1" i="1" dirty="0" smtClean="0">
                <a:solidFill>
                  <a:schemeClr val="tx2">
                    <a:lumMod val="50000"/>
                  </a:schemeClr>
                </a:solidFill>
              </a:rPr>
              <a:t>Own Site</a:t>
            </a:r>
            <a:endParaRPr lang="en-IN" sz="1400" b="1" i="1" dirty="0">
              <a:solidFill>
                <a:schemeClr val="tx2">
                  <a:lumMod val="50000"/>
                </a:schemeClr>
              </a:solidFill>
            </a:endParaRPr>
          </a:p>
        </p:txBody>
      </p:sp>
      <p:sp>
        <p:nvSpPr>
          <p:cNvPr id="99" name="Rectangle 98"/>
          <p:cNvSpPr/>
          <p:nvPr/>
        </p:nvSpPr>
        <p:spPr>
          <a:xfrm>
            <a:off x="4213827" y="5762881"/>
            <a:ext cx="1882173" cy="5355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600" b="1" dirty="0" smtClean="0">
                <a:solidFill>
                  <a:srgbClr val="002060"/>
                </a:solidFill>
                <a:latin typeface="Leelawadee UI" panose="020B0502040204020203" pitchFamily="34" charset="-34"/>
                <a:cs typeface="Leelawadee UI" panose="020B0502040204020203" pitchFamily="34" charset="-34"/>
              </a:rPr>
              <a:t>CRM</a:t>
            </a:r>
            <a:endParaRPr lang="en-IN" sz="1600" b="1" dirty="0">
              <a:solidFill>
                <a:srgbClr val="002060"/>
              </a:solidFill>
              <a:latin typeface="Leelawadee UI" panose="020B0502040204020203" pitchFamily="34" charset="-34"/>
              <a:cs typeface="Leelawadee UI" panose="020B0502040204020203" pitchFamily="34" charset="-34"/>
            </a:endParaRPr>
          </a:p>
        </p:txBody>
      </p:sp>
      <p:pic>
        <p:nvPicPr>
          <p:cNvPr id="100" name="Picture 99"/>
          <p:cNvPicPr>
            <a:picLocks noChangeAspect="1"/>
          </p:cNvPicPr>
          <p:nvPr/>
        </p:nvPicPr>
        <p:blipFill>
          <a:blip r:embed="rId11"/>
          <a:stretch>
            <a:fillRect/>
          </a:stretch>
        </p:blipFill>
        <p:spPr>
          <a:xfrm>
            <a:off x="6065055" y="5885252"/>
            <a:ext cx="425614" cy="332779"/>
          </a:xfrm>
          <a:prstGeom prst="rect">
            <a:avLst/>
          </a:prstGeom>
        </p:spPr>
      </p:pic>
      <p:pic>
        <p:nvPicPr>
          <p:cNvPr id="101" name="Picture 2" descr="http://www.teleanalysis.com/wp-content/uploads/2014/09/SMS.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592892" y="5847528"/>
            <a:ext cx="508989" cy="47970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iadbox.com/wp-content/uploads/2015/07/push-notifications1.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939421" y="5658341"/>
            <a:ext cx="809427" cy="809427"/>
          </a:xfrm>
          <a:prstGeom prst="rect">
            <a:avLst/>
          </a:prstGeom>
          <a:noFill/>
          <a:extLst>
            <a:ext uri="{909E8E84-426E-40DD-AFC4-6F175D3DCCD1}">
              <a14:hiddenFill xmlns:a14="http://schemas.microsoft.com/office/drawing/2010/main">
                <a:solidFill>
                  <a:srgbClr val="FFFFFF"/>
                </a:solidFill>
              </a14:hiddenFill>
            </a:ext>
          </a:extLst>
        </p:spPr>
      </p:pic>
      <p:sp>
        <p:nvSpPr>
          <p:cNvPr id="43" name="Rounded Rectangle 42"/>
          <p:cNvSpPr/>
          <p:nvPr/>
        </p:nvSpPr>
        <p:spPr>
          <a:xfrm>
            <a:off x="8553878" y="2665833"/>
            <a:ext cx="3184759" cy="401124"/>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lumMod val="50000"/>
                  </a:schemeClr>
                </a:solidFill>
              </a:rPr>
              <a:t>Customer Retention</a:t>
            </a:r>
            <a:endParaRPr lang="en-IN" b="1" dirty="0">
              <a:solidFill>
                <a:schemeClr val="tx2">
                  <a:lumMod val="50000"/>
                </a:schemeClr>
              </a:solidFill>
            </a:endParaRPr>
          </a:p>
        </p:txBody>
      </p:sp>
      <p:sp>
        <p:nvSpPr>
          <p:cNvPr id="44" name="TextBox 43"/>
          <p:cNvSpPr txBox="1"/>
          <p:nvPr/>
        </p:nvSpPr>
        <p:spPr>
          <a:xfrm>
            <a:off x="8876740" y="3038419"/>
            <a:ext cx="3048561" cy="307777"/>
          </a:xfrm>
          <a:prstGeom prst="rect">
            <a:avLst/>
          </a:prstGeom>
          <a:noFill/>
        </p:spPr>
        <p:txBody>
          <a:bodyPr wrap="square" rtlCol="0">
            <a:spAutoFit/>
          </a:bodyPr>
          <a:lstStyle/>
          <a:p>
            <a:r>
              <a:rPr lang="en-IN" sz="1400" dirty="0" smtClean="0"/>
              <a:t>Engage with bounced site visitors </a:t>
            </a:r>
            <a:endParaRPr lang="en-IN" sz="1400" dirty="0"/>
          </a:p>
        </p:txBody>
      </p:sp>
      <p:sp>
        <p:nvSpPr>
          <p:cNvPr id="102" name="Rounded Rectangle 101"/>
          <p:cNvSpPr/>
          <p:nvPr/>
        </p:nvSpPr>
        <p:spPr>
          <a:xfrm>
            <a:off x="8553878" y="3664688"/>
            <a:ext cx="3184759" cy="401124"/>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lumMod val="50000"/>
                  </a:schemeClr>
                </a:solidFill>
              </a:rPr>
              <a:t>Brand Awareness</a:t>
            </a:r>
            <a:endParaRPr lang="en-IN" b="1" dirty="0">
              <a:solidFill>
                <a:schemeClr val="tx2">
                  <a:lumMod val="50000"/>
                </a:schemeClr>
              </a:solidFill>
            </a:endParaRPr>
          </a:p>
        </p:txBody>
      </p:sp>
      <p:sp>
        <p:nvSpPr>
          <p:cNvPr id="103" name="TextBox 102"/>
          <p:cNvSpPr txBox="1"/>
          <p:nvPr/>
        </p:nvSpPr>
        <p:spPr>
          <a:xfrm>
            <a:off x="8550872" y="4065410"/>
            <a:ext cx="3374429" cy="307777"/>
          </a:xfrm>
          <a:prstGeom prst="rect">
            <a:avLst/>
          </a:prstGeom>
          <a:noFill/>
        </p:spPr>
        <p:txBody>
          <a:bodyPr wrap="square" rtlCol="0">
            <a:spAutoFit/>
          </a:bodyPr>
          <a:lstStyle/>
          <a:p>
            <a:r>
              <a:rPr lang="en-IN" sz="1400" dirty="0" smtClean="0"/>
              <a:t>Boost brand recall and stay on top of mind</a:t>
            </a:r>
            <a:endParaRPr lang="en-IN" sz="1400" dirty="0"/>
          </a:p>
        </p:txBody>
      </p:sp>
      <p:sp>
        <p:nvSpPr>
          <p:cNvPr id="104" name="Rounded Rectangle 103"/>
          <p:cNvSpPr/>
          <p:nvPr/>
        </p:nvSpPr>
        <p:spPr>
          <a:xfrm>
            <a:off x="8553878" y="4671138"/>
            <a:ext cx="3184759" cy="401124"/>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lumMod val="50000"/>
                  </a:schemeClr>
                </a:solidFill>
              </a:rPr>
              <a:t>Driving Sale</a:t>
            </a:r>
            <a:endParaRPr lang="en-IN" b="1" dirty="0">
              <a:solidFill>
                <a:schemeClr val="tx2">
                  <a:lumMod val="50000"/>
                </a:schemeClr>
              </a:solidFill>
            </a:endParaRPr>
          </a:p>
        </p:txBody>
      </p:sp>
      <p:sp>
        <p:nvSpPr>
          <p:cNvPr id="105" name="TextBox 104"/>
          <p:cNvSpPr txBox="1"/>
          <p:nvPr/>
        </p:nvSpPr>
        <p:spPr>
          <a:xfrm>
            <a:off x="8876740" y="5057792"/>
            <a:ext cx="3048561" cy="307777"/>
          </a:xfrm>
          <a:prstGeom prst="rect">
            <a:avLst/>
          </a:prstGeom>
          <a:noFill/>
        </p:spPr>
        <p:txBody>
          <a:bodyPr wrap="square" rtlCol="0">
            <a:spAutoFit/>
          </a:bodyPr>
          <a:lstStyle/>
          <a:p>
            <a:r>
              <a:rPr lang="en-IN" sz="1400" dirty="0" smtClean="0"/>
              <a:t>Sell 1X1 focused ad to audience</a:t>
            </a:r>
            <a:endParaRPr lang="en-IN" sz="1400" dirty="0"/>
          </a:p>
        </p:txBody>
      </p:sp>
      <p:sp>
        <p:nvSpPr>
          <p:cNvPr id="108" name="Rounded Rectangle 107"/>
          <p:cNvSpPr/>
          <p:nvPr/>
        </p:nvSpPr>
        <p:spPr>
          <a:xfrm>
            <a:off x="8550872" y="5687253"/>
            <a:ext cx="3184759" cy="401124"/>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smtClean="0">
                <a:solidFill>
                  <a:schemeClr val="tx2">
                    <a:lumMod val="50000"/>
                  </a:schemeClr>
                </a:solidFill>
              </a:rPr>
              <a:t>Social Engagement</a:t>
            </a:r>
            <a:endParaRPr lang="en-IN" b="1" dirty="0">
              <a:solidFill>
                <a:schemeClr val="tx2">
                  <a:lumMod val="50000"/>
                </a:schemeClr>
              </a:solidFill>
            </a:endParaRPr>
          </a:p>
        </p:txBody>
      </p:sp>
      <p:sp>
        <p:nvSpPr>
          <p:cNvPr id="109" name="TextBox 108"/>
          <p:cNvSpPr txBox="1"/>
          <p:nvPr/>
        </p:nvSpPr>
        <p:spPr>
          <a:xfrm>
            <a:off x="8803394" y="6045771"/>
            <a:ext cx="3048561" cy="307777"/>
          </a:xfrm>
          <a:prstGeom prst="rect">
            <a:avLst/>
          </a:prstGeom>
          <a:noFill/>
        </p:spPr>
        <p:txBody>
          <a:bodyPr wrap="square" rtlCol="0">
            <a:spAutoFit/>
          </a:bodyPr>
          <a:lstStyle/>
          <a:p>
            <a:r>
              <a:rPr lang="en-IN" sz="1400" dirty="0" smtClean="0"/>
              <a:t>Increase social presence &amp; conversion</a:t>
            </a:r>
            <a:endParaRPr lang="en-IN" sz="1400" dirty="0"/>
          </a:p>
        </p:txBody>
      </p:sp>
      <p:grpSp>
        <p:nvGrpSpPr>
          <p:cNvPr id="55" name="Group 54"/>
          <p:cNvGrpSpPr/>
          <p:nvPr/>
        </p:nvGrpSpPr>
        <p:grpSpPr>
          <a:xfrm>
            <a:off x="11609" y="197969"/>
            <a:ext cx="12192000" cy="605447"/>
            <a:chOff x="1" y="155960"/>
            <a:chExt cx="12192000" cy="1131320"/>
          </a:xfrm>
        </p:grpSpPr>
        <p:sp>
          <p:nvSpPr>
            <p:cNvPr id="56" name="Rectangle 55"/>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57" name="Rectangle 56"/>
            <p:cNvSpPr/>
            <p:nvPr/>
          </p:nvSpPr>
          <p:spPr>
            <a:xfrm>
              <a:off x="3126922" y="216206"/>
              <a:ext cx="5938229"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Digital Remarketing – As an Experiment</a:t>
              </a:r>
            </a:p>
          </p:txBody>
        </p:sp>
        <p:grpSp>
          <p:nvGrpSpPr>
            <p:cNvPr id="58" name="Group 57"/>
            <p:cNvGrpSpPr/>
            <p:nvPr/>
          </p:nvGrpSpPr>
          <p:grpSpPr>
            <a:xfrm>
              <a:off x="1" y="155960"/>
              <a:ext cx="12192000" cy="1131320"/>
              <a:chOff x="2424113" y="242463"/>
              <a:chExt cx="7343775" cy="1189679"/>
            </a:xfrm>
          </p:grpSpPr>
          <p:cxnSp>
            <p:nvCxnSpPr>
              <p:cNvPr id="59" name="Straight Connector 58"/>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61" name="TextBox 60"/>
          <p:cNvSpPr txBox="1"/>
          <p:nvPr/>
        </p:nvSpPr>
        <p:spPr>
          <a:xfrm>
            <a:off x="288131" y="937243"/>
            <a:ext cx="11638955" cy="646331"/>
          </a:xfrm>
          <a:prstGeom prst="rect">
            <a:avLst/>
          </a:prstGeom>
          <a:noFill/>
        </p:spPr>
        <p:txBody>
          <a:bodyPr wrap="square" rtlCol="0">
            <a:spAutoFit/>
          </a:bodyPr>
          <a:lstStyle/>
          <a:p>
            <a:r>
              <a:rPr lang="en-IN" dirty="0" smtClean="0">
                <a:solidFill>
                  <a:schemeClr val="accent1">
                    <a:lumMod val="75000"/>
                  </a:schemeClr>
                </a:solidFill>
              </a:rPr>
              <a:t>Remarketing relevant &amp; engaged audience across digital channels results in higher conversion rate on website. This is primarily done by implementing tracking code of relevant ad –ecosystem on own website , Ex: Google Remarketing Tag</a:t>
            </a:r>
            <a:endParaRPr lang="en-IN" dirty="0">
              <a:solidFill>
                <a:schemeClr val="accent1">
                  <a:lumMod val="75000"/>
                </a:schemeClr>
              </a:solidFill>
            </a:endParaRPr>
          </a:p>
        </p:txBody>
      </p:sp>
    </p:spTree>
    <p:extLst>
      <p:ext uri="{BB962C8B-B14F-4D97-AF65-F5344CB8AC3E}">
        <p14:creationId xmlns:p14="http://schemas.microsoft.com/office/powerpoint/2010/main" val="40146783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Slide Number Placeholder 3"/>
          <p:cNvSpPr>
            <a:spLocks noGrp="1"/>
          </p:cNvSpPr>
          <p:nvPr>
            <p:ph type="sldNum" sz="quarter" idx="12"/>
          </p:nvPr>
        </p:nvSpPr>
        <p:spPr>
          <a:xfrm>
            <a:off x="9448800" y="6350"/>
            <a:ext cx="2743200" cy="365125"/>
          </a:xfrm>
        </p:spPr>
        <p:txBody>
          <a:bodyPr/>
          <a:lstStyle/>
          <a:p>
            <a:r>
              <a:rPr lang="en-IN" dirty="0" smtClean="0"/>
              <a:t>15</a:t>
            </a:r>
            <a:endParaRPr lang="en-IN" dirty="0"/>
          </a:p>
        </p:txBody>
      </p:sp>
      <p:grpSp>
        <p:nvGrpSpPr>
          <p:cNvPr id="55" name="Group 54"/>
          <p:cNvGrpSpPr/>
          <p:nvPr/>
        </p:nvGrpSpPr>
        <p:grpSpPr>
          <a:xfrm>
            <a:off x="11609" y="197969"/>
            <a:ext cx="12192000" cy="605447"/>
            <a:chOff x="1" y="155960"/>
            <a:chExt cx="12192000" cy="1131320"/>
          </a:xfrm>
        </p:grpSpPr>
        <p:sp>
          <p:nvSpPr>
            <p:cNvPr id="56" name="Rectangle 55"/>
            <p:cNvSpPr/>
            <p:nvPr/>
          </p:nvSpPr>
          <p:spPr>
            <a:xfrm>
              <a:off x="874059" y="639010"/>
              <a:ext cx="10717305" cy="369332"/>
            </a:xfrm>
            <a:prstGeom prst="rect">
              <a:avLst/>
            </a:prstGeom>
          </p:spPr>
          <p:txBody>
            <a:bodyPr wrap="square" anchor="t">
              <a:spAutoFit/>
            </a:bodyPr>
            <a:lstStyle/>
            <a:p>
              <a:endParaRPr lang="en-IN" dirty="0">
                <a:latin typeface="Leelawadee UI" panose="020B0502040204020203" pitchFamily="34" charset="-34"/>
                <a:cs typeface="Leelawadee UI" panose="020B0502040204020203" pitchFamily="34" charset="-34"/>
              </a:endParaRPr>
            </a:p>
          </p:txBody>
        </p:sp>
        <p:sp>
          <p:nvSpPr>
            <p:cNvPr id="57" name="Rectangle 56"/>
            <p:cNvSpPr/>
            <p:nvPr/>
          </p:nvSpPr>
          <p:spPr>
            <a:xfrm>
              <a:off x="4707292" y="216206"/>
              <a:ext cx="2777492" cy="862653"/>
            </a:xfrm>
            <a:prstGeom prst="rect">
              <a:avLst/>
            </a:prstGeom>
          </p:spPr>
          <p:txBody>
            <a:bodyPr wrap="none" anchor="t">
              <a:spAutoFit/>
            </a:bodyPr>
            <a:lstStyle/>
            <a:p>
              <a:pPr algn="ctr"/>
              <a:r>
                <a:rPr lang="en-IN" sz="2400" b="1" dirty="0" smtClean="0">
                  <a:solidFill>
                    <a:srgbClr val="0070C0"/>
                  </a:solidFill>
                  <a:latin typeface="Leelawadee UI" panose="020B0502040204020203" pitchFamily="34" charset="-34"/>
                  <a:cs typeface="Leelawadee UI" panose="020B0502040204020203" pitchFamily="34" charset="-34"/>
                </a:rPr>
                <a:t>Why Remarketing</a:t>
              </a:r>
            </a:p>
          </p:txBody>
        </p:sp>
        <p:grpSp>
          <p:nvGrpSpPr>
            <p:cNvPr id="58" name="Group 57"/>
            <p:cNvGrpSpPr/>
            <p:nvPr/>
          </p:nvGrpSpPr>
          <p:grpSpPr>
            <a:xfrm>
              <a:off x="1" y="155960"/>
              <a:ext cx="12192000" cy="1131320"/>
              <a:chOff x="2424113" y="242463"/>
              <a:chExt cx="7343775" cy="1189679"/>
            </a:xfrm>
          </p:grpSpPr>
          <p:cxnSp>
            <p:nvCxnSpPr>
              <p:cNvPr id="59" name="Straight Connector 58"/>
              <p:cNvCxnSpPr/>
              <p:nvPr/>
            </p:nvCxnSpPr>
            <p:spPr>
              <a:xfrm>
                <a:off x="2424113" y="1432142"/>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2424113" y="242463"/>
                <a:ext cx="734377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sp>
        <p:nvSpPr>
          <p:cNvPr id="62" name="TextBox 61"/>
          <p:cNvSpPr txBox="1"/>
          <p:nvPr/>
        </p:nvSpPr>
        <p:spPr>
          <a:xfrm>
            <a:off x="510988" y="1345769"/>
            <a:ext cx="4209295" cy="4524315"/>
          </a:xfrm>
          <a:prstGeom prst="rect">
            <a:avLst/>
          </a:prstGeom>
          <a:noFill/>
        </p:spPr>
        <p:txBody>
          <a:bodyPr wrap="square" rtlCol="0">
            <a:spAutoFit/>
          </a:bodyPr>
          <a:lstStyle/>
          <a:p>
            <a:r>
              <a:rPr lang="en-IN" b="1" dirty="0" smtClean="0">
                <a:solidFill>
                  <a:schemeClr val="accent1">
                    <a:lumMod val="75000"/>
                  </a:schemeClr>
                </a:solidFill>
              </a:rPr>
              <a:t>        Few Application on Tata AIA Website </a:t>
            </a:r>
            <a:r>
              <a:rPr lang="en-IN" dirty="0" smtClean="0">
                <a:solidFill>
                  <a:schemeClr val="accent1">
                    <a:lumMod val="75000"/>
                  </a:schemeClr>
                </a:solidFill>
              </a:rPr>
              <a:t>:</a:t>
            </a:r>
          </a:p>
          <a:p>
            <a:endParaRPr lang="en-IN" dirty="0">
              <a:solidFill>
                <a:schemeClr val="accent1">
                  <a:lumMod val="75000"/>
                </a:schemeClr>
              </a:solidFill>
            </a:endParaRPr>
          </a:p>
          <a:p>
            <a:pPr marL="285750" indent="-285750">
              <a:buFont typeface="Arial" panose="020B0604020202020204" pitchFamily="34" charset="0"/>
              <a:buChar char="•"/>
            </a:pPr>
            <a:r>
              <a:rPr lang="en-IN" dirty="0" smtClean="0">
                <a:solidFill>
                  <a:schemeClr val="accent1">
                    <a:lumMod val="75000"/>
                  </a:schemeClr>
                </a:solidFill>
              </a:rPr>
              <a:t>Retarget users who abandoned the cart in between in last 1 month</a:t>
            </a:r>
          </a:p>
          <a:p>
            <a:endParaRPr lang="en-IN" dirty="0" smtClean="0">
              <a:solidFill>
                <a:schemeClr val="accent1">
                  <a:lumMod val="75000"/>
                </a:schemeClr>
              </a:solidFill>
            </a:endParaRPr>
          </a:p>
          <a:p>
            <a:pPr marL="285750" indent="-285750">
              <a:buFont typeface="Arial" panose="020B0604020202020204" pitchFamily="34" charset="0"/>
              <a:buChar char="•"/>
            </a:pPr>
            <a:r>
              <a:rPr lang="en-IN" dirty="0" smtClean="0">
                <a:solidFill>
                  <a:schemeClr val="accent1">
                    <a:lumMod val="75000"/>
                  </a:schemeClr>
                </a:solidFill>
              </a:rPr>
              <a:t>Retarget users who downloaded brochure or used calculators on website in last 3 month </a:t>
            </a:r>
          </a:p>
          <a:p>
            <a:endParaRPr lang="en-IN" dirty="0">
              <a:solidFill>
                <a:schemeClr val="accent1">
                  <a:lumMod val="75000"/>
                </a:schemeClr>
              </a:solidFill>
            </a:endParaRPr>
          </a:p>
          <a:p>
            <a:pPr marL="285750" indent="-285750">
              <a:buFont typeface="Arial" panose="020B0604020202020204" pitchFamily="34" charset="0"/>
              <a:buChar char="•"/>
            </a:pPr>
            <a:r>
              <a:rPr lang="en-IN" dirty="0" smtClean="0">
                <a:solidFill>
                  <a:schemeClr val="accent1">
                    <a:lumMod val="75000"/>
                  </a:schemeClr>
                </a:solidFill>
              </a:rPr>
              <a:t>Retarget users on internet with personalized ads based on which product section they visited in past 3 month.</a:t>
            </a:r>
          </a:p>
          <a:p>
            <a:pPr marL="285750" indent="-285750">
              <a:buFontTx/>
              <a:buChar char="-"/>
            </a:pPr>
            <a:r>
              <a:rPr lang="en-IN" dirty="0" smtClean="0">
                <a:solidFill>
                  <a:schemeClr val="accent1">
                    <a:lumMod val="75000"/>
                  </a:schemeClr>
                </a:solidFill>
              </a:rPr>
              <a:t>Either product based </a:t>
            </a:r>
          </a:p>
          <a:p>
            <a:pPr marL="285750" indent="-285750">
              <a:buFontTx/>
              <a:buChar char="-"/>
            </a:pPr>
            <a:r>
              <a:rPr lang="en-IN" dirty="0" smtClean="0">
                <a:solidFill>
                  <a:schemeClr val="accent1">
                    <a:lumMod val="75000"/>
                  </a:schemeClr>
                </a:solidFill>
              </a:rPr>
              <a:t>Or Life stage Based</a:t>
            </a:r>
            <a:endParaRPr lang="en-IN" dirty="0">
              <a:solidFill>
                <a:schemeClr val="accent1">
                  <a:lumMod val="75000"/>
                </a:schemeClr>
              </a:solidFill>
            </a:endParaRPr>
          </a:p>
          <a:p>
            <a:endParaRPr lang="en-IN" dirty="0">
              <a:solidFill>
                <a:schemeClr val="accent1">
                  <a:lumMod val="75000"/>
                </a:schemeClr>
              </a:solidFill>
            </a:endParaRPr>
          </a:p>
        </p:txBody>
      </p:sp>
      <p:sp>
        <p:nvSpPr>
          <p:cNvPr id="3" name="Rounded Rectangle 2"/>
          <p:cNvSpPr/>
          <p:nvPr/>
        </p:nvSpPr>
        <p:spPr>
          <a:xfrm>
            <a:off x="7812741" y="1096923"/>
            <a:ext cx="3899326" cy="5326807"/>
          </a:xfrm>
          <a:prstGeom prst="roundRect">
            <a:avLst/>
          </a:prstGeom>
          <a:noFill/>
          <a:ln w="28575">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p:cNvPicPr>
            <a:picLocks noChangeAspect="1"/>
          </p:cNvPicPr>
          <p:nvPr/>
        </p:nvPicPr>
        <p:blipFill>
          <a:blip r:embed="rId2"/>
          <a:stretch>
            <a:fillRect/>
          </a:stretch>
        </p:blipFill>
        <p:spPr>
          <a:xfrm>
            <a:off x="4886028" y="2702244"/>
            <a:ext cx="2035655" cy="1670281"/>
          </a:xfrm>
          <a:prstGeom prst="rect">
            <a:avLst/>
          </a:prstGeom>
        </p:spPr>
      </p:pic>
      <p:pic>
        <p:nvPicPr>
          <p:cNvPr id="5" name="Picture 4"/>
          <p:cNvPicPr>
            <a:picLocks noChangeAspect="1"/>
          </p:cNvPicPr>
          <p:nvPr/>
        </p:nvPicPr>
        <p:blipFill>
          <a:blip r:embed="rId3"/>
          <a:stretch>
            <a:fillRect/>
          </a:stretch>
        </p:blipFill>
        <p:spPr>
          <a:xfrm>
            <a:off x="4451342" y="4645427"/>
            <a:ext cx="2470341" cy="1353612"/>
          </a:xfrm>
          <a:prstGeom prst="rect">
            <a:avLst/>
          </a:prstGeom>
        </p:spPr>
      </p:pic>
      <p:pic>
        <p:nvPicPr>
          <p:cNvPr id="6" name="Picture 5"/>
          <p:cNvPicPr>
            <a:picLocks noChangeAspect="1"/>
          </p:cNvPicPr>
          <p:nvPr/>
        </p:nvPicPr>
        <p:blipFill>
          <a:blip r:embed="rId4"/>
          <a:stretch>
            <a:fillRect/>
          </a:stretch>
        </p:blipFill>
        <p:spPr>
          <a:xfrm>
            <a:off x="5233838" y="1309674"/>
            <a:ext cx="1314880" cy="1159485"/>
          </a:xfrm>
          <a:prstGeom prst="rect">
            <a:avLst/>
          </a:prstGeom>
        </p:spPr>
      </p:pic>
      <p:sp>
        <p:nvSpPr>
          <p:cNvPr id="66" name="Rounded Rectangle 65"/>
          <p:cNvSpPr/>
          <p:nvPr/>
        </p:nvSpPr>
        <p:spPr>
          <a:xfrm>
            <a:off x="381000" y="1096924"/>
            <a:ext cx="7079533" cy="5326807"/>
          </a:xfrm>
          <a:prstGeom prst="roundRect">
            <a:avLst/>
          </a:prstGeom>
          <a:noFill/>
          <a:ln w="28575">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TextBox 67"/>
          <p:cNvSpPr txBox="1"/>
          <p:nvPr/>
        </p:nvSpPr>
        <p:spPr>
          <a:xfrm>
            <a:off x="8063355" y="1345769"/>
            <a:ext cx="3467520" cy="4524315"/>
          </a:xfrm>
          <a:prstGeom prst="rect">
            <a:avLst/>
          </a:prstGeom>
          <a:noFill/>
        </p:spPr>
        <p:txBody>
          <a:bodyPr wrap="square" rtlCol="0">
            <a:spAutoFit/>
          </a:bodyPr>
          <a:lstStyle/>
          <a:p>
            <a:r>
              <a:rPr lang="en-IN" b="1" dirty="0" smtClean="0">
                <a:solidFill>
                  <a:schemeClr val="accent1">
                    <a:lumMod val="75000"/>
                  </a:schemeClr>
                </a:solidFill>
              </a:rPr>
              <a:t>                Industry Usage </a:t>
            </a:r>
            <a:r>
              <a:rPr lang="en-IN" dirty="0" smtClean="0">
                <a:solidFill>
                  <a:schemeClr val="accent1">
                    <a:lumMod val="75000"/>
                  </a:schemeClr>
                </a:solidFill>
              </a:rPr>
              <a:t>:</a:t>
            </a:r>
          </a:p>
          <a:p>
            <a:endParaRPr lang="en-IN" dirty="0" smtClean="0">
              <a:solidFill>
                <a:schemeClr val="accent1">
                  <a:lumMod val="75000"/>
                </a:schemeClr>
              </a:solidFill>
            </a:endParaRPr>
          </a:p>
          <a:p>
            <a:r>
              <a:rPr lang="en-IN" dirty="0" smtClean="0">
                <a:solidFill>
                  <a:schemeClr val="accent1">
                    <a:lumMod val="75000"/>
                  </a:schemeClr>
                </a:solidFill>
              </a:rPr>
              <a:t>Mostly remarketing in India is currently used by Ecommerce firms ( such as Amazon , Flipkart etc. ) or Travel &amp; Hospitality Industry ( such as </a:t>
            </a:r>
            <a:r>
              <a:rPr lang="en-IN" dirty="0" err="1">
                <a:solidFill>
                  <a:schemeClr val="accent1">
                    <a:lumMod val="75000"/>
                  </a:schemeClr>
                </a:solidFill>
              </a:rPr>
              <a:t>M</a:t>
            </a:r>
            <a:r>
              <a:rPr lang="en-IN" dirty="0" err="1" smtClean="0">
                <a:solidFill>
                  <a:schemeClr val="accent1">
                    <a:lumMod val="75000"/>
                  </a:schemeClr>
                </a:solidFill>
              </a:rPr>
              <a:t>akemytrip</a:t>
            </a:r>
            <a:r>
              <a:rPr lang="en-IN" dirty="0" smtClean="0">
                <a:solidFill>
                  <a:schemeClr val="accent1">
                    <a:lumMod val="75000"/>
                  </a:schemeClr>
                </a:solidFill>
              </a:rPr>
              <a:t>, </a:t>
            </a:r>
            <a:r>
              <a:rPr lang="en-IN" dirty="0" err="1" smtClean="0">
                <a:solidFill>
                  <a:schemeClr val="accent1">
                    <a:lumMod val="75000"/>
                  </a:schemeClr>
                </a:solidFill>
              </a:rPr>
              <a:t>yatra</a:t>
            </a:r>
            <a:r>
              <a:rPr lang="en-IN" dirty="0" smtClean="0">
                <a:solidFill>
                  <a:schemeClr val="accent1">
                    <a:lumMod val="75000"/>
                  </a:schemeClr>
                </a:solidFill>
              </a:rPr>
              <a:t> etc.)</a:t>
            </a:r>
          </a:p>
          <a:p>
            <a:endParaRPr lang="en-IN" dirty="0">
              <a:solidFill>
                <a:schemeClr val="accent1">
                  <a:lumMod val="75000"/>
                </a:schemeClr>
              </a:solidFill>
            </a:endParaRPr>
          </a:p>
          <a:p>
            <a:pPr marL="285750" indent="-285750">
              <a:buFont typeface="Arial" panose="020B0604020202020204" pitchFamily="34" charset="0"/>
              <a:buChar char="•"/>
            </a:pPr>
            <a:r>
              <a:rPr lang="en-IN" dirty="0" smtClean="0">
                <a:solidFill>
                  <a:schemeClr val="accent1">
                    <a:lumMod val="75000"/>
                  </a:schemeClr>
                </a:solidFill>
              </a:rPr>
              <a:t>Avg. CTR for a retargeted ad is 10 times more than CTR of a display ad *</a:t>
            </a:r>
          </a:p>
          <a:p>
            <a:pPr marL="285750" indent="-285750">
              <a:buFont typeface="Arial" panose="020B0604020202020204" pitchFamily="34" charset="0"/>
              <a:buChar char="•"/>
            </a:pPr>
            <a:endParaRPr lang="en-IN" dirty="0">
              <a:solidFill>
                <a:schemeClr val="accent1">
                  <a:lumMod val="75000"/>
                </a:schemeClr>
              </a:solidFill>
            </a:endParaRPr>
          </a:p>
          <a:p>
            <a:pPr marL="285750" indent="-285750">
              <a:buFont typeface="Arial" panose="020B0604020202020204" pitchFamily="34" charset="0"/>
              <a:buChar char="•"/>
            </a:pPr>
            <a:r>
              <a:rPr lang="en-IN" dirty="0">
                <a:solidFill>
                  <a:schemeClr val="accent1">
                    <a:lumMod val="75000"/>
                  </a:schemeClr>
                </a:solidFill>
              </a:rPr>
              <a:t>Retargeting can lead to a 147% higher conversion rate, when used in combination with </a:t>
            </a:r>
            <a:r>
              <a:rPr lang="en-IN" dirty="0" smtClean="0">
                <a:solidFill>
                  <a:schemeClr val="accent1">
                    <a:lumMod val="75000"/>
                  </a:schemeClr>
                </a:solidFill>
              </a:rPr>
              <a:t>prospecting *</a:t>
            </a:r>
            <a:endParaRPr lang="en-IN" dirty="0">
              <a:solidFill>
                <a:schemeClr val="accent1">
                  <a:lumMod val="75000"/>
                </a:schemeClr>
              </a:solidFill>
            </a:endParaRPr>
          </a:p>
        </p:txBody>
      </p:sp>
      <p:sp>
        <p:nvSpPr>
          <p:cNvPr id="7" name="TextBox 6"/>
          <p:cNvSpPr txBox="1"/>
          <p:nvPr/>
        </p:nvSpPr>
        <p:spPr>
          <a:xfrm>
            <a:off x="8283388" y="5870084"/>
            <a:ext cx="3117499" cy="415498"/>
          </a:xfrm>
          <a:prstGeom prst="rect">
            <a:avLst/>
          </a:prstGeom>
          <a:noFill/>
        </p:spPr>
        <p:txBody>
          <a:bodyPr wrap="square" rtlCol="0">
            <a:spAutoFit/>
          </a:bodyPr>
          <a:lstStyle/>
          <a:p>
            <a:r>
              <a:rPr lang="en-IN" sz="1050" b="1" dirty="0" smtClean="0"/>
              <a:t>Source : CMO.com , Digitalinformationworld.com, </a:t>
            </a:r>
            <a:r>
              <a:rPr lang="en-IN" sz="1050" b="1" dirty="0" err="1" smtClean="0"/>
              <a:t>Comscore</a:t>
            </a:r>
            <a:r>
              <a:rPr lang="en-IN" sz="1050" b="1" dirty="0" smtClean="0"/>
              <a:t>  2014-15</a:t>
            </a:r>
            <a:endParaRPr lang="en-IN" sz="1050" b="1" dirty="0"/>
          </a:p>
        </p:txBody>
      </p:sp>
    </p:spTree>
    <p:extLst>
      <p:ext uri="{BB962C8B-B14F-4D97-AF65-F5344CB8AC3E}">
        <p14:creationId xmlns:p14="http://schemas.microsoft.com/office/powerpoint/2010/main" val="35468492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2007" t="16448" b="4358"/>
          <a:stretch/>
        </p:blipFill>
        <p:spPr>
          <a:xfrm flipH="1">
            <a:off x="0" y="0"/>
            <a:ext cx="12192000" cy="6858000"/>
          </a:xfrm>
          <a:prstGeom prst="rect">
            <a:avLst/>
          </a:prstGeom>
        </p:spPr>
      </p:pic>
      <p:pic>
        <p:nvPicPr>
          <p:cNvPr id="17" name="Picture 16"/>
          <p:cNvPicPr>
            <a:picLocks noChangeAspect="1"/>
          </p:cNvPicPr>
          <p:nvPr/>
        </p:nvPicPr>
        <p:blipFill>
          <a:blip r:embed="rId3">
            <a:biLevel thresh="25000"/>
          </a:blip>
          <a:stretch>
            <a:fillRect/>
          </a:stretch>
        </p:blipFill>
        <p:spPr>
          <a:xfrm>
            <a:off x="527050" y="3905085"/>
            <a:ext cx="2645833" cy="922032"/>
          </a:xfrm>
          <a:prstGeom prst="rect">
            <a:avLst/>
          </a:prstGeom>
        </p:spPr>
      </p:pic>
      <p:sp>
        <p:nvSpPr>
          <p:cNvPr id="22" name="Rectangle 21"/>
          <p:cNvSpPr/>
          <p:nvPr/>
        </p:nvSpPr>
        <p:spPr>
          <a:xfrm>
            <a:off x="0" y="4873331"/>
            <a:ext cx="12192000" cy="1474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p:cNvSpPr/>
          <p:nvPr/>
        </p:nvSpPr>
        <p:spPr>
          <a:xfrm>
            <a:off x="590550" y="5214464"/>
            <a:ext cx="4910364" cy="1138773"/>
          </a:xfrm>
          <a:prstGeom prst="rect">
            <a:avLst/>
          </a:prstGeom>
        </p:spPr>
        <p:txBody>
          <a:bodyPr wrap="square">
            <a:spAutoFit/>
          </a:bodyPr>
          <a:lstStyle/>
          <a:p>
            <a:r>
              <a:rPr lang="en-IN" sz="1600" dirty="0">
                <a:solidFill>
                  <a:schemeClr val="bg1"/>
                </a:solidFill>
                <a:latin typeface="Leelawadee UI" panose="020B0502040204020203" pitchFamily="34" charset="-34"/>
                <a:cs typeface="Leelawadee UI" panose="020B0502040204020203" pitchFamily="34" charset="-34"/>
              </a:rPr>
              <a:t>Tata Industries </a:t>
            </a:r>
            <a:r>
              <a:rPr lang="en-IN" sz="1600" dirty="0" smtClean="0">
                <a:solidFill>
                  <a:schemeClr val="bg1"/>
                </a:solidFill>
                <a:latin typeface="Leelawadee UI" panose="020B0502040204020203" pitchFamily="34" charset="-34"/>
                <a:cs typeface="Leelawadee UI" panose="020B0502040204020203" pitchFamily="34" charset="-34"/>
              </a:rPr>
              <a:t>Limited</a:t>
            </a:r>
          </a:p>
          <a:p>
            <a:r>
              <a:rPr lang="en-IN" sz="1600" b="1" dirty="0" smtClean="0">
                <a:solidFill>
                  <a:schemeClr val="bg1"/>
                </a:solidFill>
                <a:latin typeface="Leelawadee UI" panose="020B0502040204020203" pitchFamily="34" charset="-34"/>
                <a:cs typeface="Leelawadee UI" panose="020B0502040204020203" pitchFamily="34" charset="-34"/>
              </a:rPr>
              <a:t>Tata </a:t>
            </a:r>
            <a:r>
              <a:rPr lang="en-IN" sz="1600" b="1" dirty="0">
                <a:solidFill>
                  <a:schemeClr val="bg1"/>
                </a:solidFill>
                <a:latin typeface="Leelawadee UI" panose="020B0502040204020203" pitchFamily="34" charset="-34"/>
                <a:cs typeface="Leelawadee UI" panose="020B0502040204020203" pitchFamily="34" charset="-34"/>
              </a:rPr>
              <a:t>Insights &amp; Quants </a:t>
            </a:r>
            <a:r>
              <a:rPr lang="en-IN" sz="1600" b="1" dirty="0" smtClean="0">
                <a:solidFill>
                  <a:schemeClr val="bg1"/>
                </a:solidFill>
                <a:latin typeface="Leelawadee UI" panose="020B0502040204020203" pitchFamily="34" charset="-34"/>
                <a:cs typeface="Leelawadee UI" panose="020B0502040204020203" pitchFamily="34" charset="-34"/>
              </a:rPr>
              <a:t>Division</a:t>
            </a:r>
          </a:p>
          <a:p>
            <a:endParaRPr lang="en-IN" sz="1200" b="1" dirty="0">
              <a:solidFill>
                <a:schemeClr val="bg1"/>
              </a:solidFill>
              <a:latin typeface="Leelawadee UI" panose="020B0502040204020203" pitchFamily="34" charset="-34"/>
              <a:cs typeface="Leelawadee UI" panose="020B0502040204020203" pitchFamily="34" charset="-34"/>
            </a:endParaRPr>
          </a:p>
          <a:p>
            <a:r>
              <a:rPr lang="en-US" sz="1200" dirty="0">
                <a:solidFill>
                  <a:schemeClr val="bg1"/>
                </a:solidFill>
                <a:latin typeface="Leelawadee UI" panose="020B0502040204020203" pitchFamily="34" charset="-34"/>
                <a:cs typeface="Leelawadee UI" panose="020B0502040204020203" pitchFamily="34" charset="-34"/>
              </a:rPr>
              <a:t>‘The Address’ | 5th Floor | </a:t>
            </a:r>
            <a:r>
              <a:rPr lang="en-US" sz="1200" dirty="0" err="1">
                <a:solidFill>
                  <a:schemeClr val="bg1"/>
                </a:solidFill>
                <a:latin typeface="Leelawadee UI" panose="020B0502040204020203" pitchFamily="34" charset="-34"/>
                <a:cs typeface="Leelawadee UI" panose="020B0502040204020203" pitchFamily="34" charset="-34"/>
              </a:rPr>
              <a:t>Sy</a:t>
            </a:r>
            <a:r>
              <a:rPr lang="en-US" sz="1200" dirty="0">
                <a:solidFill>
                  <a:schemeClr val="bg1"/>
                </a:solidFill>
                <a:latin typeface="Leelawadee UI" panose="020B0502040204020203" pitchFamily="34" charset="-34"/>
                <a:cs typeface="Leelawadee UI" panose="020B0502040204020203" pitchFamily="34" charset="-34"/>
              </a:rPr>
              <a:t>. No.17/1 | Outer Ring </a:t>
            </a:r>
            <a:r>
              <a:rPr lang="en-US" sz="1200" dirty="0" smtClean="0">
                <a:solidFill>
                  <a:schemeClr val="bg1"/>
                </a:solidFill>
                <a:latin typeface="Leelawadee UI" panose="020B0502040204020203" pitchFamily="34" charset="-34"/>
                <a:cs typeface="Leelawadee UI" panose="020B0502040204020203" pitchFamily="34" charset="-34"/>
              </a:rPr>
              <a:t>Road</a:t>
            </a:r>
          </a:p>
          <a:p>
            <a:r>
              <a:rPr lang="en-US" sz="1200" dirty="0" err="1" smtClean="0">
                <a:solidFill>
                  <a:schemeClr val="bg1"/>
                </a:solidFill>
                <a:latin typeface="Leelawadee UI" panose="020B0502040204020203" pitchFamily="34" charset="-34"/>
                <a:cs typeface="Leelawadee UI" panose="020B0502040204020203" pitchFamily="34" charset="-34"/>
              </a:rPr>
              <a:t>Oppo</a:t>
            </a:r>
            <a:r>
              <a:rPr lang="en-US" sz="1200" dirty="0">
                <a:solidFill>
                  <a:schemeClr val="bg1"/>
                </a:solidFill>
                <a:latin typeface="Leelawadee UI" panose="020B0502040204020203" pitchFamily="34" charset="-34"/>
                <a:cs typeface="Leelawadee UI" panose="020B0502040204020203" pitchFamily="34" charset="-34"/>
              </a:rPr>
              <a:t>. Prestige Cessna Park | </a:t>
            </a:r>
            <a:r>
              <a:rPr lang="en-US" sz="1200" dirty="0" err="1">
                <a:solidFill>
                  <a:schemeClr val="bg1"/>
                </a:solidFill>
                <a:latin typeface="Leelawadee UI" panose="020B0502040204020203" pitchFamily="34" charset="-34"/>
                <a:cs typeface="Leelawadee UI" panose="020B0502040204020203" pitchFamily="34" charset="-34"/>
              </a:rPr>
              <a:t>Kadubeesanahalli</a:t>
            </a:r>
            <a:r>
              <a:rPr lang="en-US" sz="1200" dirty="0">
                <a:solidFill>
                  <a:schemeClr val="bg1"/>
                </a:solidFill>
                <a:latin typeface="Leelawadee UI" panose="020B0502040204020203" pitchFamily="34" charset="-34"/>
                <a:cs typeface="Leelawadee UI" panose="020B0502040204020203" pitchFamily="34" charset="-34"/>
              </a:rPr>
              <a:t>| Bangalore 560 087</a:t>
            </a:r>
            <a:endParaRPr lang="en-IN" sz="1200" dirty="0">
              <a:solidFill>
                <a:schemeClr val="bg1"/>
              </a:solidFill>
              <a:latin typeface="Leelawadee UI" panose="020B0502040204020203" pitchFamily="34" charset="-34"/>
              <a:cs typeface="Leelawadee UI" panose="020B0502040204020203" pitchFamily="34" charset="-34"/>
            </a:endParaRPr>
          </a:p>
        </p:txBody>
      </p:sp>
      <p:sp>
        <p:nvSpPr>
          <p:cNvPr id="6" name="TextBox 5"/>
          <p:cNvSpPr txBox="1"/>
          <p:nvPr/>
        </p:nvSpPr>
        <p:spPr>
          <a:xfrm>
            <a:off x="4482353" y="1605668"/>
            <a:ext cx="3227294" cy="830997"/>
          </a:xfrm>
          <a:prstGeom prst="rect">
            <a:avLst/>
          </a:prstGeom>
          <a:noFill/>
        </p:spPr>
        <p:txBody>
          <a:bodyPr wrap="square" rtlCol="0">
            <a:spAutoFit/>
          </a:bodyPr>
          <a:lstStyle/>
          <a:p>
            <a:r>
              <a:rPr lang="en-IN" sz="4800" b="1" dirty="0" smtClean="0">
                <a:solidFill>
                  <a:schemeClr val="bg1"/>
                </a:solidFill>
                <a:latin typeface="Leelawadee UI" panose="020B0502040204020203" pitchFamily="34" charset="-34"/>
                <a:cs typeface="Leelawadee UI" panose="020B0502040204020203" pitchFamily="34" charset="-34"/>
              </a:rPr>
              <a:t>Thank You</a:t>
            </a:r>
            <a:endParaRPr lang="en-IN" sz="4800" b="1" dirty="0">
              <a:solidFill>
                <a:schemeClr val="bg1"/>
              </a:solidFill>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40282989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82282" y="322556"/>
              <a:ext cx="4227632"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Competitive Insights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3" name="TextBox 22"/>
          <p:cNvSpPr txBox="1"/>
          <p:nvPr/>
        </p:nvSpPr>
        <p:spPr bwMode="gray">
          <a:xfrm>
            <a:off x="3781547" y="5026194"/>
            <a:ext cx="1870699" cy="484629"/>
          </a:xfrm>
          <a:prstGeom prst="rect">
            <a:avLst/>
          </a:prstGeom>
        </p:spPr>
        <p:txBody>
          <a:bodyPr vert="horz" wrap="square" lIns="91440" tIns="45720" rIns="91440" bIns="45720" rtlCol="0" anchor="ctr">
            <a:noAutofit/>
          </a:bodyPr>
          <a:lstStyle/>
          <a:p>
            <a:pPr algn="ctr"/>
            <a:r>
              <a:rPr lang="en-IN" b="1" dirty="0" smtClean="0">
                <a:solidFill>
                  <a:schemeClr val="accent1">
                    <a:lumMod val="75000"/>
                  </a:schemeClr>
                </a:solidFill>
              </a:rPr>
              <a:t>‘</a:t>
            </a:r>
            <a:r>
              <a:rPr lang="en-IN" b="1" dirty="0" err="1" smtClean="0">
                <a:solidFill>
                  <a:schemeClr val="accent1">
                    <a:lumMod val="75000"/>
                  </a:schemeClr>
                </a:solidFill>
              </a:rPr>
              <a:t>Catchup</a:t>
            </a:r>
            <a:r>
              <a:rPr lang="en-IN" b="1" dirty="0" smtClean="0">
                <a:solidFill>
                  <a:schemeClr val="accent1">
                    <a:lumMod val="75000"/>
                  </a:schemeClr>
                </a:solidFill>
              </a:rPr>
              <a:t>’ Campaign</a:t>
            </a:r>
            <a:endParaRPr lang="en-IN" b="1" dirty="0">
              <a:solidFill>
                <a:schemeClr val="accent1">
                  <a:lumMod val="75000"/>
                </a:schemeClr>
              </a:solidFill>
            </a:endParaRPr>
          </a:p>
        </p:txBody>
      </p:sp>
      <p:pic>
        <p:nvPicPr>
          <p:cNvPr id="3" name="Picture 2"/>
          <p:cNvPicPr>
            <a:picLocks noChangeAspect="1"/>
          </p:cNvPicPr>
          <p:nvPr/>
        </p:nvPicPr>
        <p:blipFill>
          <a:blip r:embed="rId4"/>
          <a:stretch>
            <a:fillRect/>
          </a:stretch>
        </p:blipFill>
        <p:spPr>
          <a:xfrm>
            <a:off x="297981" y="1094858"/>
            <a:ext cx="11596037" cy="3598770"/>
          </a:xfrm>
          <a:prstGeom prst="rect">
            <a:avLst/>
          </a:prstGeom>
        </p:spPr>
      </p:pic>
      <p:sp>
        <p:nvSpPr>
          <p:cNvPr id="14" name="TextBox 13"/>
          <p:cNvSpPr txBox="1"/>
          <p:nvPr/>
        </p:nvSpPr>
        <p:spPr bwMode="gray">
          <a:xfrm>
            <a:off x="9487582" y="4938699"/>
            <a:ext cx="1870699" cy="484629"/>
          </a:xfrm>
          <a:prstGeom prst="rect">
            <a:avLst/>
          </a:prstGeom>
        </p:spPr>
        <p:txBody>
          <a:bodyPr vert="horz" wrap="square" lIns="91440" tIns="45720" rIns="91440" bIns="45720" rtlCol="0" anchor="ctr">
            <a:noAutofit/>
          </a:bodyPr>
          <a:lstStyle/>
          <a:p>
            <a:pPr algn="ctr"/>
            <a:r>
              <a:rPr lang="en-IN" b="1" dirty="0" smtClean="0">
                <a:solidFill>
                  <a:schemeClr val="accent1">
                    <a:lumMod val="75000"/>
                  </a:schemeClr>
                </a:solidFill>
              </a:rPr>
              <a:t>Customer Login page tagged</a:t>
            </a:r>
            <a:endParaRPr lang="en-IN" b="1" dirty="0">
              <a:solidFill>
                <a:schemeClr val="accent1">
                  <a:lumMod val="75000"/>
                </a:schemeClr>
              </a:solidFill>
            </a:endParaRPr>
          </a:p>
        </p:txBody>
      </p:sp>
      <p:cxnSp>
        <p:nvCxnSpPr>
          <p:cNvPr id="16" name="Straight Arrow Connector 15"/>
          <p:cNvCxnSpPr/>
          <p:nvPr/>
        </p:nvCxnSpPr>
        <p:spPr>
          <a:xfrm>
            <a:off x="3334871" y="4806855"/>
            <a:ext cx="2998694" cy="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9093994" y="4771303"/>
            <a:ext cx="2416688" cy="300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270237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82282" y="322556"/>
              <a:ext cx="4227632"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Competitive Insights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3" name="TextBox 22"/>
          <p:cNvSpPr txBox="1"/>
          <p:nvPr/>
        </p:nvSpPr>
        <p:spPr bwMode="gray">
          <a:xfrm>
            <a:off x="1749876" y="969942"/>
            <a:ext cx="1870699"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Traffic </a:t>
            </a:r>
            <a:endParaRPr lang="en-IN" b="1" dirty="0">
              <a:solidFill>
                <a:prstClr val="black"/>
              </a:solidFill>
            </a:endParaRPr>
          </a:p>
        </p:txBody>
      </p:sp>
    </p:spTree>
    <p:extLst>
      <p:ext uri="{BB962C8B-B14F-4D97-AF65-F5344CB8AC3E}">
        <p14:creationId xmlns:p14="http://schemas.microsoft.com/office/powerpoint/2010/main" val="5258674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82282" y="322556"/>
              <a:ext cx="4227632"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Competitive Insights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3" name="TextBox 22"/>
          <p:cNvSpPr txBox="1"/>
          <p:nvPr/>
        </p:nvSpPr>
        <p:spPr bwMode="gray">
          <a:xfrm>
            <a:off x="1749876" y="969942"/>
            <a:ext cx="1870699"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Traffic </a:t>
            </a:r>
            <a:endParaRPr lang="en-IN" b="1" dirty="0">
              <a:solidFill>
                <a:prstClr val="black"/>
              </a:solidFill>
            </a:endParaRPr>
          </a:p>
        </p:txBody>
      </p:sp>
    </p:spTree>
    <p:extLst>
      <p:ext uri="{BB962C8B-B14F-4D97-AF65-F5344CB8AC3E}">
        <p14:creationId xmlns:p14="http://schemas.microsoft.com/office/powerpoint/2010/main" val="166206878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flipH="1">
            <a:off x="0" y="6328020"/>
            <a:ext cx="12192000" cy="232833"/>
          </a:xfrm>
          <a:prstGeom prst="rect">
            <a:avLst/>
          </a:prstGeom>
        </p:spPr>
      </p:pic>
      <p:sp>
        <p:nvSpPr>
          <p:cNvPr id="6" name="Rectangle 5"/>
          <p:cNvSpPr/>
          <p:nvPr/>
        </p:nvSpPr>
        <p:spPr>
          <a:xfrm>
            <a:off x="6045994" y="6572578"/>
            <a:ext cx="6096000" cy="230832"/>
          </a:xfrm>
          <a:prstGeom prst="rect">
            <a:avLst/>
          </a:prstGeom>
        </p:spPr>
        <p:txBody>
          <a:bodyPr>
            <a:spAutoFit/>
          </a:bodyPr>
          <a:lstStyle/>
          <a:p>
            <a:pPr algn="r"/>
            <a:r>
              <a:rPr lang="en-IN" sz="900"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Confidential Property of  Tata Industries Ltd – </a:t>
            </a:r>
            <a:r>
              <a:rPr lang="en-IN" sz="900" b="1" dirty="0" smtClean="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rPr>
              <a:t>Tata Insights &amp; Quants Division </a:t>
            </a:r>
            <a:endParaRPr lang="en-IN" sz="900" b="1" dirty="0">
              <a:solidFill>
                <a:prstClr val="black">
                  <a:lumMod val="50000"/>
                  <a:lumOff val="50000"/>
                </a:prstClr>
              </a:solidFill>
              <a:latin typeface="Leelawadee UI" panose="020B0502040204020203" pitchFamily="34" charset="-34"/>
              <a:ea typeface="Calibri" panose="020F0502020204030204" pitchFamily="34" charset="0"/>
              <a:cs typeface="Leelawadee UI" panose="020B0502040204020203" pitchFamily="34" charset="-34"/>
            </a:endParaRPr>
          </a:p>
        </p:txBody>
      </p:sp>
      <p:grpSp>
        <p:nvGrpSpPr>
          <p:cNvPr id="12" name="Group 11"/>
          <p:cNvGrpSpPr/>
          <p:nvPr/>
        </p:nvGrpSpPr>
        <p:grpSpPr>
          <a:xfrm>
            <a:off x="1" y="388122"/>
            <a:ext cx="12192000" cy="461665"/>
            <a:chOff x="1" y="322556"/>
            <a:chExt cx="12192000" cy="461665"/>
          </a:xfrm>
        </p:grpSpPr>
        <p:cxnSp>
          <p:nvCxnSpPr>
            <p:cNvPr id="15" name="Straight Connector 14"/>
            <p:cNvCxnSpPr/>
            <p:nvPr/>
          </p:nvCxnSpPr>
          <p:spPr>
            <a:xfrm>
              <a:off x="1" y="567627"/>
              <a:ext cx="121920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982282" y="322556"/>
              <a:ext cx="4227632" cy="461665"/>
            </a:xfrm>
            <a:prstGeom prst="rect">
              <a:avLst/>
            </a:prstGeom>
            <a:solidFill>
              <a:schemeClr val="bg1"/>
            </a:solidFill>
          </p:spPr>
          <p:txBody>
            <a:bodyPr wrap="none" anchor="ctr">
              <a:spAutoFit/>
            </a:bodyPr>
            <a:lstStyle/>
            <a:p>
              <a:pPr algn="ctr"/>
              <a:r>
                <a:rPr lang="en-IN" sz="2400" b="1" dirty="0" smtClean="0">
                  <a:solidFill>
                    <a:schemeClr val="bg1">
                      <a:lumMod val="50000"/>
                    </a:schemeClr>
                  </a:solidFill>
                  <a:latin typeface="Leelawadee UI" panose="020B0502040204020203" pitchFamily="34" charset="-34"/>
                  <a:cs typeface="Leelawadee UI" panose="020B0502040204020203" pitchFamily="34" charset="-34"/>
                </a:rPr>
                <a:t>Digital Competitive Insights</a:t>
              </a:r>
              <a:endParaRPr lang="en-IN" sz="2400" b="1" dirty="0">
                <a:solidFill>
                  <a:schemeClr val="bg1">
                    <a:lumMod val="50000"/>
                  </a:schemeClr>
                </a:solidFill>
                <a:latin typeface="Leelawadee UI" panose="020B0502040204020203" pitchFamily="34" charset="-34"/>
                <a:cs typeface="Leelawadee UI" panose="020B0502040204020203" pitchFamily="34" charset="-34"/>
              </a:endParaRPr>
            </a:p>
          </p:txBody>
        </p:sp>
      </p:grpSp>
      <p:sp>
        <p:nvSpPr>
          <p:cNvPr id="23" name="TextBox 22"/>
          <p:cNvSpPr txBox="1"/>
          <p:nvPr/>
        </p:nvSpPr>
        <p:spPr bwMode="gray">
          <a:xfrm>
            <a:off x="1749876" y="969942"/>
            <a:ext cx="1870699" cy="484629"/>
          </a:xfrm>
          <a:prstGeom prst="rect">
            <a:avLst/>
          </a:prstGeom>
        </p:spPr>
        <p:txBody>
          <a:bodyPr vert="horz" wrap="square" lIns="91440" tIns="45720" rIns="91440" bIns="45720" rtlCol="0" anchor="ctr">
            <a:noAutofit/>
          </a:bodyPr>
          <a:lstStyle/>
          <a:p>
            <a:pPr algn="ctr"/>
            <a:r>
              <a:rPr lang="en-IN" b="1" dirty="0" smtClean="0">
                <a:solidFill>
                  <a:prstClr val="black"/>
                </a:solidFill>
              </a:rPr>
              <a:t>Website Traffic </a:t>
            </a:r>
            <a:endParaRPr lang="en-IN" b="1" dirty="0">
              <a:solidFill>
                <a:prstClr val="black"/>
              </a:solidFill>
            </a:endParaRPr>
          </a:p>
        </p:txBody>
      </p:sp>
    </p:spTree>
    <p:extLst>
      <p:ext uri="{BB962C8B-B14F-4D97-AF65-F5344CB8AC3E}">
        <p14:creationId xmlns:p14="http://schemas.microsoft.com/office/powerpoint/2010/main" val="394344926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7457</TotalTime>
  <Words>1500</Words>
  <Application>Microsoft Office PowerPoint</Application>
  <PresentationFormat>Widescreen</PresentationFormat>
  <Paragraphs>382</Paragraphs>
  <Slides>19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Calibri Light</vt:lpstr>
      <vt:lpstr>Century Gothic</vt:lpstr>
      <vt:lpstr>Courier New</vt:lpstr>
      <vt:lpstr>Leelawadee</vt:lpstr>
      <vt:lpstr>Leelawadee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Tableau Case Studies</dc:title>
  <dc:creator>C R Ganesh</dc:creator>
  <cp:lastModifiedBy>Rahul Mantri</cp:lastModifiedBy>
  <cp:revision>226</cp:revision>
  <dcterms:created xsi:type="dcterms:W3CDTF">2016-03-30T06:40:15Z</dcterms:created>
  <dcterms:modified xsi:type="dcterms:W3CDTF">2016-06-27T12:26:26Z</dcterms:modified>
</cp:coreProperties>
</file>
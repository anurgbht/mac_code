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Lst>
  <p:notesMasterIdLst>
    <p:notesMasterId r:id="rId37"/>
  </p:notesMasterIdLst>
  <p:sldIdLst>
    <p:sldId id="257" r:id="rId3"/>
    <p:sldId id="259" r:id="rId4"/>
    <p:sldId id="260" r:id="rId5"/>
    <p:sldId id="261" r:id="rId6"/>
    <p:sldId id="263" r:id="rId7"/>
    <p:sldId id="264" r:id="rId8"/>
    <p:sldId id="265" r:id="rId9"/>
    <p:sldId id="267" r:id="rId10"/>
    <p:sldId id="268" r:id="rId11"/>
    <p:sldId id="269" r:id="rId12"/>
    <p:sldId id="270" r:id="rId13"/>
    <p:sldId id="271" r:id="rId14"/>
    <p:sldId id="294" r:id="rId15"/>
    <p:sldId id="272" r:id="rId16"/>
    <p:sldId id="273" r:id="rId17"/>
    <p:sldId id="282" r:id="rId18"/>
    <p:sldId id="283" r:id="rId19"/>
    <p:sldId id="284" r:id="rId20"/>
    <p:sldId id="286" r:id="rId21"/>
    <p:sldId id="285" r:id="rId22"/>
    <p:sldId id="275" r:id="rId23"/>
    <p:sldId id="276" r:id="rId24"/>
    <p:sldId id="277" r:id="rId25"/>
    <p:sldId id="287" r:id="rId26"/>
    <p:sldId id="288" r:id="rId27"/>
    <p:sldId id="289" r:id="rId28"/>
    <p:sldId id="278" r:id="rId29"/>
    <p:sldId id="291" r:id="rId30"/>
    <p:sldId id="292" r:id="rId31"/>
    <p:sldId id="293" r:id="rId32"/>
    <p:sldId id="290" r:id="rId33"/>
    <p:sldId id="279" r:id="rId34"/>
    <p:sldId id="280" r:id="rId35"/>
    <p:sldId id="28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6" d="100"/>
          <a:sy n="116" d="100"/>
        </p:scale>
        <p:origin x="390"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FCB63B-4EC6-4203-8019-3E0A0737027B}" type="doc">
      <dgm:prSet loTypeId="urn:microsoft.com/office/officeart/2005/8/layout/chevron1" loCatId="process" qsTypeId="urn:microsoft.com/office/officeart/2005/8/quickstyle/simple1" qsCatId="simple" csTypeId="urn:microsoft.com/office/officeart/2005/8/colors/colorful5" csCatId="colorful" phldr="1"/>
      <dgm:spPr/>
      <dgm:t>
        <a:bodyPr/>
        <a:lstStyle/>
        <a:p>
          <a:endParaRPr lang="en-IN"/>
        </a:p>
      </dgm:t>
    </dgm:pt>
    <dgm:pt modelId="{3F8CF0E7-E900-454B-83E3-248F1507889F}">
      <dgm:prSet phldrT="[Text]" custT="1"/>
      <dgm:spPr/>
      <dgm:t>
        <a:bodyPr/>
        <a:lstStyle/>
        <a:p>
          <a:r>
            <a:rPr lang="en-IN" sz="1600" dirty="0" smtClean="0"/>
            <a:t>Introduction to Tableau</a:t>
          </a:r>
          <a:endParaRPr lang="en-IN" sz="1600" dirty="0"/>
        </a:p>
      </dgm:t>
    </dgm:pt>
    <dgm:pt modelId="{C0CB509C-23B1-4B66-98D3-1D9518E740A9}" type="parTrans" cxnId="{139A1FBB-DEA8-41E3-96A7-B805976C5C5F}">
      <dgm:prSet/>
      <dgm:spPr/>
      <dgm:t>
        <a:bodyPr/>
        <a:lstStyle/>
        <a:p>
          <a:endParaRPr lang="en-IN"/>
        </a:p>
      </dgm:t>
    </dgm:pt>
    <dgm:pt modelId="{CFE4CC5F-1628-4DF3-8821-0230FD2533B3}" type="sibTrans" cxnId="{139A1FBB-DEA8-41E3-96A7-B805976C5C5F}">
      <dgm:prSet/>
      <dgm:spPr/>
      <dgm:t>
        <a:bodyPr/>
        <a:lstStyle/>
        <a:p>
          <a:endParaRPr lang="en-IN"/>
        </a:p>
      </dgm:t>
    </dgm:pt>
    <dgm:pt modelId="{0A717A2E-4DD9-4C33-B2BB-CB7E12941A3C}">
      <dgm:prSet phldrT="[Text]" custT="1"/>
      <dgm:spPr/>
      <dgm:t>
        <a:bodyPr/>
        <a:lstStyle/>
        <a:p>
          <a:pPr algn="l">
            <a:lnSpc>
              <a:spcPct val="150000"/>
            </a:lnSpc>
          </a:pPr>
          <a:r>
            <a:rPr lang="en-IN" sz="1200" dirty="0" smtClean="0">
              <a:latin typeface="+mn-lt"/>
            </a:rPr>
            <a:t>What is Data Visualization</a:t>
          </a:r>
          <a:endParaRPr lang="en-IN" sz="1200" dirty="0">
            <a:latin typeface="+mn-lt"/>
          </a:endParaRPr>
        </a:p>
      </dgm:t>
    </dgm:pt>
    <dgm:pt modelId="{39119DFB-9E2C-4594-A0E4-5FFF23AABF6E}" type="parTrans" cxnId="{D5462849-5DB3-4900-831F-0C1216E28EAC}">
      <dgm:prSet/>
      <dgm:spPr/>
      <dgm:t>
        <a:bodyPr/>
        <a:lstStyle/>
        <a:p>
          <a:endParaRPr lang="en-IN"/>
        </a:p>
      </dgm:t>
    </dgm:pt>
    <dgm:pt modelId="{A7362722-813B-4613-B054-8346BF2A60E5}" type="sibTrans" cxnId="{D5462849-5DB3-4900-831F-0C1216E28EAC}">
      <dgm:prSet/>
      <dgm:spPr/>
      <dgm:t>
        <a:bodyPr/>
        <a:lstStyle/>
        <a:p>
          <a:endParaRPr lang="en-IN"/>
        </a:p>
      </dgm:t>
    </dgm:pt>
    <dgm:pt modelId="{C8810F06-213C-445F-AC47-676FB6FE993E}">
      <dgm:prSet phldrT="[Text]" custT="1"/>
      <dgm:spPr/>
      <dgm:t>
        <a:bodyPr/>
        <a:lstStyle/>
        <a:p>
          <a:r>
            <a:rPr lang="en-IN" sz="1600" dirty="0" smtClean="0"/>
            <a:t>Basic Concepts in Tableau</a:t>
          </a:r>
          <a:endParaRPr lang="en-IN" sz="1600" dirty="0"/>
        </a:p>
      </dgm:t>
    </dgm:pt>
    <dgm:pt modelId="{42B72FA7-FA38-4004-A88E-A400DA27E046}" type="parTrans" cxnId="{9B5AFBB8-7F36-4848-B01F-DF943BCB651B}">
      <dgm:prSet/>
      <dgm:spPr/>
      <dgm:t>
        <a:bodyPr/>
        <a:lstStyle/>
        <a:p>
          <a:endParaRPr lang="en-IN"/>
        </a:p>
      </dgm:t>
    </dgm:pt>
    <dgm:pt modelId="{78EB736B-6DD2-4E00-A188-7C3A612A2E16}" type="sibTrans" cxnId="{9B5AFBB8-7F36-4848-B01F-DF943BCB651B}">
      <dgm:prSet/>
      <dgm:spPr/>
      <dgm:t>
        <a:bodyPr/>
        <a:lstStyle/>
        <a:p>
          <a:endParaRPr lang="en-IN"/>
        </a:p>
      </dgm:t>
    </dgm:pt>
    <dgm:pt modelId="{0874CC3E-03FB-4A29-AC00-A22BA746D4CB}">
      <dgm:prSet phldrT="[Text]" custT="1"/>
      <dgm:spPr/>
      <dgm:t>
        <a:bodyPr/>
        <a:lstStyle/>
        <a:p>
          <a:pPr>
            <a:lnSpc>
              <a:spcPct val="150000"/>
            </a:lnSpc>
          </a:pPr>
          <a:r>
            <a:rPr lang="en-IN" sz="1200" dirty="0" smtClean="0">
              <a:latin typeface="+mn-lt"/>
            </a:rPr>
            <a:t>How does Tableau work?</a:t>
          </a:r>
          <a:endParaRPr lang="en-IN" sz="1200" dirty="0">
            <a:latin typeface="+mn-lt"/>
          </a:endParaRPr>
        </a:p>
      </dgm:t>
    </dgm:pt>
    <dgm:pt modelId="{D380F9B1-14C8-40FE-A8CD-4882B3417B6C}" type="parTrans" cxnId="{9E51B9B3-DCC4-44AA-85B9-E3C8766B41FE}">
      <dgm:prSet/>
      <dgm:spPr/>
      <dgm:t>
        <a:bodyPr/>
        <a:lstStyle/>
        <a:p>
          <a:endParaRPr lang="en-IN"/>
        </a:p>
      </dgm:t>
    </dgm:pt>
    <dgm:pt modelId="{B000B75A-B40F-40D2-82C2-20A7654EECFF}" type="sibTrans" cxnId="{9E51B9B3-DCC4-44AA-85B9-E3C8766B41FE}">
      <dgm:prSet/>
      <dgm:spPr/>
      <dgm:t>
        <a:bodyPr/>
        <a:lstStyle/>
        <a:p>
          <a:endParaRPr lang="en-IN"/>
        </a:p>
      </dgm:t>
    </dgm:pt>
    <dgm:pt modelId="{AE69498D-51E7-4A3E-8D75-7FDE7CE1AD52}">
      <dgm:prSet phldrT="[Text]" custT="1"/>
      <dgm:spPr/>
      <dgm:t>
        <a:bodyPr/>
        <a:lstStyle/>
        <a:p>
          <a:r>
            <a:rPr lang="en-IN" sz="1600" dirty="0" smtClean="0"/>
            <a:t>Tableau Demo</a:t>
          </a:r>
          <a:endParaRPr lang="en-IN" sz="1600" dirty="0"/>
        </a:p>
      </dgm:t>
    </dgm:pt>
    <dgm:pt modelId="{5FE9D9BD-89A1-4196-BECF-583F959DB633}" type="parTrans" cxnId="{12876BC0-E39F-4B4E-B259-9E8AC588B508}">
      <dgm:prSet/>
      <dgm:spPr/>
      <dgm:t>
        <a:bodyPr/>
        <a:lstStyle/>
        <a:p>
          <a:endParaRPr lang="en-IN"/>
        </a:p>
      </dgm:t>
    </dgm:pt>
    <dgm:pt modelId="{7847C586-2753-464A-B5F2-5E5A113E60E2}" type="sibTrans" cxnId="{12876BC0-E39F-4B4E-B259-9E8AC588B508}">
      <dgm:prSet/>
      <dgm:spPr/>
      <dgm:t>
        <a:bodyPr/>
        <a:lstStyle/>
        <a:p>
          <a:endParaRPr lang="en-IN"/>
        </a:p>
      </dgm:t>
    </dgm:pt>
    <dgm:pt modelId="{E5EAE2F6-AA89-447E-94AA-7258F3CEE4CD}">
      <dgm:prSet phldrT="[Text]" custT="1"/>
      <dgm:spPr/>
      <dgm:t>
        <a:bodyPr/>
        <a:lstStyle/>
        <a:p>
          <a:pPr>
            <a:lnSpc>
              <a:spcPct val="150000"/>
            </a:lnSpc>
          </a:pPr>
          <a:r>
            <a:rPr lang="en-IN" sz="1200" dirty="0" smtClean="0">
              <a:latin typeface="+mn-lt"/>
            </a:rPr>
            <a:t>Types of Connections - Demo</a:t>
          </a:r>
          <a:endParaRPr lang="en-IN" sz="1200" dirty="0"/>
        </a:p>
      </dgm:t>
    </dgm:pt>
    <dgm:pt modelId="{EF4BAB5C-E116-4D8C-BEF0-04B227008A37}" type="parTrans" cxnId="{05AC921E-03A1-4108-A97F-BC7C6EBD1317}">
      <dgm:prSet/>
      <dgm:spPr/>
      <dgm:t>
        <a:bodyPr/>
        <a:lstStyle/>
        <a:p>
          <a:endParaRPr lang="en-IN"/>
        </a:p>
      </dgm:t>
    </dgm:pt>
    <dgm:pt modelId="{4EBB6A94-C4BC-4EA3-9BC5-DF17283F8205}" type="sibTrans" cxnId="{05AC921E-03A1-4108-A97F-BC7C6EBD1317}">
      <dgm:prSet/>
      <dgm:spPr/>
      <dgm:t>
        <a:bodyPr/>
        <a:lstStyle/>
        <a:p>
          <a:endParaRPr lang="en-IN"/>
        </a:p>
      </dgm:t>
    </dgm:pt>
    <dgm:pt modelId="{260F7D89-E81B-4912-A825-AC6573407B57}">
      <dgm:prSet phldrT="[Text]" custT="1"/>
      <dgm:spPr/>
      <dgm:t>
        <a:bodyPr/>
        <a:lstStyle/>
        <a:p>
          <a:pPr algn="l">
            <a:lnSpc>
              <a:spcPct val="150000"/>
            </a:lnSpc>
          </a:pPr>
          <a:r>
            <a:rPr lang="en-IN" sz="1200" dirty="0" smtClean="0">
              <a:latin typeface="+mn-lt"/>
            </a:rPr>
            <a:t>What is Tableau</a:t>
          </a:r>
          <a:endParaRPr lang="en-IN" sz="1200" dirty="0">
            <a:latin typeface="+mn-lt"/>
          </a:endParaRPr>
        </a:p>
      </dgm:t>
    </dgm:pt>
    <dgm:pt modelId="{E771E6E7-FA30-433D-836F-BFEB609128D7}" type="parTrans" cxnId="{D253DA4F-2819-493E-B741-766D4EA49B2D}">
      <dgm:prSet/>
      <dgm:spPr/>
      <dgm:t>
        <a:bodyPr/>
        <a:lstStyle/>
        <a:p>
          <a:endParaRPr lang="en-IN"/>
        </a:p>
      </dgm:t>
    </dgm:pt>
    <dgm:pt modelId="{0407B7A7-89D6-40B2-9546-848CC4C3A368}" type="sibTrans" cxnId="{D253DA4F-2819-493E-B741-766D4EA49B2D}">
      <dgm:prSet/>
      <dgm:spPr/>
      <dgm:t>
        <a:bodyPr/>
        <a:lstStyle/>
        <a:p>
          <a:endParaRPr lang="en-IN"/>
        </a:p>
      </dgm:t>
    </dgm:pt>
    <dgm:pt modelId="{5892A6B5-2C6A-4F69-81BA-4C7F225CA2E5}">
      <dgm:prSet phldrT="[Text]" custT="1"/>
      <dgm:spPr/>
      <dgm:t>
        <a:bodyPr/>
        <a:lstStyle/>
        <a:p>
          <a:pPr algn="l">
            <a:lnSpc>
              <a:spcPct val="150000"/>
            </a:lnSpc>
          </a:pPr>
          <a:r>
            <a:rPr lang="en-IN" sz="1200" dirty="0" smtClean="0">
              <a:latin typeface="+mn-lt"/>
            </a:rPr>
            <a:t>Why Tableau</a:t>
          </a:r>
          <a:endParaRPr lang="en-IN" sz="1200" dirty="0">
            <a:latin typeface="+mn-lt"/>
          </a:endParaRPr>
        </a:p>
      </dgm:t>
    </dgm:pt>
    <dgm:pt modelId="{805FC01E-6850-414B-A396-A252756E0C74}" type="parTrans" cxnId="{75107117-27B0-47EA-965B-20EB58769480}">
      <dgm:prSet/>
      <dgm:spPr/>
      <dgm:t>
        <a:bodyPr/>
        <a:lstStyle/>
        <a:p>
          <a:endParaRPr lang="en-IN"/>
        </a:p>
      </dgm:t>
    </dgm:pt>
    <dgm:pt modelId="{53468AA3-736E-47C0-B396-AC19BDF89622}" type="sibTrans" cxnId="{75107117-27B0-47EA-965B-20EB58769480}">
      <dgm:prSet/>
      <dgm:spPr/>
      <dgm:t>
        <a:bodyPr/>
        <a:lstStyle/>
        <a:p>
          <a:endParaRPr lang="en-IN"/>
        </a:p>
      </dgm:t>
    </dgm:pt>
    <dgm:pt modelId="{A3977A60-6DCA-47C9-8E64-0C9E2925FDCD}">
      <dgm:prSet phldrT="[Text]" custT="1"/>
      <dgm:spPr/>
      <dgm:t>
        <a:bodyPr/>
        <a:lstStyle/>
        <a:p>
          <a:pPr algn="l">
            <a:lnSpc>
              <a:spcPct val="150000"/>
            </a:lnSpc>
          </a:pPr>
          <a:r>
            <a:rPr lang="en-IN" sz="1200" dirty="0" smtClean="0">
              <a:latin typeface="+mn-lt"/>
            </a:rPr>
            <a:t>Tableau Products and Similar Products</a:t>
          </a:r>
          <a:endParaRPr lang="en-IN" sz="1200" dirty="0">
            <a:latin typeface="+mn-lt"/>
          </a:endParaRPr>
        </a:p>
      </dgm:t>
    </dgm:pt>
    <dgm:pt modelId="{ED9370D0-05FA-46A9-A87A-61B58CE1319C}" type="parTrans" cxnId="{DE564B99-17B0-4773-BAE6-5714199A92FA}">
      <dgm:prSet/>
      <dgm:spPr/>
      <dgm:t>
        <a:bodyPr/>
        <a:lstStyle/>
        <a:p>
          <a:endParaRPr lang="en-IN"/>
        </a:p>
      </dgm:t>
    </dgm:pt>
    <dgm:pt modelId="{7ECEB279-3AF5-4248-9BEA-959F6A221851}" type="sibTrans" cxnId="{DE564B99-17B0-4773-BAE6-5714199A92FA}">
      <dgm:prSet/>
      <dgm:spPr/>
      <dgm:t>
        <a:bodyPr/>
        <a:lstStyle/>
        <a:p>
          <a:endParaRPr lang="en-IN"/>
        </a:p>
      </dgm:t>
    </dgm:pt>
    <dgm:pt modelId="{D936B546-A854-4230-A2AF-5B2CF2043585}">
      <dgm:prSet phldrT="[Text]" custT="1"/>
      <dgm:spPr/>
      <dgm:t>
        <a:bodyPr/>
        <a:lstStyle/>
        <a:p>
          <a:pPr>
            <a:lnSpc>
              <a:spcPct val="150000"/>
            </a:lnSpc>
          </a:pPr>
          <a:r>
            <a:rPr lang="en-IN" sz="1200" dirty="0" smtClean="0">
              <a:latin typeface="+mn-lt"/>
            </a:rPr>
            <a:t>Calculated Fields</a:t>
          </a:r>
          <a:endParaRPr lang="en-IN" sz="1200" dirty="0">
            <a:latin typeface="+mn-lt"/>
          </a:endParaRPr>
        </a:p>
      </dgm:t>
    </dgm:pt>
    <dgm:pt modelId="{C32E92D2-47FD-47AC-A5C2-80616DC50A12}" type="parTrans" cxnId="{47B3CC70-0535-4ED4-8C49-121D8A85D071}">
      <dgm:prSet/>
      <dgm:spPr/>
      <dgm:t>
        <a:bodyPr/>
        <a:lstStyle/>
        <a:p>
          <a:endParaRPr lang="en-IN"/>
        </a:p>
      </dgm:t>
    </dgm:pt>
    <dgm:pt modelId="{EB9D118A-FB6E-42A7-9454-1183A3A7DFC4}" type="sibTrans" cxnId="{47B3CC70-0535-4ED4-8C49-121D8A85D071}">
      <dgm:prSet/>
      <dgm:spPr/>
      <dgm:t>
        <a:bodyPr/>
        <a:lstStyle/>
        <a:p>
          <a:endParaRPr lang="en-IN"/>
        </a:p>
      </dgm:t>
    </dgm:pt>
    <dgm:pt modelId="{A868B5C4-5B9D-4328-988C-0C6F29684D6A}">
      <dgm:prSet phldrT="[Text]" custT="1"/>
      <dgm:spPr/>
      <dgm:t>
        <a:bodyPr/>
        <a:lstStyle/>
        <a:p>
          <a:pPr>
            <a:lnSpc>
              <a:spcPct val="150000"/>
            </a:lnSpc>
          </a:pPr>
          <a:r>
            <a:rPr lang="en-IN" sz="1200" dirty="0" smtClean="0">
              <a:latin typeface="+mn-lt"/>
            </a:rPr>
            <a:t>Types of Connections</a:t>
          </a:r>
          <a:endParaRPr lang="en-IN" sz="1200" dirty="0">
            <a:latin typeface="+mn-lt"/>
          </a:endParaRPr>
        </a:p>
      </dgm:t>
    </dgm:pt>
    <dgm:pt modelId="{5C455900-E81A-4E74-BA22-1532EA832936}" type="parTrans" cxnId="{F602705C-C8D6-4A51-908F-F9136BE53BF1}">
      <dgm:prSet/>
      <dgm:spPr/>
      <dgm:t>
        <a:bodyPr/>
        <a:lstStyle/>
        <a:p>
          <a:endParaRPr lang="en-IN"/>
        </a:p>
      </dgm:t>
    </dgm:pt>
    <dgm:pt modelId="{636D09FB-6801-4330-B122-41BB17C7FF36}" type="sibTrans" cxnId="{F602705C-C8D6-4A51-908F-F9136BE53BF1}">
      <dgm:prSet/>
      <dgm:spPr/>
      <dgm:t>
        <a:bodyPr/>
        <a:lstStyle/>
        <a:p>
          <a:endParaRPr lang="en-IN"/>
        </a:p>
      </dgm:t>
    </dgm:pt>
    <dgm:pt modelId="{F728AB3E-05B3-462C-85CB-F37A87B86BF8}">
      <dgm:prSet phldrT="[Text]" custT="1"/>
      <dgm:spPr/>
      <dgm:t>
        <a:bodyPr/>
        <a:lstStyle/>
        <a:p>
          <a:pPr>
            <a:lnSpc>
              <a:spcPct val="150000"/>
            </a:lnSpc>
          </a:pPr>
          <a:r>
            <a:rPr lang="en-IN" sz="1200" dirty="0" smtClean="0">
              <a:latin typeface="+mn-lt"/>
            </a:rPr>
            <a:t>Filters</a:t>
          </a:r>
          <a:endParaRPr lang="en-IN" sz="1200" dirty="0">
            <a:latin typeface="+mn-lt"/>
          </a:endParaRPr>
        </a:p>
      </dgm:t>
    </dgm:pt>
    <dgm:pt modelId="{A2E6451E-6221-4B2E-B039-CC75295665E6}" type="parTrans" cxnId="{4DC22063-F607-4A48-8498-6388BF4FBD51}">
      <dgm:prSet/>
      <dgm:spPr/>
      <dgm:t>
        <a:bodyPr/>
        <a:lstStyle/>
        <a:p>
          <a:endParaRPr lang="en-IN"/>
        </a:p>
      </dgm:t>
    </dgm:pt>
    <dgm:pt modelId="{EB3B2068-CAF2-4C65-89BD-9686AA998D22}" type="sibTrans" cxnId="{4DC22063-F607-4A48-8498-6388BF4FBD51}">
      <dgm:prSet/>
      <dgm:spPr/>
      <dgm:t>
        <a:bodyPr/>
        <a:lstStyle/>
        <a:p>
          <a:endParaRPr lang="en-IN"/>
        </a:p>
      </dgm:t>
    </dgm:pt>
    <dgm:pt modelId="{7F8DFB4A-8EFF-4037-BB6D-AAF7155FC9B2}">
      <dgm:prSet phldrT="[Text]" custT="1"/>
      <dgm:spPr/>
      <dgm:t>
        <a:bodyPr/>
        <a:lstStyle/>
        <a:p>
          <a:pPr>
            <a:lnSpc>
              <a:spcPct val="150000"/>
            </a:lnSpc>
          </a:pPr>
          <a:r>
            <a:rPr lang="en-IN" sz="1200" dirty="0" smtClean="0">
              <a:latin typeface="+mn-lt"/>
            </a:rPr>
            <a:t>Sets</a:t>
          </a:r>
          <a:endParaRPr lang="en-IN" sz="1200" dirty="0">
            <a:latin typeface="+mn-lt"/>
          </a:endParaRPr>
        </a:p>
      </dgm:t>
    </dgm:pt>
    <dgm:pt modelId="{C0C41841-B0ED-4355-918D-5DC138F9DDC7}" type="parTrans" cxnId="{B4970954-1C5B-4436-B109-B29C2FB78099}">
      <dgm:prSet/>
      <dgm:spPr/>
      <dgm:t>
        <a:bodyPr/>
        <a:lstStyle/>
        <a:p>
          <a:endParaRPr lang="en-IN"/>
        </a:p>
      </dgm:t>
    </dgm:pt>
    <dgm:pt modelId="{83AF2B9C-EA98-40E5-9386-77F018B159AB}" type="sibTrans" cxnId="{B4970954-1C5B-4436-B109-B29C2FB78099}">
      <dgm:prSet/>
      <dgm:spPr/>
      <dgm:t>
        <a:bodyPr/>
        <a:lstStyle/>
        <a:p>
          <a:endParaRPr lang="en-IN"/>
        </a:p>
      </dgm:t>
    </dgm:pt>
    <dgm:pt modelId="{927B5A23-E503-4778-B7F1-90AC16B2196B}">
      <dgm:prSet phldrT="[Text]" custT="1"/>
      <dgm:spPr/>
      <dgm:t>
        <a:bodyPr/>
        <a:lstStyle/>
        <a:p>
          <a:pPr>
            <a:lnSpc>
              <a:spcPct val="150000"/>
            </a:lnSpc>
          </a:pPr>
          <a:r>
            <a:rPr lang="en-IN" sz="1200" dirty="0" smtClean="0">
              <a:latin typeface="+mn-lt"/>
            </a:rPr>
            <a:t>Grouping/Hierarchy</a:t>
          </a:r>
          <a:endParaRPr lang="en-IN" sz="1200" dirty="0">
            <a:latin typeface="+mn-lt"/>
          </a:endParaRPr>
        </a:p>
      </dgm:t>
    </dgm:pt>
    <dgm:pt modelId="{2E793C48-78AE-4D3B-B72F-BC041748757B}" type="parTrans" cxnId="{78C970F8-4AE0-48BE-8B00-8FAD0DCF9154}">
      <dgm:prSet/>
      <dgm:spPr/>
      <dgm:t>
        <a:bodyPr/>
        <a:lstStyle/>
        <a:p>
          <a:endParaRPr lang="en-IN"/>
        </a:p>
      </dgm:t>
    </dgm:pt>
    <dgm:pt modelId="{63A10AE4-99A4-49C8-836B-394C7E4033F8}" type="sibTrans" cxnId="{78C970F8-4AE0-48BE-8B00-8FAD0DCF9154}">
      <dgm:prSet/>
      <dgm:spPr/>
      <dgm:t>
        <a:bodyPr/>
        <a:lstStyle/>
        <a:p>
          <a:endParaRPr lang="en-IN"/>
        </a:p>
      </dgm:t>
    </dgm:pt>
    <dgm:pt modelId="{4D374905-B996-478B-93BA-D111804FFFF1}">
      <dgm:prSet phldrT="[Text]" custT="1"/>
      <dgm:spPr/>
      <dgm:t>
        <a:bodyPr/>
        <a:lstStyle/>
        <a:p>
          <a:pPr>
            <a:lnSpc>
              <a:spcPct val="150000"/>
            </a:lnSpc>
          </a:pPr>
          <a:endParaRPr lang="en-IN" sz="1200" dirty="0">
            <a:latin typeface="+mn-lt"/>
          </a:endParaRPr>
        </a:p>
      </dgm:t>
    </dgm:pt>
    <dgm:pt modelId="{F29DAF05-E7DE-4B30-80FC-D953AD34B252}" type="parTrans" cxnId="{386780C5-2C14-4C44-9333-AF7285497FDA}">
      <dgm:prSet/>
      <dgm:spPr/>
      <dgm:t>
        <a:bodyPr/>
        <a:lstStyle/>
        <a:p>
          <a:endParaRPr lang="en-IN"/>
        </a:p>
      </dgm:t>
    </dgm:pt>
    <dgm:pt modelId="{D44901E6-D455-4FA3-84FE-AB9B6367ADEE}" type="sibTrans" cxnId="{386780C5-2C14-4C44-9333-AF7285497FDA}">
      <dgm:prSet/>
      <dgm:spPr/>
      <dgm:t>
        <a:bodyPr/>
        <a:lstStyle/>
        <a:p>
          <a:endParaRPr lang="en-IN"/>
        </a:p>
      </dgm:t>
    </dgm:pt>
    <dgm:pt modelId="{6DE9AA55-0E62-44B9-BE0E-98D4CC76F0A5}">
      <dgm:prSet phldrT="[Text]" custT="1"/>
      <dgm:spPr/>
      <dgm:t>
        <a:bodyPr/>
        <a:lstStyle/>
        <a:p>
          <a:pPr>
            <a:lnSpc>
              <a:spcPct val="150000"/>
            </a:lnSpc>
          </a:pPr>
          <a:r>
            <a:rPr lang="en-IN" sz="1200" dirty="0" smtClean="0">
              <a:latin typeface="+mn-lt"/>
            </a:rPr>
            <a:t>Parameter</a:t>
          </a:r>
          <a:endParaRPr lang="en-IN" sz="1200" dirty="0">
            <a:latin typeface="+mn-lt"/>
          </a:endParaRPr>
        </a:p>
      </dgm:t>
    </dgm:pt>
    <dgm:pt modelId="{8165431E-0927-4EA1-B4E9-9D44459DB9A3}" type="parTrans" cxnId="{3EBB4902-C5C6-4F19-B6E8-9429D4253EBB}">
      <dgm:prSet/>
      <dgm:spPr/>
      <dgm:t>
        <a:bodyPr/>
        <a:lstStyle/>
        <a:p>
          <a:endParaRPr lang="en-IN"/>
        </a:p>
      </dgm:t>
    </dgm:pt>
    <dgm:pt modelId="{3F587F2D-356C-46F3-956C-EA1202C309F2}" type="sibTrans" cxnId="{3EBB4902-C5C6-4F19-B6E8-9429D4253EBB}">
      <dgm:prSet/>
      <dgm:spPr/>
      <dgm:t>
        <a:bodyPr/>
        <a:lstStyle/>
        <a:p>
          <a:endParaRPr lang="en-IN"/>
        </a:p>
      </dgm:t>
    </dgm:pt>
    <dgm:pt modelId="{E0D33851-5D7F-4FF0-A5F3-38BE0F17B46F}">
      <dgm:prSet phldrT="[Text]" custT="1"/>
      <dgm:spPr/>
      <dgm:t>
        <a:bodyPr/>
        <a:lstStyle/>
        <a:p>
          <a:pPr>
            <a:lnSpc>
              <a:spcPct val="150000"/>
            </a:lnSpc>
          </a:pPr>
          <a:r>
            <a:rPr lang="en-IN" sz="1200" dirty="0" smtClean="0">
              <a:latin typeface="+mn-lt"/>
            </a:rPr>
            <a:t>Windows Function/Table Calculation</a:t>
          </a:r>
          <a:endParaRPr lang="en-IN" sz="1200" dirty="0">
            <a:latin typeface="+mn-lt"/>
          </a:endParaRPr>
        </a:p>
      </dgm:t>
    </dgm:pt>
    <dgm:pt modelId="{965C2283-66A7-495A-B10B-3EC78A634C43}" type="parTrans" cxnId="{57939987-DDE6-4FF3-B3F5-7746076D1C4A}">
      <dgm:prSet/>
      <dgm:spPr/>
      <dgm:t>
        <a:bodyPr/>
        <a:lstStyle/>
        <a:p>
          <a:endParaRPr lang="en-IN"/>
        </a:p>
      </dgm:t>
    </dgm:pt>
    <dgm:pt modelId="{41C5B9CD-6696-4C7E-AC5F-48DE238147AC}" type="sibTrans" cxnId="{57939987-DDE6-4FF3-B3F5-7746076D1C4A}">
      <dgm:prSet/>
      <dgm:spPr/>
      <dgm:t>
        <a:bodyPr/>
        <a:lstStyle/>
        <a:p>
          <a:endParaRPr lang="en-IN"/>
        </a:p>
      </dgm:t>
    </dgm:pt>
    <dgm:pt modelId="{B03B328C-1551-4732-A8D5-BD81939E669F}">
      <dgm:prSet phldrT="[Text]" custT="1"/>
      <dgm:spPr/>
      <dgm:t>
        <a:bodyPr/>
        <a:lstStyle/>
        <a:p>
          <a:pPr>
            <a:lnSpc>
              <a:spcPct val="150000"/>
            </a:lnSpc>
          </a:pPr>
          <a:r>
            <a:rPr lang="en-IN" sz="1200" dirty="0" smtClean="0">
              <a:latin typeface="+mn-lt"/>
            </a:rPr>
            <a:t>Dual Axis</a:t>
          </a:r>
          <a:endParaRPr lang="en-IN" sz="1200" dirty="0">
            <a:latin typeface="+mn-lt"/>
          </a:endParaRPr>
        </a:p>
      </dgm:t>
    </dgm:pt>
    <dgm:pt modelId="{D77601AD-3276-42E9-8B7D-6C9F96C2EECD}" type="parTrans" cxnId="{06AA226A-5E08-4640-85B0-85EB0B4CA56F}">
      <dgm:prSet/>
      <dgm:spPr/>
      <dgm:t>
        <a:bodyPr/>
        <a:lstStyle/>
        <a:p>
          <a:endParaRPr lang="en-IN"/>
        </a:p>
      </dgm:t>
    </dgm:pt>
    <dgm:pt modelId="{E0DF9165-04CD-41E1-9E71-F58552CC899C}" type="sibTrans" cxnId="{06AA226A-5E08-4640-85B0-85EB0B4CA56F}">
      <dgm:prSet/>
      <dgm:spPr/>
      <dgm:t>
        <a:bodyPr/>
        <a:lstStyle/>
        <a:p>
          <a:endParaRPr lang="en-IN"/>
        </a:p>
      </dgm:t>
    </dgm:pt>
    <dgm:pt modelId="{6E7B57E6-324B-4E39-9EC2-14E8110B5781}">
      <dgm:prSet phldrT="[Text]" custT="1"/>
      <dgm:spPr/>
      <dgm:t>
        <a:bodyPr/>
        <a:lstStyle/>
        <a:p>
          <a:pPr>
            <a:lnSpc>
              <a:spcPct val="150000"/>
            </a:lnSpc>
          </a:pPr>
          <a:r>
            <a:rPr lang="en-IN" sz="1200" dirty="0" smtClean="0">
              <a:latin typeface="+mn-lt"/>
            </a:rPr>
            <a:t>Data Blending</a:t>
          </a:r>
          <a:endParaRPr lang="en-IN" sz="1200" dirty="0">
            <a:latin typeface="+mn-lt"/>
          </a:endParaRPr>
        </a:p>
      </dgm:t>
    </dgm:pt>
    <dgm:pt modelId="{FD11672F-D28A-44A9-B7C3-EEE7A4176C65}" type="parTrans" cxnId="{59CBFFE1-3F07-46F3-AA1B-A410A846A299}">
      <dgm:prSet/>
      <dgm:spPr/>
      <dgm:t>
        <a:bodyPr/>
        <a:lstStyle/>
        <a:p>
          <a:endParaRPr lang="en-IN"/>
        </a:p>
      </dgm:t>
    </dgm:pt>
    <dgm:pt modelId="{2CD25E78-08B8-4EFB-B295-DA7ED1A0D1F1}" type="sibTrans" cxnId="{59CBFFE1-3F07-46F3-AA1B-A410A846A299}">
      <dgm:prSet/>
      <dgm:spPr/>
      <dgm:t>
        <a:bodyPr/>
        <a:lstStyle/>
        <a:p>
          <a:endParaRPr lang="en-IN"/>
        </a:p>
      </dgm:t>
    </dgm:pt>
    <dgm:pt modelId="{F843B4F9-A006-4A94-BE89-F11BCB39C476}">
      <dgm:prSet phldrT="[Text]" custT="1"/>
      <dgm:spPr/>
      <dgm:t>
        <a:bodyPr/>
        <a:lstStyle/>
        <a:p>
          <a:pPr>
            <a:lnSpc>
              <a:spcPct val="150000"/>
            </a:lnSpc>
          </a:pPr>
          <a:r>
            <a:rPr lang="en-IN" sz="1200" dirty="0" smtClean="0">
              <a:latin typeface="+mn-lt"/>
            </a:rPr>
            <a:t>Tableau Server</a:t>
          </a:r>
          <a:endParaRPr lang="en-IN" sz="1200" dirty="0">
            <a:latin typeface="+mn-lt"/>
          </a:endParaRPr>
        </a:p>
      </dgm:t>
    </dgm:pt>
    <dgm:pt modelId="{BC50A56A-44A5-46DB-B784-A94391EB5ECB}" type="parTrans" cxnId="{7416B58D-3872-47BF-ABEE-6F9D3E3937CC}">
      <dgm:prSet/>
      <dgm:spPr/>
      <dgm:t>
        <a:bodyPr/>
        <a:lstStyle/>
        <a:p>
          <a:endParaRPr lang="en-IN"/>
        </a:p>
      </dgm:t>
    </dgm:pt>
    <dgm:pt modelId="{A96F53D7-A539-492E-9125-46F5BE99C9D7}" type="sibTrans" cxnId="{7416B58D-3872-47BF-ABEE-6F9D3E3937CC}">
      <dgm:prSet/>
      <dgm:spPr/>
      <dgm:t>
        <a:bodyPr/>
        <a:lstStyle/>
        <a:p>
          <a:endParaRPr lang="en-IN"/>
        </a:p>
      </dgm:t>
    </dgm:pt>
    <dgm:pt modelId="{3FF378B2-9549-47CD-8100-524281C899C5}">
      <dgm:prSet custT="1"/>
      <dgm:spPr/>
      <dgm:t>
        <a:bodyPr/>
        <a:lstStyle/>
        <a:p>
          <a:pPr>
            <a:lnSpc>
              <a:spcPct val="150000"/>
            </a:lnSpc>
          </a:pPr>
          <a:r>
            <a:rPr lang="en-IN" sz="1200" dirty="0" smtClean="0">
              <a:latin typeface="+mn-lt"/>
            </a:rPr>
            <a:t>Calculated Fields - Demo</a:t>
          </a:r>
        </a:p>
      </dgm:t>
    </dgm:pt>
    <dgm:pt modelId="{DFE9EDF8-38C0-4C82-ACC6-540E7EB51AFD}" type="parTrans" cxnId="{D8049762-ACFC-4C1E-8F0F-CD396C0CB8B2}">
      <dgm:prSet/>
      <dgm:spPr/>
      <dgm:t>
        <a:bodyPr/>
        <a:lstStyle/>
        <a:p>
          <a:endParaRPr lang="en-IN"/>
        </a:p>
      </dgm:t>
    </dgm:pt>
    <dgm:pt modelId="{47174EDC-9021-49EA-B3FE-15AEFE135A36}" type="sibTrans" cxnId="{D8049762-ACFC-4C1E-8F0F-CD396C0CB8B2}">
      <dgm:prSet/>
      <dgm:spPr/>
      <dgm:t>
        <a:bodyPr/>
        <a:lstStyle/>
        <a:p>
          <a:endParaRPr lang="en-IN"/>
        </a:p>
      </dgm:t>
    </dgm:pt>
    <dgm:pt modelId="{140366CE-2CA0-4F9F-9D79-39CDE39F2E15}">
      <dgm:prSet custT="1"/>
      <dgm:spPr/>
      <dgm:t>
        <a:bodyPr/>
        <a:lstStyle/>
        <a:p>
          <a:pPr>
            <a:lnSpc>
              <a:spcPct val="150000"/>
            </a:lnSpc>
          </a:pPr>
          <a:r>
            <a:rPr lang="en-IN" sz="1200" dirty="0" smtClean="0">
              <a:latin typeface="+mn-lt"/>
            </a:rPr>
            <a:t>Filters - Demo</a:t>
          </a:r>
        </a:p>
      </dgm:t>
    </dgm:pt>
    <dgm:pt modelId="{5391AD59-F213-4C7A-968A-7FC943D9F1D7}" type="parTrans" cxnId="{3D5FAE87-87B2-499D-B57C-CDF1597F7A96}">
      <dgm:prSet/>
      <dgm:spPr/>
      <dgm:t>
        <a:bodyPr/>
        <a:lstStyle/>
        <a:p>
          <a:endParaRPr lang="en-IN"/>
        </a:p>
      </dgm:t>
    </dgm:pt>
    <dgm:pt modelId="{394FEC42-A574-440D-B370-B1879BB5F7CE}" type="sibTrans" cxnId="{3D5FAE87-87B2-499D-B57C-CDF1597F7A96}">
      <dgm:prSet/>
      <dgm:spPr/>
      <dgm:t>
        <a:bodyPr/>
        <a:lstStyle/>
        <a:p>
          <a:endParaRPr lang="en-IN"/>
        </a:p>
      </dgm:t>
    </dgm:pt>
    <dgm:pt modelId="{25C17452-017B-4CF6-A7B9-6C931DFF22E5}">
      <dgm:prSet custT="1"/>
      <dgm:spPr/>
      <dgm:t>
        <a:bodyPr/>
        <a:lstStyle/>
        <a:p>
          <a:pPr>
            <a:lnSpc>
              <a:spcPct val="150000"/>
            </a:lnSpc>
          </a:pPr>
          <a:r>
            <a:rPr lang="en-IN" sz="1200" dirty="0" smtClean="0">
              <a:latin typeface="+mn-lt"/>
            </a:rPr>
            <a:t>Sets - Demo</a:t>
          </a:r>
        </a:p>
      </dgm:t>
    </dgm:pt>
    <dgm:pt modelId="{1CE0105A-233F-4E59-8CB7-C8F2E01ECCDD}" type="parTrans" cxnId="{31A40B9E-A1FB-4BE4-B197-902746579855}">
      <dgm:prSet/>
      <dgm:spPr/>
      <dgm:t>
        <a:bodyPr/>
        <a:lstStyle/>
        <a:p>
          <a:endParaRPr lang="en-IN"/>
        </a:p>
      </dgm:t>
    </dgm:pt>
    <dgm:pt modelId="{AFDE72CA-5954-4602-BCDD-6916F4CD7ADA}" type="sibTrans" cxnId="{31A40B9E-A1FB-4BE4-B197-902746579855}">
      <dgm:prSet/>
      <dgm:spPr/>
      <dgm:t>
        <a:bodyPr/>
        <a:lstStyle/>
        <a:p>
          <a:endParaRPr lang="en-IN"/>
        </a:p>
      </dgm:t>
    </dgm:pt>
    <dgm:pt modelId="{1C27A590-D700-4F93-B856-B8178ECB6A7B}">
      <dgm:prSet custT="1"/>
      <dgm:spPr/>
      <dgm:t>
        <a:bodyPr/>
        <a:lstStyle/>
        <a:p>
          <a:pPr>
            <a:lnSpc>
              <a:spcPct val="150000"/>
            </a:lnSpc>
          </a:pPr>
          <a:r>
            <a:rPr lang="en-IN" sz="1200" dirty="0" smtClean="0">
              <a:latin typeface="+mn-lt"/>
            </a:rPr>
            <a:t>Grouping/Hierarchy - Demo</a:t>
          </a:r>
        </a:p>
      </dgm:t>
    </dgm:pt>
    <dgm:pt modelId="{22304FA6-BCA3-427E-95AB-5118721C0A84}" type="parTrans" cxnId="{DE012964-6AD7-4C17-B209-F34AD73706A4}">
      <dgm:prSet/>
      <dgm:spPr/>
      <dgm:t>
        <a:bodyPr/>
        <a:lstStyle/>
        <a:p>
          <a:endParaRPr lang="en-IN"/>
        </a:p>
      </dgm:t>
    </dgm:pt>
    <dgm:pt modelId="{E7F0F039-6998-44E7-BD21-889EB0170CA6}" type="sibTrans" cxnId="{DE012964-6AD7-4C17-B209-F34AD73706A4}">
      <dgm:prSet/>
      <dgm:spPr/>
      <dgm:t>
        <a:bodyPr/>
        <a:lstStyle/>
        <a:p>
          <a:endParaRPr lang="en-IN"/>
        </a:p>
      </dgm:t>
    </dgm:pt>
    <dgm:pt modelId="{DA40E7F0-6C0E-4D4A-89E6-A6D95162C682}">
      <dgm:prSet custT="1"/>
      <dgm:spPr/>
      <dgm:t>
        <a:bodyPr/>
        <a:lstStyle/>
        <a:p>
          <a:pPr>
            <a:lnSpc>
              <a:spcPct val="150000"/>
            </a:lnSpc>
          </a:pPr>
          <a:r>
            <a:rPr lang="en-IN" sz="1200" dirty="0" smtClean="0">
              <a:latin typeface="+mn-lt"/>
            </a:rPr>
            <a:t>Parameter - Demo</a:t>
          </a:r>
        </a:p>
      </dgm:t>
    </dgm:pt>
    <dgm:pt modelId="{4DC282A2-B710-48DE-AA14-D2A4E510D4A2}" type="parTrans" cxnId="{472CA873-7437-4745-8AA1-2E12F6DFDF91}">
      <dgm:prSet/>
      <dgm:spPr/>
      <dgm:t>
        <a:bodyPr/>
        <a:lstStyle/>
        <a:p>
          <a:endParaRPr lang="en-IN"/>
        </a:p>
      </dgm:t>
    </dgm:pt>
    <dgm:pt modelId="{9F6399F9-C60E-4EB3-8D65-A8449EE34A48}" type="sibTrans" cxnId="{472CA873-7437-4745-8AA1-2E12F6DFDF91}">
      <dgm:prSet/>
      <dgm:spPr/>
      <dgm:t>
        <a:bodyPr/>
        <a:lstStyle/>
        <a:p>
          <a:endParaRPr lang="en-IN"/>
        </a:p>
      </dgm:t>
    </dgm:pt>
    <dgm:pt modelId="{31E28D88-1EBC-4050-A088-D4D553FDF552}">
      <dgm:prSet custT="1"/>
      <dgm:spPr/>
      <dgm:t>
        <a:bodyPr/>
        <a:lstStyle/>
        <a:p>
          <a:pPr>
            <a:lnSpc>
              <a:spcPct val="150000"/>
            </a:lnSpc>
          </a:pPr>
          <a:r>
            <a:rPr lang="en-IN" sz="1200" dirty="0" smtClean="0">
              <a:latin typeface="+mn-lt"/>
            </a:rPr>
            <a:t>Windows Function/Table Calculation - Demo</a:t>
          </a:r>
        </a:p>
      </dgm:t>
    </dgm:pt>
    <dgm:pt modelId="{2F5EA045-FCE4-4B0E-92EC-C6B6731C54DB}" type="parTrans" cxnId="{E79FBEF0-059F-4DEC-8171-90075D94A3B1}">
      <dgm:prSet/>
      <dgm:spPr/>
      <dgm:t>
        <a:bodyPr/>
        <a:lstStyle/>
        <a:p>
          <a:endParaRPr lang="en-IN"/>
        </a:p>
      </dgm:t>
    </dgm:pt>
    <dgm:pt modelId="{9F4CB62A-A162-4EF8-8CF1-DEEE5370EAE4}" type="sibTrans" cxnId="{E79FBEF0-059F-4DEC-8171-90075D94A3B1}">
      <dgm:prSet/>
      <dgm:spPr/>
      <dgm:t>
        <a:bodyPr/>
        <a:lstStyle/>
        <a:p>
          <a:endParaRPr lang="en-IN"/>
        </a:p>
      </dgm:t>
    </dgm:pt>
    <dgm:pt modelId="{2320D5AF-B4E9-430F-9D7E-31D01DB16CE6}">
      <dgm:prSet custT="1"/>
      <dgm:spPr/>
      <dgm:t>
        <a:bodyPr/>
        <a:lstStyle/>
        <a:p>
          <a:pPr>
            <a:lnSpc>
              <a:spcPct val="150000"/>
            </a:lnSpc>
          </a:pPr>
          <a:r>
            <a:rPr lang="en-IN" sz="1200" dirty="0" smtClean="0">
              <a:latin typeface="+mn-lt"/>
            </a:rPr>
            <a:t>Dual Axis - Demo</a:t>
          </a:r>
        </a:p>
      </dgm:t>
    </dgm:pt>
    <dgm:pt modelId="{6EE0CCD1-D0A8-4A13-987B-C4F8B3847D76}" type="parTrans" cxnId="{94A4FFFD-CF93-4582-A516-AD899BB355E8}">
      <dgm:prSet/>
      <dgm:spPr/>
      <dgm:t>
        <a:bodyPr/>
        <a:lstStyle/>
        <a:p>
          <a:endParaRPr lang="en-IN"/>
        </a:p>
      </dgm:t>
    </dgm:pt>
    <dgm:pt modelId="{AF78C61C-0D15-4905-A196-15CBE6C74FF7}" type="sibTrans" cxnId="{94A4FFFD-CF93-4582-A516-AD899BB355E8}">
      <dgm:prSet/>
      <dgm:spPr/>
      <dgm:t>
        <a:bodyPr/>
        <a:lstStyle/>
        <a:p>
          <a:endParaRPr lang="en-IN"/>
        </a:p>
      </dgm:t>
    </dgm:pt>
    <dgm:pt modelId="{74ED1DB8-6A8E-4B59-AE17-A11121E1D112}">
      <dgm:prSet custT="1"/>
      <dgm:spPr/>
      <dgm:t>
        <a:bodyPr/>
        <a:lstStyle/>
        <a:p>
          <a:pPr>
            <a:lnSpc>
              <a:spcPct val="150000"/>
            </a:lnSpc>
          </a:pPr>
          <a:r>
            <a:rPr lang="en-IN" sz="1200" dirty="0" smtClean="0">
              <a:latin typeface="+mn-lt"/>
            </a:rPr>
            <a:t>Data Blending - Demo</a:t>
          </a:r>
        </a:p>
      </dgm:t>
    </dgm:pt>
    <dgm:pt modelId="{D598C4D2-328B-468D-A44A-D0BB5B12A6D6}" type="parTrans" cxnId="{871FA83D-AB0E-4A55-A5B6-5E1355C204A1}">
      <dgm:prSet/>
      <dgm:spPr/>
      <dgm:t>
        <a:bodyPr/>
        <a:lstStyle/>
        <a:p>
          <a:endParaRPr lang="en-IN"/>
        </a:p>
      </dgm:t>
    </dgm:pt>
    <dgm:pt modelId="{ADE581FD-1988-4FC3-B76A-5F14C3C250BA}" type="sibTrans" cxnId="{871FA83D-AB0E-4A55-A5B6-5E1355C204A1}">
      <dgm:prSet/>
      <dgm:spPr/>
      <dgm:t>
        <a:bodyPr/>
        <a:lstStyle/>
        <a:p>
          <a:endParaRPr lang="en-IN"/>
        </a:p>
      </dgm:t>
    </dgm:pt>
    <dgm:pt modelId="{15A37FB0-0B85-41DE-AC05-1E42A66F0641}">
      <dgm:prSet custT="1"/>
      <dgm:spPr/>
      <dgm:t>
        <a:bodyPr/>
        <a:lstStyle/>
        <a:p>
          <a:pPr>
            <a:lnSpc>
              <a:spcPct val="150000"/>
            </a:lnSpc>
          </a:pPr>
          <a:r>
            <a:rPr lang="en-IN" sz="1200" dirty="0" smtClean="0">
              <a:latin typeface="+mn-lt"/>
            </a:rPr>
            <a:t>Tableau Server - Demo</a:t>
          </a:r>
        </a:p>
      </dgm:t>
    </dgm:pt>
    <dgm:pt modelId="{B2843F00-3261-4CD1-B2CB-7A10726DBCB1}" type="parTrans" cxnId="{E065E7C3-9EC0-4487-9FA6-F85C248FFDCE}">
      <dgm:prSet/>
      <dgm:spPr/>
      <dgm:t>
        <a:bodyPr/>
        <a:lstStyle/>
        <a:p>
          <a:endParaRPr lang="en-IN"/>
        </a:p>
      </dgm:t>
    </dgm:pt>
    <dgm:pt modelId="{42B0C14B-1B30-4767-B6C6-9366922F02EF}" type="sibTrans" cxnId="{E065E7C3-9EC0-4487-9FA6-F85C248FFDCE}">
      <dgm:prSet/>
      <dgm:spPr/>
      <dgm:t>
        <a:bodyPr/>
        <a:lstStyle/>
        <a:p>
          <a:endParaRPr lang="en-IN"/>
        </a:p>
      </dgm:t>
    </dgm:pt>
    <dgm:pt modelId="{F926C490-8CB7-4C6D-A98C-4DA8AD0DF59A}">
      <dgm:prSet custT="1"/>
      <dgm:spPr/>
      <dgm:t>
        <a:bodyPr/>
        <a:lstStyle/>
        <a:p>
          <a:pPr>
            <a:lnSpc>
              <a:spcPct val="150000"/>
            </a:lnSpc>
          </a:pPr>
          <a:endParaRPr lang="en-IN" sz="1200" dirty="0" smtClean="0">
            <a:latin typeface="+mn-lt"/>
          </a:endParaRPr>
        </a:p>
      </dgm:t>
    </dgm:pt>
    <dgm:pt modelId="{D8FE561E-8D0A-4D00-9975-00CAF0CF35F5}" type="parTrans" cxnId="{6B1780E9-6C3C-404C-ADD1-CF0A6A2AE497}">
      <dgm:prSet/>
      <dgm:spPr/>
      <dgm:t>
        <a:bodyPr/>
        <a:lstStyle/>
        <a:p>
          <a:endParaRPr lang="en-IN"/>
        </a:p>
      </dgm:t>
    </dgm:pt>
    <dgm:pt modelId="{F8E8A61A-4650-4336-825F-DAF512B66CB9}" type="sibTrans" cxnId="{6B1780E9-6C3C-404C-ADD1-CF0A6A2AE497}">
      <dgm:prSet/>
      <dgm:spPr/>
      <dgm:t>
        <a:bodyPr/>
        <a:lstStyle/>
        <a:p>
          <a:endParaRPr lang="en-IN"/>
        </a:p>
      </dgm:t>
    </dgm:pt>
    <dgm:pt modelId="{E756D5B7-3371-4BDD-A73C-30D9F385DBBF}">
      <dgm:prSet custT="1"/>
      <dgm:spPr/>
      <dgm:t>
        <a:bodyPr/>
        <a:lstStyle/>
        <a:p>
          <a:pPr>
            <a:lnSpc>
              <a:spcPct val="150000"/>
            </a:lnSpc>
          </a:pPr>
          <a:endParaRPr lang="en-IN" sz="1200" dirty="0" smtClean="0">
            <a:latin typeface="+mn-lt"/>
          </a:endParaRPr>
        </a:p>
      </dgm:t>
    </dgm:pt>
    <dgm:pt modelId="{5AED9A2C-8986-4672-918B-B4594268D1D9}" type="parTrans" cxnId="{AC98BBF3-C0F0-4A35-98E0-DDD0E51571AD}">
      <dgm:prSet/>
      <dgm:spPr/>
      <dgm:t>
        <a:bodyPr/>
        <a:lstStyle/>
        <a:p>
          <a:endParaRPr lang="en-IN"/>
        </a:p>
      </dgm:t>
    </dgm:pt>
    <dgm:pt modelId="{F53570D4-D091-44E8-908B-2CA12B251B71}" type="sibTrans" cxnId="{AC98BBF3-C0F0-4A35-98E0-DDD0E51571AD}">
      <dgm:prSet/>
      <dgm:spPr/>
      <dgm:t>
        <a:bodyPr/>
        <a:lstStyle/>
        <a:p>
          <a:endParaRPr lang="en-IN"/>
        </a:p>
      </dgm:t>
    </dgm:pt>
    <dgm:pt modelId="{354C3EE2-A311-4391-9E5E-6D04FDE5E026}">
      <dgm:prSet phldrT="[Text]" custT="1"/>
      <dgm:spPr/>
      <dgm:t>
        <a:bodyPr/>
        <a:lstStyle/>
        <a:p>
          <a:pPr>
            <a:lnSpc>
              <a:spcPct val="150000"/>
            </a:lnSpc>
          </a:pPr>
          <a:r>
            <a:rPr lang="en-IN" sz="1200" dirty="0" smtClean="0">
              <a:latin typeface="+mn-lt"/>
            </a:rPr>
            <a:t>Dimensions vs Measures</a:t>
          </a:r>
          <a:endParaRPr lang="en-IN" sz="1200" dirty="0">
            <a:latin typeface="+mn-lt"/>
          </a:endParaRPr>
        </a:p>
      </dgm:t>
    </dgm:pt>
    <dgm:pt modelId="{160F350F-0BB8-434F-8E92-B0975E584427}" type="parTrans" cxnId="{B0E4C690-4E02-4A98-84B9-E34F5A572F49}">
      <dgm:prSet/>
      <dgm:spPr/>
    </dgm:pt>
    <dgm:pt modelId="{3AC9B714-3965-40A9-ABDB-8F1C75349BEE}" type="sibTrans" cxnId="{B0E4C690-4E02-4A98-84B9-E34F5A572F49}">
      <dgm:prSet/>
      <dgm:spPr/>
    </dgm:pt>
    <dgm:pt modelId="{7BFE6694-9C3B-48D0-8AB2-12CEB71B9C1B}" type="pres">
      <dgm:prSet presAssocID="{AAFCB63B-4EC6-4203-8019-3E0A0737027B}" presName="Name0" presStyleCnt="0">
        <dgm:presLayoutVars>
          <dgm:dir/>
          <dgm:animLvl val="lvl"/>
          <dgm:resizeHandles val="exact"/>
        </dgm:presLayoutVars>
      </dgm:prSet>
      <dgm:spPr/>
      <dgm:t>
        <a:bodyPr/>
        <a:lstStyle/>
        <a:p>
          <a:endParaRPr lang="en-IN"/>
        </a:p>
      </dgm:t>
    </dgm:pt>
    <dgm:pt modelId="{1C610709-0DEF-476F-B033-005D03D5589A}" type="pres">
      <dgm:prSet presAssocID="{3F8CF0E7-E900-454B-83E3-248F1507889F}" presName="composite" presStyleCnt="0"/>
      <dgm:spPr/>
      <dgm:t>
        <a:bodyPr/>
        <a:lstStyle/>
        <a:p>
          <a:endParaRPr lang="en-IN"/>
        </a:p>
      </dgm:t>
    </dgm:pt>
    <dgm:pt modelId="{17FB0DAA-2335-4FFF-85A2-FD6A63B18BE6}" type="pres">
      <dgm:prSet presAssocID="{3F8CF0E7-E900-454B-83E3-248F1507889F}" presName="parTx" presStyleLbl="node1" presStyleIdx="0" presStyleCnt="3" custLinFactNeighborX="-1257" custLinFactNeighborY="-2695">
        <dgm:presLayoutVars>
          <dgm:chMax val="0"/>
          <dgm:chPref val="0"/>
          <dgm:bulletEnabled val="1"/>
        </dgm:presLayoutVars>
      </dgm:prSet>
      <dgm:spPr/>
      <dgm:t>
        <a:bodyPr/>
        <a:lstStyle/>
        <a:p>
          <a:endParaRPr lang="en-IN"/>
        </a:p>
      </dgm:t>
    </dgm:pt>
    <dgm:pt modelId="{3461E5C7-0B8D-4902-BBCA-14FCF9DB3988}" type="pres">
      <dgm:prSet presAssocID="{3F8CF0E7-E900-454B-83E3-248F1507889F}" presName="desTx" presStyleLbl="revTx" presStyleIdx="0" presStyleCnt="3" custScaleX="113129" custLinFactNeighborX="7011" custLinFactNeighborY="36">
        <dgm:presLayoutVars>
          <dgm:bulletEnabled val="1"/>
        </dgm:presLayoutVars>
      </dgm:prSet>
      <dgm:spPr/>
      <dgm:t>
        <a:bodyPr/>
        <a:lstStyle/>
        <a:p>
          <a:endParaRPr lang="en-IN"/>
        </a:p>
      </dgm:t>
    </dgm:pt>
    <dgm:pt modelId="{5676B859-4C75-4317-AB5D-E577769FCEFE}" type="pres">
      <dgm:prSet presAssocID="{CFE4CC5F-1628-4DF3-8821-0230FD2533B3}" presName="space" presStyleCnt="0"/>
      <dgm:spPr/>
      <dgm:t>
        <a:bodyPr/>
        <a:lstStyle/>
        <a:p>
          <a:endParaRPr lang="en-IN"/>
        </a:p>
      </dgm:t>
    </dgm:pt>
    <dgm:pt modelId="{D2EBA113-1425-4EEA-AFFE-E35ACCF6FCAD}" type="pres">
      <dgm:prSet presAssocID="{C8810F06-213C-445F-AC47-676FB6FE993E}" presName="composite" presStyleCnt="0"/>
      <dgm:spPr/>
      <dgm:t>
        <a:bodyPr/>
        <a:lstStyle/>
        <a:p>
          <a:endParaRPr lang="en-IN"/>
        </a:p>
      </dgm:t>
    </dgm:pt>
    <dgm:pt modelId="{E9030D9D-9484-4605-94D5-34B460D6498D}" type="pres">
      <dgm:prSet presAssocID="{C8810F06-213C-445F-AC47-676FB6FE993E}" presName="parTx" presStyleLbl="node1" presStyleIdx="1" presStyleCnt="3" custScaleX="108875">
        <dgm:presLayoutVars>
          <dgm:chMax val="0"/>
          <dgm:chPref val="0"/>
          <dgm:bulletEnabled val="1"/>
        </dgm:presLayoutVars>
      </dgm:prSet>
      <dgm:spPr/>
      <dgm:t>
        <a:bodyPr/>
        <a:lstStyle/>
        <a:p>
          <a:endParaRPr lang="en-IN"/>
        </a:p>
      </dgm:t>
    </dgm:pt>
    <dgm:pt modelId="{A5544F3B-9912-444D-AE48-8298C593554E}" type="pres">
      <dgm:prSet presAssocID="{C8810F06-213C-445F-AC47-676FB6FE993E}" presName="desTx" presStyleLbl="revTx" presStyleIdx="1" presStyleCnt="3">
        <dgm:presLayoutVars>
          <dgm:bulletEnabled val="1"/>
        </dgm:presLayoutVars>
      </dgm:prSet>
      <dgm:spPr/>
      <dgm:t>
        <a:bodyPr/>
        <a:lstStyle/>
        <a:p>
          <a:endParaRPr lang="en-IN"/>
        </a:p>
      </dgm:t>
    </dgm:pt>
    <dgm:pt modelId="{46AB7876-AE8C-40BA-BA24-EF7F635D1F45}" type="pres">
      <dgm:prSet presAssocID="{78EB736B-6DD2-4E00-A188-7C3A612A2E16}" presName="space" presStyleCnt="0"/>
      <dgm:spPr/>
      <dgm:t>
        <a:bodyPr/>
        <a:lstStyle/>
        <a:p>
          <a:endParaRPr lang="en-IN"/>
        </a:p>
      </dgm:t>
    </dgm:pt>
    <dgm:pt modelId="{8D7EFE08-BE50-4FE6-942B-A52688B5B04D}" type="pres">
      <dgm:prSet presAssocID="{AE69498D-51E7-4A3E-8D75-7FDE7CE1AD52}" presName="composite" presStyleCnt="0"/>
      <dgm:spPr/>
      <dgm:t>
        <a:bodyPr/>
        <a:lstStyle/>
        <a:p>
          <a:endParaRPr lang="en-IN"/>
        </a:p>
      </dgm:t>
    </dgm:pt>
    <dgm:pt modelId="{EF7FB9FD-6151-4F6D-8B29-B451B3816276}" type="pres">
      <dgm:prSet presAssocID="{AE69498D-51E7-4A3E-8D75-7FDE7CE1AD52}" presName="parTx" presStyleLbl="node1" presStyleIdx="2" presStyleCnt="3">
        <dgm:presLayoutVars>
          <dgm:chMax val="0"/>
          <dgm:chPref val="0"/>
          <dgm:bulletEnabled val="1"/>
        </dgm:presLayoutVars>
      </dgm:prSet>
      <dgm:spPr/>
      <dgm:t>
        <a:bodyPr/>
        <a:lstStyle/>
        <a:p>
          <a:endParaRPr lang="en-IN"/>
        </a:p>
      </dgm:t>
    </dgm:pt>
    <dgm:pt modelId="{1A8C7EE1-BE46-48D8-BC96-CAD6E9B6E131}" type="pres">
      <dgm:prSet presAssocID="{AE69498D-51E7-4A3E-8D75-7FDE7CE1AD52}" presName="desTx" presStyleLbl="revTx" presStyleIdx="2" presStyleCnt="3">
        <dgm:presLayoutVars>
          <dgm:bulletEnabled val="1"/>
        </dgm:presLayoutVars>
      </dgm:prSet>
      <dgm:spPr/>
      <dgm:t>
        <a:bodyPr/>
        <a:lstStyle/>
        <a:p>
          <a:endParaRPr lang="en-IN"/>
        </a:p>
      </dgm:t>
    </dgm:pt>
  </dgm:ptLst>
  <dgm:cxnLst>
    <dgm:cxn modelId="{D253DA4F-2819-493E-B741-766D4EA49B2D}" srcId="{3F8CF0E7-E900-454B-83E3-248F1507889F}" destId="{260F7D89-E81B-4912-A825-AC6573407B57}" srcOrd="1" destOrd="0" parTransId="{E771E6E7-FA30-433D-836F-BFEB609128D7}" sibTransId="{0407B7A7-89D6-40B2-9546-848CC4C3A368}"/>
    <dgm:cxn modelId="{94A4FFFD-CF93-4582-A516-AD899BB355E8}" srcId="{AE69498D-51E7-4A3E-8D75-7FDE7CE1AD52}" destId="{2320D5AF-B4E9-430F-9D7E-31D01DB16CE6}" srcOrd="7" destOrd="0" parTransId="{6EE0CCD1-D0A8-4A13-987B-C4F8B3847D76}" sibTransId="{AF78C61C-0D15-4905-A196-15CBE6C74FF7}"/>
    <dgm:cxn modelId="{A28CD6FF-9878-4FE1-9829-8A24CAEED834}" type="presOf" srcId="{6DE9AA55-0E62-44B9-BE0E-98D4CC76F0A5}" destId="{A5544F3B-9912-444D-AE48-8298C593554E}" srcOrd="0" destOrd="7" presId="urn:microsoft.com/office/officeart/2005/8/layout/chevron1"/>
    <dgm:cxn modelId="{174D3EC4-BF42-48B4-8D83-F87700A75EE6}" type="presOf" srcId="{25C17452-017B-4CF6-A7B9-6C931DFF22E5}" destId="{1A8C7EE1-BE46-48D8-BC96-CAD6E9B6E131}" srcOrd="0" destOrd="3" presId="urn:microsoft.com/office/officeart/2005/8/layout/chevron1"/>
    <dgm:cxn modelId="{3EBB4902-C5C6-4F19-B6E8-9429D4253EBB}" srcId="{C8810F06-213C-445F-AC47-676FB6FE993E}" destId="{6DE9AA55-0E62-44B9-BE0E-98D4CC76F0A5}" srcOrd="7" destOrd="0" parTransId="{8165431E-0927-4EA1-B4E9-9D44459DB9A3}" sibTransId="{3F587F2D-356C-46F3-956C-EA1202C309F2}"/>
    <dgm:cxn modelId="{A94E1029-172B-4A26-BCF0-14C0F8B78CC0}" type="presOf" srcId="{AAFCB63B-4EC6-4203-8019-3E0A0737027B}" destId="{7BFE6694-9C3B-48D0-8AB2-12CEB71B9C1B}" srcOrd="0" destOrd="0" presId="urn:microsoft.com/office/officeart/2005/8/layout/chevron1"/>
    <dgm:cxn modelId="{E79FBEF0-059F-4DEC-8171-90075D94A3B1}" srcId="{AE69498D-51E7-4A3E-8D75-7FDE7CE1AD52}" destId="{31E28D88-1EBC-4050-A088-D4D553FDF552}" srcOrd="6" destOrd="0" parTransId="{2F5EA045-FCE4-4B0E-92EC-C6B6731C54DB}" sibTransId="{9F4CB62A-A162-4EF8-8CF1-DEEE5370EAE4}"/>
    <dgm:cxn modelId="{871FA83D-AB0E-4A55-A5B6-5E1355C204A1}" srcId="{AE69498D-51E7-4A3E-8D75-7FDE7CE1AD52}" destId="{74ED1DB8-6A8E-4B59-AE17-A11121E1D112}" srcOrd="8" destOrd="0" parTransId="{D598C4D2-328B-468D-A44A-D0BB5B12A6D6}" sibTransId="{ADE581FD-1988-4FC3-B76A-5F14C3C250BA}"/>
    <dgm:cxn modelId="{A7E34C8B-B43D-461D-AB32-D3092D0CC511}" type="presOf" srcId="{E0D33851-5D7F-4FF0-A5F3-38BE0F17B46F}" destId="{A5544F3B-9912-444D-AE48-8298C593554E}" srcOrd="0" destOrd="8" presId="urn:microsoft.com/office/officeart/2005/8/layout/chevron1"/>
    <dgm:cxn modelId="{386780C5-2C14-4C44-9333-AF7285497FDA}" srcId="{C8810F06-213C-445F-AC47-676FB6FE993E}" destId="{4D374905-B996-478B-93BA-D111804FFFF1}" srcOrd="12" destOrd="0" parTransId="{F29DAF05-E7DE-4B30-80FC-D953AD34B252}" sibTransId="{D44901E6-D455-4FA3-84FE-AB9B6367ADEE}"/>
    <dgm:cxn modelId="{8F39200E-2F22-449F-9E64-71C955365237}" type="presOf" srcId="{0A717A2E-4DD9-4C33-B2BB-CB7E12941A3C}" destId="{3461E5C7-0B8D-4902-BBCA-14FCF9DB3988}" srcOrd="0" destOrd="0" presId="urn:microsoft.com/office/officeart/2005/8/layout/chevron1"/>
    <dgm:cxn modelId="{0F68F021-F42C-4DF0-8A01-7B1F17083572}" type="presOf" srcId="{A3977A60-6DCA-47C9-8E64-0C9E2925FDCD}" destId="{3461E5C7-0B8D-4902-BBCA-14FCF9DB3988}" srcOrd="0" destOrd="3" presId="urn:microsoft.com/office/officeart/2005/8/layout/chevron1"/>
    <dgm:cxn modelId="{05AC921E-03A1-4108-A97F-BC7C6EBD1317}" srcId="{AE69498D-51E7-4A3E-8D75-7FDE7CE1AD52}" destId="{E5EAE2F6-AA89-447E-94AA-7258F3CEE4CD}" srcOrd="0" destOrd="0" parTransId="{EF4BAB5C-E116-4D8C-BEF0-04B227008A37}" sibTransId="{4EBB6A94-C4BC-4EA3-9BC5-DF17283F8205}"/>
    <dgm:cxn modelId="{B0E4C690-4E02-4A98-84B9-E34F5A572F49}" srcId="{C8810F06-213C-445F-AC47-676FB6FE993E}" destId="{354C3EE2-A311-4391-9E5E-6D04FDE5E026}" srcOrd="2" destOrd="0" parTransId="{160F350F-0BB8-434F-8E92-B0975E584427}" sibTransId="{3AC9B714-3965-40A9-ABDB-8F1C75349BEE}"/>
    <dgm:cxn modelId="{3F9C0468-28C0-4883-A3ED-471574BB82FE}" type="presOf" srcId="{0874CC3E-03FB-4A29-AC00-A22BA746D4CB}" destId="{A5544F3B-9912-444D-AE48-8298C593554E}" srcOrd="0" destOrd="0" presId="urn:microsoft.com/office/officeart/2005/8/layout/chevron1"/>
    <dgm:cxn modelId="{AC98BBF3-C0F0-4A35-98E0-DDD0E51571AD}" srcId="{AE69498D-51E7-4A3E-8D75-7FDE7CE1AD52}" destId="{E756D5B7-3371-4BDD-A73C-30D9F385DBBF}" srcOrd="11" destOrd="0" parTransId="{5AED9A2C-8986-4672-918B-B4594268D1D9}" sibTransId="{F53570D4-D091-44E8-908B-2CA12B251B71}"/>
    <dgm:cxn modelId="{47B3CC70-0535-4ED4-8C49-121D8A85D071}" srcId="{C8810F06-213C-445F-AC47-676FB6FE993E}" destId="{D936B546-A854-4230-A2AF-5B2CF2043585}" srcOrd="3" destOrd="0" parTransId="{C32E92D2-47FD-47AC-A5C2-80616DC50A12}" sibTransId="{EB9D118A-FB6E-42A7-9454-1183A3A7DFC4}"/>
    <dgm:cxn modelId="{78C970F8-4AE0-48BE-8B00-8FAD0DCF9154}" srcId="{C8810F06-213C-445F-AC47-676FB6FE993E}" destId="{927B5A23-E503-4778-B7F1-90AC16B2196B}" srcOrd="6" destOrd="0" parTransId="{2E793C48-78AE-4D3B-B72F-BC041748757B}" sibTransId="{63A10AE4-99A4-49C8-836B-394C7E4033F8}"/>
    <dgm:cxn modelId="{E472120B-14C1-469E-ACD8-F25394A85A3A}" type="presOf" srcId="{354C3EE2-A311-4391-9E5E-6D04FDE5E026}" destId="{A5544F3B-9912-444D-AE48-8298C593554E}" srcOrd="0" destOrd="2" presId="urn:microsoft.com/office/officeart/2005/8/layout/chevron1"/>
    <dgm:cxn modelId="{29D6E7C4-8B92-4449-82C5-55E8A7ED21A2}" type="presOf" srcId="{F926C490-8CB7-4C6D-A98C-4DA8AD0DF59A}" destId="{1A8C7EE1-BE46-48D8-BC96-CAD6E9B6E131}" srcOrd="0" destOrd="10" presId="urn:microsoft.com/office/officeart/2005/8/layout/chevron1"/>
    <dgm:cxn modelId="{F536716E-CA05-4B33-AF95-E7DFCACE11D7}" type="presOf" srcId="{C8810F06-213C-445F-AC47-676FB6FE993E}" destId="{E9030D9D-9484-4605-94D5-34B460D6498D}" srcOrd="0" destOrd="0" presId="urn:microsoft.com/office/officeart/2005/8/layout/chevron1"/>
    <dgm:cxn modelId="{29BA6B78-B9EF-4E0A-BE10-D6D3D882153F}" type="presOf" srcId="{7F8DFB4A-8EFF-4037-BB6D-AAF7155FC9B2}" destId="{A5544F3B-9912-444D-AE48-8298C593554E}" srcOrd="0" destOrd="5" presId="urn:microsoft.com/office/officeart/2005/8/layout/chevron1"/>
    <dgm:cxn modelId="{318B936B-F306-4897-939F-57BC5B4169AD}" type="presOf" srcId="{AE69498D-51E7-4A3E-8D75-7FDE7CE1AD52}" destId="{EF7FB9FD-6151-4F6D-8B29-B451B3816276}" srcOrd="0" destOrd="0" presId="urn:microsoft.com/office/officeart/2005/8/layout/chevron1"/>
    <dgm:cxn modelId="{06AA226A-5E08-4640-85B0-85EB0B4CA56F}" srcId="{C8810F06-213C-445F-AC47-676FB6FE993E}" destId="{B03B328C-1551-4732-A8D5-BD81939E669F}" srcOrd="9" destOrd="0" parTransId="{D77601AD-3276-42E9-8B7D-6C9F96C2EECD}" sibTransId="{E0DF9165-04CD-41E1-9E71-F58552CC899C}"/>
    <dgm:cxn modelId="{4DC22063-F607-4A48-8498-6388BF4FBD51}" srcId="{C8810F06-213C-445F-AC47-676FB6FE993E}" destId="{F728AB3E-05B3-462C-85CB-F37A87B86BF8}" srcOrd="4" destOrd="0" parTransId="{A2E6451E-6221-4B2E-B039-CC75295665E6}" sibTransId="{EB3B2068-CAF2-4C65-89BD-9686AA998D22}"/>
    <dgm:cxn modelId="{59CBFFE1-3F07-46F3-AA1B-A410A846A299}" srcId="{C8810F06-213C-445F-AC47-676FB6FE993E}" destId="{6E7B57E6-324B-4E39-9EC2-14E8110B5781}" srcOrd="10" destOrd="0" parTransId="{FD11672F-D28A-44A9-B7C3-EEE7A4176C65}" sibTransId="{2CD25E78-08B8-4EFB-B295-DA7ED1A0D1F1}"/>
    <dgm:cxn modelId="{75107117-27B0-47EA-965B-20EB58769480}" srcId="{3F8CF0E7-E900-454B-83E3-248F1507889F}" destId="{5892A6B5-2C6A-4F69-81BA-4C7F225CA2E5}" srcOrd="2" destOrd="0" parTransId="{805FC01E-6850-414B-A396-A252756E0C74}" sibTransId="{53468AA3-736E-47C0-B396-AC19BDF89622}"/>
    <dgm:cxn modelId="{A927492A-BCD9-40A3-AC59-E122ABA9BCEA}" type="presOf" srcId="{4D374905-B996-478B-93BA-D111804FFFF1}" destId="{A5544F3B-9912-444D-AE48-8298C593554E}" srcOrd="0" destOrd="12" presId="urn:microsoft.com/office/officeart/2005/8/layout/chevron1"/>
    <dgm:cxn modelId="{1B659FCD-F5A2-4751-A956-AE889D15D9B4}" type="presOf" srcId="{1C27A590-D700-4F93-B856-B8178ECB6A7B}" destId="{1A8C7EE1-BE46-48D8-BC96-CAD6E9B6E131}" srcOrd="0" destOrd="4" presId="urn:microsoft.com/office/officeart/2005/8/layout/chevron1"/>
    <dgm:cxn modelId="{57939987-DDE6-4FF3-B3F5-7746076D1C4A}" srcId="{C8810F06-213C-445F-AC47-676FB6FE993E}" destId="{E0D33851-5D7F-4FF0-A5F3-38BE0F17B46F}" srcOrd="8" destOrd="0" parTransId="{965C2283-66A7-495A-B10B-3EC78A634C43}" sibTransId="{41C5B9CD-6696-4C7E-AC5F-48DE238147AC}"/>
    <dgm:cxn modelId="{1896174F-F6E2-4F2B-A1C6-5D1E0E1B39FD}" type="presOf" srcId="{A868B5C4-5B9D-4328-988C-0C6F29684D6A}" destId="{A5544F3B-9912-444D-AE48-8298C593554E}" srcOrd="0" destOrd="1" presId="urn:microsoft.com/office/officeart/2005/8/layout/chevron1"/>
    <dgm:cxn modelId="{41C4DA6B-60BB-45A7-9C6D-73FBDF468288}" type="presOf" srcId="{15A37FB0-0B85-41DE-AC05-1E42A66F0641}" destId="{1A8C7EE1-BE46-48D8-BC96-CAD6E9B6E131}" srcOrd="0" destOrd="9" presId="urn:microsoft.com/office/officeart/2005/8/layout/chevron1"/>
    <dgm:cxn modelId="{623EC052-7740-4730-BB22-4903BC96A847}" type="presOf" srcId="{3FF378B2-9549-47CD-8100-524281C899C5}" destId="{1A8C7EE1-BE46-48D8-BC96-CAD6E9B6E131}" srcOrd="0" destOrd="1" presId="urn:microsoft.com/office/officeart/2005/8/layout/chevron1"/>
    <dgm:cxn modelId="{F789284C-1CD4-4D54-AEF0-0EF149BDEF7D}" type="presOf" srcId="{31E28D88-1EBC-4050-A088-D4D553FDF552}" destId="{1A8C7EE1-BE46-48D8-BC96-CAD6E9B6E131}" srcOrd="0" destOrd="6" presId="urn:microsoft.com/office/officeart/2005/8/layout/chevron1"/>
    <dgm:cxn modelId="{A436D734-4FCC-4CAC-B280-93698409E8C7}" type="presOf" srcId="{260F7D89-E81B-4912-A825-AC6573407B57}" destId="{3461E5C7-0B8D-4902-BBCA-14FCF9DB3988}" srcOrd="0" destOrd="1" presId="urn:microsoft.com/office/officeart/2005/8/layout/chevron1"/>
    <dgm:cxn modelId="{139A1FBB-DEA8-41E3-96A7-B805976C5C5F}" srcId="{AAFCB63B-4EC6-4203-8019-3E0A0737027B}" destId="{3F8CF0E7-E900-454B-83E3-248F1507889F}" srcOrd="0" destOrd="0" parTransId="{C0CB509C-23B1-4B66-98D3-1D9518E740A9}" sibTransId="{CFE4CC5F-1628-4DF3-8821-0230FD2533B3}"/>
    <dgm:cxn modelId="{630A81FD-542D-479B-A0F6-C20BD89D40AA}" type="presOf" srcId="{D936B546-A854-4230-A2AF-5B2CF2043585}" destId="{A5544F3B-9912-444D-AE48-8298C593554E}" srcOrd="0" destOrd="3" presId="urn:microsoft.com/office/officeart/2005/8/layout/chevron1"/>
    <dgm:cxn modelId="{30737719-6334-4E9D-99C7-2F41C0A3E1F5}" type="presOf" srcId="{140366CE-2CA0-4F9F-9D79-39CDE39F2E15}" destId="{1A8C7EE1-BE46-48D8-BC96-CAD6E9B6E131}" srcOrd="0" destOrd="2" presId="urn:microsoft.com/office/officeart/2005/8/layout/chevron1"/>
    <dgm:cxn modelId="{6B1780E9-6C3C-404C-ADD1-CF0A6A2AE497}" srcId="{AE69498D-51E7-4A3E-8D75-7FDE7CE1AD52}" destId="{F926C490-8CB7-4C6D-A98C-4DA8AD0DF59A}" srcOrd="10" destOrd="0" parTransId="{D8FE561E-8D0A-4D00-9975-00CAF0CF35F5}" sibTransId="{F8E8A61A-4650-4336-825F-DAF512B66CB9}"/>
    <dgm:cxn modelId="{472CA873-7437-4745-8AA1-2E12F6DFDF91}" srcId="{AE69498D-51E7-4A3E-8D75-7FDE7CE1AD52}" destId="{DA40E7F0-6C0E-4D4A-89E6-A6D95162C682}" srcOrd="5" destOrd="0" parTransId="{4DC282A2-B710-48DE-AA14-D2A4E510D4A2}" sibTransId="{9F6399F9-C60E-4EB3-8D65-A8449EE34A48}"/>
    <dgm:cxn modelId="{437F592C-1B28-45BF-9DB8-AF67082A6027}" type="presOf" srcId="{2320D5AF-B4E9-430F-9D7E-31D01DB16CE6}" destId="{1A8C7EE1-BE46-48D8-BC96-CAD6E9B6E131}" srcOrd="0" destOrd="7" presId="urn:microsoft.com/office/officeart/2005/8/layout/chevron1"/>
    <dgm:cxn modelId="{9E51B9B3-DCC4-44AA-85B9-E3C8766B41FE}" srcId="{C8810F06-213C-445F-AC47-676FB6FE993E}" destId="{0874CC3E-03FB-4A29-AC00-A22BA746D4CB}" srcOrd="0" destOrd="0" parTransId="{D380F9B1-14C8-40FE-A8CD-4882B3417B6C}" sibTransId="{B000B75A-B40F-40D2-82C2-20A7654EECFF}"/>
    <dgm:cxn modelId="{19EA453B-F71A-4D20-9E19-4857D3A5BAAB}" type="presOf" srcId="{3F8CF0E7-E900-454B-83E3-248F1507889F}" destId="{17FB0DAA-2335-4FFF-85A2-FD6A63B18BE6}" srcOrd="0" destOrd="0" presId="urn:microsoft.com/office/officeart/2005/8/layout/chevron1"/>
    <dgm:cxn modelId="{31A40B9E-A1FB-4BE4-B197-902746579855}" srcId="{AE69498D-51E7-4A3E-8D75-7FDE7CE1AD52}" destId="{25C17452-017B-4CF6-A7B9-6C931DFF22E5}" srcOrd="3" destOrd="0" parTransId="{1CE0105A-233F-4E59-8CB7-C8F2E01ECCDD}" sibTransId="{AFDE72CA-5954-4602-BCDD-6916F4CD7ADA}"/>
    <dgm:cxn modelId="{0AFF5449-7524-4168-A28D-EDA6A4649FAD}" type="presOf" srcId="{927B5A23-E503-4778-B7F1-90AC16B2196B}" destId="{A5544F3B-9912-444D-AE48-8298C593554E}" srcOrd="0" destOrd="6" presId="urn:microsoft.com/office/officeart/2005/8/layout/chevron1"/>
    <dgm:cxn modelId="{E065E7C3-9EC0-4487-9FA6-F85C248FFDCE}" srcId="{AE69498D-51E7-4A3E-8D75-7FDE7CE1AD52}" destId="{15A37FB0-0B85-41DE-AC05-1E42A66F0641}" srcOrd="9" destOrd="0" parTransId="{B2843F00-3261-4CD1-B2CB-7A10726DBCB1}" sibTransId="{42B0C14B-1B30-4767-B6C6-9366922F02EF}"/>
    <dgm:cxn modelId="{9B5AFBB8-7F36-4848-B01F-DF943BCB651B}" srcId="{AAFCB63B-4EC6-4203-8019-3E0A0737027B}" destId="{C8810F06-213C-445F-AC47-676FB6FE993E}" srcOrd="1" destOrd="0" parTransId="{42B72FA7-FA38-4004-A88E-A400DA27E046}" sibTransId="{78EB736B-6DD2-4E00-A188-7C3A612A2E16}"/>
    <dgm:cxn modelId="{B4970954-1C5B-4436-B109-B29C2FB78099}" srcId="{C8810F06-213C-445F-AC47-676FB6FE993E}" destId="{7F8DFB4A-8EFF-4037-BB6D-AAF7155FC9B2}" srcOrd="5" destOrd="0" parTransId="{C0C41841-B0ED-4355-918D-5DC138F9DDC7}" sibTransId="{83AF2B9C-EA98-40E5-9386-77F018B159AB}"/>
    <dgm:cxn modelId="{DCAB0D71-7ABA-4F6F-8450-7143FCA19A9D}" type="presOf" srcId="{E756D5B7-3371-4BDD-A73C-30D9F385DBBF}" destId="{1A8C7EE1-BE46-48D8-BC96-CAD6E9B6E131}" srcOrd="0" destOrd="11" presId="urn:microsoft.com/office/officeart/2005/8/layout/chevron1"/>
    <dgm:cxn modelId="{82DF84DF-4742-408C-A236-4470A9FB65AE}" type="presOf" srcId="{F728AB3E-05B3-462C-85CB-F37A87B86BF8}" destId="{A5544F3B-9912-444D-AE48-8298C593554E}" srcOrd="0" destOrd="4" presId="urn:microsoft.com/office/officeart/2005/8/layout/chevron1"/>
    <dgm:cxn modelId="{7416B58D-3872-47BF-ABEE-6F9D3E3937CC}" srcId="{C8810F06-213C-445F-AC47-676FB6FE993E}" destId="{F843B4F9-A006-4A94-BE89-F11BCB39C476}" srcOrd="11" destOrd="0" parTransId="{BC50A56A-44A5-46DB-B784-A94391EB5ECB}" sibTransId="{A96F53D7-A539-492E-9125-46F5BE99C9D7}"/>
    <dgm:cxn modelId="{5A6533B4-3459-4F8B-B3FB-BD7D649E4215}" type="presOf" srcId="{74ED1DB8-6A8E-4B59-AE17-A11121E1D112}" destId="{1A8C7EE1-BE46-48D8-BC96-CAD6E9B6E131}" srcOrd="0" destOrd="8" presId="urn:microsoft.com/office/officeart/2005/8/layout/chevron1"/>
    <dgm:cxn modelId="{DE012964-6AD7-4C17-B209-F34AD73706A4}" srcId="{AE69498D-51E7-4A3E-8D75-7FDE7CE1AD52}" destId="{1C27A590-D700-4F93-B856-B8178ECB6A7B}" srcOrd="4" destOrd="0" parTransId="{22304FA6-BCA3-427E-95AB-5118721C0A84}" sibTransId="{E7F0F039-6998-44E7-BD21-889EB0170CA6}"/>
    <dgm:cxn modelId="{12876BC0-E39F-4B4E-B259-9E8AC588B508}" srcId="{AAFCB63B-4EC6-4203-8019-3E0A0737027B}" destId="{AE69498D-51E7-4A3E-8D75-7FDE7CE1AD52}" srcOrd="2" destOrd="0" parTransId="{5FE9D9BD-89A1-4196-BECF-583F959DB633}" sibTransId="{7847C586-2753-464A-B5F2-5E5A113E60E2}"/>
    <dgm:cxn modelId="{3D5FAE87-87B2-499D-B57C-CDF1597F7A96}" srcId="{AE69498D-51E7-4A3E-8D75-7FDE7CE1AD52}" destId="{140366CE-2CA0-4F9F-9D79-39CDE39F2E15}" srcOrd="2" destOrd="0" parTransId="{5391AD59-F213-4C7A-968A-7FC943D9F1D7}" sibTransId="{394FEC42-A574-440D-B370-B1879BB5F7CE}"/>
    <dgm:cxn modelId="{BF2A45BE-914F-489D-8224-94A22DE72235}" type="presOf" srcId="{E5EAE2F6-AA89-447E-94AA-7258F3CEE4CD}" destId="{1A8C7EE1-BE46-48D8-BC96-CAD6E9B6E131}" srcOrd="0" destOrd="0" presId="urn:microsoft.com/office/officeart/2005/8/layout/chevron1"/>
    <dgm:cxn modelId="{E57A3CC7-F23B-4A5F-A088-1FF5C827B8F0}" type="presOf" srcId="{6E7B57E6-324B-4E39-9EC2-14E8110B5781}" destId="{A5544F3B-9912-444D-AE48-8298C593554E}" srcOrd="0" destOrd="10" presId="urn:microsoft.com/office/officeart/2005/8/layout/chevron1"/>
    <dgm:cxn modelId="{D6BADEFA-1121-4281-94DE-AF9C58F15986}" type="presOf" srcId="{5892A6B5-2C6A-4F69-81BA-4C7F225CA2E5}" destId="{3461E5C7-0B8D-4902-BBCA-14FCF9DB3988}" srcOrd="0" destOrd="2" presId="urn:microsoft.com/office/officeart/2005/8/layout/chevron1"/>
    <dgm:cxn modelId="{A71A488D-B168-4B53-9388-12CCE33A01DA}" type="presOf" srcId="{F843B4F9-A006-4A94-BE89-F11BCB39C476}" destId="{A5544F3B-9912-444D-AE48-8298C593554E}" srcOrd="0" destOrd="11" presId="urn:microsoft.com/office/officeart/2005/8/layout/chevron1"/>
    <dgm:cxn modelId="{F602705C-C8D6-4A51-908F-F9136BE53BF1}" srcId="{C8810F06-213C-445F-AC47-676FB6FE993E}" destId="{A868B5C4-5B9D-4328-988C-0C6F29684D6A}" srcOrd="1" destOrd="0" parTransId="{5C455900-E81A-4E74-BA22-1532EA832936}" sibTransId="{636D09FB-6801-4330-B122-41BB17C7FF36}"/>
    <dgm:cxn modelId="{DE564B99-17B0-4773-BAE6-5714199A92FA}" srcId="{3F8CF0E7-E900-454B-83E3-248F1507889F}" destId="{A3977A60-6DCA-47C9-8E64-0C9E2925FDCD}" srcOrd="3" destOrd="0" parTransId="{ED9370D0-05FA-46A9-A87A-61B58CE1319C}" sibTransId="{7ECEB279-3AF5-4248-9BEA-959F6A221851}"/>
    <dgm:cxn modelId="{D8049762-ACFC-4C1E-8F0F-CD396C0CB8B2}" srcId="{AE69498D-51E7-4A3E-8D75-7FDE7CE1AD52}" destId="{3FF378B2-9549-47CD-8100-524281C899C5}" srcOrd="1" destOrd="0" parTransId="{DFE9EDF8-38C0-4C82-ACC6-540E7EB51AFD}" sibTransId="{47174EDC-9021-49EA-B3FE-15AEFE135A36}"/>
    <dgm:cxn modelId="{24A1154A-E859-49F2-9757-FEB8BEFC88B1}" type="presOf" srcId="{B03B328C-1551-4732-A8D5-BD81939E669F}" destId="{A5544F3B-9912-444D-AE48-8298C593554E}" srcOrd="0" destOrd="9" presId="urn:microsoft.com/office/officeart/2005/8/layout/chevron1"/>
    <dgm:cxn modelId="{D5462849-5DB3-4900-831F-0C1216E28EAC}" srcId="{3F8CF0E7-E900-454B-83E3-248F1507889F}" destId="{0A717A2E-4DD9-4C33-B2BB-CB7E12941A3C}" srcOrd="0" destOrd="0" parTransId="{39119DFB-9E2C-4594-A0E4-5FFF23AABF6E}" sibTransId="{A7362722-813B-4613-B054-8346BF2A60E5}"/>
    <dgm:cxn modelId="{734D7B00-C06D-4666-9DFD-3CA8EC8DAA04}" type="presOf" srcId="{DA40E7F0-6C0E-4D4A-89E6-A6D95162C682}" destId="{1A8C7EE1-BE46-48D8-BC96-CAD6E9B6E131}" srcOrd="0" destOrd="5" presId="urn:microsoft.com/office/officeart/2005/8/layout/chevron1"/>
    <dgm:cxn modelId="{C18689FD-98DD-492C-B564-10DB75AC636B}" type="presParOf" srcId="{7BFE6694-9C3B-48D0-8AB2-12CEB71B9C1B}" destId="{1C610709-0DEF-476F-B033-005D03D5589A}" srcOrd="0" destOrd="0" presId="urn:microsoft.com/office/officeart/2005/8/layout/chevron1"/>
    <dgm:cxn modelId="{D940319B-1536-4BAC-AE95-61B86BB9D3AD}" type="presParOf" srcId="{1C610709-0DEF-476F-B033-005D03D5589A}" destId="{17FB0DAA-2335-4FFF-85A2-FD6A63B18BE6}" srcOrd="0" destOrd="0" presId="urn:microsoft.com/office/officeart/2005/8/layout/chevron1"/>
    <dgm:cxn modelId="{1E14DB0F-48B1-46B0-8BA7-519F2369CE0C}" type="presParOf" srcId="{1C610709-0DEF-476F-B033-005D03D5589A}" destId="{3461E5C7-0B8D-4902-BBCA-14FCF9DB3988}" srcOrd="1" destOrd="0" presId="urn:microsoft.com/office/officeart/2005/8/layout/chevron1"/>
    <dgm:cxn modelId="{E7C25D14-2AEC-4B52-BD1E-7D9D6A35CA0F}" type="presParOf" srcId="{7BFE6694-9C3B-48D0-8AB2-12CEB71B9C1B}" destId="{5676B859-4C75-4317-AB5D-E577769FCEFE}" srcOrd="1" destOrd="0" presId="urn:microsoft.com/office/officeart/2005/8/layout/chevron1"/>
    <dgm:cxn modelId="{F1E931E3-2BAD-4746-A9A6-CF5E6F22A289}" type="presParOf" srcId="{7BFE6694-9C3B-48D0-8AB2-12CEB71B9C1B}" destId="{D2EBA113-1425-4EEA-AFFE-E35ACCF6FCAD}" srcOrd="2" destOrd="0" presId="urn:microsoft.com/office/officeart/2005/8/layout/chevron1"/>
    <dgm:cxn modelId="{156D76A3-D8EA-4118-AD47-09A2BECD2C4A}" type="presParOf" srcId="{D2EBA113-1425-4EEA-AFFE-E35ACCF6FCAD}" destId="{E9030D9D-9484-4605-94D5-34B460D6498D}" srcOrd="0" destOrd="0" presId="urn:microsoft.com/office/officeart/2005/8/layout/chevron1"/>
    <dgm:cxn modelId="{38C6AFEC-52F6-4903-85CD-66C6FE6454B1}" type="presParOf" srcId="{D2EBA113-1425-4EEA-AFFE-E35ACCF6FCAD}" destId="{A5544F3B-9912-444D-AE48-8298C593554E}" srcOrd="1" destOrd="0" presId="urn:microsoft.com/office/officeart/2005/8/layout/chevron1"/>
    <dgm:cxn modelId="{7D7DA86D-FD13-4A1D-9EEA-70CEB313AF66}" type="presParOf" srcId="{7BFE6694-9C3B-48D0-8AB2-12CEB71B9C1B}" destId="{46AB7876-AE8C-40BA-BA24-EF7F635D1F45}" srcOrd="3" destOrd="0" presId="urn:microsoft.com/office/officeart/2005/8/layout/chevron1"/>
    <dgm:cxn modelId="{F14C387C-F684-4E4F-89B0-EBF180E0FB78}" type="presParOf" srcId="{7BFE6694-9C3B-48D0-8AB2-12CEB71B9C1B}" destId="{8D7EFE08-BE50-4FE6-942B-A52688B5B04D}" srcOrd="4" destOrd="0" presId="urn:microsoft.com/office/officeart/2005/8/layout/chevron1"/>
    <dgm:cxn modelId="{96CB2457-41FD-49E4-B1A4-F0FCECE36BFC}" type="presParOf" srcId="{8D7EFE08-BE50-4FE6-942B-A52688B5B04D}" destId="{EF7FB9FD-6151-4F6D-8B29-B451B3816276}" srcOrd="0" destOrd="0" presId="urn:microsoft.com/office/officeart/2005/8/layout/chevron1"/>
    <dgm:cxn modelId="{F9016E0B-B480-43B2-B0B2-CFD6B841FFFF}" type="presParOf" srcId="{8D7EFE08-BE50-4FE6-942B-A52688B5B04D}" destId="{1A8C7EE1-BE46-48D8-BC96-CAD6E9B6E131}"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7876A-7065-4BB7-8A11-B2F7CF47BEDF}" type="doc">
      <dgm:prSet loTypeId="urn:microsoft.com/office/officeart/2005/8/layout/hProcess9" loCatId="process" qsTypeId="urn:microsoft.com/office/officeart/2005/8/quickstyle/simple1" qsCatId="simple" csTypeId="urn:microsoft.com/office/officeart/2005/8/colors/colorful5" csCatId="colorful" phldr="1"/>
      <dgm:spPr/>
    </dgm:pt>
    <dgm:pt modelId="{580B3B76-D017-4B5E-BFBE-401FE749F28C}">
      <dgm:prSet phldrT="[Text]"/>
      <dgm:spPr/>
      <dgm:t>
        <a:bodyPr/>
        <a:lstStyle/>
        <a:p>
          <a:r>
            <a:rPr lang="en-IN" dirty="0" smtClean="0"/>
            <a:t>Create data source in SQL/Excel/CSV </a:t>
          </a:r>
          <a:r>
            <a:rPr lang="en-IN" dirty="0" err="1" smtClean="0"/>
            <a:t>etc</a:t>
          </a:r>
          <a:r>
            <a:rPr lang="en-IN" dirty="0" smtClean="0"/>
            <a:t> format.</a:t>
          </a:r>
        </a:p>
        <a:p>
          <a:r>
            <a:rPr lang="en-IN" dirty="0" smtClean="0"/>
            <a:t>Prepare all the columns(Add this in best practises in Tableau)</a:t>
          </a:r>
          <a:endParaRPr lang="en-IN" dirty="0"/>
        </a:p>
      </dgm:t>
    </dgm:pt>
    <dgm:pt modelId="{C5BE3648-26A2-422E-81B8-B8F80CD7B177}" type="parTrans" cxnId="{C4397E7F-9B09-433A-89D7-76DD63AA980F}">
      <dgm:prSet/>
      <dgm:spPr/>
      <dgm:t>
        <a:bodyPr/>
        <a:lstStyle/>
        <a:p>
          <a:endParaRPr lang="en-IN"/>
        </a:p>
      </dgm:t>
    </dgm:pt>
    <dgm:pt modelId="{8E448E73-7A6A-4722-B148-4BA9289B933B}" type="sibTrans" cxnId="{C4397E7F-9B09-433A-89D7-76DD63AA980F}">
      <dgm:prSet/>
      <dgm:spPr/>
      <dgm:t>
        <a:bodyPr/>
        <a:lstStyle/>
        <a:p>
          <a:endParaRPr lang="en-IN"/>
        </a:p>
      </dgm:t>
    </dgm:pt>
    <dgm:pt modelId="{4ADA6A3E-20A3-46EB-87E0-8700A16707DA}">
      <dgm:prSet phldrT="[Text]"/>
      <dgm:spPr/>
      <dgm:t>
        <a:bodyPr/>
        <a:lstStyle/>
        <a:p>
          <a:r>
            <a:rPr lang="en-IN" dirty="0" smtClean="0"/>
            <a:t>Create a connection from Tableau to data source</a:t>
          </a:r>
          <a:endParaRPr lang="en-IN" dirty="0"/>
        </a:p>
      </dgm:t>
    </dgm:pt>
    <dgm:pt modelId="{E0DB20F8-A87B-4D11-A5F4-BD0FE9A73F6B}" type="parTrans" cxnId="{E889EFBD-1B1D-4921-B333-7A7762B5DFB6}">
      <dgm:prSet/>
      <dgm:spPr/>
      <dgm:t>
        <a:bodyPr/>
        <a:lstStyle/>
        <a:p>
          <a:endParaRPr lang="en-IN"/>
        </a:p>
      </dgm:t>
    </dgm:pt>
    <dgm:pt modelId="{88272072-63AC-4F0B-B3D8-03991F44CC34}" type="sibTrans" cxnId="{E889EFBD-1B1D-4921-B333-7A7762B5DFB6}">
      <dgm:prSet/>
      <dgm:spPr/>
      <dgm:t>
        <a:bodyPr/>
        <a:lstStyle/>
        <a:p>
          <a:endParaRPr lang="en-IN"/>
        </a:p>
      </dgm:t>
    </dgm:pt>
    <dgm:pt modelId="{529D9538-32EF-47C4-8378-CA6809BE164E}">
      <dgm:prSet phldrT="[Text]"/>
      <dgm:spPr/>
      <dgm:t>
        <a:bodyPr/>
        <a:lstStyle/>
        <a:p>
          <a:r>
            <a:rPr lang="en-IN" dirty="0" smtClean="0"/>
            <a:t>Create sheets by using features of Tableau for additional fields/functionalities</a:t>
          </a:r>
          <a:endParaRPr lang="en-IN" dirty="0"/>
        </a:p>
      </dgm:t>
    </dgm:pt>
    <dgm:pt modelId="{D387C207-7009-4CBA-954D-D7F1DAC8166F}" type="sibTrans" cxnId="{807C0BC7-710D-4E18-8248-559695D615DF}">
      <dgm:prSet/>
      <dgm:spPr/>
      <dgm:t>
        <a:bodyPr/>
        <a:lstStyle/>
        <a:p>
          <a:endParaRPr lang="en-IN"/>
        </a:p>
      </dgm:t>
    </dgm:pt>
    <dgm:pt modelId="{F06B9BD7-FB70-496B-A751-C19AE3528398}" type="parTrans" cxnId="{807C0BC7-710D-4E18-8248-559695D615DF}">
      <dgm:prSet/>
      <dgm:spPr/>
      <dgm:t>
        <a:bodyPr/>
        <a:lstStyle/>
        <a:p>
          <a:endParaRPr lang="en-IN"/>
        </a:p>
      </dgm:t>
    </dgm:pt>
    <dgm:pt modelId="{47E25B63-6AD7-421E-AF2E-6D89CF55E8D1}">
      <dgm:prSet phldrT="[Text]"/>
      <dgm:spPr/>
      <dgm:t>
        <a:bodyPr/>
        <a:lstStyle/>
        <a:p>
          <a:r>
            <a:rPr lang="en-IN" dirty="0" smtClean="0"/>
            <a:t>Put all these sheets in the dashboard</a:t>
          </a:r>
          <a:endParaRPr lang="en-IN" dirty="0"/>
        </a:p>
      </dgm:t>
    </dgm:pt>
    <dgm:pt modelId="{95BB9E26-115D-4477-A6E8-58562112C54B}" type="parTrans" cxnId="{95FF420F-FF0F-490E-85D3-CEA8695E30B1}">
      <dgm:prSet/>
      <dgm:spPr/>
      <dgm:t>
        <a:bodyPr/>
        <a:lstStyle/>
        <a:p>
          <a:endParaRPr lang="en-IN"/>
        </a:p>
      </dgm:t>
    </dgm:pt>
    <dgm:pt modelId="{04D01538-3A7A-4C73-A653-9646AF315F46}" type="sibTrans" cxnId="{95FF420F-FF0F-490E-85D3-CEA8695E30B1}">
      <dgm:prSet/>
      <dgm:spPr/>
      <dgm:t>
        <a:bodyPr/>
        <a:lstStyle/>
        <a:p>
          <a:endParaRPr lang="en-IN"/>
        </a:p>
      </dgm:t>
    </dgm:pt>
    <dgm:pt modelId="{CB76B925-90D0-49C2-AB55-8B1604843EC2}">
      <dgm:prSet phldrT="[Text]"/>
      <dgm:spPr/>
      <dgm:t>
        <a:bodyPr/>
        <a:lstStyle/>
        <a:p>
          <a:r>
            <a:rPr lang="en-IN" dirty="0" smtClean="0"/>
            <a:t>Improve the visual appeal of the dashboard</a:t>
          </a:r>
          <a:endParaRPr lang="en-IN" dirty="0"/>
        </a:p>
      </dgm:t>
    </dgm:pt>
    <dgm:pt modelId="{F64E83CA-54A8-47FE-B47A-6C781D00A1DD}" type="parTrans" cxnId="{6D1C260D-2714-4514-AFA3-F697733805AA}">
      <dgm:prSet/>
      <dgm:spPr/>
      <dgm:t>
        <a:bodyPr/>
        <a:lstStyle/>
        <a:p>
          <a:endParaRPr lang="en-IN"/>
        </a:p>
      </dgm:t>
    </dgm:pt>
    <dgm:pt modelId="{B9EE9C42-E628-4CD5-BBD0-B0B768C168BD}" type="sibTrans" cxnId="{6D1C260D-2714-4514-AFA3-F697733805AA}">
      <dgm:prSet/>
      <dgm:spPr/>
      <dgm:t>
        <a:bodyPr/>
        <a:lstStyle/>
        <a:p>
          <a:endParaRPr lang="en-IN"/>
        </a:p>
      </dgm:t>
    </dgm:pt>
    <dgm:pt modelId="{8B226B4C-4C7E-408A-99DC-A58454EC69B4}" type="pres">
      <dgm:prSet presAssocID="{3DE7876A-7065-4BB7-8A11-B2F7CF47BEDF}" presName="CompostProcess" presStyleCnt="0">
        <dgm:presLayoutVars>
          <dgm:dir/>
          <dgm:resizeHandles val="exact"/>
        </dgm:presLayoutVars>
      </dgm:prSet>
      <dgm:spPr/>
    </dgm:pt>
    <dgm:pt modelId="{70F813B4-F3A8-4559-BBDE-D3C7238669B8}" type="pres">
      <dgm:prSet presAssocID="{3DE7876A-7065-4BB7-8A11-B2F7CF47BEDF}" presName="arrow" presStyleLbl="bgShp" presStyleIdx="0" presStyleCnt="1" custScaleX="117647"/>
      <dgm:spPr/>
    </dgm:pt>
    <dgm:pt modelId="{E5E20BDD-9446-4B6C-98A7-17CCB90CE441}" type="pres">
      <dgm:prSet presAssocID="{3DE7876A-7065-4BB7-8A11-B2F7CF47BEDF}" presName="linearProcess" presStyleCnt="0"/>
      <dgm:spPr/>
    </dgm:pt>
    <dgm:pt modelId="{37684333-FAD3-45E4-9D35-F6FE41E6EFF4}" type="pres">
      <dgm:prSet presAssocID="{580B3B76-D017-4B5E-BFBE-401FE749F28C}" presName="textNode" presStyleLbl="node1" presStyleIdx="0" presStyleCnt="5">
        <dgm:presLayoutVars>
          <dgm:bulletEnabled val="1"/>
        </dgm:presLayoutVars>
      </dgm:prSet>
      <dgm:spPr/>
      <dgm:t>
        <a:bodyPr/>
        <a:lstStyle/>
        <a:p>
          <a:endParaRPr lang="en-IN"/>
        </a:p>
      </dgm:t>
    </dgm:pt>
    <dgm:pt modelId="{D161C8B7-CDB0-4224-8172-CA3304661206}" type="pres">
      <dgm:prSet presAssocID="{8E448E73-7A6A-4722-B148-4BA9289B933B}" presName="sibTrans" presStyleCnt="0"/>
      <dgm:spPr/>
    </dgm:pt>
    <dgm:pt modelId="{CA202CBD-FBBD-47FF-843E-248E31EFD770}" type="pres">
      <dgm:prSet presAssocID="{4ADA6A3E-20A3-46EB-87E0-8700A16707DA}" presName="textNode" presStyleLbl="node1" presStyleIdx="1" presStyleCnt="5">
        <dgm:presLayoutVars>
          <dgm:bulletEnabled val="1"/>
        </dgm:presLayoutVars>
      </dgm:prSet>
      <dgm:spPr/>
      <dgm:t>
        <a:bodyPr/>
        <a:lstStyle/>
        <a:p>
          <a:endParaRPr lang="en-IN"/>
        </a:p>
      </dgm:t>
    </dgm:pt>
    <dgm:pt modelId="{41B49922-13C5-4BB8-9845-428105615C48}" type="pres">
      <dgm:prSet presAssocID="{88272072-63AC-4F0B-B3D8-03991F44CC34}" presName="sibTrans" presStyleCnt="0"/>
      <dgm:spPr/>
    </dgm:pt>
    <dgm:pt modelId="{2B5A6A6A-CF1D-4D41-834D-2A00D3A314A1}" type="pres">
      <dgm:prSet presAssocID="{529D9538-32EF-47C4-8378-CA6809BE164E}" presName="textNode" presStyleLbl="node1" presStyleIdx="2" presStyleCnt="5">
        <dgm:presLayoutVars>
          <dgm:bulletEnabled val="1"/>
        </dgm:presLayoutVars>
      </dgm:prSet>
      <dgm:spPr/>
      <dgm:t>
        <a:bodyPr/>
        <a:lstStyle/>
        <a:p>
          <a:endParaRPr lang="en-IN"/>
        </a:p>
      </dgm:t>
    </dgm:pt>
    <dgm:pt modelId="{FB7DD163-AC70-4993-A40F-2C4DD9E60A00}" type="pres">
      <dgm:prSet presAssocID="{D387C207-7009-4CBA-954D-D7F1DAC8166F}" presName="sibTrans" presStyleCnt="0"/>
      <dgm:spPr/>
    </dgm:pt>
    <dgm:pt modelId="{CF2F903D-CA57-4D6D-BB4F-C897168473F5}" type="pres">
      <dgm:prSet presAssocID="{47E25B63-6AD7-421E-AF2E-6D89CF55E8D1}" presName="textNode" presStyleLbl="node1" presStyleIdx="3" presStyleCnt="5">
        <dgm:presLayoutVars>
          <dgm:bulletEnabled val="1"/>
        </dgm:presLayoutVars>
      </dgm:prSet>
      <dgm:spPr/>
      <dgm:t>
        <a:bodyPr/>
        <a:lstStyle/>
        <a:p>
          <a:endParaRPr lang="en-IN"/>
        </a:p>
      </dgm:t>
    </dgm:pt>
    <dgm:pt modelId="{99327EEC-6FC2-4DDC-B8B4-CCEC5C0DCF26}" type="pres">
      <dgm:prSet presAssocID="{04D01538-3A7A-4C73-A653-9646AF315F46}" presName="sibTrans" presStyleCnt="0"/>
      <dgm:spPr/>
    </dgm:pt>
    <dgm:pt modelId="{1EE68709-04CA-48F5-82FA-57EE684640E5}" type="pres">
      <dgm:prSet presAssocID="{CB76B925-90D0-49C2-AB55-8B1604843EC2}" presName="textNode" presStyleLbl="node1" presStyleIdx="4" presStyleCnt="5">
        <dgm:presLayoutVars>
          <dgm:bulletEnabled val="1"/>
        </dgm:presLayoutVars>
      </dgm:prSet>
      <dgm:spPr/>
      <dgm:t>
        <a:bodyPr/>
        <a:lstStyle/>
        <a:p>
          <a:endParaRPr lang="en-IN"/>
        </a:p>
      </dgm:t>
    </dgm:pt>
  </dgm:ptLst>
  <dgm:cxnLst>
    <dgm:cxn modelId="{95FF420F-FF0F-490E-85D3-CEA8695E30B1}" srcId="{3DE7876A-7065-4BB7-8A11-B2F7CF47BEDF}" destId="{47E25B63-6AD7-421E-AF2E-6D89CF55E8D1}" srcOrd="3" destOrd="0" parTransId="{95BB9E26-115D-4477-A6E8-58562112C54B}" sibTransId="{04D01538-3A7A-4C73-A653-9646AF315F46}"/>
    <dgm:cxn modelId="{EC5291B9-168F-4A43-A01C-5681576E04B2}" type="presOf" srcId="{4ADA6A3E-20A3-46EB-87E0-8700A16707DA}" destId="{CA202CBD-FBBD-47FF-843E-248E31EFD770}" srcOrd="0" destOrd="0" presId="urn:microsoft.com/office/officeart/2005/8/layout/hProcess9"/>
    <dgm:cxn modelId="{EF4A1802-C5A5-4F6B-8C17-D3FA01219651}" type="presOf" srcId="{580B3B76-D017-4B5E-BFBE-401FE749F28C}" destId="{37684333-FAD3-45E4-9D35-F6FE41E6EFF4}" srcOrd="0" destOrd="0" presId="urn:microsoft.com/office/officeart/2005/8/layout/hProcess9"/>
    <dgm:cxn modelId="{D6300B12-9AEE-4A94-9663-1E2502E71327}" type="presOf" srcId="{529D9538-32EF-47C4-8378-CA6809BE164E}" destId="{2B5A6A6A-CF1D-4D41-834D-2A00D3A314A1}" srcOrd="0" destOrd="0" presId="urn:microsoft.com/office/officeart/2005/8/layout/hProcess9"/>
    <dgm:cxn modelId="{60844DCE-8F21-4217-A17D-7408B9041496}" type="presOf" srcId="{47E25B63-6AD7-421E-AF2E-6D89CF55E8D1}" destId="{CF2F903D-CA57-4D6D-BB4F-C897168473F5}" srcOrd="0" destOrd="0" presId="urn:microsoft.com/office/officeart/2005/8/layout/hProcess9"/>
    <dgm:cxn modelId="{E3F1133E-89C6-4273-9D97-3F9D7B951D63}" type="presOf" srcId="{3DE7876A-7065-4BB7-8A11-B2F7CF47BEDF}" destId="{8B226B4C-4C7E-408A-99DC-A58454EC69B4}" srcOrd="0" destOrd="0" presId="urn:microsoft.com/office/officeart/2005/8/layout/hProcess9"/>
    <dgm:cxn modelId="{807C0BC7-710D-4E18-8248-559695D615DF}" srcId="{3DE7876A-7065-4BB7-8A11-B2F7CF47BEDF}" destId="{529D9538-32EF-47C4-8378-CA6809BE164E}" srcOrd="2" destOrd="0" parTransId="{F06B9BD7-FB70-496B-A751-C19AE3528398}" sibTransId="{D387C207-7009-4CBA-954D-D7F1DAC8166F}"/>
    <dgm:cxn modelId="{6D1C260D-2714-4514-AFA3-F697733805AA}" srcId="{3DE7876A-7065-4BB7-8A11-B2F7CF47BEDF}" destId="{CB76B925-90D0-49C2-AB55-8B1604843EC2}" srcOrd="4" destOrd="0" parTransId="{F64E83CA-54A8-47FE-B47A-6C781D00A1DD}" sibTransId="{B9EE9C42-E628-4CD5-BBD0-B0B768C168BD}"/>
    <dgm:cxn modelId="{E889EFBD-1B1D-4921-B333-7A7762B5DFB6}" srcId="{3DE7876A-7065-4BB7-8A11-B2F7CF47BEDF}" destId="{4ADA6A3E-20A3-46EB-87E0-8700A16707DA}" srcOrd="1" destOrd="0" parTransId="{E0DB20F8-A87B-4D11-A5F4-BD0FE9A73F6B}" sibTransId="{88272072-63AC-4F0B-B3D8-03991F44CC34}"/>
    <dgm:cxn modelId="{C4397E7F-9B09-433A-89D7-76DD63AA980F}" srcId="{3DE7876A-7065-4BB7-8A11-B2F7CF47BEDF}" destId="{580B3B76-D017-4B5E-BFBE-401FE749F28C}" srcOrd="0" destOrd="0" parTransId="{C5BE3648-26A2-422E-81B8-B8F80CD7B177}" sibTransId="{8E448E73-7A6A-4722-B148-4BA9289B933B}"/>
    <dgm:cxn modelId="{173E8548-2E9B-4B15-BD69-0EA53F4BB78D}" type="presOf" srcId="{CB76B925-90D0-49C2-AB55-8B1604843EC2}" destId="{1EE68709-04CA-48F5-82FA-57EE684640E5}" srcOrd="0" destOrd="0" presId="urn:microsoft.com/office/officeart/2005/8/layout/hProcess9"/>
    <dgm:cxn modelId="{448F96B9-7855-4DB0-943A-2775C1973E20}" type="presParOf" srcId="{8B226B4C-4C7E-408A-99DC-A58454EC69B4}" destId="{70F813B4-F3A8-4559-BBDE-D3C7238669B8}" srcOrd="0" destOrd="0" presId="urn:microsoft.com/office/officeart/2005/8/layout/hProcess9"/>
    <dgm:cxn modelId="{210265A6-4BCB-43B7-B017-1D7CB019A4FD}" type="presParOf" srcId="{8B226B4C-4C7E-408A-99DC-A58454EC69B4}" destId="{E5E20BDD-9446-4B6C-98A7-17CCB90CE441}" srcOrd="1" destOrd="0" presId="urn:microsoft.com/office/officeart/2005/8/layout/hProcess9"/>
    <dgm:cxn modelId="{0B80326F-1A27-443D-AD05-8608BA60C772}" type="presParOf" srcId="{E5E20BDD-9446-4B6C-98A7-17CCB90CE441}" destId="{37684333-FAD3-45E4-9D35-F6FE41E6EFF4}" srcOrd="0" destOrd="0" presId="urn:microsoft.com/office/officeart/2005/8/layout/hProcess9"/>
    <dgm:cxn modelId="{06126532-AFCE-4B80-87B5-A5B6B450680A}" type="presParOf" srcId="{E5E20BDD-9446-4B6C-98A7-17CCB90CE441}" destId="{D161C8B7-CDB0-4224-8172-CA3304661206}" srcOrd="1" destOrd="0" presId="urn:microsoft.com/office/officeart/2005/8/layout/hProcess9"/>
    <dgm:cxn modelId="{8BB2E3AE-C28C-4CE4-BAB9-95155ABD1172}" type="presParOf" srcId="{E5E20BDD-9446-4B6C-98A7-17CCB90CE441}" destId="{CA202CBD-FBBD-47FF-843E-248E31EFD770}" srcOrd="2" destOrd="0" presId="urn:microsoft.com/office/officeart/2005/8/layout/hProcess9"/>
    <dgm:cxn modelId="{3DC02F2F-9230-40C9-ADFB-8D2D2AA9958B}" type="presParOf" srcId="{E5E20BDD-9446-4B6C-98A7-17CCB90CE441}" destId="{41B49922-13C5-4BB8-9845-428105615C48}" srcOrd="3" destOrd="0" presId="urn:microsoft.com/office/officeart/2005/8/layout/hProcess9"/>
    <dgm:cxn modelId="{321C6497-9D7E-4079-9FAC-438AE236A37C}" type="presParOf" srcId="{E5E20BDD-9446-4B6C-98A7-17CCB90CE441}" destId="{2B5A6A6A-CF1D-4D41-834D-2A00D3A314A1}" srcOrd="4" destOrd="0" presId="urn:microsoft.com/office/officeart/2005/8/layout/hProcess9"/>
    <dgm:cxn modelId="{26033409-F595-4A00-8475-5992D3CEA4C1}" type="presParOf" srcId="{E5E20BDD-9446-4B6C-98A7-17CCB90CE441}" destId="{FB7DD163-AC70-4993-A40F-2C4DD9E60A00}" srcOrd="5" destOrd="0" presId="urn:microsoft.com/office/officeart/2005/8/layout/hProcess9"/>
    <dgm:cxn modelId="{2998FBC8-622C-421C-945E-8670B2701B37}" type="presParOf" srcId="{E5E20BDD-9446-4B6C-98A7-17CCB90CE441}" destId="{CF2F903D-CA57-4D6D-BB4F-C897168473F5}" srcOrd="6" destOrd="0" presId="urn:microsoft.com/office/officeart/2005/8/layout/hProcess9"/>
    <dgm:cxn modelId="{DFA618AD-845D-4C86-8A49-079C669876DE}" type="presParOf" srcId="{E5E20BDD-9446-4B6C-98A7-17CCB90CE441}" destId="{99327EEC-6FC2-4DDC-B8B4-CCEC5C0DCF26}" srcOrd="7" destOrd="0" presId="urn:microsoft.com/office/officeart/2005/8/layout/hProcess9"/>
    <dgm:cxn modelId="{F9623071-EFD5-45A7-BC8D-F7E4FB233F63}" type="presParOf" srcId="{E5E20BDD-9446-4B6C-98A7-17CCB90CE441}" destId="{1EE68709-04CA-48F5-82FA-57EE684640E5}"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FB0DAA-2335-4FFF-85A2-FD6A63B18BE6}">
      <dsp:nvSpPr>
        <dsp:cNvPr id="0" name=""/>
        <dsp:cNvSpPr/>
      </dsp:nvSpPr>
      <dsp:spPr>
        <a:xfrm>
          <a:off x="149390" y="5510"/>
          <a:ext cx="3673643" cy="972000"/>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IN" sz="1600" kern="1200" dirty="0" smtClean="0"/>
            <a:t>Introduction to Tableau</a:t>
          </a:r>
          <a:endParaRPr lang="en-IN" sz="1600" kern="1200" dirty="0"/>
        </a:p>
      </dsp:txBody>
      <dsp:txXfrm>
        <a:off x="635390" y="5510"/>
        <a:ext cx="2701643" cy="972000"/>
      </dsp:txXfrm>
    </dsp:sp>
    <dsp:sp modelId="{3461E5C7-0B8D-4902-BBCA-14FCF9DB3988}">
      <dsp:nvSpPr>
        <dsp:cNvPr id="0" name=""/>
        <dsp:cNvSpPr/>
      </dsp:nvSpPr>
      <dsp:spPr>
        <a:xfrm>
          <a:off x="208690" y="1126655"/>
          <a:ext cx="3324765" cy="402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150000"/>
            </a:lnSpc>
            <a:spcBef>
              <a:spcPct val="0"/>
            </a:spcBef>
            <a:spcAft>
              <a:spcPct val="15000"/>
            </a:spcAft>
            <a:buChar char="••"/>
          </a:pPr>
          <a:r>
            <a:rPr lang="en-IN" sz="1200" kern="1200" dirty="0" smtClean="0">
              <a:latin typeface="+mn-lt"/>
            </a:rPr>
            <a:t>What is Data Visualization</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What is Tableau</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Why Tableau</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Tableau Products and Similar Products</a:t>
          </a:r>
          <a:endParaRPr lang="en-IN" sz="1200" kern="1200" dirty="0">
            <a:latin typeface="+mn-lt"/>
          </a:endParaRPr>
        </a:p>
      </dsp:txBody>
      <dsp:txXfrm>
        <a:off x="208690" y="1126655"/>
        <a:ext cx="3324765" cy="4024687"/>
      </dsp:txXfrm>
    </dsp:sp>
    <dsp:sp modelId="{E9030D9D-9484-4605-94D5-34B460D6498D}">
      <dsp:nvSpPr>
        <dsp:cNvPr id="0" name=""/>
        <dsp:cNvSpPr/>
      </dsp:nvSpPr>
      <dsp:spPr>
        <a:xfrm>
          <a:off x="3653212" y="31706"/>
          <a:ext cx="3999679" cy="972000"/>
        </a:xfrm>
        <a:prstGeom prst="chevron">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IN" sz="1600" kern="1200" dirty="0" smtClean="0"/>
            <a:t>Basic Concepts in Tableau</a:t>
          </a:r>
          <a:endParaRPr lang="en-IN" sz="1600" kern="1200" dirty="0"/>
        </a:p>
      </dsp:txBody>
      <dsp:txXfrm>
        <a:off x="4139212" y="31706"/>
        <a:ext cx="3027679" cy="972000"/>
      </dsp:txXfrm>
    </dsp:sp>
    <dsp:sp modelId="{A5544F3B-9912-444D-AE48-8298C593554E}">
      <dsp:nvSpPr>
        <dsp:cNvPr id="0" name=""/>
        <dsp:cNvSpPr/>
      </dsp:nvSpPr>
      <dsp:spPr>
        <a:xfrm>
          <a:off x="3816230" y="1125206"/>
          <a:ext cx="2938915" cy="402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150000"/>
            </a:lnSpc>
            <a:spcBef>
              <a:spcPct val="0"/>
            </a:spcBef>
            <a:spcAft>
              <a:spcPct val="15000"/>
            </a:spcAft>
            <a:buChar char="••"/>
          </a:pPr>
          <a:r>
            <a:rPr lang="en-IN" sz="1200" kern="1200" dirty="0" smtClean="0">
              <a:latin typeface="+mn-lt"/>
            </a:rPr>
            <a:t>How does Tableau work?</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Types of Connections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Dimensions vs Measures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Calculated Fields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Filters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Sets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Grouping/Hierarchy</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Parameter</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Windows Function/Table Calculation</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Dual Axis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Data Blending</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Tableau Server</a:t>
          </a:r>
          <a:endParaRPr lang="en-IN" sz="1200" kern="1200" dirty="0">
            <a:latin typeface="+mn-lt"/>
          </a:endParaRPr>
        </a:p>
        <a:p>
          <a:pPr marL="114300" lvl="1" indent="-114300" algn="l" defTabSz="533400">
            <a:lnSpc>
              <a:spcPct val="150000"/>
            </a:lnSpc>
            <a:spcBef>
              <a:spcPct val="0"/>
            </a:spcBef>
            <a:spcAft>
              <a:spcPct val="15000"/>
            </a:spcAft>
            <a:buChar char="••"/>
          </a:pPr>
          <a:endParaRPr lang="en-IN" sz="1200" kern="1200" dirty="0">
            <a:latin typeface="+mn-lt"/>
          </a:endParaRPr>
        </a:p>
      </dsp:txBody>
      <dsp:txXfrm>
        <a:off x="3816230" y="1125206"/>
        <a:ext cx="2938915" cy="4024687"/>
      </dsp:txXfrm>
    </dsp:sp>
    <dsp:sp modelId="{EF7FB9FD-6151-4F6D-8B29-B451B3816276}">
      <dsp:nvSpPr>
        <dsp:cNvPr id="0" name=""/>
        <dsp:cNvSpPr/>
      </dsp:nvSpPr>
      <dsp:spPr>
        <a:xfrm>
          <a:off x="7436892" y="31706"/>
          <a:ext cx="3673643" cy="972000"/>
        </a:xfrm>
        <a:prstGeom prst="chevron">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IN" sz="1600" kern="1200" dirty="0" smtClean="0"/>
            <a:t>Tableau Demo</a:t>
          </a:r>
          <a:endParaRPr lang="en-IN" sz="1600" kern="1200" dirty="0"/>
        </a:p>
      </dsp:txBody>
      <dsp:txXfrm>
        <a:off x="7922892" y="31706"/>
        <a:ext cx="2701643" cy="972000"/>
      </dsp:txXfrm>
    </dsp:sp>
    <dsp:sp modelId="{1A8C7EE1-BE46-48D8-BC96-CAD6E9B6E131}">
      <dsp:nvSpPr>
        <dsp:cNvPr id="0" name=""/>
        <dsp:cNvSpPr/>
      </dsp:nvSpPr>
      <dsp:spPr>
        <a:xfrm>
          <a:off x="7436892" y="1125206"/>
          <a:ext cx="2938915" cy="402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150000"/>
            </a:lnSpc>
            <a:spcBef>
              <a:spcPct val="0"/>
            </a:spcBef>
            <a:spcAft>
              <a:spcPct val="15000"/>
            </a:spcAft>
            <a:buChar char="••"/>
          </a:pPr>
          <a:r>
            <a:rPr lang="en-IN" sz="1200" kern="1200" dirty="0" smtClean="0">
              <a:latin typeface="+mn-lt"/>
            </a:rPr>
            <a:t>Types of Connections - Demo</a:t>
          </a:r>
          <a:endParaRPr lang="en-IN" sz="1200" kern="1200" dirty="0"/>
        </a:p>
        <a:p>
          <a:pPr marL="114300" lvl="1" indent="-114300" algn="l" defTabSz="533400">
            <a:lnSpc>
              <a:spcPct val="150000"/>
            </a:lnSpc>
            <a:spcBef>
              <a:spcPct val="0"/>
            </a:spcBef>
            <a:spcAft>
              <a:spcPct val="15000"/>
            </a:spcAft>
            <a:buChar char="••"/>
          </a:pPr>
          <a:r>
            <a:rPr lang="en-IN" sz="1200" kern="1200" dirty="0" smtClean="0">
              <a:latin typeface="+mn-lt"/>
            </a:rPr>
            <a:t>Calculated Fields - Demo</a:t>
          </a:r>
        </a:p>
        <a:p>
          <a:pPr marL="114300" lvl="1" indent="-114300" algn="l" defTabSz="533400">
            <a:lnSpc>
              <a:spcPct val="150000"/>
            </a:lnSpc>
            <a:spcBef>
              <a:spcPct val="0"/>
            </a:spcBef>
            <a:spcAft>
              <a:spcPct val="15000"/>
            </a:spcAft>
            <a:buChar char="••"/>
          </a:pPr>
          <a:r>
            <a:rPr lang="en-IN" sz="1200" kern="1200" dirty="0" smtClean="0">
              <a:latin typeface="+mn-lt"/>
            </a:rPr>
            <a:t>Filters - Demo</a:t>
          </a:r>
        </a:p>
        <a:p>
          <a:pPr marL="114300" lvl="1" indent="-114300" algn="l" defTabSz="533400">
            <a:lnSpc>
              <a:spcPct val="150000"/>
            </a:lnSpc>
            <a:spcBef>
              <a:spcPct val="0"/>
            </a:spcBef>
            <a:spcAft>
              <a:spcPct val="15000"/>
            </a:spcAft>
            <a:buChar char="••"/>
          </a:pPr>
          <a:r>
            <a:rPr lang="en-IN" sz="1200" kern="1200" dirty="0" smtClean="0">
              <a:latin typeface="+mn-lt"/>
            </a:rPr>
            <a:t>Sets - Demo</a:t>
          </a:r>
        </a:p>
        <a:p>
          <a:pPr marL="114300" lvl="1" indent="-114300" algn="l" defTabSz="533400">
            <a:lnSpc>
              <a:spcPct val="150000"/>
            </a:lnSpc>
            <a:spcBef>
              <a:spcPct val="0"/>
            </a:spcBef>
            <a:spcAft>
              <a:spcPct val="15000"/>
            </a:spcAft>
            <a:buChar char="••"/>
          </a:pPr>
          <a:r>
            <a:rPr lang="en-IN" sz="1200" kern="1200" dirty="0" smtClean="0">
              <a:latin typeface="+mn-lt"/>
            </a:rPr>
            <a:t>Grouping/Hierarchy - Demo</a:t>
          </a:r>
        </a:p>
        <a:p>
          <a:pPr marL="114300" lvl="1" indent="-114300" algn="l" defTabSz="533400">
            <a:lnSpc>
              <a:spcPct val="150000"/>
            </a:lnSpc>
            <a:spcBef>
              <a:spcPct val="0"/>
            </a:spcBef>
            <a:spcAft>
              <a:spcPct val="15000"/>
            </a:spcAft>
            <a:buChar char="••"/>
          </a:pPr>
          <a:r>
            <a:rPr lang="en-IN" sz="1200" kern="1200" dirty="0" smtClean="0">
              <a:latin typeface="+mn-lt"/>
            </a:rPr>
            <a:t>Parameter - Demo</a:t>
          </a:r>
        </a:p>
        <a:p>
          <a:pPr marL="114300" lvl="1" indent="-114300" algn="l" defTabSz="533400">
            <a:lnSpc>
              <a:spcPct val="150000"/>
            </a:lnSpc>
            <a:spcBef>
              <a:spcPct val="0"/>
            </a:spcBef>
            <a:spcAft>
              <a:spcPct val="15000"/>
            </a:spcAft>
            <a:buChar char="••"/>
          </a:pPr>
          <a:r>
            <a:rPr lang="en-IN" sz="1200" kern="1200" dirty="0" smtClean="0">
              <a:latin typeface="+mn-lt"/>
            </a:rPr>
            <a:t>Windows Function/Table Calculation - Demo</a:t>
          </a:r>
        </a:p>
        <a:p>
          <a:pPr marL="114300" lvl="1" indent="-114300" algn="l" defTabSz="533400">
            <a:lnSpc>
              <a:spcPct val="150000"/>
            </a:lnSpc>
            <a:spcBef>
              <a:spcPct val="0"/>
            </a:spcBef>
            <a:spcAft>
              <a:spcPct val="15000"/>
            </a:spcAft>
            <a:buChar char="••"/>
          </a:pPr>
          <a:r>
            <a:rPr lang="en-IN" sz="1200" kern="1200" dirty="0" smtClean="0">
              <a:latin typeface="+mn-lt"/>
            </a:rPr>
            <a:t>Dual Axis - Demo</a:t>
          </a:r>
        </a:p>
        <a:p>
          <a:pPr marL="114300" lvl="1" indent="-114300" algn="l" defTabSz="533400">
            <a:lnSpc>
              <a:spcPct val="150000"/>
            </a:lnSpc>
            <a:spcBef>
              <a:spcPct val="0"/>
            </a:spcBef>
            <a:spcAft>
              <a:spcPct val="15000"/>
            </a:spcAft>
            <a:buChar char="••"/>
          </a:pPr>
          <a:r>
            <a:rPr lang="en-IN" sz="1200" kern="1200" dirty="0" smtClean="0">
              <a:latin typeface="+mn-lt"/>
            </a:rPr>
            <a:t>Data Blending - Demo</a:t>
          </a:r>
        </a:p>
        <a:p>
          <a:pPr marL="114300" lvl="1" indent="-114300" algn="l" defTabSz="533400">
            <a:lnSpc>
              <a:spcPct val="150000"/>
            </a:lnSpc>
            <a:spcBef>
              <a:spcPct val="0"/>
            </a:spcBef>
            <a:spcAft>
              <a:spcPct val="15000"/>
            </a:spcAft>
            <a:buChar char="••"/>
          </a:pPr>
          <a:r>
            <a:rPr lang="en-IN" sz="1200" kern="1200" dirty="0" smtClean="0">
              <a:latin typeface="+mn-lt"/>
            </a:rPr>
            <a:t>Tableau Server - Demo</a:t>
          </a:r>
        </a:p>
        <a:p>
          <a:pPr marL="114300" lvl="1" indent="-114300" algn="l" defTabSz="533400">
            <a:lnSpc>
              <a:spcPct val="150000"/>
            </a:lnSpc>
            <a:spcBef>
              <a:spcPct val="0"/>
            </a:spcBef>
            <a:spcAft>
              <a:spcPct val="15000"/>
            </a:spcAft>
            <a:buChar char="••"/>
          </a:pPr>
          <a:endParaRPr lang="en-IN" sz="1200" kern="1200" dirty="0" smtClean="0">
            <a:latin typeface="+mn-lt"/>
          </a:endParaRPr>
        </a:p>
        <a:p>
          <a:pPr marL="114300" lvl="1" indent="-114300" algn="l" defTabSz="533400">
            <a:lnSpc>
              <a:spcPct val="150000"/>
            </a:lnSpc>
            <a:spcBef>
              <a:spcPct val="0"/>
            </a:spcBef>
            <a:spcAft>
              <a:spcPct val="15000"/>
            </a:spcAft>
            <a:buChar char="••"/>
          </a:pPr>
          <a:endParaRPr lang="en-IN" sz="1200" kern="1200" dirty="0" smtClean="0">
            <a:latin typeface="+mn-lt"/>
          </a:endParaRPr>
        </a:p>
      </dsp:txBody>
      <dsp:txXfrm>
        <a:off x="7436892" y="1125206"/>
        <a:ext cx="2938915" cy="40246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7875F7-66C3-48C3-9B58-3ED4E0CA8240}" type="datetimeFigureOut">
              <a:rPr lang="en-IN" smtClean="0"/>
              <a:t>22-07-2016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810C48-C167-41B4-8AB7-61053A0E9241}" type="slidenum">
              <a:rPr lang="en-IN" smtClean="0"/>
              <a:t>‹#›</a:t>
            </a:fld>
            <a:endParaRPr lang="en-IN"/>
          </a:p>
        </p:txBody>
      </p:sp>
    </p:spTree>
    <p:extLst>
      <p:ext uri="{BB962C8B-B14F-4D97-AF65-F5344CB8AC3E}">
        <p14:creationId xmlns:p14="http://schemas.microsoft.com/office/powerpoint/2010/main" val="148575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8" name="Text Placeholder 7"/>
          <p:cNvSpPr>
            <a:spLocks noGrp="1"/>
          </p:cNvSpPr>
          <p:nvPr>
            <p:ph type="body" sz="quarter" idx="13"/>
          </p:nvPr>
        </p:nvSpPr>
        <p:spPr>
          <a:xfrm>
            <a:off x="4905828" y="266788"/>
            <a:ext cx="1656443" cy="480131"/>
          </a:xfrm>
          <a:prstGeom prst="rect">
            <a:avLst/>
          </a:prstGeom>
          <a:solidFill>
            <a:schemeClr val="bg1"/>
          </a:solidFill>
        </p:spPr>
        <p:txBody>
          <a:bodyPr wrap="square">
            <a:norm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87097672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272039261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1248311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355525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8511205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0511623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58299952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6438094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4" name="Footer Placeholder 3"/>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132003172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3" name="Footer Placeholder 2"/>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4" name="Slide Number Placeholder 3"/>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04671419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312369327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1418148798"/>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00633101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82335404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399303642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2DCA53F-FCBF-4517-A84A-91F4E4243AD6}" type="datetime1">
              <a:rPr lang="en-US" smtClean="0">
                <a:solidFill>
                  <a:srgbClr val="ACD433"/>
                </a:solidFill>
              </a:rPr>
              <a:pPr/>
              <a:t>7/22/2016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25170970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8" name="Text Placeholder 7"/>
          <p:cNvSpPr>
            <a:spLocks noGrp="1"/>
          </p:cNvSpPr>
          <p:nvPr>
            <p:ph type="body" sz="quarter" idx="13"/>
          </p:nvPr>
        </p:nvSpPr>
        <p:spPr>
          <a:xfrm>
            <a:off x="4905828" y="266788"/>
            <a:ext cx="1656443" cy="480131"/>
          </a:xfrm>
          <a:prstGeom prst="rect">
            <a:avLst/>
          </a:prstGeom>
          <a:solidFill>
            <a:schemeClr val="bg1"/>
          </a:solidFill>
        </p:spPr>
        <p:txBody>
          <a:bodyPr wrap="square">
            <a:norm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50805571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a:prstGeom prst="rect">
            <a:avLst/>
          </a:prstGeo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a:prstGeom prst="rect">
            <a:avLst/>
          </a:prstGeo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E22D1A-CAE7-4D37-85C8-6F613DE24951}"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877212852"/>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lvl1pPr>
              <a:defRPr sz="2800"/>
            </a:lvl1pPr>
          </a:lstStyle>
          <a:p>
            <a:r>
              <a:rPr lang="en-US" dirty="0" smtClean="0"/>
              <a:t>Click to edit Master title style</a:t>
            </a:r>
            <a:endParaRPr lang="en-US" dirty="0"/>
          </a:p>
        </p:txBody>
      </p:sp>
      <p:sp>
        <p:nvSpPr>
          <p:cNvPr id="3" name="Text Placeholder 2"/>
          <p:cNvSpPr>
            <a:spLocks noGrp="1"/>
          </p:cNvSpPr>
          <p:nvPr>
            <p:ph type="body" idx="1"/>
          </p:nvPr>
        </p:nvSpPr>
        <p:spPr>
          <a:xfrm>
            <a:off x="1154954" y="2617299"/>
            <a:ext cx="3129168"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2E54B1-73A1-4263-B78F-FF5389683A00}"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144768313"/>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24F1AEE-92DB-4E7F-88D2-942D1764EA56}"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a:prstGeom prst="rect">
            <a:avLst/>
          </a:prstGeo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336901223"/>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154955" y="2603500"/>
            <a:ext cx="8761412" cy="3416300"/>
          </a:xfrm>
          <a:prstGeom prst="rect">
            <a:avLst/>
          </a:prstGeo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AECB69-58DB-4BFC-A325-53FE97BF7120}"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a:prstGeom prst="rect">
            <a:avLst/>
          </a:prstGeo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990105113"/>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1154955" y="2603500"/>
            <a:ext cx="8761412" cy="34163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1A7A2F9-2791-4C9B-A4CB-730F738B65FA}" type="datetime1">
              <a:rPr lang="en-US" smtClean="0">
                <a:solidFill>
                  <a:srgbClr val="ACD433"/>
                </a:solidFill>
              </a:rPr>
              <a:pPr/>
              <a:t>7/22/2016</a:t>
            </a:fld>
            <a:endParaRPr lang="en-US" dirty="0">
              <a:solidFill>
                <a:srgbClr val="ACD433"/>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sz="1800">
                <a:solidFill>
                  <a:schemeClr val="tx2">
                    <a:lumMod val="60000"/>
                    <a:lumOff val="40000"/>
                  </a:schemeClr>
                </a:solidFill>
              </a:defRPr>
            </a:lvl1pPr>
          </a:lstStyle>
          <a:p>
            <a:pPr lvl="0"/>
            <a:endParaRPr lang="en-IN" dirty="0"/>
          </a:p>
        </p:txBody>
      </p:sp>
      <p:sp>
        <p:nvSpPr>
          <p:cNvPr id="8" name="Footer Placeholder 4"/>
          <p:cNvSpPr>
            <a:spLocks noGrp="1"/>
          </p:cNvSpPr>
          <p:nvPr>
            <p:ph type="ftr" sz="quarter" idx="3"/>
          </p:nvPr>
        </p:nvSpPr>
        <p:spPr>
          <a:xfrm>
            <a:off x="1196498" y="6647419"/>
            <a:ext cx="8964000" cy="198472"/>
          </a:xfrm>
          <a:prstGeom prst="rect">
            <a:avLst/>
          </a:prstGeom>
        </p:spPr>
        <p:txBody>
          <a:bodyPr vert="horz" lIns="91440" tIns="45720" rIns="91440" bIns="45720" rtlCol="0" anchor="b"/>
          <a:lstStyle>
            <a:lvl1pPr algn="l">
              <a:defRPr sz="1000" b="1" i="0">
                <a:solidFill>
                  <a:schemeClr val="bg2">
                    <a:lumMod val="75000"/>
                  </a:schemeClr>
                </a:solidFill>
                <a:latin typeface="+mn-lt"/>
              </a:defRPr>
            </a:lvl1p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Tree>
    <p:extLst>
      <p:ext uri="{BB962C8B-B14F-4D97-AF65-F5344CB8AC3E}">
        <p14:creationId xmlns:p14="http://schemas.microsoft.com/office/powerpoint/2010/main" val="2673761668"/>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C8D8B9C-4075-4BC1-AF9A-5E9B94506DB7}"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4042171652"/>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8EA3936-0EFA-41DE-9BD7-867C7334E912}"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260544336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2DCA53F-FCBF-4517-A84A-91F4E4243AD6}" type="datetime1">
              <a:rPr lang="en-US" smtClean="0">
                <a:solidFill>
                  <a:srgbClr val="ACD433"/>
                </a:solidFill>
              </a:rPr>
              <a:pPr/>
              <a:t>7/22/2016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760808467"/>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a:prstGeom prst="rect">
            <a:avLst/>
          </a:prstGeo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a:prstGeom prst="rect">
            <a:avLst/>
          </a:prstGeo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E22D1A-CAE7-4D37-85C8-6F613DE24951}"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574884250"/>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lvl1pPr>
              <a:defRPr sz="2800"/>
            </a:lvl1pPr>
          </a:lstStyle>
          <a:p>
            <a:r>
              <a:rPr lang="en-US" dirty="0" smtClean="0"/>
              <a:t>Click to edit Master title style</a:t>
            </a:r>
            <a:endParaRPr lang="en-US" dirty="0"/>
          </a:p>
        </p:txBody>
      </p:sp>
      <p:sp>
        <p:nvSpPr>
          <p:cNvPr id="3" name="Text Placeholder 2"/>
          <p:cNvSpPr>
            <a:spLocks noGrp="1"/>
          </p:cNvSpPr>
          <p:nvPr>
            <p:ph type="body" idx="1"/>
          </p:nvPr>
        </p:nvSpPr>
        <p:spPr>
          <a:xfrm>
            <a:off x="1154954" y="2617299"/>
            <a:ext cx="3129168"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2E54B1-73A1-4263-B78F-FF5389683A00}"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90468793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24F1AEE-92DB-4E7F-88D2-942D1764EA56}"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a:prstGeom prst="rect">
            <a:avLst/>
          </a:prstGeo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328655581"/>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154955" y="2603500"/>
            <a:ext cx="8761412" cy="3416300"/>
          </a:xfrm>
          <a:prstGeom prst="rect">
            <a:avLst/>
          </a:prstGeo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AECB69-58DB-4BFC-A325-53FE97BF7120}"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a:prstGeom prst="rect">
            <a:avLst/>
          </a:prstGeo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94409972"/>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3830389727"/>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3546411927"/>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E8DEFF4-E5D7-40E3-9F07-A97091335251}"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310834986"/>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6CA6C49-0AE7-488E-97EC-96C9E77398C9}"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2381665708"/>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2D04742-B436-4121-8625-7255589F0C2E}" type="datetime1">
              <a:rPr lang="en-US" smtClean="0">
                <a:solidFill>
                  <a:srgbClr val="ACD433"/>
                </a:solidFill>
              </a:rPr>
              <a:pPr/>
              <a:t>7/22/2016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292023103"/>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E60A81-ACC1-4719-B82F-168E1D300DFB}"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518684183"/>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B1452F5-F43F-46F3-AC66-C35140D634AF}"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70538047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379C36-066F-4D49-83BF-071CB4A34EBA}"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707942842"/>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8698F9D-15CA-4DE4-A4C6-099D68AC7ACF}"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1619575356"/>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414136377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21" Type="http://schemas.openxmlformats.org/officeDocument/2006/relationships/slideLayout" Target="../slideLayouts/slideLayout24.xml"/><Relationship Id="rId34" Type="http://schemas.openxmlformats.org/officeDocument/2006/relationships/slideLayout" Target="../slideLayouts/slideLayout37.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33" Type="http://schemas.openxmlformats.org/officeDocument/2006/relationships/slideLayout" Target="../slideLayouts/slideLayout36.xml"/><Relationship Id="rId38" Type="http://schemas.openxmlformats.org/officeDocument/2006/relationships/image" Target="../media/image1.jpeg"/><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slideLayout" Target="../slideLayouts/slideLayout3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32" Type="http://schemas.openxmlformats.org/officeDocument/2006/relationships/slideLayout" Target="../slideLayouts/slideLayout35.xml"/><Relationship Id="rId37" Type="http://schemas.openxmlformats.org/officeDocument/2006/relationships/theme" Target="../theme/theme2.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36" Type="http://schemas.openxmlformats.org/officeDocument/2006/relationships/slideLayout" Target="../slideLayouts/slideLayout39.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31" Type="http://schemas.openxmlformats.org/officeDocument/2006/relationships/slideLayout" Target="../slideLayouts/slideLayout34.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slideLayout" Target="../slideLayouts/slideLayout33.xml"/><Relationship Id="rId35" Type="http://schemas.openxmlformats.org/officeDocument/2006/relationships/slideLayout" Target="../slideLayouts/slideLayout38.xml"/><Relationship Id="rId8" Type="http://schemas.openxmlformats.org/officeDocument/2006/relationships/slideLayout" Target="../slideLayouts/slideLayout11.xml"/><Relationship Id="rId3"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0" y="649287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3"/>
          </p:nvPr>
        </p:nvSpPr>
        <p:spPr>
          <a:xfrm>
            <a:off x="2946400" y="6505431"/>
            <a:ext cx="511345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dirty="0"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10" name="Rectangle 9"/>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1978708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rotWithShape="1">
          <a:blip r:embed="rId38"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9" name="Rectangle 8"/>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323537166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3" r:id="rId27"/>
    <p:sldLayoutId id="2147483734" r:id="rId28"/>
    <p:sldLayoutId id="2147483735" r:id="rId29"/>
    <p:sldLayoutId id="2147483736" r:id="rId30"/>
    <p:sldLayoutId id="2147483737" r:id="rId31"/>
    <p:sldLayoutId id="2147483738" r:id="rId32"/>
    <p:sldLayoutId id="2147483739" r:id="rId33"/>
    <p:sldLayoutId id="2147483740" r:id="rId34"/>
    <p:sldLayoutId id="2147483741" r:id="rId35"/>
    <p:sldLayoutId id="2147483742" r:id="rId3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hyperlink" Target="http://www.tableau.com/about/blog/2014/7/understanding-tableau-data-extracts-part1"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hyperlink" Target="http://www.tableau.com/about/blog/2014/7/understanding-tableau-data-extracts-part1" TargetMode="Externa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hyperlink" Target="http://www.tableau.com/about/blog/2014/7/understanding-tableau-data-extracts-part1"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BEBA8EAE-BF5A-486C-A8C5-ECC9F3942E4B}">
                <a14:imgProps xmlns:a14="http://schemas.microsoft.com/office/drawing/2010/main">
                  <a14:imgLayer r:embed="rId3">
                    <a14:imgEffect>
                      <a14:artisticChalkSketch/>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92000" cy="4943061"/>
          </a:xfrm>
          <a:prstGeom prst="rect">
            <a:avLst/>
          </a:prstGeom>
        </p:spPr>
      </p:pic>
      <p:grpSp>
        <p:nvGrpSpPr>
          <p:cNvPr id="8" name="Group 7"/>
          <p:cNvGrpSpPr/>
          <p:nvPr/>
        </p:nvGrpSpPr>
        <p:grpSpPr>
          <a:xfrm>
            <a:off x="2895600" y="5175028"/>
            <a:ext cx="6400800" cy="1200329"/>
            <a:chOff x="2895600" y="1960714"/>
            <a:chExt cx="6400800" cy="1200329"/>
          </a:xfrm>
        </p:grpSpPr>
        <p:sp>
          <p:nvSpPr>
            <p:cNvPr id="5" name="Rectangle 4"/>
            <p:cNvSpPr/>
            <p:nvPr/>
          </p:nvSpPr>
          <p:spPr>
            <a:xfrm>
              <a:off x="4457180" y="1960714"/>
              <a:ext cx="3283206" cy="1200329"/>
            </a:xfrm>
            <a:prstGeom prst="rect">
              <a:avLst/>
            </a:prstGeom>
          </p:spPr>
          <p:txBody>
            <a:bodyPr wrap="none">
              <a:spAutoFit/>
            </a:bodyPr>
            <a:lstStyle/>
            <a:p>
              <a:pPr algn="ctr"/>
              <a:r>
                <a:rPr lang="en-IN" sz="7200" dirty="0" smtClean="0">
                  <a:ln/>
                  <a:latin typeface="Leelawadee UI" panose="020B0502040204020203" pitchFamily="34" charset="-34"/>
                  <a:cs typeface="Leelawadee UI" panose="020B0502040204020203" pitchFamily="34" charset="-34"/>
                </a:rPr>
                <a:t>Tableau</a:t>
              </a:r>
              <a:endParaRPr lang="en-IN" sz="7200" dirty="0">
                <a:ln/>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117500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583304" y="5810440"/>
            <a:ext cx="2743200" cy="365125"/>
          </a:xfrm>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4" name="Text Placeholder 3"/>
          <p:cNvSpPr>
            <a:spLocks noGrp="1"/>
          </p:cNvSpPr>
          <p:nvPr>
            <p:ph type="body" sz="quarter" idx="13"/>
          </p:nvPr>
        </p:nvSpPr>
        <p:spPr>
          <a:xfrm>
            <a:off x="501061" y="671176"/>
            <a:ext cx="11113180" cy="582362"/>
          </a:xfrm>
        </p:spPr>
        <p:txBody>
          <a:bodyPr/>
          <a:lstStyle/>
          <a:p>
            <a:r>
              <a:rPr lang="en-IN" b="1" dirty="0" smtClean="0">
                <a:solidFill>
                  <a:schemeClr val="tx1"/>
                </a:solidFill>
              </a:rPr>
              <a:t>NEO WORKFLOW</a:t>
            </a:r>
            <a:endParaRPr lang="en-IN" b="1" dirty="0">
              <a:solidFill>
                <a:schemeClr val="tx1"/>
              </a:solidFill>
            </a:endParaRPr>
          </a:p>
        </p:txBody>
      </p:sp>
      <p:sp>
        <p:nvSpPr>
          <p:cNvPr id="6" name="TextBox 5"/>
          <p:cNvSpPr txBox="1"/>
          <p:nvPr/>
        </p:nvSpPr>
        <p:spPr bwMode="gray">
          <a:xfrm>
            <a:off x="501061" y="1002804"/>
            <a:ext cx="8055470" cy="5181600"/>
          </a:xfrm>
          <a:prstGeom prst="rect">
            <a:avLst/>
          </a:prstGeom>
        </p:spPr>
        <p:txBody>
          <a:bodyPr vert="horz" wrap="square" lIns="91440" tIns="45720" rIns="91440" bIns="45720" rtlCol="0" anchor="ctr">
            <a:noAutofit/>
          </a:bodyPr>
          <a:lstStyle/>
          <a:p>
            <a:endParaRPr lang="en-IN" sz="2000" dirty="0">
              <a:solidFill>
                <a:prstClr val="black"/>
              </a:solidFill>
            </a:endParaRPr>
          </a:p>
        </p:txBody>
      </p:sp>
      <p:graphicFrame>
        <p:nvGraphicFramePr>
          <p:cNvPr id="8" name="Diagram 7"/>
          <p:cNvGraphicFramePr/>
          <p:nvPr>
            <p:extLst>
              <p:ext uri="{D42A27DB-BD31-4B8C-83A1-F6EECF244321}">
                <p14:modId xmlns:p14="http://schemas.microsoft.com/office/powerpoint/2010/main" val="395103160"/>
              </p:ext>
            </p:extLst>
          </p:nvPr>
        </p:nvGraphicFramePr>
        <p:xfrm>
          <a:off x="501061" y="1002804"/>
          <a:ext cx="1111318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Placeholder 2"/>
          <p:cNvSpPr txBox="1">
            <a:spLocks/>
          </p:cNvSpPr>
          <p:nvPr/>
        </p:nvSpPr>
        <p:spPr>
          <a:xfrm>
            <a:off x="2487283" y="32763"/>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Quick Overview</a:t>
            </a:r>
            <a:endParaRPr lang="en-IN" dirty="0"/>
          </a:p>
        </p:txBody>
      </p:sp>
    </p:spTree>
    <p:extLst>
      <p:ext uri="{BB962C8B-B14F-4D97-AF65-F5344CB8AC3E}">
        <p14:creationId xmlns:p14="http://schemas.microsoft.com/office/powerpoint/2010/main" val="211163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583304" y="5810440"/>
            <a:ext cx="2743200" cy="365125"/>
          </a:xfrm>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4" name="Text Placeholder 3"/>
          <p:cNvSpPr>
            <a:spLocks noGrp="1"/>
          </p:cNvSpPr>
          <p:nvPr>
            <p:ph type="body" sz="quarter" idx="13"/>
          </p:nvPr>
        </p:nvSpPr>
        <p:spPr>
          <a:xfrm>
            <a:off x="501061" y="671176"/>
            <a:ext cx="11295987" cy="5504389"/>
          </a:xfrm>
        </p:spPr>
        <p:txBody>
          <a:bodyPr>
            <a:normAutofit/>
          </a:bodyPr>
          <a:lstStyle/>
          <a:p>
            <a:r>
              <a:rPr lang="en-IN" sz="2400" b="1" dirty="0" smtClean="0">
                <a:solidFill>
                  <a:schemeClr val="tx1"/>
                </a:solidFill>
              </a:rPr>
              <a:t>What is Data Visualisation - </a:t>
            </a:r>
            <a:endParaRPr lang="en-IN" sz="2400" dirty="0">
              <a:solidFill>
                <a:schemeClr val="tx1"/>
              </a:solidFill>
            </a:endParaRPr>
          </a:p>
          <a:p>
            <a:r>
              <a:rPr lang="en-IN" sz="2400" dirty="0">
                <a:solidFill>
                  <a:schemeClr val="tx1"/>
                </a:solidFill>
              </a:rPr>
              <a:t>Data visualization is a general term that describes any effort to help people understand the significance of data by placing it in a visual context. Patterns, trends and correlations that might go undetected in text-based data can be exposed and recognized easier with data visualization software.</a:t>
            </a:r>
            <a:endParaRPr lang="en-IN" sz="2400" dirty="0" smtClean="0">
              <a:solidFill>
                <a:schemeClr val="tx1"/>
              </a:solidFill>
            </a:endParaRPr>
          </a:p>
          <a:p>
            <a:endParaRPr lang="en-IN" b="1" dirty="0" smtClean="0">
              <a:solidFill>
                <a:schemeClr val="tx1"/>
              </a:solidFill>
            </a:endParaRPr>
          </a:p>
        </p:txBody>
      </p:sp>
      <p:sp>
        <p:nvSpPr>
          <p:cNvPr id="6" name="TextBox 5"/>
          <p:cNvSpPr txBox="1"/>
          <p:nvPr/>
        </p:nvSpPr>
        <p:spPr bwMode="gray">
          <a:xfrm>
            <a:off x="501061" y="1002804"/>
            <a:ext cx="8055470" cy="5181600"/>
          </a:xfrm>
          <a:prstGeom prst="rect">
            <a:avLst/>
          </a:prstGeom>
        </p:spPr>
        <p:txBody>
          <a:bodyPr vert="horz" wrap="square" lIns="91440" tIns="45720" rIns="91440" bIns="45720" rtlCol="0" anchor="ctr">
            <a:noAutofit/>
          </a:bodyPr>
          <a:lstStyle/>
          <a:p>
            <a:endParaRPr lang="en-IN" sz="2000" dirty="0">
              <a:solidFill>
                <a:prstClr val="black"/>
              </a:solidFill>
            </a:endParaRPr>
          </a:p>
        </p:txBody>
      </p:sp>
      <p:sp>
        <p:nvSpPr>
          <p:cNvPr id="7" name="Text Placeholder 2"/>
          <p:cNvSpPr txBox="1">
            <a:spLocks/>
          </p:cNvSpPr>
          <p:nvPr/>
        </p:nvSpPr>
        <p:spPr>
          <a:xfrm>
            <a:off x="2487283" y="32763"/>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Introduction to Tableau</a:t>
            </a:r>
            <a:endParaRPr lang="en-IN" dirty="0"/>
          </a:p>
        </p:txBody>
      </p:sp>
    </p:spTree>
    <p:extLst>
      <p:ext uri="{BB962C8B-B14F-4D97-AF65-F5344CB8AC3E}">
        <p14:creationId xmlns:p14="http://schemas.microsoft.com/office/powerpoint/2010/main" val="26975714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487" y="619460"/>
            <a:ext cx="9254544" cy="583105"/>
          </a:xfrm>
        </p:spPr>
        <p:txBody>
          <a:bodyPr>
            <a:noAutofit/>
          </a:bodyPr>
          <a:lstStyle/>
          <a:p>
            <a:pPr>
              <a:defRPr/>
            </a:pPr>
            <a:r>
              <a:rPr lang="en-US" sz="2400" b="1" dirty="0" smtClean="0">
                <a:latin typeface="+mn-lt"/>
              </a:rPr>
              <a:t>Oil Consumption Data</a:t>
            </a:r>
            <a:endParaRPr lang="en-US" sz="2400" b="1" dirty="0">
              <a:latin typeface="+mn-lt"/>
            </a:endParaRPr>
          </a:p>
        </p:txBody>
      </p:sp>
      <p:pic>
        <p:nvPicPr>
          <p:cNvPr id="13315"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rcRect r="3995" b="35902"/>
          <a:stretch>
            <a:fillRect/>
          </a:stretch>
        </p:blipFill>
        <p:spPr>
          <a:xfrm>
            <a:off x="1967170" y="1215444"/>
            <a:ext cx="7317408" cy="2747808"/>
          </a:xfrm>
        </p:spPr>
      </p:pic>
      <p:sp>
        <p:nvSpPr>
          <p:cNvPr id="5" name="Footer Placeholder 4"/>
          <p:cNvSpPr>
            <a:spLocks noGrp="1"/>
          </p:cNvSpPr>
          <p:nvPr>
            <p:ph type="ftr" sz="quarter" idx="11"/>
          </p:nvPr>
        </p:nvSpPr>
        <p:spPr/>
        <p:txBody>
          <a:bodyPr/>
          <a:lstStyle/>
          <a:p>
            <a:pPr>
              <a:defRPr/>
            </a:pPr>
            <a:r>
              <a:rPr lang="fi-FI"/>
              <a:t>Venkata Reddy Konasani </a:t>
            </a:r>
            <a:endParaRPr lang="en-IN" sz="1633"/>
          </a:p>
        </p:txBody>
      </p:sp>
      <p:pic>
        <p:nvPicPr>
          <p:cNvPr id="13317" name="Picture 6"/>
          <p:cNvPicPr>
            <a:picLocks noChangeAspect="1"/>
          </p:cNvPicPr>
          <p:nvPr/>
        </p:nvPicPr>
        <p:blipFill>
          <a:blip r:embed="rId3">
            <a:extLst>
              <a:ext uri="{28A0092B-C50C-407E-A947-70E740481C1C}">
                <a14:useLocalDpi xmlns:a14="http://schemas.microsoft.com/office/drawing/2010/main" val="0"/>
              </a:ext>
            </a:extLst>
          </a:blip>
          <a:srcRect l="191" t="2751" r="9045" b="47047"/>
          <a:stretch>
            <a:fillRect/>
          </a:stretch>
        </p:blipFill>
        <p:spPr bwMode="auto">
          <a:xfrm>
            <a:off x="1967170" y="3963252"/>
            <a:ext cx="7317408" cy="2275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2"/>
          <p:cNvSpPr txBox="1">
            <a:spLocks/>
          </p:cNvSpPr>
          <p:nvPr/>
        </p:nvSpPr>
        <p:spPr>
          <a:xfrm>
            <a:off x="2487283" y="32763"/>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Introduction to Tableau</a:t>
            </a:r>
            <a:endParaRPr lang="en-IN" dirty="0"/>
          </a:p>
        </p:txBody>
      </p:sp>
    </p:spTree>
    <p:extLst>
      <p:ext uri="{BB962C8B-B14F-4D97-AF65-F5344CB8AC3E}">
        <p14:creationId xmlns:p14="http://schemas.microsoft.com/office/powerpoint/2010/main" val="28998977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3648"/>
            <a:ext cx="10515600" cy="4351338"/>
          </a:xfrm>
        </p:spPr>
        <p:txBody>
          <a:bodyPr>
            <a:normAutofit/>
          </a:bodyPr>
          <a:lstStyle/>
          <a:p>
            <a:pPr marL="115214" indent="0">
              <a:buNone/>
              <a:defRPr/>
            </a:pPr>
            <a:r>
              <a:rPr lang="en-US" sz="2400" dirty="0" smtClean="0"/>
              <a:t>That oil consumption data shows below details</a:t>
            </a:r>
          </a:p>
          <a:p>
            <a:pPr>
              <a:defRPr/>
            </a:pPr>
            <a:r>
              <a:rPr lang="en-US" sz="2400" dirty="0" smtClean="0"/>
              <a:t>Cure Oil, refined oil imports and Exports by country also weighted by population</a:t>
            </a:r>
          </a:p>
          <a:p>
            <a:pPr>
              <a:defRPr/>
            </a:pPr>
            <a:r>
              <a:rPr lang="en-US" sz="2400" dirty="0" smtClean="0"/>
              <a:t>Reserves left by country and by region </a:t>
            </a:r>
          </a:p>
          <a:p>
            <a:pPr>
              <a:defRPr/>
            </a:pPr>
            <a:r>
              <a:rPr lang="en-US" sz="2400" dirty="0" smtClean="0"/>
              <a:t>Consumption by population over the time </a:t>
            </a:r>
            <a:endParaRPr lang="en-US" sz="2400" dirty="0"/>
          </a:p>
          <a:p>
            <a:pPr>
              <a:defRPr/>
            </a:pPr>
            <a:endParaRPr lang="en-US" sz="2400" dirty="0" smtClean="0"/>
          </a:p>
          <a:p>
            <a:pPr marL="115214" indent="0">
              <a:buNone/>
              <a:defRPr/>
            </a:pPr>
            <a:r>
              <a:rPr lang="en-US" sz="2400" dirty="0" smtClean="0"/>
              <a:t>Really??? Is it easy to get the picture?</a:t>
            </a:r>
            <a:endParaRPr lang="en-US" sz="2400" dirty="0"/>
          </a:p>
        </p:txBody>
      </p:sp>
      <p:sp>
        <p:nvSpPr>
          <p:cNvPr id="5" name="Footer Placeholder 4"/>
          <p:cNvSpPr>
            <a:spLocks noGrp="1"/>
          </p:cNvSpPr>
          <p:nvPr>
            <p:ph type="ftr" sz="quarter" idx="11"/>
          </p:nvPr>
        </p:nvSpPr>
        <p:spPr/>
        <p:txBody>
          <a:bodyPr/>
          <a:lstStyle/>
          <a:p>
            <a:pPr>
              <a:defRPr/>
            </a:pPr>
            <a:r>
              <a:rPr lang="fi-FI"/>
              <a:t>Venkata Reddy Konasani </a:t>
            </a:r>
            <a:endParaRPr lang="en-IN" sz="1633"/>
          </a:p>
        </p:txBody>
      </p:sp>
      <p:sp>
        <p:nvSpPr>
          <p:cNvPr id="6" name="Text Placeholder 2"/>
          <p:cNvSpPr txBox="1">
            <a:spLocks/>
          </p:cNvSpPr>
          <p:nvPr/>
        </p:nvSpPr>
        <p:spPr>
          <a:xfrm>
            <a:off x="2487283" y="32763"/>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Aim is to understand</a:t>
            </a:r>
          </a:p>
        </p:txBody>
      </p:sp>
    </p:spTree>
    <p:extLst>
      <p:ext uri="{BB962C8B-B14F-4D97-AF65-F5344CB8AC3E}">
        <p14:creationId xmlns:p14="http://schemas.microsoft.com/office/powerpoint/2010/main" val="40409466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838200" y="666527"/>
            <a:ext cx="10515600" cy="4351338"/>
          </a:xfrm>
        </p:spPr>
        <p:txBody>
          <a:bodyPr>
            <a:normAutofit/>
          </a:bodyPr>
          <a:lstStyle/>
          <a:p>
            <a:r>
              <a:rPr lang="en-US" altLang="en-US" sz="2400" dirty="0" smtClean="0"/>
              <a:t>Tableau is a </a:t>
            </a:r>
            <a:r>
              <a:rPr lang="en-US" altLang="en-US" sz="2400" b="1" i="1" u="sng" dirty="0" smtClean="0"/>
              <a:t>rapid </a:t>
            </a:r>
            <a:r>
              <a:rPr lang="en-US" altLang="en-US" sz="2400" dirty="0" smtClean="0"/>
              <a:t>BI software </a:t>
            </a:r>
          </a:p>
          <a:p>
            <a:r>
              <a:rPr lang="en-US" altLang="en-US" sz="2400" b="1" dirty="0" smtClean="0"/>
              <a:t>Great visualizations: </a:t>
            </a:r>
            <a:r>
              <a:rPr lang="en-US" altLang="en-US" sz="2400" dirty="0" smtClean="0"/>
              <a:t>Allows anyone to connect to data, visualize and create interactive, sharable dashboards in a few clicks</a:t>
            </a:r>
          </a:p>
          <a:p>
            <a:r>
              <a:rPr lang="en-US" altLang="en-US" sz="2400" b="1" dirty="0" smtClean="0"/>
              <a:t>Ease of use</a:t>
            </a:r>
            <a:r>
              <a:rPr lang="en-US" altLang="en-US" sz="2400" dirty="0" smtClean="0"/>
              <a:t>: It's easy enough that any Excel user can learn it, but powerful enough to satisfy even the most complex analytical problems.</a:t>
            </a:r>
          </a:p>
          <a:p>
            <a:r>
              <a:rPr lang="en-US" altLang="en-US" sz="2400" b="1" dirty="0" smtClean="0"/>
              <a:t>Fast: </a:t>
            </a:r>
            <a:r>
              <a:rPr lang="en-US" altLang="en-US" sz="2400" dirty="0" smtClean="0"/>
              <a:t>We can create parallelized dashboards, quick filters and calculations</a:t>
            </a:r>
          </a:p>
          <a:p>
            <a:endParaRPr lang="en-US" altLang="en-US" sz="2400" dirty="0" smtClean="0"/>
          </a:p>
        </p:txBody>
      </p:sp>
      <p:sp>
        <p:nvSpPr>
          <p:cNvPr id="5" name="Footer Placeholder 4"/>
          <p:cNvSpPr>
            <a:spLocks noGrp="1"/>
          </p:cNvSpPr>
          <p:nvPr>
            <p:ph type="ftr" sz="quarter" idx="11"/>
          </p:nvPr>
        </p:nvSpPr>
        <p:spPr/>
        <p:txBody>
          <a:bodyPr/>
          <a:lstStyle/>
          <a:p>
            <a:pPr>
              <a:defRPr/>
            </a:pPr>
            <a:r>
              <a:rPr lang="fi-FI"/>
              <a:t>Venkata Reddy Konasani </a:t>
            </a:r>
            <a:endParaRPr lang="en-IN" sz="1633"/>
          </a:p>
        </p:txBody>
      </p:sp>
      <p:sp>
        <p:nvSpPr>
          <p:cNvPr id="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What is Tableau</a:t>
            </a:r>
          </a:p>
        </p:txBody>
      </p:sp>
    </p:spTree>
    <p:extLst>
      <p:ext uri="{BB962C8B-B14F-4D97-AF65-F5344CB8AC3E}">
        <p14:creationId xmlns:p14="http://schemas.microsoft.com/office/powerpoint/2010/main" val="14566167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fi-FI"/>
              <a:t>Venkata Reddy Konasani </a:t>
            </a:r>
            <a:endParaRPr lang="en-IN" sz="1633"/>
          </a:p>
        </p:txBody>
      </p:sp>
      <p:pic>
        <p:nvPicPr>
          <p:cNvPr id="11" name="Picture 10"/>
          <p:cNvPicPr>
            <a:picLocks noChangeAspect="1"/>
          </p:cNvPicPr>
          <p:nvPr/>
        </p:nvPicPr>
        <p:blipFill>
          <a:blip r:embed="rId2"/>
          <a:stretch>
            <a:fillRect/>
          </a:stretch>
        </p:blipFill>
        <p:spPr>
          <a:xfrm>
            <a:off x="7723682" y="721238"/>
            <a:ext cx="3374275" cy="4707855"/>
          </a:xfrm>
          <a:prstGeom prst="rect">
            <a:avLst/>
          </a:prstGeom>
          <a:ln>
            <a:noFill/>
          </a:ln>
          <a:effectLst>
            <a:outerShdw blurRad="292100" dist="139700" dir="2700000" algn="tl" rotWithShape="0">
              <a:srgbClr val="333333">
                <a:alpha val="65000"/>
              </a:srgbClr>
            </a:outerShdw>
          </a:effectLst>
        </p:spPr>
      </p:pic>
      <p:sp>
        <p:nvSpPr>
          <p:cNvPr id="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Sample Tableau dashboards</a:t>
            </a:r>
          </a:p>
        </p:txBody>
      </p:sp>
      <p:pic>
        <p:nvPicPr>
          <p:cNvPr id="8" name="Content Placeholder 8"/>
          <p:cNvPicPr>
            <a:picLocks noChangeAspect="1"/>
          </p:cNvPicPr>
          <p:nvPr/>
        </p:nvPicPr>
        <p:blipFill>
          <a:blip r:embed="rId3"/>
          <a:stretch>
            <a:fillRect/>
          </a:stretch>
        </p:blipFill>
        <p:spPr bwMode="auto">
          <a:xfrm>
            <a:off x="913022" y="721238"/>
            <a:ext cx="6107228" cy="4494706"/>
          </a:xfrm>
          <a:prstGeom prst="rect">
            <a:avLst/>
          </a:prstGeom>
          <a:noFill/>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9412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7"/>
          <p:cNvSpPr txBox="1">
            <a:spLocks noChangeArrowheads="1"/>
          </p:cNvSpPr>
          <p:nvPr/>
        </p:nvSpPr>
        <p:spPr bwMode="auto">
          <a:xfrm>
            <a:off x="1866277" y="763624"/>
            <a:ext cx="2004690" cy="7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33" b="1" dirty="0">
                <a:solidFill>
                  <a:srgbClr val="1F497D"/>
                </a:solidFill>
                <a:latin typeface="+mn-lt"/>
              </a:rPr>
              <a:t>Tableau Desktop</a:t>
            </a:r>
          </a:p>
          <a:p>
            <a:pPr algn="ctr" eaLnBrk="1" hangingPunct="1">
              <a:spcBef>
                <a:spcPct val="50000"/>
              </a:spcBef>
              <a:defRPr/>
            </a:pPr>
            <a:r>
              <a:rPr lang="en-US" sz="1633" b="1" dirty="0">
                <a:solidFill>
                  <a:srgbClr val="E46C0A"/>
                </a:solidFill>
                <a:latin typeface="+mn-lt"/>
              </a:rPr>
              <a:t>Create</a:t>
            </a:r>
          </a:p>
        </p:txBody>
      </p:sp>
      <p:sp>
        <p:nvSpPr>
          <p:cNvPr id="19" name="Text Box 8"/>
          <p:cNvSpPr txBox="1">
            <a:spLocks noChangeArrowheads="1"/>
          </p:cNvSpPr>
          <p:nvPr/>
        </p:nvSpPr>
        <p:spPr bwMode="auto">
          <a:xfrm>
            <a:off x="4126998" y="763624"/>
            <a:ext cx="2004690" cy="7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33" b="1">
                <a:solidFill>
                  <a:srgbClr val="1F497D"/>
                </a:solidFill>
                <a:latin typeface="+mn-lt"/>
              </a:rPr>
              <a:t>Tableau Server</a:t>
            </a:r>
          </a:p>
          <a:p>
            <a:pPr algn="ctr" eaLnBrk="1" hangingPunct="1">
              <a:spcBef>
                <a:spcPct val="50000"/>
              </a:spcBef>
              <a:defRPr/>
            </a:pPr>
            <a:r>
              <a:rPr lang="en-US" sz="1633" b="1">
                <a:solidFill>
                  <a:srgbClr val="E46C0A"/>
                </a:solidFill>
                <a:latin typeface="+mn-lt"/>
              </a:rPr>
              <a:t>Share - Web</a:t>
            </a:r>
          </a:p>
        </p:txBody>
      </p:sp>
      <p:sp>
        <p:nvSpPr>
          <p:cNvPr id="20" name="Text Box 8"/>
          <p:cNvSpPr txBox="1">
            <a:spLocks noChangeArrowheads="1"/>
          </p:cNvSpPr>
          <p:nvPr/>
        </p:nvSpPr>
        <p:spPr bwMode="auto">
          <a:xfrm>
            <a:off x="6582142" y="818910"/>
            <a:ext cx="2004690" cy="7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33" b="1">
                <a:solidFill>
                  <a:srgbClr val="1F497D"/>
                </a:solidFill>
                <a:latin typeface="+mn-lt"/>
              </a:rPr>
              <a:t>Tableau Reader</a:t>
            </a:r>
          </a:p>
          <a:p>
            <a:pPr algn="ctr" eaLnBrk="1" hangingPunct="1">
              <a:spcBef>
                <a:spcPct val="50000"/>
              </a:spcBef>
              <a:defRPr/>
            </a:pPr>
            <a:r>
              <a:rPr lang="en-US" sz="1633" b="1">
                <a:solidFill>
                  <a:srgbClr val="E46C0A"/>
                </a:solidFill>
                <a:latin typeface="+mn-lt"/>
              </a:rPr>
              <a:t>Share - Local</a:t>
            </a:r>
          </a:p>
        </p:txBody>
      </p:sp>
      <p:sp>
        <p:nvSpPr>
          <p:cNvPr id="21" name="Content Placeholder 151"/>
          <p:cNvSpPr>
            <a:spLocks noGrp="1"/>
          </p:cNvSpPr>
          <p:nvPr>
            <p:ph idx="4294967295"/>
          </p:nvPr>
        </p:nvSpPr>
        <p:spPr>
          <a:xfrm>
            <a:off x="4078195" y="3439335"/>
            <a:ext cx="2327014" cy="3000101"/>
          </a:xfrm>
        </p:spPr>
        <p:txBody>
          <a:bodyPr>
            <a:normAutofit/>
          </a:bodyPr>
          <a:lstStyle/>
          <a:p>
            <a:pPr marL="321229" indent="-171450">
              <a:buClr>
                <a:schemeClr val="tx2"/>
              </a:buClr>
              <a:defRPr/>
            </a:pPr>
            <a:r>
              <a:rPr lang="en-US" sz="1400" dirty="0"/>
              <a:t>business intelligence solution scales to organizations of all sizes</a:t>
            </a:r>
          </a:p>
          <a:p>
            <a:pPr marL="321229" indent="-171450">
              <a:buClr>
                <a:schemeClr val="tx2"/>
              </a:buClr>
              <a:defRPr/>
            </a:pPr>
            <a:r>
              <a:rPr lang="en-US" sz="1400" dirty="0"/>
              <a:t>share visual analytics with anyone with a web browser</a:t>
            </a:r>
          </a:p>
          <a:p>
            <a:pPr marL="321229" indent="-171450">
              <a:buClr>
                <a:schemeClr val="tx2"/>
              </a:buClr>
              <a:defRPr/>
            </a:pPr>
            <a:r>
              <a:rPr lang="en-US" sz="1400" dirty="0"/>
              <a:t>publish interactive analytics or dashboards</a:t>
            </a:r>
          </a:p>
          <a:p>
            <a:pPr marL="321229" indent="-171450">
              <a:buClr>
                <a:schemeClr val="tx2"/>
              </a:buClr>
              <a:defRPr/>
            </a:pPr>
            <a:r>
              <a:rPr lang="en-US" sz="1400" dirty="0"/>
              <a:t>secure information and manage metadata</a:t>
            </a:r>
          </a:p>
          <a:p>
            <a:pPr marL="321229" indent="-171450">
              <a:buClr>
                <a:schemeClr val="tx2"/>
              </a:buClr>
              <a:defRPr/>
            </a:pPr>
            <a:r>
              <a:rPr lang="en-US" sz="1400" dirty="0"/>
              <a:t>collaborate with others</a:t>
            </a:r>
          </a:p>
          <a:p>
            <a:pPr>
              <a:defRPr/>
            </a:pPr>
            <a:endParaRPr lang="en-US" sz="1400" dirty="0"/>
          </a:p>
        </p:txBody>
      </p:sp>
      <p:sp>
        <p:nvSpPr>
          <p:cNvPr id="20488" name="Content Placeholder 151"/>
          <p:cNvSpPr>
            <a:spLocks noGrp="1"/>
          </p:cNvSpPr>
          <p:nvPr>
            <p:ph idx="4294967295"/>
          </p:nvPr>
        </p:nvSpPr>
        <p:spPr>
          <a:xfrm>
            <a:off x="6493014" y="3494621"/>
            <a:ext cx="2410191" cy="3000101"/>
          </a:xfrm>
        </p:spPr>
        <p:txBody>
          <a:bodyPr>
            <a:normAutofit/>
          </a:bodyPr>
          <a:lstStyle/>
          <a:p>
            <a:pPr marL="321229" indent="-171450">
              <a:buClr>
                <a:schemeClr val="tx2"/>
              </a:buClr>
            </a:pPr>
            <a:r>
              <a:rPr lang="en-US" altLang="en-US" sz="1400" dirty="0"/>
              <a:t>share visualizations &amp; dashboards on the desktop </a:t>
            </a:r>
          </a:p>
          <a:p>
            <a:pPr marL="321229" indent="-171450">
              <a:buClr>
                <a:schemeClr val="tx2"/>
              </a:buClr>
            </a:pPr>
            <a:r>
              <a:rPr lang="en-US" altLang="en-US" sz="1400" dirty="0"/>
              <a:t>filter, sort, and page through the views</a:t>
            </a:r>
          </a:p>
          <a:p>
            <a:pPr marL="321229" indent="-171450">
              <a:buClr>
                <a:schemeClr val="tx2"/>
              </a:buClr>
            </a:pPr>
            <a:r>
              <a:rPr lang="en-US" altLang="en-US" sz="1400" dirty="0"/>
              <a:t>“Acrobat for Data”</a:t>
            </a:r>
          </a:p>
          <a:p>
            <a:pPr marL="321229" indent="-171450">
              <a:buClr>
                <a:schemeClr val="tx2"/>
              </a:buClr>
            </a:pPr>
            <a:r>
              <a:rPr lang="en-US" altLang="en-US" sz="1400" dirty="0"/>
              <a:t>free download</a:t>
            </a:r>
          </a:p>
        </p:txBody>
      </p:sp>
      <p:sp>
        <p:nvSpPr>
          <p:cNvPr id="23" name="Content Placeholder 151"/>
          <p:cNvSpPr>
            <a:spLocks noGrp="1"/>
          </p:cNvSpPr>
          <p:nvPr>
            <p:ph idx="4294967295"/>
          </p:nvPr>
        </p:nvSpPr>
        <p:spPr>
          <a:xfrm>
            <a:off x="1777150" y="3439334"/>
            <a:ext cx="2349848" cy="2472067"/>
          </a:xfrm>
        </p:spPr>
        <p:txBody>
          <a:bodyPr>
            <a:normAutofit/>
          </a:bodyPr>
          <a:lstStyle/>
          <a:p>
            <a:pPr marL="321229" indent="-171450">
              <a:buClr>
                <a:schemeClr val="tx2"/>
              </a:buClr>
              <a:defRPr/>
            </a:pPr>
            <a:r>
              <a:rPr lang="en-US" sz="1400" dirty="0"/>
              <a:t>ad hoc analytics, dashboards, reports, graphs</a:t>
            </a:r>
          </a:p>
          <a:p>
            <a:pPr marL="321229" indent="-171450">
              <a:buClr>
                <a:schemeClr val="tx2"/>
              </a:buClr>
              <a:defRPr/>
            </a:pPr>
            <a:r>
              <a:rPr lang="en-US" sz="1400" dirty="0"/>
              <a:t>explore, visualize, and analyze your data</a:t>
            </a:r>
          </a:p>
          <a:p>
            <a:pPr marL="321229" indent="-171450">
              <a:buClr>
                <a:schemeClr val="tx2"/>
              </a:buClr>
              <a:defRPr/>
            </a:pPr>
            <a:r>
              <a:rPr lang="en-US" sz="1400" dirty="0"/>
              <a:t>create dashboards to consolidate multiple views</a:t>
            </a:r>
          </a:p>
          <a:p>
            <a:pPr marL="321229" indent="-171450">
              <a:buClr>
                <a:schemeClr val="tx2"/>
              </a:buClr>
              <a:defRPr/>
            </a:pPr>
            <a:r>
              <a:rPr lang="en-US" sz="1400" dirty="0"/>
              <a:t>deliver interactive data experiences</a:t>
            </a:r>
          </a:p>
          <a:p>
            <a:pPr>
              <a:defRPr/>
            </a:pPr>
            <a:endParaRPr lang="en-US" sz="1400" dirty="0"/>
          </a:p>
        </p:txBody>
      </p:sp>
      <p:pic>
        <p:nvPicPr>
          <p:cNvPr id="24" name="Picture 2"/>
          <p:cNvPicPr>
            <a:picLocks noChangeAspect="1" noChangeArrowheads="1"/>
          </p:cNvPicPr>
          <p:nvPr/>
        </p:nvPicPr>
        <p:blipFill>
          <a:blip r:embed="rId2" cstate="print"/>
          <a:srcRect/>
          <a:stretch>
            <a:fillRect/>
          </a:stretch>
        </p:blipFill>
        <p:spPr bwMode="auto">
          <a:xfrm>
            <a:off x="2109599" y="1662998"/>
            <a:ext cx="2021818" cy="15438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5" name="Picture 3"/>
          <p:cNvPicPr>
            <a:picLocks noChangeAspect="1" noChangeArrowheads="1"/>
          </p:cNvPicPr>
          <p:nvPr/>
        </p:nvPicPr>
        <p:blipFill>
          <a:blip r:embed="rId3" cstate="print"/>
          <a:srcRect/>
          <a:stretch>
            <a:fillRect/>
          </a:stretch>
        </p:blipFill>
        <p:spPr bwMode="auto">
          <a:xfrm>
            <a:off x="6806534" y="1718284"/>
            <a:ext cx="2074665" cy="15438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6" name="Picture 2"/>
          <p:cNvPicPr>
            <a:picLocks noChangeAspect="1" noChangeArrowheads="1"/>
          </p:cNvPicPr>
          <p:nvPr/>
        </p:nvPicPr>
        <p:blipFill>
          <a:blip r:embed="rId4" cstate="print"/>
          <a:srcRect/>
          <a:stretch>
            <a:fillRect/>
          </a:stretch>
        </p:blipFill>
        <p:spPr bwMode="auto">
          <a:xfrm>
            <a:off x="4365315" y="1662998"/>
            <a:ext cx="2188568" cy="15438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7" name="Text Box 8"/>
          <p:cNvSpPr txBox="1">
            <a:spLocks noChangeArrowheads="1"/>
          </p:cNvSpPr>
          <p:nvPr/>
        </p:nvSpPr>
        <p:spPr bwMode="auto">
          <a:xfrm>
            <a:off x="9213304" y="763624"/>
            <a:ext cx="2004690" cy="7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33" b="1">
                <a:solidFill>
                  <a:srgbClr val="1F497D"/>
                </a:solidFill>
                <a:latin typeface="+mn-lt"/>
              </a:rPr>
              <a:t>Tableau Public</a:t>
            </a:r>
          </a:p>
          <a:p>
            <a:pPr algn="ctr" eaLnBrk="1" hangingPunct="1">
              <a:spcBef>
                <a:spcPct val="50000"/>
              </a:spcBef>
              <a:defRPr/>
            </a:pPr>
            <a:r>
              <a:rPr lang="en-US" sz="1633" b="1">
                <a:solidFill>
                  <a:srgbClr val="E46C0A"/>
                </a:solidFill>
                <a:latin typeface="+mn-lt"/>
              </a:rPr>
              <a:t>Share - Everyone</a:t>
            </a:r>
          </a:p>
        </p:txBody>
      </p:sp>
      <p:sp>
        <p:nvSpPr>
          <p:cNvPr id="28" name="Content Placeholder 151"/>
          <p:cNvSpPr>
            <a:spLocks noGrp="1"/>
          </p:cNvSpPr>
          <p:nvPr>
            <p:ph idx="4294967295"/>
          </p:nvPr>
        </p:nvSpPr>
        <p:spPr>
          <a:xfrm>
            <a:off x="9193305" y="3439401"/>
            <a:ext cx="2073818" cy="1589927"/>
          </a:xfrm>
        </p:spPr>
        <p:txBody>
          <a:bodyPr>
            <a:noAutofit/>
          </a:bodyPr>
          <a:lstStyle/>
          <a:p>
            <a:pPr marL="321229" indent="-171450">
              <a:buClr>
                <a:schemeClr val="tx2"/>
              </a:buClr>
              <a:defRPr/>
            </a:pPr>
            <a:r>
              <a:rPr lang="en-US" sz="1400" dirty="0"/>
              <a:t>create and publish interactive visualizations and dashboards </a:t>
            </a:r>
          </a:p>
          <a:p>
            <a:pPr marL="321229" indent="-171450">
              <a:buClr>
                <a:schemeClr val="tx2"/>
              </a:buClr>
              <a:defRPr/>
            </a:pPr>
            <a:r>
              <a:rPr lang="en-US" sz="1400" dirty="0"/>
              <a:t>embed in websites and blogs</a:t>
            </a:r>
          </a:p>
          <a:p>
            <a:pPr marL="321229" indent="-171450">
              <a:buClr>
                <a:schemeClr val="tx2"/>
              </a:buClr>
              <a:defRPr/>
            </a:pPr>
            <a:r>
              <a:rPr lang="en-US" sz="1400" dirty="0"/>
              <a:t>free download and free hosting service </a:t>
            </a:r>
          </a:p>
          <a:p>
            <a:pPr>
              <a:defRPr/>
            </a:pPr>
            <a:endParaRPr lang="en-US" sz="1400" dirty="0"/>
          </a:p>
        </p:txBody>
      </p:sp>
      <p:pic>
        <p:nvPicPr>
          <p:cNvPr id="29" name="Picture 2"/>
          <p:cNvPicPr>
            <a:picLocks noChangeAspect="1" noChangeArrowheads="1"/>
          </p:cNvPicPr>
          <p:nvPr/>
        </p:nvPicPr>
        <p:blipFill>
          <a:blip r:embed="rId5" cstate="print"/>
          <a:srcRect/>
          <a:stretch>
            <a:fillRect/>
          </a:stretch>
        </p:blipFill>
        <p:spPr bwMode="auto">
          <a:xfrm>
            <a:off x="9394537" y="1662997"/>
            <a:ext cx="2002171" cy="15639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Tableau </a:t>
            </a:r>
            <a:r>
              <a:rPr lang="en-IN" dirty="0" smtClean="0"/>
              <a:t>Products – Add Tableau Online also</a:t>
            </a:r>
            <a:endParaRPr lang="en-IN" dirty="0"/>
          </a:p>
        </p:txBody>
      </p:sp>
    </p:spTree>
    <p:extLst>
      <p:ext uri="{BB962C8B-B14F-4D97-AF65-F5344CB8AC3E}">
        <p14:creationId xmlns:p14="http://schemas.microsoft.com/office/powerpoint/2010/main" val="40346793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Steps to create the Tableau Dashboard</a:t>
            </a:r>
            <a:endParaRPr lang="en-IN" dirty="0"/>
          </a:p>
        </p:txBody>
      </p:sp>
      <p:graphicFrame>
        <p:nvGraphicFramePr>
          <p:cNvPr id="3" name="Diagram 2"/>
          <p:cNvGraphicFramePr/>
          <p:nvPr>
            <p:extLst>
              <p:ext uri="{D42A27DB-BD31-4B8C-83A1-F6EECF244321}">
                <p14:modId xmlns:p14="http://schemas.microsoft.com/office/powerpoint/2010/main" val="689876663"/>
              </p:ext>
            </p:extLst>
          </p:nvPr>
        </p:nvGraphicFramePr>
        <p:xfrm>
          <a:off x="576687" y="732545"/>
          <a:ext cx="1123324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19638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Types of Connections</a:t>
            </a:r>
          </a:p>
        </p:txBody>
      </p:sp>
      <p:sp>
        <p:nvSpPr>
          <p:cNvPr id="2" name="Rectangle 1"/>
          <p:cNvSpPr/>
          <p:nvPr/>
        </p:nvSpPr>
        <p:spPr>
          <a:xfrm>
            <a:off x="485104" y="787225"/>
            <a:ext cx="11518006" cy="3046988"/>
          </a:xfrm>
          <a:prstGeom prst="rect">
            <a:avLst/>
          </a:prstGeom>
        </p:spPr>
        <p:txBody>
          <a:bodyPr wrap="square">
            <a:spAutoFit/>
          </a:bodyPr>
          <a:lstStyle/>
          <a:p>
            <a:pPr marL="342900" indent="-342900" fontAlgn="base">
              <a:buFont typeface="Arial" panose="020B0604020202020204" pitchFamily="34" charset="0"/>
              <a:buChar char="•"/>
            </a:pPr>
            <a:r>
              <a:rPr lang="en-IN" sz="2400" dirty="0" smtClean="0"/>
              <a:t>Extract Connection: A </a:t>
            </a:r>
            <a:r>
              <a:rPr lang="en-IN" sz="2400" dirty="0"/>
              <a:t>connection with a static database, which is refreshed every day/hour/period. All </a:t>
            </a:r>
            <a:r>
              <a:rPr lang="en-IN" sz="2400" dirty="0" smtClean="0"/>
              <a:t>data </a:t>
            </a:r>
            <a:r>
              <a:rPr lang="en-IN" sz="2400" dirty="0"/>
              <a:t>is copied from the </a:t>
            </a:r>
            <a:r>
              <a:rPr lang="en-IN" sz="2400" dirty="0" smtClean="0"/>
              <a:t>data source </a:t>
            </a:r>
            <a:r>
              <a:rPr lang="en-IN" sz="2400" dirty="0"/>
              <a:t>to Tableau Server. Refreshing the </a:t>
            </a:r>
            <a:r>
              <a:rPr lang="en-IN" sz="2400" dirty="0" smtClean="0"/>
              <a:t>data source </a:t>
            </a:r>
            <a:r>
              <a:rPr lang="en-IN" sz="2400" dirty="0"/>
              <a:t>will not give you the latest data - you have to refresh the extract to get these.</a:t>
            </a:r>
          </a:p>
          <a:p>
            <a:pPr fontAlgn="base"/>
            <a:endParaRPr lang="en-IN" sz="2400" dirty="0"/>
          </a:p>
          <a:p>
            <a:pPr marL="342900" indent="-342900" fontAlgn="base">
              <a:buFont typeface="Arial" panose="020B0604020202020204" pitchFamily="34" charset="0"/>
              <a:buChar char="•"/>
            </a:pPr>
            <a:r>
              <a:rPr lang="en-IN" sz="2400" dirty="0" smtClean="0"/>
              <a:t>Live Connection: This will </a:t>
            </a:r>
            <a:r>
              <a:rPr lang="en-IN" sz="2400" dirty="0"/>
              <a:t>query the underlying data in the </a:t>
            </a:r>
            <a:r>
              <a:rPr lang="en-IN" sz="2400" dirty="0" smtClean="0"/>
              <a:t>data source/database </a:t>
            </a:r>
            <a:r>
              <a:rPr lang="en-IN" sz="2400" dirty="0"/>
              <a:t>- refreshing the visualisation will give you the latest results. No data is copied to Tableau Server for pre-processing.</a:t>
            </a:r>
            <a:endParaRPr lang="en-IN" sz="2400" b="0" i="0" dirty="0">
              <a:effectLst/>
            </a:endParaRPr>
          </a:p>
        </p:txBody>
      </p:sp>
    </p:spTree>
    <p:extLst>
      <p:ext uri="{BB962C8B-B14F-4D97-AF65-F5344CB8AC3E}">
        <p14:creationId xmlns:p14="http://schemas.microsoft.com/office/powerpoint/2010/main" val="40491613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Types of Connections</a:t>
            </a:r>
          </a:p>
        </p:txBody>
      </p:sp>
      <p:sp>
        <p:nvSpPr>
          <p:cNvPr id="2" name="Rectangle 1"/>
          <p:cNvSpPr/>
          <p:nvPr/>
        </p:nvSpPr>
        <p:spPr>
          <a:xfrm>
            <a:off x="485104" y="787225"/>
            <a:ext cx="11518006" cy="5262979"/>
          </a:xfrm>
          <a:prstGeom prst="rect">
            <a:avLst/>
          </a:prstGeom>
        </p:spPr>
        <p:txBody>
          <a:bodyPr wrap="square">
            <a:spAutoFit/>
          </a:bodyPr>
          <a:lstStyle/>
          <a:p>
            <a:pPr fontAlgn="base"/>
            <a:r>
              <a:rPr lang="en-IN" sz="2400" b="0" i="0" dirty="0" smtClean="0">
                <a:effectLst/>
              </a:rPr>
              <a:t>Which is better?</a:t>
            </a:r>
          </a:p>
          <a:p>
            <a:pPr fontAlgn="base"/>
            <a:endParaRPr lang="en-IN" sz="2400" dirty="0" smtClean="0"/>
          </a:p>
          <a:p>
            <a:pPr fontAlgn="base"/>
            <a:r>
              <a:rPr lang="en-IN" sz="2400" dirty="0"/>
              <a:t>Extract will be </a:t>
            </a:r>
            <a:r>
              <a:rPr lang="en-IN" sz="2400" dirty="0" smtClean="0"/>
              <a:t>better when - </a:t>
            </a:r>
            <a:endParaRPr lang="en-IN" sz="2400" dirty="0"/>
          </a:p>
          <a:p>
            <a:pPr marL="342900" indent="-342900" fontAlgn="base">
              <a:buFont typeface="Arial" panose="020B0604020202020204" pitchFamily="34" charset="0"/>
              <a:buChar char="•"/>
            </a:pPr>
            <a:r>
              <a:rPr lang="en-IN" sz="2400" dirty="0" smtClean="0"/>
              <a:t>Underlying </a:t>
            </a:r>
            <a:r>
              <a:rPr lang="en-IN" sz="2400" dirty="0"/>
              <a:t>data source is unacceptably </a:t>
            </a:r>
            <a:r>
              <a:rPr lang="en-IN" sz="2400" dirty="0" smtClean="0"/>
              <a:t>slow.</a:t>
            </a:r>
          </a:p>
          <a:p>
            <a:pPr marL="342900" indent="-342900" fontAlgn="base">
              <a:buFont typeface="Arial" panose="020B0604020202020204" pitchFamily="34" charset="0"/>
              <a:buChar char="•"/>
            </a:pPr>
            <a:r>
              <a:rPr lang="en-IN" sz="2400" dirty="0" smtClean="0"/>
              <a:t>You need to optimize your calculations and features. </a:t>
            </a:r>
            <a:r>
              <a:rPr lang="en-IN" sz="2400" dirty="0"/>
              <a:t>- </a:t>
            </a:r>
            <a:r>
              <a:rPr lang="en-IN" sz="2400" dirty="0">
                <a:hlinkClick r:id="rId2"/>
              </a:rPr>
              <a:t>http://</a:t>
            </a:r>
            <a:r>
              <a:rPr lang="en-IN" sz="2400" dirty="0" smtClean="0">
                <a:hlinkClick r:id="rId2"/>
              </a:rPr>
              <a:t>www.tableau.com/about/blog/2014/7/understanding-tableau-data-extracts-part1</a:t>
            </a:r>
            <a:endParaRPr lang="en-IN" sz="2400" dirty="0" smtClean="0"/>
          </a:p>
          <a:p>
            <a:pPr marL="342900" indent="-342900" fontAlgn="base">
              <a:buFont typeface="Arial" panose="020B0604020202020204" pitchFamily="34" charset="0"/>
              <a:buChar char="•"/>
            </a:pPr>
            <a:r>
              <a:rPr lang="en-IN" sz="2400" dirty="0" smtClean="0"/>
              <a:t>You need to be offline</a:t>
            </a:r>
          </a:p>
          <a:p>
            <a:pPr marL="342900" indent="-342900" fontAlgn="base">
              <a:buFont typeface="Arial" panose="020B0604020202020204" pitchFamily="34" charset="0"/>
              <a:buChar char="•"/>
            </a:pPr>
            <a:r>
              <a:rPr lang="en-IN" sz="2400" dirty="0" smtClean="0"/>
              <a:t>You need a portable dashboard – sharing and collaborations become easy.</a:t>
            </a:r>
          </a:p>
          <a:p>
            <a:pPr marL="342900" indent="-342900" fontAlgn="base">
              <a:buFont typeface="Arial" panose="020B0604020202020204" pitchFamily="34" charset="0"/>
              <a:buChar char="•"/>
            </a:pPr>
            <a:endParaRPr lang="en-IN" sz="2400" b="0" i="0" dirty="0" smtClean="0">
              <a:effectLst/>
            </a:endParaRPr>
          </a:p>
          <a:p>
            <a:pPr fontAlgn="base"/>
            <a:r>
              <a:rPr lang="en-IN" sz="2400" dirty="0" smtClean="0"/>
              <a:t>Live will be better when – </a:t>
            </a:r>
          </a:p>
          <a:p>
            <a:pPr marL="342900" indent="-342900" fontAlgn="base">
              <a:buFont typeface="Arial" panose="020B0604020202020204" pitchFamily="34" charset="0"/>
              <a:buChar char="•"/>
            </a:pPr>
            <a:r>
              <a:rPr lang="en-IN" sz="2400" dirty="0"/>
              <a:t>When you have a fast </a:t>
            </a:r>
            <a:r>
              <a:rPr lang="en-IN" sz="2400" dirty="0" smtClean="0"/>
              <a:t>database</a:t>
            </a:r>
          </a:p>
          <a:p>
            <a:pPr marL="342900" indent="-342900" fontAlgn="base">
              <a:buFont typeface="Arial" panose="020B0604020202020204" pitchFamily="34" charset="0"/>
              <a:buChar char="•"/>
            </a:pPr>
            <a:r>
              <a:rPr lang="en-IN" sz="2400" dirty="0"/>
              <a:t>When you need up-to-the minute </a:t>
            </a:r>
            <a:r>
              <a:rPr lang="en-IN" sz="2400" dirty="0" smtClean="0"/>
              <a:t>data(Real Time Updates)</a:t>
            </a:r>
          </a:p>
          <a:p>
            <a:pPr marL="342900" indent="-342900" fontAlgn="base">
              <a:buFont typeface="Arial" panose="020B0604020202020204" pitchFamily="34" charset="0"/>
              <a:buChar char="•"/>
            </a:pPr>
            <a:r>
              <a:rPr lang="en-IN" sz="2400" dirty="0" smtClean="0"/>
              <a:t>When data size is huge.</a:t>
            </a:r>
          </a:p>
          <a:p>
            <a:pPr marL="342900" indent="-342900" fontAlgn="base">
              <a:buFont typeface="Arial" panose="020B0604020202020204" pitchFamily="34" charset="0"/>
              <a:buChar char="•"/>
            </a:pPr>
            <a:endParaRPr lang="en-IN" sz="2400" dirty="0"/>
          </a:p>
        </p:txBody>
      </p:sp>
    </p:spTree>
    <p:extLst>
      <p:ext uri="{BB962C8B-B14F-4D97-AF65-F5344CB8AC3E}">
        <p14:creationId xmlns:p14="http://schemas.microsoft.com/office/powerpoint/2010/main" val="16263240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Types of </a:t>
            </a:r>
            <a:r>
              <a:rPr lang="en-IN" dirty="0" smtClean="0"/>
              <a:t>Connections – Use Cases</a:t>
            </a:r>
            <a:endParaRPr lang="en-IN" dirty="0"/>
          </a:p>
        </p:txBody>
      </p:sp>
      <p:sp>
        <p:nvSpPr>
          <p:cNvPr id="2" name="Rectangle 1"/>
          <p:cNvSpPr/>
          <p:nvPr/>
        </p:nvSpPr>
        <p:spPr>
          <a:xfrm>
            <a:off x="485104" y="787225"/>
            <a:ext cx="11518006" cy="461665"/>
          </a:xfrm>
          <a:prstGeom prst="rect">
            <a:avLst/>
          </a:prstGeom>
        </p:spPr>
        <p:txBody>
          <a:bodyPr wrap="square">
            <a:spAutoFit/>
          </a:bodyPr>
          <a:lstStyle/>
          <a:p>
            <a:pPr fontAlgn="base"/>
            <a:endParaRPr lang="en-IN" sz="2400" dirty="0"/>
          </a:p>
        </p:txBody>
      </p:sp>
      <p:graphicFrame>
        <p:nvGraphicFramePr>
          <p:cNvPr id="3" name="Table 2"/>
          <p:cNvGraphicFramePr>
            <a:graphicFrameLocks noGrp="1"/>
          </p:cNvGraphicFramePr>
          <p:nvPr>
            <p:extLst>
              <p:ext uri="{D42A27DB-BD31-4B8C-83A1-F6EECF244321}">
                <p14:modId xmlns:p14="http://schemas.microsoft.com/office/powerpoint/2010/main" val="3456121751"/>
              </p:ext>
            </p:extLst>
          </p:nvPr>
        </p:nvGraphicFramePr>
        <p:xfrm>
          <a:off x="2032000" y="719666"/>
          <a:ext cx="8128000" cy="2661920"/>
        </p:xfrm>
        <a:graphic>
          <a:graphicData uri="http://schemas.openxmlformats.org/drawingml/2006/table">
            <a:tbl>
              <a:tblPr firstRow="1" bandRow="1">
                <a:tableStyleId>{5C22544A-7EE6-4342-B048-85BDC9FD1C3A}</a:tableStyleId>
              </a:tblPr>
              <a:tblGrid>
                <a:gridCol w="4064000"/>
                <a:gridCol w="4064000"/>
              </a:tblGrid>
              <a:tr h="370840">
                <a:tc>
                  <a:txBody>
                    <a:bodyPr/>
                    <a:lstStyle/>
                    <a:p>
                      <a:pPr algn="ctr"/>
                      <a:r>
                        <a:rPr lang="en-IN" dirty="0" smtClean="0"/>
                        <a:t>Use Case</a:t>
                      </a:r>
                      <a:endParaRPr lang="en-IN" dirty="0"/>
                    </a:p>
                  </a:txBody>
                  <a:tcPr/>
                </a:tc>
                <a:tc>
                  <a:txBody>
                    <a:bodyPr/>
                    <a:lstStyle/>
                    <a:p>
                      <a:pPr algn="ctr"/>
                      <a:r>
                        <a:rPr lang="en-IN" dirty="0" smtClean="0"/>
                        <a:t>Connections</a:t>
                      </a:r>
                      <a:endParaRPr lang="en-IN" dirty="0"/>
                    </a:p>
                  </a:txBody>
                  <a:tcPr/>
                </a:tc>
              </a:tr>
              <a:tr h="370840">
                <a:tc>
                  <a:txBody>
                    <a:bodyPr/>
                    <a:lstStyle/>
                    <a:p>
                      <a:pPr algn="ctr"/>
                      <a:r>
                        <a:rPr lang="en-IN" dirty="0" smtClean="0"/>
                        <a:t>Stock</a:t>
                      </a:r>
                      <a:r>
                        <a:rPr lang="en-IN" baseline="0" dirty="0" smtClean="0"/>
                        <a:t> Data Analysis (Real Time)</a:t>
                      </a:r>
                      <a:endParaRPr lang="en-IN" dirty="0"/>
                    </a:p>
                  </a:txBody>
                  <a:tcPr/>
                </a:tc>
                <a:tc>
                  <a:txBody>
                    <a:bodyPr/>
                    <a:lstStyle/>
                    <a:p>
                      <a:pPr algn="ctr"/>
                      <a:r>
                        <a:rPr lang="en-IN" dirty="0" smtClean="0"/>
                        <a:t>Live</a:t>
                      </a:r>
                      <a:endParaRPr lang="en-IN" dirty="0"/>
                    </a:p>
                  </a:txBody>
                  <a:tcPr/>
                </a:tc>
              </a:tr>
              <a:tr h="370840">
                <a:tc>
                  <a:txBody>
                    <a:bodyPr/>
                    <a:lstStyle/>
                    <a:p>
                      <a:pPr algn="ctr"/>
                      <a:r>
                        <a:rPr lang="en-IN" dirty="0" smtClean="0"/>
                        <a:t>Seller</a:t>
                      </a:r>
                      <a:r>
                        <a:rPr lang="en-IN" baseline="0" dirty="0" smtClean="0"/>
                        <a:t> Dashboard (Refresh at EOD) Flipkart</a:t>
                      </a:r>
                      <a:endParaRPr lang="en-IN" dirty="0"/>
                    </a:p>
                  </a:txBody>
                  <a:tcPr/>
                </a:tc>
                <a:tc>
                  <a:txBody>
                    <a:bodyPr/>
                    <a:lstStyle/>
                    <a:p>
                      <a:pPr algn="ctr"/>
                      <a:r>
                        <a:rPr lang="en-IN" dirty="0" smtClean="0"/>
                        <a:t>Extract (Refresh)</a:t>
                      </a:r>
                      <a:endParaRPr lang="en-IN" dirty="0"/>
                    </a:p>
                  </a:txBody>
                  <a:tcPr/>
                </a:tc>
              </a:tr>
              <a:tr h="370840">
                <a:tc>
                  <a:txBody>
                    <a:bodyPr/>
                    <a:lstStyle/>
                    <a:p>
                      <a:pPr algn="ctr"/>
                      <a:r>
                        <a:rPr lang="en-IN" dirty="0" smtClean="0"/>
                        <a:t>Digital</a:t>
                      </a:r>
                      <a:r>
                        <a:rPr lang="en-IN" baseline="0" dirty="0" smtClean="0"/>
                        <a:t> Data (File/Data Source Size Huge)</a:t>
                      </a:r>
                      <a:endParaRPr lang="en-IN" dirty="0"/>
                    </a:p>
                  </a:txBody>
                  <a:tcPr/>
                </a:tc>
                <a:tc>
                  <a:txBody>
                    <a:bodyPr/>
                    <a:lstStyle/>
                    <a:p>
                      <a:pPr algn="ctr"/>
                      <a:r>
                        <a:rPr lang="en-IN" dirty="0" smtClean="0"/>
                        <a:t>Live</a:t>
                      </a:r>
                    </a:p>
                    <a:p>
                      <a:pPr algn="ctr"/>
                      <a:endParaRPr lang="en-IN" dirty="0"/>
                    </a:p>
                  </a:txBody>
                  <a:tcPr/>
                </a:tc>
              </a:tr>
              <a:tr h="370840">
                <a:tc>
                  <a:txBody>
                    <a:bodyPr/>
                    <a:lstStyle/>
                    <a:p>
                      <a:pPr algn="ctr"/>
                      <a:r>
                        <a:rPr lang="en-IN" dirty="0" smtClean="0"/>
                        <a:t>Static Data Source (Campaign Results – Refresh quarterly)</a:t>
                      </a:r>
                      <a:endParaRPr lang="en-IN" dirty="0"/>
                    </a:p>
                  </a:txBody>
                  <a:tcPr/>
                </a:tc>
                <a:tc>
                  <a:txBody>
                    <a:bodyPr/>
                    <a:lstStyle/>
                    <a:p>
                      <a:pPr algn="ctr"/>
                      <a:r>
                        <a:rPr lang="en-IN" dirty="0" smtClean="0"/>
                        <a:t>Extract</a:t>
                      </a:r>
                      <a:endParaRPr lang="en-IN" dirty="0"/>
                    </a:p>
                  </a:txBody>
                  <a:tcPr/>
                </a:tc>
              </a:tr>
            </a:tbl>
          </a:graphicData>
        </a:graphic>
      </p:graphicFrame>
    </p:spTree>
    <p:extLst>
      <p:ext uri="{BB962C8B-B14F-4D97-AF65-F5344CB8AC3E}">
        <p14:creationId xmlns:p14="http://schemas.microsoft.com/office/powerpoint/2010/main" val="8522625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Dimensions vs Measures</a:t>
            </a:r>
            <a:endParaRPr lang="en-IN" dirty="0"/>
          </a:p>
        </p:txBody>
      </p:sp>
      <p:sp>
        <p:nvSpPr>
          <p:cNvPr id="2" name="Rectangle 1"/>
          <p:cNvSpPr/>
          <p:nvPr/>
        </p:nvSpPr>
        <p:spPr>
          <a:xfrm>
            <a:off x="485104" y="787225"/>
            <a:ext cx="11518006" cy="2677656"/>
          </a:xfrm>
          <a:prstGeom prst="rect">
            <a:avLst/>
          </a:prstGeom>
        </p:spPr>
        <p:txBody>
          <a:bodyPr wrap="square">
            <a:spAutoFit/>
          </a:bodyPr>
          <a:lstStyle/>
          <a:p>
            <a:pPr fontAlgn="base"/>
            <a:r>
              <a:rPr lang="en-IN" sz="2400" b="0" i="0" dirty="0" smtClean="0">
                <a:effectLst/>
              </a:rPr>
              <a:t>Dimensions are those columns in the data source which </a:t>
            </a:r>
            <a:r>
              <a:rPr lang="en-IN" sz="2400" dirty="0"/>
              <a:t>contain discrete categorical information </a:t>
            </a:r>
            <a:r>
              <a:rPr lang="en-IN" sz="2400" b="0" i="0" dirty="0" smtClean="0">
                <a:effectLst/>
              </a:rPr>
              <a:t>.</a:t>
            </a:r>
          </a:p>
          <a:p>
            <a:pPr fontAlgn="base"/>
            <a:endParaRPr lang="en-IN" sz="2400" dirty="0"/>
          </a:p>
          <a:p>
            <a:pPr fontAlgn="base"/>
            <a:r>
              <a:rPr lang="en-IN" sz="2400" dirty="0" smtClean="0"/>
              <a:t>Measures are those columns in the data source which </a:t>
            </a:r>
            <a:r>
              <a:rPr lang="en-IN" sz="2400" dirty="0"/>
              <a:t>contain quantitative, numerical </a:t>
            </a:r>
            <a:r>
              <a:rPr lang="en-IN" sz="2400" dirty="0" smtClean="0"/>
              <a:t>information </a:t>
            </a:r>
            <a:r>
              <a:rPr lang="en-IN" sz="2400" dirty="0"/>
              <a:t>(that is, fields where the values are numbers)</a:t>
            </a:r>
            <a:r>
              <a:rPr lang="en-IN" sz="2400" dirty="0" smtClean="0"/>
              <a:t>.</a:t>
            </a:r>
          </a:p>
          <a:p>
            <a:pPr marL="342900" indent="-342900" fontAlgn="base">
              <a:buFont typeface="Arial" panose="020B0604020202020204" pitchFamily="34" charset="0"/>
              <a:buChar char="•"/>
            </a:pPr>
            <a:endParaRPr lang="en-IN" sz="2400" dirty="0" smtClean="0"/>
          </a:p>
          <a:p>
            <a:pPr fontAlgn="base"/>
            <a:endParaRPr lang="en-IN" sz="2400" dirty="0"/>
          </a:p>
        </p:txBody>
      </p:sp>
      <p:pic>
        <p:nvPicPr>
          <p:cNvPr id="3" name="Picture 2"/>
          <p:cNvPicPr>
            <a:picLocks noChangeAspect="1"/>
          </p:cNvPicPr>
          <p:nvPr/>
        </p:nvPicPr>
        <p:blipFill>
          <a:blip r:embed="rId2"/>
          <a:stretch>
            <a:fillRect/>
          </a:stretch>
        </p:blipFill>
        <p:spPr>
          <a:xfrm>
            <a:off x="4386519" y="2684891"/>
            <a:ext cx="1952625" cy="3514725"/>
          </a:xfrm>
          <a:prstGeom prst="rect">
            <a:avLst/>
          </a:prstGeom>
        </p:spPr>
      </p:pic>
    </p:spTree>
    <p:extLst>
      <p:ext uri="{BB962C8B-B14F-4D97-AF65-F5344CB8AC3E}">
        <p14:creationId xmlns:p14="http://schemas.microsoft.com/office/powerpoint/2010/main" val="561477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Calculated Fields</a:t>
            </a:r>
          </a:p>
        </p:txBody>
      </p:sp>
      <p:sp>
        <p:nvSpPr>
          <p:cNvPr id="2" name="Rectangle 1"/>
          <p:cNvSpPr/>
          <p:nvPr/>
        </p:nvSpPr>
        <p:spPr>
          <a:xfrm>
            <a:off x="485104" y="787225"/>
            <a:ext cx="11518006" cy="2677656"/>
          </a:xfrm>
          <a:prstGeom prst="rect">
            <a:avLst/>
          </a:prstGeom>
        </p:spPr>
        <p:txBody>
          <a:bodyPr wrap="square">
            <a:spAutoFit/>
          </a:bodyPr>
          <a:lstStyle/>
          <a:p>
            <a:pPr marL="342900" indent="-342900" fontAlgn="base">
              <a:buFont typeface="Arial" panose="020B0604020202020204" pitchFamily="34" charset="0"/>
              <a:buChar char="•"/>
            </a:pPr>
            <a:r>
              <a:rPr lang="en-IN" sz="2400" dirty="0"/>
              <a:t>To extract meaningful results from your data, it is sometimes necessary to modify the fields that Tableau extracts from your data source. </a:t>
            </a:r>
            <a:endParaRPr lang="en-IN" sz="2400" dirty="0" smtClean="0"/>
          </a:p>
          <a:p>
            <a:pPr marL="342900" indent="-342900" fontAlgn="base">
              <a:buFont typeface="Arial" panose="020B0604020202020204" pitchFamily="34" charset="0"/>
              <a:buChar char="•"/>
            </a:pPr>
            <a:endParaRPr lang="en-IN" sz="2400" dirty="0"/>
          </a:p>
          <a:p>
            <a:pPr marL="342900" indent="-342900" fontAlgn="base">
              <a:buFont typeface="Arial" panose="020B0604020202020204" pitchFamily="34" charset="0"/>
              <a:buChar char="•"/>
            </a:pPr>
            <a:r>
              <a:rPr lang="en-IN" sz="2400" dirty="0" smtClean="0"/>
              <a:t>Tableau </a:t>
            </a:r>
            <a:r>
              <a:rPr lang="en-IN" sz="2400" dirty="0"/>
              <a:t>provides a calculation editor for customizing and creating fields, and also supports ad-hoc calculations that you create on shelves as you work in a view</a:t>
            </a:r>
            <a:r>
              <a:rPr lang="en-IN" sz="2400" dirty="0" smtClean="0"/>
              <a:t>.</a:t>
            </a:r>
          </a:p>
          <a:p>
            <a:pPr marL="342900" indent="-342900" fontAlgn="base">
              <a:buFont typeface="Arial" panose="020B0604020202020204" pitchFamily="34" charset="0"/>
              <a:buChar char="•"/>
            </a:pPr>
            <a:endParaRPr lang="en-IN" sz="2400" dirty="0"/>
          </a:p>
          <a:p>
            <a:pPr marL="342900" indent="-342900" fontAlgn="base">
              <a:buFont typeface="Arial" panose="020B0604020202020204" pitchFamily="34" charset="0"/>
              <a:buChar char="•"/>
            </a:pPr>
            <a:endParaRPr lang="en-IN" sz="2400" dirty="0"/>
          </a:p>
        </p:txBody>
      </p:sp>
      <p:pic>
        <p:nvPicPr>
          <p:cNvPr id="3" name="Picture 2"/>
          <p:cNvPicPr>
            <a:picLocks noChangeAspect="1"/>
          </p:cNvPicPr>
          <p:nvPr/>
        </p:nvPicPr>
        <p:blipFill>
          <a:blip r:embed="rId2"/>
          <a:stretch>
            <a:fillRect/>
          </a:stretch>
        </p:blipFill>
        <p:spPr>
          <a:xfrm>
            <a:off x="836725" y="3131040"/>
            <a:ext cx="10947444" cy="2782367"/>
          </a:xfrm>
          <a:prstGeom prst="rect">
            <a:avLst/>
          </a:prstGeom>
        </p:spPr>
      </p:pic>
    </p:spTree>
    <p:extLst>
      <p:ext uri="{BB962C8B-B14F-4D97-AF65-F5344CB8AC3E}">
        <p14:creationId xmlns:p14="http://schemas.microsoft.com/office/powerpoint/2010/main" val="782865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a:t>
            </a:r>
            <a:endParaRPr lang="en-IN" dirty="0"/>
          </a:p>
        </p:txBody>
      </p:sp>
      <p:sp>
        <p:nvSpPr>
          <p:cNvPr id="2" name="Rectangle 1"/>
          <p:cNvSpPr/>
          <p:nvPr/>
        </p:nvSpPr>
        <p:spPr>
          <a:xfrm>
            <a:off x="485104" y="787225"/>
            <a:ext cx="11518006" cy="2308324"/>
          </a:xfrm>
          <a:prstGeom prst="rect">
            <a:avLst/>
          </a:prstGeom>
        </p:spPr>
        <p:txBody>
          <a:bodyPr wrap="square">
            <a:spAutoFit/>
          </a:bodyPr>
          <a:lstStyle/>
          <a:p>
            <a:pPr fontAlgn="base"/>
            <a:r>
              <a:rPr lang="en-IN" sz="2400" b="0" i="0" dirty="0" smtClean="0">
                <a:effectLst/>
              </a:rPr>
              <a:t>There are 3 filters – </a:t>
            </a:r>
          </a:p>
          <a:p>
            <a:pPr fontAlgn="base"/>
            <a:endParaRPr lang="en-IN" sz="2400" dirty="0"/>
          </a:p>
          <a:p>
            <a:pPr marL="457200" indent="-457200" fontAlgn="base">
              <a:buAutoNum type="arabicPeriod"/>
            </a:pPr>
            <a:r>
              <a:rPr lang="en-IN" sz="2400" dirty="0" smtClean="0"/>
              <a:t>Normal Filters</a:t>
            </a:r>
          </a:p>
          <a:p>
            <a:pPr marL="457200" indent="-457200" fontAlgn="base">
              <a:buFontTx/>
              <a:buAutoNum type="arabicPeriod"/>
            </a:pPr>
            <a:r>
              <a:rPr lang="en-IN" sz="2400" dirty="0"/>
              <a:t>Action </a:t>
            </a:r>
            <a:r>
              <a:rPr lang="en-IN" sz="2400" dirty="0" smtClean="0"/>
              <a:t>Filters</a:t>
            </a:r>
          </a:p>
          <a:p>
            <a:pPr marL="457200" indent="-457200" fontAlgn="base">
              <a:buAutoNum type="arabicPeriod"/>
            </a:pPr>
            <a:r>
              <a:rPr lang="en-IN" sz="2400" dirty="0" smtClean="0"/>
              <a:t>Context Filters</a:t>
            </a:r>
          </a:p>
          <a:p>
            <a:pPr marL="342900" indent="-342900" fontAlgn="base">
              <a:buFont typeface="Arial" panose="020B0604020202020204" pitchFamily="34" charset="0"/>
              <a:buChar char="•"/>
            </a:pPr>
            <a:endParaRPr lang="en-IN" sz="2400" dirty="0"/>
          </a:p>
        </p:txBody>
      </p:sp>
    </p:spTree>
    <p:extLst>
      <p:ext uri="{BB962C8B-B14F-4D97-AF65-F5344CB8AC3E}">
        <p14:creationId xmlns:p14="http://schemas.microsoft.com/office/powerpoint/2010/main" val="21094897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Normal Filters</a:t>
            </a:r>
            <a:endParaRPr lang="en-IN" dirty="0"/>
          </a:p>
        </p:txBody>
      </p:sp>
      <p:sp>
        <p:nvSpPr>
          <p:cNvPr id="2" name="Rectangle 1"/>
          <p:cNvSpPr/>
          <p:nvPr/>
        </p:nvSpPr>
        <p:spPr>
          <a:xfrm>
            <a:off x="485104" y="787225"/>
            <a:ext cx="11518006" cy="461665"/>
          </a:xfrm>
          <a:prstGeom prst="rect">
            <a:avLst/>
          </a:prstGeom>
        </p:spPr>
        <p:txBody>
          <a:bodyPr wrap="square">
            <a:spAutoFit/>
          </a:bodyPr>
          <a:lstStyle/>
          <a:p>
            <a:pPr fontAlgn="base"/>
            <a:r>
              <a:rPr lang="en-IN" sz="2400" dirty="0" smtClean="0"/>
              <a:t>Use for filtering data by using measure/dimension.</a:t>
            </a:r>
            <a:endParaRPr lang="en-IN" sz="2400" dirty="0"/>
          </a:p>
        </p:txBody>
      </p:sp>
      <p:pic>
        <p:nvPicPr>
          <p:cNvPr id="3" name="Picture 2"/>
          <p:cNvPicPr>
            <a:picLocks noChangeAspect="1"/>
          </p:cNvPicPr>
          <p:nvPr/>
        </p:nvPicPr>
        <p:blipFill>
          <a:blip r:embed="rId2"/>
          <a:stretch>
            <a:fillRect/>
          </a:stretch>
        </p:blipFill>
        <p:spPr>
          <a:xfrm>
            <a:off x="485103" y="1652520"/>
            <a:ext cx="8053589" cy="4490849"/>
          </a:xfrm>
          <a:prstGeom prst="rect">
            <a:avLst/>
          </a:prstGeom>
        </p:spPr>
      </p:pic>
    </p:spTree>
    <p:extLst>
      <p:ext uri="{BB962C8B-B14F-4D97-AF65-F5344CB8AC3E}">
        <p14:creationId xmlns:p14="http://schemas.microsoft.com/office/powerpoint/2010/main" val="16051527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Action Filters</a:t>
            </a:r>
            <a:endParaRPr lang="en-IN" dirty="0"/>
          </a:p>
        </p:txBody>
      </p:sp>
      <p:sp>
        <p:nvSpPr>
          <p:cNvPr id="2" name="Rectangle 1"/>
          <p:cNvSpPr/>
          <p:nvPr/>
        </p:nvSpPr>
        <p:spPr>
          <a:xfrm>
            <a:off x="485104" y="787225"/>
            <a:ext cx="11518006" cy="461665"/>
          </a:xfrm>
          <a:prstGeom prst="rect">
            <a:avLst/>
          </a:prstGeom>
        </p:spPr>
        <p:txBody>
          <a:bodyPr wrap="square">
            <a:spAutoFit/>
          </a:bodyPr>
          <a:lstStyle/>
          <a:p>
            <a:pPr fontAlgn="base"/>
            <a:r>
              <a:rPr lang="en-IN" sz="2400" dirty="0" smtClean="0"/>
              <a:t>Use for drill-down filtering across sheets.</a:t>
            </a:r>
          </a:p>
        </p:txBody>
      </p:sp>
      <p:pic>
        <p:nvPicPr>
          <p:cNvPr id="3" name="Picture 2"/>
          <p:cNvPicPr>
            <a:picLocks noChangeAspect="1"/>
          </p:cNvPicPr>
          <p:nvPr/>
        </p:nvPicPr>
        <p:blipFill>
          <a:blip r:embed="rId2"/>
          <a:stretch>
            <a:fillRect/>
          </a:stretch>
        </p:blipFill>
        <p:spPr>
          <a:xfrm>
            <a:off x="485104" y="1555984"/>
            <a:ext cx="10127088" cy="4617789"/>
          </a:xfrm>
          <a:prstGeom prst="rect">
            <a:avLst/>
          </a:prstGeom>
        </p:spPr>
      </p:pic>
    </p:spTree>
    <p:extLst>
      <p:ext uri="{BB962C8B-B14F-4D97-AF65-F5344CB8AC3E}">
        <p14:creationId xmlns:p14="http://schemas.microsoft.com/office/powerpoint/2010/main" val="37095690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URL Filters</a:t>
            </a:r>
            <a:endParaRPr lang="en-IN" dirty="0"/>
          </a:p>
        </p:txBody>
      </p:sp>
      <p:sp>
        <p:nvSpPr>
          <p:cNvPr id="2" name="Rectangle 1"/>
          <p:cNvSpPr/>
          <p:nvPr/>
        </p:nvSpPr>
        <p:spPr>
          <a:xfrm>
            <a:off x="485104" y="787225"/>
            <a:ext cx="11518006" cy="1569660"/>
          </a:xfrm>
          <a:prstGeom prst="rect">
            <a:avLst/>
          </a:prstGeom>
        </p:spPr>
        <p:txBody>
          <a:bodyPr wrap="square">
            <a:spAutoFit/>
          </a:bodyPr>
          <a:lstStyle/>
          <a:p>
            <a:pPr fontAlgn="base"/>
            <a:r>
              <a:rPr lang="en-IN" sz="2400" dirty="0" smtClean="0"/>
              <a:t>A </a:t>
            </a:r>
            <a:r>
              <a:rPr lang="en-IN" sz="2400" dirty="0"/>
              <a:t>URL action is a hyperlink that points to a Web page, file, or other web-based resource outside of Tableau. You can use URL actions to link to more information about your data that may be hosted outside of your data source. To make the link relevant to your data, you can substitute field values of a selection into the URL as parameters.</a:t>
            </a:r>
            <a:endParaRPr lang="en-IN" sz="2400" dirty="0" smtClean="0"/>
          </a:p>
        </p:txBody>
      </p:sp>
      <p:pic>
        <p:nvPicPr>
          <p:cNvPr id="4" name="Picture 3"/>
          <p:cNvPicPr>
            <a:picLocks noChangeAspect="1"/>
          </p:cNvPicPr>
          <p:nvPr/>
        </p:nvPicPr>
        <p:blipFill>
          <a:blip r:embed="rId2"/>
          <a:stretch>
            <a:fillRect/>
          </a:stretch>
        </p:blipFill>
        <p:spPr>
          <a:xfrm>
            <a:off x="2960666" y="2356885"/>
            <a:ext cx="6917430" cy="3895146"/>
          </a:xfrm>
          <a:prstGeom prst="rect">
            <a:avLst/>
          </a:prstGeom>
        </p:spPr>
      </p:pic>
    </p:spTree>
    <p:extLst>
      <p:ext uri="{BB962C8B-B14F-4D97-AF65-F5344CB8AC3E}">
        <p14:creationId xmlns:p14="http://schemas.microsoft.com/office/powerpoint/2010/main" val="20654644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Context Filters</a:t>
            </a:r>
            <a:endParaRPr lang="en-IN" dirty="0"/>
          </a:p>
        </p:txBody>
      </p:sp>
      <p:sp>
        <p:nvSpPr>
          <p:cNvPr id="2" name="Rectangle 1"/>
          <p:cNvSpPr/>
          <p:nvPr/>
        </p:nvSpPr>
        <p:spPr>
          <a:xfrm>
            <a:off x="485104" y="787225"/>
            <a:ext cx="11518006" cy="4524315"/>
          </a:xfrm>
          <a:prstGeom prst="rect">
            <a:avLst/>
          </a:prstGeom>
        </p:spPr>
        <p:txBody>
          <a:bodyPr wrap="square">
            <a:spAutoFit/>
          </a:bodyPr>
          <a:lstStyle/>
          <a:p>
            <a:pPr marL="342900" indent="-342900" fontAlgn="base">
              <a:buFont typeface="Arial" panose="020B0604020202020204" pitchFamily="34" charset="0"/>
              <a:buChar char="•"/>
            </a:pPr>
            <a:r>
              <a:rPr lang="en-IN" sz="2400" dirty="0"/>
              <a:t>By default, all filters that you set in Tableau are computed independently. </a:t>
            </a:r>
            <a:r>
              <a:rPr lang="en-IN" sz="2400" dirty="0" smtClean="0"/>
              <a:t>That </a:t>
            </a:r>
            <a:r>
              <a:rPr lang="en-IN" sz="2400" dirty="0"/>
              <a:t>is, each filter accesses all rows in your data source without regard to other filters. However, you can set one or more categorical filters as context filters for the view. </a:t>
            </a:r>
            <a:endParaRPr lang="en-IN" sz="2400" dirty="0" smtClean="0"/>
          </a:p>
          <a:p>
            <a:pPr fontAlgn="base"/>
            <a:endParaRPr lang="en-IN" sz="2400" dirty="0"/>
          </a:p>
          <a:p>
            <a:pPr marL="342900" indent="-342900" fontAlgn="base">
              <a:buFont typeface="Arial" panose="020B0604020202020204" pitchFamily="34" charset="0"/>
              <a:buChar char="•"/>
            </a:pPr>
            <a:r>
              <a:rPr lang="en-IN" sz="2400" dirty="0" smtClean="0"/>
              <a:t>You </a:t>
            </a:r>
            <a:r>
              <a:rPr lang="en-IN" sz="2400" dirty="0"/>
              <a:t>can think of a context filter as being an independent filter. Any other filters that you set are defined as dependent filters because they process only the data that passes through the context filter</a:t>
            </a:r>
            <a:r>
              <a:rPr lang="en-IN" sz="2400" dirty="0" smtClean="0"/>
              <a:t>.</a:t>
            </a:r>
          </a:p>
          <a:p>
            <a:pPr marL="342900" indent="-342900" fontAlgn="base">
              <a:buFont typeface="Arial" panose="020B0604020202020204" pitchFamily="34" charset="0"/>
              <a:buChar char="•"/>
            </a:pPr>
            <a:r>
              <a:rPr lang="en-IN" sz="2400" dirty="0" smtClean="0"/>
              <a:t>You </a:t>
            </a:r>
            <a:r>
              <a:rPr lang="en-IN" sz="2400" dirty="0"/>
              <a:t>may create a context filter to:</a:t>
            </a:r>
          </a:p>
          <a:p>
            <a:pPr marL="800100" lvl="1" indent="-342900" fontAlgn="base">
              <a:buFont typeface="Arial" panose="020B0604020202020204" pitchFamily="34" charset="0"/>
              <a:buChar char="•"/>
            </a:pPr>
            <a:r>
              <a:rPr lang="en-IN" sz="2400" dirty="0" smtClean="0"/>
              <a:t>Improve </a:t>
            </a:r>
            <a:r>
              <a:rPr lang="en-IN" sz="2400" dirty="0"/>
              <a:t>performance – If you set a lot of filters or have a large data source, the queries can be slow. You can set one or more context filters to improve performance.</a:t>
            </a:r>
          </a:p>
          <a:p>
            <a:pPr marL="800100" lvl="1" indent="-342900" fontAlgn="base">
              <a:buFont typeface="Arial" panose="020B0604020202020204" pitchFamily="34" charset="0"/>
              <a:buChar char="•"/>
            </a:pPr>
            <a:r>
              <a:rPr lang="en-IN" sz="2400" dirty="0"/>
              <a:t>Create a dependent numerical or top N filter – You can set a context filter to include only the data of interest, and then set a numerical or a top N filter.</a:t>
            </a:r>
            <a:endParaRPr lang="en-IN" sz="2400" dirty="0" smtClean="0"/>
          </a:p>
        </p:txBody>
      </p:sp>
    </p:spTree>
    <p:extLst>
      <p:ext uri="{BB962C8B-B14F-4D97-AF65-F5344CB8AC3E}">
        <p14:creationId xmlns:p14="http://schemas.microsoft.com/office/powerpoint/2010/main" val="15164932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Sets</a:t>
            </a:r>
            <a:endParaRPr lang="en-IN" dirty="0"/>
          </a:p>
        </p:txBody>
      </p:sp>
      <p:sp>
        <p:nvSpPr>
          <p:cNvPr id="2" name="Rectangle 1"/>
          <p:cNvSpPr/>
          <p:nvPr/>
        </p:nvSpPr>
        <p:spPr>
          <a:xfrm>
            <a:off x="485104" y="787225"/>
            <a:ext cx="11518006" cy="1200329"/>
          </a:xfrm>
          <a:prstGeom prst="rect">
            <a:avLst/>
          </a:prstGeom>
        </p:spPr>
        <p:txBody>
          <a:bodyPr wrap="square">
            <a:spAutoFit/>
          </a:bodyPr>
          <a:lstStyle/>
          <a:p>
            <a:pPr fontAlgn="base"/>
            <a:r>
              <a:rPr lang="en-IN" sz="2400" dirty="0"/>
              <a:t>Sets are custom fields that define a subset of data based on some conditions. A set can be based on a computed condition, for example, a set may contain customers with sales over a certain threshold</a:t>
            </a:r>
            <a:r>
              <a:rPr lang="en-IN" sz="2400" dirty="0" smtClean="0"/>
              <a:t>.</a:t>
            </a:r>
          </a:p>
        </p:txBody>
      </p:sp>
      <p:pic>
        <p:nvPicPr>
          <p:cNvPr id="3" name="Picture 2"/>
          <p:cNvPicPr>
            <a:picLocks noChangeAspect="1"/>
          </p:cNvPicPr>
          <p:nvPr/>
        </p:nvPicPr>
        <p:blipFill>
          <a:blip r:embed="rId2"/>
          <a:stretch>
            <a:fillRect/>
          </a:stretch>
        </p:blipFill>
        <p:spPr>
          <a:xfrm>
            <a:off x="3809799" y="1987553"/>
            <a:ext cx="4870562" cy="4171695"/>
          </a:xfrm>
          <a:prstGeom prst="rect">
            <a:avLst/>
          </a:prstGeom>
        </p:spPr>
      </p:pic>
    </p:spTree>
    <p:extLst>
      <p:ext uri="{BB962C8B-B14F-4D97-AF65-F5344CB8AC3E}">
        <p14:creationId xmlns:p14="http://schemas.microsoft.com/office/powerpoint/2010/main" val="37862229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Grouping/Hierarchy</a:t>
            </a:r>
            <a:endParaRPr lang="en-IN" dirty="0"/>
          </a:p>
        </p:txBody>
      </p:sp>
      <p:sp>
        <p:nvSpPr>
          <p:cNvPr id="2" name="Rectangle 1"/>
          <p:cNvSpPr/>
          <p:nvPr/>
        </p:nvSpPr>
        <p:spPr>
          <a:xfrm>
            <a:off x="485104" y="787225"/>
            <a:ext cx="11518006" cy="1938992"/>
          </a:xfrm>
          <a:prstGeom prst="rect">
            <a:avLst/>
          </a:prstGeom>
        </p:spPr>
        <p:txBody>
          <a:bodyPr wrap="square">
            <a:spAutoFit/>
          </a:bodyPr>
          <a:lstStyle/>
          <a:p>
            <a:pPr fontAlgn="base"/>
            <a:r>
              <a:rPr lang="en-IN" sz="2400" dirty="0"/>
              <a:t>A group is a combination of dimension members that make higher level categories. For example, if you are working with a view that shows average test scores by major, you may want to group certain majors together to create major categories. English and History may be combined into a group called Liberal Arts while Biology and Physics may be grouped as Science Majors.</a:t>
            </a:r>
          </a:p>
        </p:txBody>
      </p:sp>
      <p:pic>
        <p:nvPicPr>
          <p:cNvPr id="4" name="Picture 3"/>
          <p:cNvPicPr>
            <a:picLocks noChangeAspect="1"/>
          </p:cNvPicPr>
          <p:nvPr/>
        </p:nvPicPr>
        <p:blipFill>
          <a:blip r:embed="rId2"/>
          <a:stretch>
            <a:fillRect/>
          </a:stretch>
        </p:blipFill>
        <p:spPr>
          <a:xfrm>
            <a:off x="2402647" y="2726217"/>
            <a:ext cx="5440587" cy="3486318"/>
          </a:xfrm>
          <a:prstGeom prst="rect">
            <a:avLst/>
          </a:prstGeom>
        </p:spPr>
      </p:pic>
    </p:spTree>
    <p:extLst>
      <p:ext uri="{BB962C8B-B14F-4D97-AF65-F5344CB8AC3E}">
        <p14:creationId xmlns:p14="http://schemas.microsoft.com/office/powerpoint/2010/main" val="14588892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Parameters</a:t>
            </a:r>
            <a:endParaRPr lang="en-IN" dirty="0"/>
          </a:p>
        </p:txBody>
      </p:sp>
      <p:sp>
        <p:nvSpPr>
          <p:cNvPr id="2" name="Rectangle 1"/>
          <p:cNvSpPr/>
          <p:nvPr/>
        </p:nvSpPr>
        <p:spPr>
          <a:xfrm>
            <a:off x="485104" y="787225"/>
            <a:ext cx="11518006" cy="1938992"/>
          </a:xfrm>
          <a:prstGeom prst="rect">
            <a:avLst/>
          </a:prstGeom>
        </p:spPr>
        <p:txBody>
          <a:bodyPr wrap="square">
            <a:spAutoFit/>
          </a:bodyPr>
          <a:lstStyle/>
          <a:p>
            <a:pPr fontAlgn="base"/>
            <a:r>
              <a:rPr lang="en-IN" sz="2400" dirty="0"/>
              <a:t>Parameters are dynamic values that can replace constant values in calculations, filters, and reference lines. For example, you may create a calculated field that returns true if Sales is greater than $500,000 and otherwise return false. You can replace the constant value of “500000” in the formula with a parameter. Then using the parameter control you can dynamically change the threshold in your calculation</a:t>
            </a:r>
            <a:r>
              <a:rPr lang="en-IN" sz="2400" dirty="0" smtClean="0"/>
              <a:t>.</a:t>
            </a:r>
          </a:p>
        </p:txBody>
      </p:sp>
      <p:pic>
        <p:nvPicPr>
          <p:cNvPr id="4" name="Picture 3"/>
          <p:cNvPicPr>
            <a:picLocks noChangeAspect="1"/>
          </p:cNvPicPr>
          <p:nvPr/>
        </p:nvPicPr>
        <p:blipFill>
          <a:blip r:embed="rId2"/>
          <a:stretch>
            <a:fillRect/>
          </a:stretch>
        </p:blipFill>
        <p:spPr>
          <a:xfrm>
            <a:off x="3560336" y="2726216"/>
            <a:ext cx="3368497" cy="3522779"/>
          </a:xfrm>
          <a:prstGeom prst="rect">
            <a:avLst/>
          </a:prstGeom>
        </p:spPr>
      </p:pic>
    </p:spTree>
    <p:extLst>
      <p:ext uri="{BB962C8B-B14F-4D97-AF65-F5344CB8AC3E}">
        <p14:creationId xmlns:p14="http://schemas.microsoft.com/office/powerpoint/2010/main" val="42542496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Windows Functions/Table Calculations</a:t>
            </a:r>
            <a:endParaRPr lang="en-IN" dirty="0"/>
          </a:p>
        </p:txBody>
      </p:sp>
      <p:sp>
        <p:nvSpPr>
          <p:cNvPr id="2" name="Rectangle 1"/>
          <p:cNvSpPr/>
          <p:nvPr/>
        </p:nvSpPr>
        <p:spPr>
          <a:xfrm>
            <a:off x="485104" y="787225"/>
            <a:ext cx="11518006" cy="1938992"/>
          </a:xfrm>
          <a:prstGeom prst="rect">
            <a:avLst/>
          </a:prstGeom>
        </p:spPr>
        <p:txBody>
          <a:bodyPr wrap="square">
            <a:spAutoFit/>
          </a:bodyPr>
          <a:lstStyle/>
          <a:p>
            <a:pPr fontAlgn="base"/>
            <a:r>
              <a:rPr lang="en-IN" sz="2400" b="0" i="0" dirty="0" smtClean="0">
                <a:effectLst/>
              </a:rPr>
              <a:t>Important things to understand – </a:t>
            </a:r>
          </a:p>
          <a:p>
            <a:pPr fontAlgn="base"/>
            <a:endParaRPr lang="en-IN" sz="2400" dirty="0"/>
          </a:p>
          <a:p>
            <a:pPr marL="342900" indent="-342900" fontAlgn="base">
              <a:buFont typeface="Arial" panose="020B0604020202020204" pitchFamily="34" charset="0"/>
              <a:buChar char="•"/>
            </a:pPr>
            <a:r>
              <a:rPr lang="en-IN" sz="2400" dirty="0" smtClean="0"/>
              <a:t>Addressing and Partitioning</a:t>
            </a:r>
          </a:p>
          <a:p>
            <a:pPr marL="342900" indent="-342900" fontAlgn="base">
              <a:buFont typeface="Arial" panose="020B0604020202020204" pitchFamily="34" charset="0"/>
              <a:buChar char="•"/>
            </a:pPr>
            <a:r>
              <a:rPr lang="en-IN" sz="2400" dirty="0" smtClean="0"/>
              <a:t>Common Windows Function – </a:t>
            </a:r>
            <a:r>
              <a:rPr lang="en-IN" sz="2400" dirty="0" err="1" smtClean="0"/>
              <a:t>Windows_Max</a:t>
            </a:r>
            <a:r>
              <a:rPr lang="en-IN" sz="2400" dirty="0" smtClean="0"/>
              <a:t>(), </a:t>
            </a:r>
            <a:r>
              <a:rPr lang="en-IN" sz="2400" dirty="0" err="1" smtClean="0"/>
              <a:t>Windows_Sum</a:t>
            </a:r>
            <a:r>
              <a:rPr lang="en-IN" sz="2400" dirty="0" smtClean="0"/>
              <a:t>()</a:t>
            </a:r>
          </a:p>
          <a:p>
            <a:pPr marL="342900" indent="-342900" fontAlgn="base">
              <a:buFont typeface="Arial" panose="020B0604020202020204" pitchFamily="34" charset="0"/>
              <a:buChar char="•"/>
            </a:pPr>
            <a:endParaRPr lang="en-IN" sz="2400" dirty="0"/>
          </a:p>
        </p:txBody>
      </p:sp>
    </p:spTree>
    <p:extLst>
      <p:ext uri="{BB962C8B-B14F-4D97-AF65-F5344CB8AC3E}">
        <p14:creationId xmlns:p14="http://schemas.microsoft.com/office/powerpoint/2010/main" val="13755165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Addressing and Partitioning</a:t>
            </a:r>
            <a:endParaRPr lang="en-IN" dirty="0"/>
          </a:p>
        </p:txBody>
      </p:sp>
      <p:sp>
        <p:nvSpPr>
          <p:cNvPr id="2" name="Rectangle 1"/>
          <p:cNvSpPr/>
          <p:nvPr/>
        </p:nvSpPr>
        <p:spPr>
          <a:xfrm>
            <a:off x="485104" y="787225"/>
            <a:ext cx="11518006" cy="2677656"/>
          </a:xfrm>
          <a:prstGeom prst="rect">
            <a:avLst/>
          </a:prstGeom>
        </p:spPr>
        <p:txBody>
          <a:bodyPr wrap="square">
            <a:spAutoFit/>
          </a:bodyPr>
          <a:lstStyle/>
          <a:p>
            <a:pPr marL="342900" indent="-342900" fontAlgn="base">
              <a:buFont typeface="Arial" panose="020B0604020202020204" pitchFamily="34" charset="0"/>
              <a:buChar char="•"/>
            </a:pPr>
            <a:r>
              <a:rPr lang="en-IN" sz="2400" dirty="0"/>
              <a:t>Table calculations are performed on a single measure in the view. </a:t>
            </a:r>
          </a:p>
          <a:p>
            <a:pPr marL="342900" indent="-342900" fontAlgn="base">
              <a:buFont typeface="Arial" panose="020B0604020202020204" pitchFamily="34" charset="0"/>
              <a:buChar char="•"/>
            </a:pPr>
            <a:r>
              <a:rPr lang="en-IN" sz="2400" dirty="0" smtClean="0"/>
              <a:t>The </a:t>
            </a:r>
            <a:r>
              <a:rPr lang="en-IN" sz="2400" dirty="0"/>
              <a:t>dimensions that define the part of the table you are applying the calculation to (computing along) are called addressing fields, and the dimensions that define how to group the calculation are called partitioning fields. </a:t>
            </a:r>
          </a:p>
          <a:p>
            <a:pPr marL="342900" indent="-342900" fontAlgn="base">
              <a:buFont typeface="Arial" panose="020B0604020202020204" pitchFamily="34" charset="0"/>
              <a:buChar char="•"/>
            </a:pPr>
            <a:r>
              <a:rPr lang="en-IN" sz="2400" dirty="0" smtClean="0"/>
              <a:t>In </a:t>
            </a:r>
            <a:r>
              <a:rPr lang="en-IN" sz="2400" dirty="0"/>
              <a:t>the example of a running sum of product sales across several years, the addressing field is the Date field, and the partitioning field is the product field. </a:t>
            </a:r>
            <a:endParaRPr lang="en-IN" sz="2400" dirty="0" smtClean="0"/>
          </a:p>
          <a:p>
            <a:pPr marL="342900" indent="-342900" fontAlgn="base">
              <a:buFont typeface="Arial" panose="020B0604020202020204" pitchFamily="34" charset="0"/>
              <a:buChar char="•"/>
            </a:pPr>
            <a:endParaRPr lang="en-IN" sz="2400" dirty="0"/>
          </a:p>
        </p:txBody>
      </p:sp>
      <p:pic>
        <p:nvPicPr>
          <p:cNvPr id="4" name="Picture 3"/>
          <p:cNvPicPr>
            <a:picLocks noChangeAspect="1"/>
          </p:cNvPicPr>
          <p:nvPr/>
        </p:nvPicPr>
        <p:blipFill>
          <a:blip r:embed="rId2"/>
          <a:stretch>
            <a:fillRect/>
          </a:stretch>
        </p:blipFill>
        <p:spPr>
          <a:xfrm>
            <a:off x="4063619" y="3177558"/>
            <a:ext cx="4191739" cy="2935273"/>
          </a:xfrm>
          <a:prstGeom prst="rect">
            <a:avLst/>
          </a:prstGeom>
        </p:spPr>
      </p:pic>
    </p:spTree>
    <p:extLst>
      <p:ext uri="{BB962C8B-B14F-4D97-AF65-F5344CB8AC3E}">
        <p14:creationId xmlns:p14="http://schemas.microsoft.com/office/powerpoint/2010/main" val="19318578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Addressing and Partitioning</a:t>
            </a:r>
            <a:endParaRPr lang="en-IN" dirty="0"/>
          </a:p>
        </p:txBody>
      </p:sp>
      <p:sp>
        <p:nvSpPr>
          <p:cNvPr id="2" name="Rectangle 1"/>
          <p:cNvSpPr/>
          <p:nvPr/>
        </p:nvSpPr>
        <p:spPr>
          <a:xfrm>
            <a:off x="485104" y="787225"/>
            <a:ext cx="11518006" cy="3785652"/>
          </a:xfrm>
          <a:prstGeom prst="rect">
            <a:avLst/>
          </a:prstGeom>
        </p:spPr>
        <p:txBody>
          <a:bodyPr wrap="square">
            <a:spAutoFit/>
          </a:bodyPr>
          <a:lstStyle/>
          <a:p>
            <a:pPr fontAlgn="base"/>
            <a:r>
              <a:rPr lang="en-IN" sz="2400" dirty="0"/>
              <a:t>Table (Across</a:t>
            </a:r>
            <a:r>
              <a:rPr lang="en-IN" sz="2400" dirty="0" smtClean="0"/>
              <a:t>) –</a:t>
            </a:r>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r>
              <a:rPr lang="en-IN" sz="2400" dirty="0" smtClean="0"/>
              <a:t>Table (Down) - </a:t>
            </a:r>
            <a:endParaRPr lang="en-IN" sz="2400" dirty="0"/>
          </a:p>
          <a:p>
            <a:pPr fontAlgn="base"/>
            <a:endParaRPr lang="en-IN" sz="2400" dirty="0" smtClean="0"/>
          </a:p>
          <a:p>
            <a:pPr fontAlgn="base"/>
            <a:r>
              <a:rPr lang="en-IN" sz="2400" dirty="0" smtClean="0"/>
              <a:t> </a:t>
            </a:r>
            <a:endParaRPr lang="en-IN" sz="2400" dirty="0"/>
          </a:p>
        </p:txBody>
      </p:sp>
      <p:pic>
        <p:nvPicPr>
          <p:cNvPr id="3" name="Picture 2"/>
          <p:cNvPicPr>
            <a:picLocks noChangeAspect="1"/>
          </p:cNvPicPr>
          <p:nvPr/>
        </p:nvPicPr>
        <p:blipFill>
          <a:blip r:embed="rId2"/>
          <a:stretch>
            <a:fillRect/>
          </a:stretch>
        </p:blipFill>
        <p:spPr>
          <a:xfrm>
            <a:off x="2693764" y="787225"/>
            <a:ext cx="6315075" cy="2333625"/>
          </a:xfrm>
          <a:prstGeom prst="rect">
            <a:avLst/>
          </a:prstGeom>
        </p:spPr>
      </p:pic>
      <p:pic>
        <p:nvPicPr>
          <p:cNvPr id="6" name="Picture 5"/>
          <p:cNvPicPr>
            <a:picLocks noChangeAspect="1"/>
          </p:cNvPicPr>
          <p:nvPr/>
        </p:nvPicPr>
        <p:blipFill>
          <a:blip r:embed="rId3"/>
          <a:stretch>
            <a:fillRect/>
          </a:stretch>
        </p:blipFill>
        <p:spPr>
          <a:xfrm>
            <a:off x="2655664" y="3430108"/>
            <a:ext cx="6353175" cy="2400300"/>
          </a:xfrm>
          <a:prstGeom prst="rect">
            <a:avLst/>
          </a:prstGeom>
        </p:spPr>
      </p:pic>
    </p:spTree>
    <p:extLst>
      <p:ext uri="{BB962C8B-B14F-4D97-AF65-F5344CB8AC3E}">
        <p14:creationId xmlns:p14="http://schemas.microsoft.com/office/powerpoint/2010/main" val="6017632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Addressing and Partitioning</a:t>
            </a:r>
            <a:endParaRPr lang="en-IN" dirty="0"/>
          </a:p>
        </p:txBody>
      </p:sp>
      <p:sp>
        <p:nvSpPr>
          <p:cNvPr id="2" name="Rectangle 1"/>
          <p:cNvSpPr/>
          <p:nvPr/>
        </p:nvSpPr>
        <p:spPr>
          <a:xfrm>
            <a:off x="485104" y="787225"/>
            <a:ext cx="11518006" cy="3416320"/>
          </a:xfrm>
          <a:prstGeom prst="rect">
            <a:avLst/>
          </a:prstGeom>
        </p:spPr>
        <p:txBody>
          <a:bodyPr wrap="square">
            <a:spAutoFit/>
          </a:bodyPr>
          <a:lstStyle/>
          <a:p>
            <a:pPr fontAlgn="base"/>
            <a:r>
              <a:rPr lang="en-IN" sz="2400" dirty="0"/>
              <a:t>Pane (Across</a:t>
            </a:r>
            <a:r>
              <a:rPr lang="en-IN" sz="2400" dirty="0" smtClean="0"/>
              <a:t>) -</a:t>
            </a:r>
            <a:endParaRPr lang="en-IN" sz="2400" dirty="0"/>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r>
              <a:rPr lang="en-IN" sz="2400" dirty="0" smtClean="0"/>
              <a:t>Pane (Down) - </a:t>
            </a:r>
            <a:endParaRPr lang="en-IN" sz="2400" dirty="0"/>
          </a:p>
          <a:p>
            <a:pPr fontAlgn="base"/>
            <a:endParaRPr lang="en-IN" sz="2400" dirty="0" smtClean="0"/>
          </a:p>
          <a:p>
            <a:pPr fontAlgn="base"/>
            <a:r>
              <a:rPr lang="en-IN" sz="2400" dirty="0" smtClean="0"/>
              <a:t> </a:t>
            </a:r>
            <a:endParaRPr lang="en-IN" sz="2400" dirty="0"/>
          </a:p>
        </p:txBody>
      </p:sp>
      <p:pic>
        <p:nvPicPr>
          <p:cNvPr id="4" name="Picture 3"/>
          <p:cNvPicPr>
            <a:picLocks noChangeAspect="1"/>
          </p:cNvPicPr>
          <p:nvPr/>
        </p:nvPicPr>
        <p:blipFill>
          <a:blip r:embed="rId2"/>
          <a:stretch>
            <a:fillRect/>
          </a:stretch>
        </p:blipFill>
        <p:spPr>
          <a:xfrm>
            <a:off x="2542571" y="751289"/>
            <a:ext cx="6334125" cy="2371725"/>
          </a:xfrm>
          <a:prstGeom prst="rect">
            <a:avLst/>
          </a:prstGeom>
        </p:spPr>
      </p:pic>
      <p:pic>
        <p:nvPicPr>
          <p:cNvPr id="5" name="Picture 4"/>
          <p:cNvPicPr>
            <a:picLocks noChangeAspect="1"/>
          </p:cNvPicPr>
          <p:nvPr/>
        </p:nvPicPr>
        <p:blipFill>
          <a:blip r:embed="rId3"/>
          <a:stretch>
            <a:fillRect/>
          </a:stretch>
        </p:blipFill>
        <p:spPr>
          <a:xfrm>
            <a:off x="2552096" y="3430108"/>
            <a:ext cx="6324600" cy="2362200"/>
          </a:xfrm>
          <a:prstGeom prst="rect">
            <a:avLst/>
          </a:prstGeom>
        </p:spPr>
      </p:pic>
    </p:spTree>
    <p:extLst>
      <p:ext uri="{BB962C8B-B14F-4D97-AF65-F5344CB8AC3E}">
        <p14:creationId xmlns:p14="http://schemas.microsoft.com/office/powerpoint/2010/main" val="1945850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a:t>
            </a:r>
            <a:endParaRPr lang="en-IN" dirty="0"/>
          </a:p>
        </p:txBody>
      </p:sp>
      <p:sp>
        <p:nvSpPr>
          <p:cNvPr id="2" name="Rectangle 1"/>
          <p:cNvSpPr/>
          <p:nvPr/>
        </p:nvSpPr>
        <p:spPr>
          <a:xfrm>
            <a:off x="485104" y="787225"/>
            <a:ext cx="11518006" cy="3046988"/>
          </a:xfrm>
          <a:prstGeom prst="rect">
            <a:avLst/>
          </a:prstGeom>
        </p:spPr>
        <p:txBody>
          <a:bodyPr wrap="square">
            <a:spAutoFit/>
          </a:bodyPr>
          <a:lstStyle/>
          <a:p>
            <a:pPr marL="342900" indent="-342900" fontAlgn="base">
              <a:buFont typeface="Arial" panose="020B0604020202020204" pitchFamily="34" charset="0"/>
              <a:buChar char="•"/>
            </a:pPr>
            <a:r>
              <a:rPr lang="en-IN" sz="2400" dirty="0" smtClean="0"/>
              <a:t>Difference From - </a:t>
            </a:r>
            <a:r>
              <a:rPr lang="en-IN" sz="2400" dirty="0"/>
              <a:t>Use this type of calculation to compute the difference between two specified values in the table along a certain dimension</a:t>
            </a:r>
            <a:r>
              <a:rPr lang="en-IN" sz="2400" dirty="0" smtClean="0"/>
              <a:t>. </a:t>
            </a:r>
            <a:r>
              <a:rPr lang="en-IN" sz="2400" dirty="0"/>
              <a:t> For example, compute the difference between 2006 and 2007 quarterly sales for four different customer segments</a:t>
            </a:r>
            <a:r>
              <a:rPr lang="en-IN" sz="2400" dirty="0" smtClean="0"/>
              <a:t>.</a:t>
            </a:r>
          </a:p>
          <a:p>
            <a:pPr marL="342900" indent="-342900" fontAlgn="base">
              <a:buFont typeface="Arial" panose="020B0604020202020204" pitchFamily="34" charset="0"/>
              <a:buChar char="•"/>
            </a:pPr>
            <a:endParaRPr lang="en-IN" sz="2400" dirty="0"/>
          </a:p>
          <a:p>
            <a:pPr fontAlgn="base"/>
            <a:r>
              <a:rPr lang="en-IN" sz="2400" dirty="0" smtClean="0"/>
              <a:t> </a:t>
            </a:r>
          </a:p>
          <a:p>
            <a:pPr marL="342900" indent="-342900" fontAlgn="base">
              <a:buFont typeface="Arial" panose="020B0604020202020204" pitchFamily="34" charset="0"/>
              <a:buChar char="•"/>
            </a:pPr>
            <a:r>
              <a:rPr lang="en-IN" sz="2400" dirty="0" smtClean="0"/>
              <a:t>Running Total</a:t>
            </a:r>
            <a:endParaRPr lang="en-IN" sz="2400" dirty="0"/>
          </a:p>
          <a:p>
            <a:pPr marL="342900" indent="-342900" fontAlgn="base">
              <a:buFont typeface="Arial" panose="020B0604020202020204" pitchFamily="34" charset="0"/>
              <a:buChar char="•"/>
            </a:pPr>
            <a:r>
              <a:rPr lang="en-IN" sz="2400" dirty="0"/>
              <a:t>Percent Difference</a:t>
            </a:r>
          </a:p>
          <a:p>
            <a:pPr marL="342900" indent="-342900" fontAlgn="base">
              <a:buFont typeface="Arial" panose="020B0604020202020204" pitchFamily="34" charset="0"/>
              <a:buChar char="•"/>
            </a:pPr>
            <a:r>
              <a:rPr lang="en-IN" sz="2400" dirty="0"/>
              <a:t>Percent of Total</a:t>
            </a:r>
            <a:endParaRPr lang="en-IN" sz="2400" dirty="0"/>
          </a:p>
        </p:txBody>
      </p:sp>
      <p:pic>
        <p:nvPicPr>
          <p:cNvPr id="3" name="Picture 2"/>
          <p:cNvPicPr>
            <a:picLocks noChangeAspect="1"/>
          </p:cNvPicPr>
          <p:nvPr/>
        </p:nvPicPr>
        <p:blipFill>
          <a:blip r:embed="rId2"/>
          <a:stretch>
            <a:fillRect/>
          </a:stretch>
        </p:blipFill>
        <p:spPr>
          <a:xfrm>
            <a:off x="3776662" y="2114550"/>
            <a:ext cx="4638675" cy="2628900"/>
          </a:xfrm>
          <a:prstGeom prst="rect">
            <a:avLst/>
          </a:prstGeom>
        </p:spPr>
      </p:pic>
    </p:spTree>
    <p:extLst>
      <p:ext uri="{BB962C8B-B14F-4D97-AF65-F5344CB8AC3E}">
        <p14:creationId xmlns:p14="http://schemas.microsoft.com/office/powerpoint/2010/main" val="19522351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a:t>
            </a:r>
            <a:endParaRPr lang="en-IN" dirty="0"/>
          </a:p>
        </p:txBody>
      </p:sp>
      <p:sp>
        <p:nvSpPr>
          <p:cNvPr id="2" name="Rectangle 1"/>
          <p:cNvSpPr/>
          <p:nvPr/>
        </p:nvSpPr>
        <p:spPr>
          <a:xfrm>
            <a:off x="485104" y="787225"/>
            <a:ext cx="11518006" cy="3046988"/>
          </a:xfrm>
          <a:prstGeom prst="rect">
            <a:avLst/>
          </a:prstGeom>
        </p:spPr>
        <p:txBody>
          <a:bodyPr wrap="square">
            <a:spAutoFit/>
          </a:bodyPr>
          <a:lstStyle/>
          <a:p>
            <a:pPr marL="342900" indent="-342900" fontAlgn="base">
              <a:buFont typeface="Arial" panose="020B0604020202020204" pitchFamily="34" charset="0"/>
              <a:buChar char="•"/>
            </a:pPr>
            <a:r>
              <a:rPr lang="en-IN" sz="2400" dirty="0"/>
              <a:t>Percent </a:t>
            </a:r>
            <a:r>
              <a:rPr lang="en-IN" sz="2400" dirty="0" smtClean="0"/>
              <a:t>Difference </a:t>
            </a:r>
            <a:r>
              <a:rPr lang="en-IN" sz="2400" dirty="0"/>
              <a:t>- Use this type of calculation to display the rate of change between two specified values in the table by computing the difference as a percentage. A common use of this type of calculation is to compute the percent gain year over year (CAGR).</a:t>
            </a:r>
          </a:p>
          <a:p>
            <a:pPr fontAlgn="base"/>
            <a:r>
              <a:rPr lang="en-IN" sz="2400" dirty="0" smtClean="0"/>
              <a:t> </a:t>
            </a:r>
          </a:p>
          <a:p>
            <a:pPr marL="342900" indent="-342900" fontAlgn="base">
              <a:buFont typeface="Arial" panose="020B0604020202020204" pitchFamily="34" charset="0"/>
              <a:buChar char="•"/>
            </a:pPr>
            <a:r>
              <a:rPr lang="en-IN" sz="2400" dirty="0" smtClean="0"/>
              <a:t>Running Total</a:t>
            </a:r>
            <a:endParaRPr lang="en-IN" sz="2400" dirty="0"/>
          </a:p>
          <a:p>
            <a:pPr marL="342900" indent="-342900" fontAlgn="base">
              <a:buFont typeface="Arial" panose="020B0604020202020204" pitchFamily="34" charset="0"/>
              <a:buChar char="•"/>
            </a:pPr>
            <a:r>
              <a:rPr lang="en-IN" sz="2400" dirty="0"/>
              <a:t>Percent Difference</a:t>
            </a:r>
          </a:p>
          <a:p>
            <a:pPr marL="342900" indent="-342900" fontAlgn="base">
              <a:buFont typeface="Arial" panose="020B0604020202020204" pitchFamily="34" charset="0"/>
              <a:buChar char="•"/>
            </a:pPr>
            <a:r>
              <a:rPr lang="en-IN" sz="2400" dirty="0"/>
              <a:t>Percent of Total</a:t>
            </a:r>
            <a:endParaRPr lang="en-IN" sz="2400" dirty="0"/>
          </a:p>
        </p:txBody>
      </p:sp>
      <p:pic>
        <p:nvPicPr>
          <p:cNvPr id="4" name="Picture 3"/>
          <p:cNvPicPr>
            <a:picLocks noChangeAspect="1"/>
          </p:cNvPicPr>
          <p:nvPr/>
        </p:nvPicPr>
        <p:blipFill>
          <a:blip r:embed="rId2"/>
          <a:stretch>
            <a:fillRect/>
          </a:stretch>
        </p:blipFill>
        <p:spPr>
          <a:xfrm>
            <a:off x="3776662" y="2119312"/>
            <a:ext cx="4638675" cy="2619375"/>
          </a:xfrm>
          <a:prstGeom prst="rect">
            <a:avLst/>
          </a:prstGeom>
        </p:spPr>
      </p:pic>
    </p:spTree>
    <p:extLst>
      <p:ext uri="{BB962C8B-B14F-4D97-AF65-F5344CB8AC3E}">
        <p14:creationId xmlns:p14="http://schemas.microsoft.com/office/powerpoint/2010/main" val="16904769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a:t>
            </a:r>
            <a:endParaRPr lang="en-IN" dirty="0"/>
          </a:p>
        </p:txBody>
      </p:sp>
      <p:sp>
        <p:nvSpPr>
          <p:cNvPr id="2" name="Rectangle 1"/>
          <p:cNvSpPr/>
          <p:nvPr/>
        </p:nvSpPr>
        <p:spPr>
          <a:xfrm>
            <a:off x="485104" y="787225"/>
            <a:ext cx="11518006" cy="1938992"/>
          </a:xfrm>
          <a:prstGeom prst="rect">
            <a:avLst/>
          </a:prstGeom>
        </p:spPr>
        <p:txBody>
          <a:bodyPr wrap="square">
            <a:spAutoFit/>
          </a:bodyPr>
          <a:lstStyle/>
          <a:p>
            <a:pPr marL="342900" indent="-342900" fontAlgn="base">
              <a:buFont typeface="Arial" panose="020B0604020202020204" pitchFamily="34" charset="0"/>
              <a:buChar char="•"/>
            </a:pPr>
            <a:r>
              <a:rPr lang="en-IN" sz="2400" dirty="0"/>
              <a:t>Percent of </a:t>
            </a:r>
            <a:r>
              <a:rPr lang="en-IN" sz="2400" dirty="0" smtClean="0"/>
              <a:t>Total </a:t>
            </a:r>
            <a:r>
              <a:rPr lang="en-IN" sz="2400" dirty="0"/>
              <a:t>- When you select Percentage of Table, each measure on the worksheet is expressed as a percentage of the total for the entire worksheet (table). For example, Technology in the East region accounts for 3.79% of total sales in 2014. The grand totals for rows show that 2014 accounts for 31.95% of the total sales. Summing the grand totals for rows or for columns yields 100% of the total. </a:t>
            </a:r>
            <a:endParaRPr lang="en-IN" sz="2400" dirty="0" smtClean="0"/>
          </a:p>
        </p:txBody>
      </p:sp>
      <p:pic>
        <p:nvPicPr>
          <p:cNvPr id="3" name="Picture 2"/>
          <p:cNvPicPr>
            <a:picLocks noChangeAspect="1"/>
          </p:cNvPicPr>
          <p:nvPr/>
        </p:nvPicPr>
        <p:blipFill>
          <a:blip r:embed="rId2"/>
          <a:stretch>
            <a:fillRect/>
          </a:stretch>
        </p:blipFill>
        <p:spPr>
          <a:xfrm>
            <a:off x="2548581" y="2726217"/>
            <a:ext cx="5524500" cy="3341981"/>
          </a:xfrm>
          <a:prstGeom prst="rect">
            <a:avLst/>
          </a:prstGeom>
        </p:spPr>
      </p:pic>
    </p:spTree>
    <p:extLst>
      <p:ext uri="{BB962C8B-B14F-4D97-AF65-F5344CB8AC3E}">
        <p14:creationId xmlns:p14="http://schemas.microsoft.com/office/powerpoint/2010/main" val="19901945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a:t>
            </a:r>
            <a:endParaRPr lang="en-IN" dirty="0"/>
          </a:p>
        </p:txBody>
      </p:sp>
      <p:sp>
        <p:nvSpPr>
          <p:cNvPr id="2" name="Rectangle 1"/>
          <p:cNvSpPr/>
          <p:nvPr/>
        </p:nvSpPr>
        <p:spPr>
          <a:xfrm>
            <a:off x="485104" y="787225"/>
            <a:ext cx="11518006" cy="1200329"/>
          </a:xfrm>
          <a:prstGeom prst="rect">
            <a:avLst/>
          </a:prstGeom>
        </p:spPr>
        <p:txBody>
          <a:bodyPr wrap="square">
            <a:spAutoFit/>
          </a:bodyPr>
          <a:lstStyle/>
          <a:p>
            <a:pPr marL="342900" indent="-342900" fontAlgn="base">
              <a:buFont typeface="Arial" panose="020B0604020202020204" pitchFamily="34" charset="0"/>
              <a:buChar char="•"/>
            </a:pPr>
            <a:r>
              <a:rPr lang="en-IN" sz="2400" dirty="0" smtClean="0"/>
              <a:t>Running Total - </a:t>
            </a:r>
            <a:r>
              <a:rPr lang="en-IN" sz="2400" dirty="0"/>
              <a:t>Use the Running Total calculation to compute a cumulative total across a dimension or table structure. For example, you can use this type of calculation to calculate the cumulative sales for each quarter for several years.</a:t>
            </a:r>
            <a:endParaRPr lang="en-IN" sz="2400" dirty="0" smtClean="0"/>
          </a:p>
        </p:txBody>
      </p:sp>
      <p:pic>
        <p:nvPicPr>
          <p:cNvPr id="4" name="Picture 3"/>
          <p:cNvPicPr>
            <a:picLocks noChangeAspect="1"/>
          </p:cNvPicPr>
          <p:nvPr/>
        </p:nvPicPr>
        <p:blipFill>
          <a:blip r:embed="rId2"/>
          <a:stretch>
            <a:fillRect/>
          </a:stretch>
        </p:blipFill>
        <p:spPr>
          <a:xfrm>
            <a:off x="3427198" y="2174789"/>
            <a:ext cx="4629150" cy="2590800"/>
          </a:xfrm>
          <a:prstGeom prst="rect">
            <a:avLst/>
          </a:prstGeom>
        </p:spPr>
      </p:pic>
    </p:spTree>
    <p:extLst>
      <p:ext uri="{BB962C8B-B14F-4D97-AF65-F5344CB8AC3E}">
        <p14:creationId xmlns:p14="http://schemas.microsoft.com/office/powerpoint/2010/main" val="33299044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Dual Axis</a:t>
            </a:r>
            <a:endParaRPr lang="en-IN" dirty="0"/>
          </a:p>
        </p:txBody>
      </p:sp>
      <p:sp>
        <p:nvSpPr>
          <p:cNvPr id="2" name="Rectangle 1"/>
          <p:cNvSpPr/>
          <p:nvPr/>
        </p:nvSpPr>
        <p:spPr>
          <a:xfrm>
            <a:off x="485104" y="787225"/>
            <a:ext cx="11518006" cy="2308324"/>
          </a:xfrm>
          <a:prstGeom prst="rect">
            <a:avLst/>
          </a:prstGeom>
        </p:spPr>
        <p:txBody>
          <a:bodyPr wrap="square">
            <a:spAutoFit/>
          </a:bodyPr>
          <a:lstStyle/>
          <a:p>
            <a:pPr fontAlgn="base"/>
            <a:r>
              <a:rPr lang="en-IN" sz="2400" dirty="0" smtClean="0"/>
              <a:t>You </a:t>
            </a:r>
            <a:r>
              <a:rPr lang="en-IN" sz="2400" dirty="0"/>
              <a:t>can compare multiple measures using dual axes, which are two independent axes that are layered on top of each other</a:t>
            </a:r>
            <a:r>
              <a:rPr lang="en-IN" sz="2400" dirty="0" smtClean="0"/>
              <a:t>.</a:t>
            </a:r>
          </a:p>
          <a:p>
            <a:pPr fontAlgn="base"/>
            <a:endParaRPr lang="en-IN" sz="2400" dirty="0"/>
          </a:p>
          <a:p>
            <a:pPr fontAlgn="base"/>
            <a:r>
              <a:rPr lang="en-IN" sz="2400" dirty="0"/>
              <a:t>The </a:t>
            </a:r>
            <a:r>
              <a:rPr lang="en-IN" sz="2400" b="1" dirty="0"/>
              <a:t>Synchronize Axis</a:t>
            </a:r>
            <a:r>
              <a:rPr lang="en-IN" sz="2400" dirty="0"/>
              <a:t> option ensures that you make a scaled and correct comparison. However, sometimes this option may not be available (</a:t>
            </a:r>
            <a:r>
              <a:rPr lang="en-IN" sz="2400" dirty="0" err="1"/>
              <a:t>grayed</a:t>
            </a:r>
            <a:r>
              <a:rPr lang="en-IN" sz="2400" dirty="0"/>
              <a:t> out). This is because the data type of one of the axes is different from the other.</a:t>
            </a:r>
            <a:endParaRPr lang="en-IN" sz="2400" dirty="0"/>
          </a:p>
        </p:txBody>
      </p:sp>
      <p:pic>
        <p:nvPicPr>
          <p:cNvPr id="3" name="Picture 2"/>
          <p:cNvPicPr>
            <a:picLocks noChangeAspect="1"/>
          </p:cNvPicPr>
          <p:nvPr/>
        </p:nvPicPr>
        <p:blipFill>
          <a:blip r:embed="rId2"/>
          <a:stretch>
            <a:fillRect/>
          </a:stretch>
        </p:blipFill>
        <p:spPr>
          <a:xfrm>
            <a:off x="3262184" y="3095549"/>
            <a:ext cx="3912972" cy="2936117"/>
          </a:xfrm>
          <a:prstGeom prst="rect">
            <a:avLst/>
          </a:prstGeom>
        </p:spPr>
      </p:pic>
    </p:spTree>
    <p:extLst>
      <p:ext uri="{BB962C8B-B14F-4D97-AF65-F5344CB8AC3E}">
        <p14:creationId xmlns:p14="http://schemas.microsoft.com/office/powerpoint/2010/main" val="35638177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Data Blending</a:t>
            </a:r>
            <a:endParaRPr lang="en-IN" dirty="0"/>
          </a:p>
        </p:txBody>
      </p:sp>
      <p:sp>
        <p:nvSpPr>
          <p:cNvPr id="2" name="Rectangle 1"/>
          <p:cNvSpPr/>
          <p:nvPr/>
        </p:nvSpPr>
        <p:spPr>
          <a:xfrm>
            <a:off x="485104" y="787225"/>
            <a:ext cx="11518006" cy="3416320"/>
          </a:xfrm>
          <a:prstGeom prst="rect">
            <a:avLst/>
          </a:prstGeom>
        </p:spPr>
        <p:txBody>
          <a:bodyPr wrap="square">
            <a:spAutoFit/>
          </a:bodyPr>
          <a:lstStyle/>
          <a:p>
            <a:pPr marL="342900" indent="-342900" fontAlgn="base">
              <a:buFont typeface="Arial" panose="020B0604020202020204" pitchFamily="34" charset="0"/>
              <a:buChar char="•"/>
            </a:pPr>
            <a:r>
              <a:rPr lang="en-IN" sz="2400" dirty="0"/>
              <a:t>Data blending is when you combine data from multiple data source types in a single worksheet. The data is joined on common dimensions. </a:t>
            </a:r>
          </a:p>
          <a:p>
            <a:pPr marL="342900" indent="-342900" fontAlgn="base">
              <a:buFont typeface="Arial" panose="020B0604020202020204" pitchFamily="34" charset="0"/>
              <a:buChar char="•"/>
            </a:pPr>
            <a:r>
              <a:rPr lang="en-IN" sz="2400" dirty="0" smtClean="0"/>
              <a:t>Data </a:t>
            </a:r>
            <a:r>
              <a:rPr lang="en-IN" sz="2400" dirty="0"/>
              <a:t>Blending does not create row level joins and is not a way to add new dimensions or rows to your data</a:t>
            </a:r>
            <a:r>
              <a:rPr lang="en-IN" sz="2400" dirty="0" smtClean="0"/>
              <a:t>.</a:t>
            </a:r>
            <a:endParaRPr lang="en-IN" sz="2400" dirty="0"/>
          </a:p>
          <a:p>
            <a:pPr marL="342900" indent="-342900" fontAlgn="base">
              <a:buFont typeface="Arial" panose="020B0604020202020204" pitchFamily="34" charset="0"/>
              <a:buChar char="•"/>
            </a:pPr>
            <a:r>
              <a:rPr lang="en-IN" sz="2400" dirty="0"/>
              <a:t>For example, you may have Sales data collected in an Oracle database and Sales Goal data in an Excel spreadsheet. To compare actual sales to target sales, you can blend the data based on common dimensions to get access to the Sales Goal measure.</a:t>
            </a:r>
            <a:endParaRPr lang="en-IN" sz="2400" dirty="0" smtClean="0"/>
          </a:p>
          <a:p>
            <a:pPr marL="342900" indent="-342900" fontAlgn="base">
              <a:buFont typeface="Arial" panose="020B0604020202020204" pitchFamily="34" charset="0"/>
              <a:buChar char="•"/>
            </a:pPr>
            <a:endParaRPr lang="en-IN" sz="2400" dirty="0"/>
          </a:p>
          <a:p>
            <a:pPr marL="342900" indent="-342900" fontAlgn="base">
              <a:buFont typeface="Arial" panose="020B0604020202020204" pitchFamily="34" charset="0"/>
              <a:buChar char="•"/>
            </a:pPr>
            <a:endParaRPr lang="en-IN" sz="2400" dirty="0"/>
          </a:p>
        </p:txBody>
      </p:sp>
      <p:pic>
        <p:nvPicPr>
          <p:cNvPr id="4" name="Picture 3"/>
          <p:cNvPicPr>
            <a:picLocks noChangeAspect="1"/>
          </p:cNvPicPr>
          <p:nvPr/>
        </p:nvPicPr>
        <p:blipFill>
          <a:blip r:embed="rId2"/>
          <a:stretch>
            <a:fillRect/>
          </a:stretch>
        </p:blipFill>
        <p:spPr>
          <a:xfrm>
            <a:off x="4691706" y="3367474"/>
            <a:ext cx="1722247" cy="2835618"/>
          </a:xfrm>
          <a:prstGeom prst="rect">
            <a:avLst/>
          </a:prstGeom>
        </p:spPr>
      </p:pic>
    </p:spTree>
    <p:extLst>
      <p:ext uri="{BB962C8B-B14F-4D97-AF65-F5344CB8AC3E}">
        <p14:creationId xmlns:p14="http://schemas.microsoft.com/office/powerpoint/2010/main" val="15034545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Tableau Server</a:t>
            </a:r>
            <a:endParaRPr lang="en-IN" dirty="0"/>
          </a:p>
        </p:txBody>
      </p:sp>
      <p:sp>
        <p:nvSpPr>
          <p:cNvPr id="2" name="Rectangle 1"/>
          <p:cNvSpPr/>
          <p:nvPr/>
        </p:nvSpPr>
        <p:spPr>
          <a:xfrm>
            <a:off x="485104" y="787225"/>
            <a:ext cx="11518006" cy="5262979"/>
          </a:xfrm>
          <a:prstGeom prst="rect">
            <a:avLst/>
          </a:prstGeom>
        </p:spPr>
        <p:txBody>
          <a:bodyPr wrap="square">
            <a:spAutoFit/>
          </a:bodyPr>
          <a:lstStyle/>
          <a:p>
            <a:pPr fontAlgn="base"/>
            <a:r>
              <a:rPr lang="en-IN" sz="2400" b="0" i="0" dirty="0" smtClean="0">
                <a:effectLst/>
              </a:rPr>
              <a:t>Which is better?</a:t>
            </a:r>
          </a:p>
          <a:p>
            <a:pPr fontAlgn="base"/>
            <a:endParaRPr lang="en-IN" sz="2400" dirty="0" smtClean="0"/>
          </a:p>
          <a:p>
            <a:pPr fontAlgn="base"/>
            <a:r>
              <a:rPr lang="en-IN" sz="2400" dirty="0"/>
              <a:t>Extract will be </a:t>
            </a:r>
            <a:r>
              <a:rPr lang="en-IN" sz="2400" dirty="0" smtClean="0"/>
              <a:t>better when - </a:t>
            </a:r>
            <a:endParaRPr lang="en-IN" sz="2400" dirty="0"/>
          </a:p>
          <a:p>
            <a:pPr marL="342900" indent="-342900" fontAlgn="base">
              <a:buFont typeface="Arial" panose="020B0604020202020204" pitchFamily="34" charset="0"/>
              <a:buChar char="•"/>
            </a:pPr>
            <a:r>
              <a:rPr lang="en-IN" sz="2400" dirty="0" smtClean="0"/>
              <a:t>Underlying </a:t>
            </a:r>
            <a:r>
              <a:rPr lang="en-IN" sz="2400" dirty="0"/>
              <a:t>data source is unacceptably </a:t>
            </a:r>
            <a:r>
              <a:rPr lang="en-IN" sz="2400" dirty="0" smtClean="0"/>
              <a:t>slow.</a:t>
            </a:r>
          </a:p>
          <a:p>
            <a:pPr marL="342900" indent="-342900" fontAlgn="base">
              <a:buFont typeface="Arial" panose="020B0604020202020204" pitchFamily="34" charset="0"/>
              <a:buChar char="•"/>
            </a:pPr>
            <a:r>
              <a:rPr lang="en-IN" sz="2400" dirty="0" smtClean="0"/>
              <a:t>You need to optimize your calculations and features. </a:t>
            </a:r>
            <a:r>
              <a:rPr lang="en-IN" sz="2400" dirty="0"/>
              <a:t>- </a:t>
            </a:r>
            <a:r>
              <a:rPr lang="en-IN" sz="2400" dirty="0">
                <a:hlinkClick r:id="rId2"/>
              </a:rPr>
              <a:t>http://</a:t>
            </a:r>
            <a:r>
              <a:rPr lang="en-IN" sz="2400" dirty="0" smtClean="0">
                <a:hlinkClick r:id="rId2"/>
              </a:rPr>
              <a:t>www.tableau.com/about/blog/2014/7/understanding-tableau-data-extracts-part1</a:t>
            </a:r>
            <a:endParaRPr lang="en-IN" sz="2400" dirty="0" smtClean="0"/>
          </a:p>
          <a:p>
            <a:pPr marL="342900" indent="-342900" fontAlgn="base">
              <a:buFont typeface="Arial" panose="020B0604020202020204" pitchFamily="34" charset="0"/>
              <a:buChar char="•"/>
            </a:pPr>
            <a:r>
              <a:rPr lang="en-IN" sz="2400" dirty="0" smtClean="0"/>
              <a:t>You need to be offline</a:t>
            </a:r>
          </a:p>
          <a:p>
            <a:pPr marL="342900" indent="-342900" fontAlgn="base">
              <a:buFont typeface="Arial" panose="020B0604020202020204" pitchFamily="34" charset="0"/>
              <a:buChar char="•"/>
            </a:pPr>
            <a:r>
              <a:rPr lang="en-IN" sz="2400" dirty="0" smtClean="0"/>
              <a:t>You need a portable dashboard – sharing and collaborations become easy.</a:t>
            </a:r>
          </a:p>
          <a:p>
            <a:pPr marL="342900" indent="-342900" fontAlgn="base">
              <a:buFont typeface="Arial" panose="020B0604020202020204" pitchFamily="34" charset="0"/>
              <a:buChar char="•"/>
            </a:pPr>
            <a:endParaRPr lang="en-IN" sz="2400" b="0" i="0" dirty="0" smtClean="0">
              <a:effectLst/>
            </a:endParaRPr>
          </a:p>
          <a:p>
            <a:pPr fontAlgn="base"/>
            <a:r>
              <a:rPr lang="en-IN" sz="2400" dirty="0" smtClean="0"/>
              <a:t>Live will be better when – </a:t>
            </a:r>
          </a:p>
          <a:p>
            <a:pPr marL="342900" indent="-342900" fontAlgn="base">
              <a:buFont typeface="Arial" panose="020B0604020202020204" pitchFamily="34" charset="0"/>
              <a:buChar char="•"/>
            </a:pPr>
            <a:r>
              <a:rPr lang="en-IN" sz="2400" dirty="0"/>
              <a:t>When you have a fast </a:t>
            </a:r>
            <a:r>
              <a:rPr lang="en-IN" sz="2400" dirty="0" smtClean="0"/>
              <a:t>database</a:t>
            </a:r>
          </a:p>
          <a:p>
            <a:pPr marL="342900" indent="-342900" fontAlgn="base">
              <a:buFont typeface="Arial" panose="020B0604020202020204" pitchFamily="34" charset="0"/>
              <a:buChar char="•"/>
            </a:pPr>
            <a:r>
              <a:rPr lang="en-IN" sz="2400" dirty="0"/>
              <a:t>When you need up-to-the minute </a:t>
            </a:r>
            <a:r>
              <a:rPr lang="en-IN" sz="2400" dirty="0" smtClean="0"/>
              <a:t>data(Real Time Updates)</a:t>
            </a:r>
          </a:p>
          <a:p>
            <a:pPr marL="342900" indent="-342900" fontAlgn="base">
              <a:buFont typeface="Arial" panose="020B0604020202020204" pitchFamily="34" charset="0"/>
              <a:buChar char="•"/>
            </a:pPr>
            <a:r>
              <a:rPr lang="en-IN" sz="2400" dirty="0" smtClean="0"/>
              <a:t>When data size is huge.</a:t>
            </a:r>
          </a:p>
          <a:p>
            <a:pPr marL="342900" indent="-342900" fontAlgn="base">
              <a:buFont typeface="Arial" panose="020B0604020202020204" pitchFamily="34" charset="0"/>
              <a:buChar char="•"/>
            </a:pPr>
            <a:endParaRPr lang="en-IN" sz="2400" dirty="0"/>
          </a:p>
        </p:txBody>
      </p:sp>
    </p:spTree>
    <p:extLst>
      <p:ext uri="{BB962C8B-B14F-4D97-AF65-F5344CB8AC3E}">
        <p14:creationId xmlns:p14="http://schemas.microsoft.com/office/powerpoint/2010/main" val="87853619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Demo</a:t>
            </a:r>
          </a:p>
        </p:txBody>
      </p:sp>
      <p:sp>
        <p:nvSpPr>
          <p:cNvPr id="2" name="Rectangle 1"/>
          <p:cNvSpPr/>
          <p:nvPr/>
        </p:nvSpPr>
        <p:spPr>
          <a:xfrm>
            <a:off x="485104" y="787225"/>
            <a:ext cx="11518006" cy="5262979"/>
          </a:xfrm>
          <a:prstGeom prst="rect">
            <a:avLst/>
          </a:prstGeom>
        </p:spPr>
        <p:txBody>
          <a:bodyPr wrap="square">
            <a:spAutoFit/>
          </a:bodyPr>
          <a:lstStyle/>
          <a:p>
            <a:pPr fontAlgn="base"/>
            <a:r>
              <a:rPr lang="en-IN" sz="2400" b="0" i="0" dirty="0" smtClean="0">
                <a:effectLst/>
              </a:rPr>
              <a:t>Which is better?</a:t>
            </a:r>
          </a:p>
          <a:p>
            <a:pPr fontAlgn="base"/>
            <a:endParaRPr lang="en-IN" sz="2400" dirty="0" smtClean="0"/>
          </a:p>
          <a:p>
            <a:pPr fontAlgn="base"/>
            <a:r>
              <a:rPr lang="en-IN" sz="2400" dirty="0"/>
              <a:t>Extract will be </a:t>
            </a:r>
            <a:r>
              <a:rPr lang="en-IN" sz="2400" dirty="0" smtClean="0"/>
              <a:t>better when - </a:t>
            </a:r>
            <a:endParaRPr lang="en-IN" sz="2400" dirty="0"/>
          </a:p>
          <a:p>
            <a:pPr marL="342900" indent="-342900" fontAlgn="base">
              <a:buFont typeface="Arial" panose="020B0604020202020204" pitchFamily="34" charset="0"/>
              <a:buChar char="•"/>
            </a:pPr>
            <a:r>
              <a:rPr lang="en-IN" sz="2400" dirty="0" smtClean="0"/>
              <a:t>Underlying </a:t>
            </a:r>
            <a:r>
              <a:rPr lang="en-IN" sz="2400" dirty="0"/>
              <a:t>data source is unacceptably </a:t>
            </a:r>
            <a:r>
              <a:rPr lang="en-IN" sz="2400" dirty="0" smtClean="0"/>
              <a:t>slow.</a:t>
            </a:r>
          </a:p>
          <a:p>
            <a:pPr marL="342900" indent="-342900" fontAlgn="base">
              <a:buFont typeface="Arial" panose="020B0604020202020204" pitchFamily="34" charset="0"/>
              <a:buChar char="•"/>
            </a:pPr>
            <a:r>
              <a:rPr lang="en-IN" sz="2400" dirty="0" smtClean="0"/>
              <a:t>You need to optimize your calculations and features. </a:t>
            </a:r>
            <a:r>
              <a:rPr lang="en-IN" sz="2400" dirty="0"/>
              <a:t>- </a:t>
            </a:r>
            <a:r>
              <a:rPr lang="en-IN" sz="2400" dirty="0">
                <a:hlinkClick r:id="rId2"/>
              </a:rPr>
              <a:t>http://</a:t>
            </a:r>
            <a:r>
              <a:rPr lang="en-IN" sz="2400" dirty="0" smtClean="0">
                <a:hlinkClick r:id="rId2"/>
              </a:rPr>
              <a:t>www.tableau.com/about/blog/2014/7/understanding-tableau-data-extracts-part1</a:t>
            </a:r>
            <a:endParaRPr lang="en-IN" sz="2400" dirty="0" smtClean="0"/>
          </a:p>
          <a:p>
            <a:pPr marL="342900" indent="-342900" fontAlgn="base">
              <a:buFont typeface="Arial" panose="020B0604020202020204" pitchFamily="34" charset="0"/>
              <a:buChar char="•"/>
            </a:pPr>
            <a:r>
              <a:rPr lang="en-IN" sz="2400" dirty="0" smtClean="0"/>
              <a:t>You need to be offline</a:t>
            </a:r>
          </a:p>
          <a:p>
            <a:pPr marL="342900" indent="-342900" fontAlgn="base">
              <a:buFont typeface="Arial" panose="020B0604020202020204" pitchFamily="34" charset="0"/>
              <a:buChar char="•"/>
            </a:pPr>
            <a:r>
              <a:rPr lang="en-IN" sz="2400" dirty="0" smtClean="0"/>
              <a:t>You need a portable dashboard – sharing and collaborations become easy.</a:t>
            </a:r>
          </a:p>
          <a:p>
            <a:pPr marL="342900" indent="-342900" fontAlgn="base">
              <a:buFont typeface="Arial" panose="020B0604020202020204" pitchFamily="34" charset="0"/>
              <a:buChar char="•"/>
            </a:pPr>
            <a:endParaRPr lang="en-IN" sz="2400" b="0" i="0" dirty="0" smtClean="0">
              <a:effectLst/>
            </a:endParaRPr>
          </a:p>
          <a:p>
            <a:pPr fontAlgn="base"/>
            <a:r>
              <a:rPr lang="en-IN" sz="2400" dirty="0" smtClean="0"/>
              <a:t>Live will be better when – </a:t>
            </a:r>
          </a:p>
          <a:p>
            <a:pPr marL="342900" indent="-342900" fontAlgn="base">
              <a:buFont typeface="Arial" panose="020B0604020202020204" pitchFamily="34" charset="0"/>
              <a:buChar char="•"/>
            </a:pPr>
            <a:r>
              <a:rPr lang="en-IN" sz="2400" dirty="0"/>
              <a:t>When you have a fast </a:t>
            </a:r>
            <a:r>
              <a:rPr lang="en-IN" sz="2400" dirty="0" smtClean="0"/>
              <a:t>database</a:t>
            </a:r>
          </a:p>
          <a:p>
            <a:pPr marL="342900" indent="-342900" fontAlgn="base">
              <a:buFont typeface="Arial" panose="020B0604020202020204" pitchFamily="34" charset="0"/>
              <a:buChar char="•"/>
            </a:pPr>
            <a:r>
              <a:rPr lang="en-IN" sz="2400" dirty="0"/>
              <a:t>When you need up-to-the minute </a:t>
            </a:r>
            <a:r>
              <a:rPr lang="en-IN" sz="2400" dirty="0" smtClean="0"/>
              <a:t>data(Real Time Updates)</a:t>
            </a:r>
          </a:p>
          <a:p>
            <a:pPr marL="342900" indent="-342900" fontAlgn="base">
              <a:buFont typeface="Arial" panose="020B0604020202020204" pitchFamily="34" charset="0"/>
              <a:buChar char="•"/>
            </a:pPr>
            <a:r>
              <a:rPr lang="en-IN" sz="2400" dirty="0" smtClean="0"/>
              <a:t>When data size is huge.</a:t>
            </a:r>
          </a:p>
          <a:p>
            <a:pPr marL="342900" indent="-342900" fontAlgn="base">
              <a:buFont typeface="Arial" panose="020B0604020202020204" pitchFamily="34" charset="0"/>
              <a:buChar char="•"/>
            </a:pPr>
            <a:endParaRPr lang="en-IN" sz="2400" dirty="0"/>
          </a:p>
        </p:txBody>
      </p:sp>
    </p:spTree>
    <p:extLst>
      <p:ext uri="{BB962C8B-B14F-4D97-AF65-F5344CB8AC3E}">
        <p14:creationId xmlns:p14="http://schemas.microsoft.com/office/powerpoint/2010/main" val="378984223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9214</TotalTime>
  <Words>1798</Words>
  <Application>Microsoft Office PowerPoint</Application>
  <PresentationFormat>Widescreen</PresentationFormat>
  <Paragraphs>230</Paragraphs>
  <Slides>34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34</vt:i4>
      </vt:variant>
    </vt:vector>
  </HeadingPairs>
  <TitlesOfParts>
    <vt:vector size="40" baseType="lpstr">
      <vt:lpstr>Arial</vt:lpstr>
      <vt:lpstr>Calibri</vt:lpstr>
      <vt:lpstr>Calibri Light</vt:lpstr>
      <vt:lpstr>Leelawadee UI</vt:lpstr>
      <vt:lpstr>1_Office Theme</vt:lpstr>
      <vt:lpstr>3_Office Theme</vt:lpstr>
      <vt:lpstr>PowerPoint Presentation</vt:lpstr>
      <vt:lpstr>PowerPoint Presentation</vt:lpstr>
      <vt:lpstr>PowerPoint Presentation</vt:lpstr>
      <vt:lpstr>Oil Consumption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Sanket Verma</dc:creator>
  <cp:lastModifiedBy>Sanket Verma</cp:lastModifiedBy>
  <cp:revision>117</cp:revision>
  <dcterms:created xsi:type="dcterms:W3CDTF">2016-06-07T05:43:05Z</dcterms:created>
  <dcterms:modified xsi:type="dcterms:W3CDTF">2016-07-22T05:50:09Z</dcterms:modified>
</cp:coreProperties>
</file>
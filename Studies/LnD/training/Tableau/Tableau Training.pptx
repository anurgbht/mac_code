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761" r:id="rId3"/>
  </p:sldMasterIdLst>
  <p:notesMasterIdLst>
    <p:notesMasterId r:id="rId57"/>
  </p:notesMasterIdLst>
  <p:sldIdLst>
    <p:sldId id="257" r:id="rId4"/>
    <p:sldId id="259" r:id="rId5"/>
    <p:sldId id="260" r:id="rId6"/>
    <p:sldId id="312" r:id="rId7"/>
    <p:sldId id="313" r:id="rId8"/>
    <p:sldId id="314" r:id="rId9"/>
    <p:sldId id="265" r:id="rId10"/>
    <p:sldId id="267" r:id="rId11"/>
    <p:sldId id="268" r:id="rId12"/>
    <p:sldId id="269" r:id="rId13"/>
    <p:sldId id="316" r:id="rId14"/>
    <p:sldId id="271" r:id="rId15"/>
    <p:sldId id="317" r:id="rId16"/>
    <p:sldId id="294" r:id="rId17"/>
    <p:sldId id="318" r:id="rId18"/>
    <p:sldId id="272" r:id="rId19"/>
    <p:sldId id="296" r:id="rId20"/>
    <p:sldId id="273" r:id="rId21"/>
    <p:sldId id="282" r:id="rId22"/>
    <p:sldId id="297" r:id="rId23"/>
    <p:sldId id="283" r:id="rId24"/>
    <p:sldId id="298" r:id="rId25"/>
    <p:sldId id="284" r:id="rId26"/>
    <p:sldId id="299" r:id="rId27"/>
    <p:sldId id="286" r:id="rId28"/>
    <p:sldId id="300" r:id="rId29"/>
    <p:sldId id="285" r:id="rId30"/>
    <p:sldId id="301" r:id="rId31"/>
    <p:sldId id="275" r:id="rId32"/>
    <p:sldId id="302" r:id="rId33"/>
    <p:sldId id="276" r:id="rId34"/>
    <p:sldId id="319" r:id="rId35"/>
    <p:sldId id="303" r:id="rId36"/>
    <p:sldId id="290" r:id="rId37"/>
    <p:sldId id="322" r:id="rId38"/>
    <p:sldId id="308" r:id="rId39"/>
    <p:sldId id="277" r:id="rId40"/>
    <p:sldId id="287" r:id="rId41"/>
    <p:sldId id="288" r:id="rId42"/>
    <p:sldId id="289" r:id="rId43"/>
    <p:sldId id="278" r:id="rId44"/>
    <p:sldId id="304" r:id="rId45"/>
    <p:sldId id="291" r:id="rId46"/>
    <p:sldId id="305" r:id="rId47"/>
    <p:sldId id="292" r:id="rId48"/>
    <p:sldId id="306" r:id="rId49"/>
    <p:sldId id="293" r:id="rId50"/>
    <p:sldId id="307" r:id="rId51"/>
    <p:sldId id="320" r:id="rId52"/>
    <p:sldId id="321" r:id="rId53"/>
    <p:sldId id="279" r:id="rId54"/>
    <p:sldId id="309" r:id="rId55"/>
    <p:sldId id="323"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1329" autoAdjust="0"/>
  </p:normalViewPr>
  <p:slideViewPr>
    <p:cSldViewPr snapToGrid="0">
      <p:cViewPr varScale="1">
        <p:scale>
          <a:sx n="60" d="100"/>
          <a:sy n="60" d="100"/>
        </p:scale>
        <p:origin x="11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istrator.SURESH-PC\Desktop\Tata%20Dashboard\SAmple%20DAta%20New.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istrator.SURESH-PC\Desktop\Tata%20Dashboard\SAmple%20DAta%20New.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Administrator.SURESH-PC\Desktop\New%20Microsoft%20Office%20Excel%20Workshe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a:lstStyle/>
          <a:p>
            <a:pPr>
              <a:defRPr/>
            </a:pPr>
            <a:r>
              <a:rPr lang="en-US" sz="1600" dirty="0"/>
              <a:t>Delhi</a:t>
            </a:r>
          </a:p>
        </c:rich>
      </c:tx>
      <c:layout>
        <c:manualLayout>
          <c:xMode val="edge"/>
          <c:yMode val="edge"/>
          <c:x val="0.39380324274671891"/>
          <c:y val="1.5423571346162028E-2"/>
        </c:manualLayout>
      </c:layout>
      <c:overlay val="0"/>
    </c:title>
    <c:autoTitleDeleted val="0"/>
    <c:plotArea>
      <c:layout/>
      <c:scatterChart>
        <c:scatterStyle val="lineMarker"/>
        <c:varyColors val="0"/>
        <c:ser>
          <c:idx val="0"/>
          <c:order val="0"/>
          <c:tx>
            <c:strRef>
              <c:f>Sheet2!$B$4</c:f>
              <c:strCache>
                <c:ptCount val="1"/>
                <c:pt idx="0">
                  <c:v>Sales</c:v>
                </c:pt>
              </c:strCache>
            </c:strRef>
          </c:tx>
          <c:spPr>
            <a:ln w="28575">
              <a:noFill/>
            </a:ln>
          </c:spPr>
          <c:trendline>
            <c:trendlineType val="linear"/>
            <c:dispRSqr val="0"/>
            <c:dispEq val="0"/>
          </c:trendline>
          <c:xVal>
            <c:numRef>
              <c:f>Sheet2!$A$5:$A$15</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Sheet2!$B$5:$B$15</c:f>
              <c:numCache>
                <c:formatCode>General</c:formatCode>
                <c:ptCount val="11"/>
                <c:pt idx="0">
                  <c:v>8.0400000000000009</c:v>
                </c:pt>
                <c:pt idx="1">
                  <c:v>6.95</c:v>
                </c:pt>
                <c:pt idx="2">
                  <c:v>7.58</c:v>
                </c:pt>
                <c:pt idx="3">
                  <c:v>8.81</c:v>
                </c:pt>
                <c:pt idx="4">
                  <c:v>8.33</c:v>
                </c:pt>
                <c:pt idx="5">
                  <c:v>9.9600000000000026</c:v>
                </c:pt>
                <c:pt idx="6">
                  <c:v>7.24</c:v>
                </c:pt>
                <c:pt idx="7">
                  <c:v>4.26</c:v>
                </c:pt>
                <c:pt idx="8">
                  <c:v>10.84</c:v>
                </c:pt>
                <c:pt idx="9">
                  <c:v>4.8199999999999985</c:v>
                </c:pt>
                <c:pt idx="10">
                  <c:v>5.68</c:v>
                </c:pt>
              </c:numCache>
            </c:numRef>
          </c:yVal>
          <c:smooth val="0"/>
        </c:ser>
        <c:dLbls>
          <c:showLegendKey val="0"/>
          <c:showVal val="0"/>
          <c:showCatName val="0"/>
          <c:showSerName val="0"/>
          <c:showPercent val="0"/>
          <c:showBubbleSize val="0"/>
        </c:dLbls>
        <c:axId val="-1830696880"/>
        <c:axId val="-1830709936"/>
      </c:scatterChart>
      <c:valAx>
        <c:axId val="-1830696880"/>
        <c:scaling>
          <c:orientation val="minMax"/>
        </c:scaling>
        <c:delete val="0"/>
        <c:axPos val="b"/>
        <c:title>
          <c:tx>
            <c:rich>
              <a:bodyPr/>
              <a:lstStyle/>
              <a:p>
                <a:pPr>
                  <a:defRPr/>
                </a:pPr>
                <a:r>
                  <a:rPr lang="en-IN"/>
                  <a:t>Price</a:t>
                </a:r>
              </a:p>
            </c:rich>
          </c:tx>
          <c:layout/>
          <c:overlay val="0"/>
        </c:title>
        <c:numFmt formatCode="General" sourceLinked="1"/>
        <c:majorTickMark val="out"/>
        <c:minorTickMark val="none"/>
        <c:tickLblPos val="nextTo"/>
        <c:crossAx val="-1830709936"/>
        <c:crosses val="autoZero"/>
        <c:crossBetween val="midCat"/>
      </c:valAx>
      <c:valAx>
        <c:axId val="-1830709936"/>
        <c:scaling>
          <c:orientation val="minMax"/>
        </c:scaling>
        <c:delete val="0"/>
        <c:axPos val="l"/>
        <c:majorGridlines/>
        <c:title>
          <c:tx>
            <c:rich>
              <a:bodyPr rot="-5400000" vert="horz"/>
              <a:lstStyle/>
              <a:p>
                <a:pPr>
                  <a:defRPr/>
                </a:pPr>
                <a:r>
                  <a:rPr lang="en-IN"/>
                  <a:t>Sales</a:t>
                </a:r>
              </a:p>
            </c:rich>
          </c:tx>
          <c:layout/>
          <c:overlay val="0"/>
        </c:title>
        <c:numFmt formatCode="General" sourceLinked="1"/>
        <c:majorTickMark val="out"/>
        <c:minorTickMark val="none"/>
        <c:tickLblPos val="nextTo"/>
        <c:crossAx val="-1830696880"/>
        <c:crosses val="autoZero"/>
        <c:crossBetween val="midCat"/>
      </c:valAx>
    </c:plotArea>
    <c:plotVisOnly val="1"/>
    <c:dispBlanksAs val="gap"/>
    <c:showDLblsOverMax val="0"/>
  </c:chart>
  <c:txPr>
    <a:bodyPr/>
    <a:lstStyle/>
    <a:p>
      <a:pPr marL="0" algn="ctr" defTabSz="457200" rtl="0" eaLnBrk="1" latinLnBrk="0" hangingPunct="1">
        <a:defRPr lang="en-IN" sz="1100" kern="1200" dirty="0">
          <a:solidFill>
            <a:schemeClr val="tx1"/>
          </a:solidFill>
          <a:latin typeface="+mn-lt"/>
          <a:ea typeface="+mn-ea"/>
          <a:cs typeface="+mn-c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a:lstStyle/>
          <a:p>
            <a:pPr>
              <a:defRPr sz="1600"/>
            </a:pPr>
            <a:r>
              <a:rPr lang="en-US" sz="1600" dirty="0"/>
              <a:t>Mumbai</a:t>
            </a:r>
          </a:p>
        </c:rich>
      </c:tx>
      <c:layout>
        <c:manualLayout>
          <c:xMode val="edge"/>
          <c:yMode val="edge"/>
          <c:x val="0.39064304507651554"/>
          <c:y val="3.0860085152775645E-2"/>
        </c:manualLayout>
      </c:layout>
      <c:overlay val="0"/>
    </c:title>
    <c:autoTitleDeleted val="0"/>
    <c:plotArea>
      <c:layout/>
      <c:scatterChart>
        <c:scatterStyle val="lineMarker"/>
        <c:varyColors val="0"/>
        <c:ser>
          <c:idx val="0"/>
          <c:order val="0"/>
          <c:tx>
            <c:strRef>
              <c:f>Sheet3!$B$3</c:f>
              <c:strCache>
                <c:ptCount val="1"/>
                <c:pt idx="0">
                  <c:v>Sales</c:v>
                </c:pt>
              </c:strCache>
            </c:strRef>
          </c:tx>
          <c:spPr>
            <a:ln w="28575">
              <a:noFill/>
            </a:ln>
          </c:spPr>
          <c:trendline>
            <c:trendlineType val="linear"/>
            <c:dispRSqr val="0"/>
            <c:dispEq val="0"/>
          </c:trendline>
          <c:trendline>
            <c:trendlineType val="linear"/>
            <c:dispRSqr val="0"/>
            <c:dispEq val="0"/>
          </c:trendline>
          <c:xVal>
            <c:numRef>
              <c:f>Sheet3!$A$4:$A$14</c:f>
              <c:numCache>
                <c:formatCode>General</c:formatCode>
                <c:ptCount val="11"/>
                <c:pt idx="0">
                  <c:v>8</c:v>
                </c:pt>
                <c:pt idx="1">
                  <c:v>8</c:v>
                </c:pt>
                <c:pt idx="2">
                  <c:v>8</c:v>
                </c:pt>
                <c:pt idx="3">
                  <c:v>8</c:v>
                </c:pt>
                <c:pt idx="4">
                  <c:v>8</c:v>
                </c:pt>
                <c:pt idx="5">
                  <c:v>8</c:v>
                </c:pt>
                <c:pt idx="6">
                  <c:v>8</c:v>
                </c:pt>
                <c:pt idx="7">
                  <c:v>19</c:v>
                </c:pt>
                <c:pt idx="8">
                  <c:v>8</c:v>
                </c:pt>
                <c:pt idx="9">
                  <c:v>8</c:v>
                </c:pt>
                <c:pt idx="10">
                  <c:v>8</c:v>
                </c:pt>
              </c:numCache>
            </c:numRef>
          </c:xVal>
          <c:yVal>
            <c:numRef>
              <c:f>Sheet3!$B$4:$B$14</c:f>
              <c:numCache>
                <c:formatCode>General</c:formatCode>
                <c:ptCount val="11"/>
                <c:pt idx="0">
                  <c:v>6.58</c:v>
                </c:pt>
                <c:pt idx="1">
                  <c:v>5.76</c:v>
                </c:pt>
                <c:pt idx="2">
                  <c:v>7.71</c:v>
                </c:pt>
                <c:pt idx="3">
                  <c:v>8.84</c:v>
                </c:pt>
                <c:pt idx="4">
                  <c:v>8.4700000000000006</c:v>
                </c:pt>
                <c:pt idx="5">
                  <c:v>7.04</c:v>
                </c:pt>
                <c:pt idx="6">
                  <c:v>5.25</c:v>
                </c:pt>
                <c:pt idx="7">
                  <c:v>12.5</c:v>
                </c:pt>
                <c:pt idx="8">
                  <c:v>5.56</c:v>
                </c:pt>
                <c:pt idx="9">
                  <c:v>7.91</c:v>
                </c:pt>
                <c:pt idx="10">
                  <c:v>6.89</c:v>
                </c:pt>
              </c:numCache>
            </c:numRef>
          </c:yVal>
          <c:smooth val="0"/>
        </c:ser>
        <c:dLbls>
          <c:showLegendKey val="0"/>
          <c:showVal val="0"/>
          <c:showCatName val="0"/>
          <c:showSerName val="0"/>
          <c:showPercent val="0"/>
          <c:showBubbleSize val="0"/>
        </c:dLbls>
        <c:axId val="-1830708848"/>
        <c:axId val="-1830710480"/>
      </c:scatterChart>
      <c:valAx>
        <c:axId val="-1830708848"/>
        <c:scaling>
          <c:orientation val="minMax"/>
        </c:scaling>
        <c:delete val="0"/>
        <c:axPos val="b"/>
        <c:title>
          <c:tx>
            <c:rich>
              <a:bodyPr/>
              <a:lstStyle/>
              <a:p>
                <a:pPr>
                  <a:defRPr sz="1100"/>
                </a:pPr>
                <a:r>
                  <a:rPr lang="en-IN" sz="1100"/>
                  <a:t>Price</a:t>
                </a:r>
              </a:p>
            </c:rich>
          </c:tx>
          <c:layout/>
          <c:overlay val="0"/>
        </c:title>
        <c:numFmt formatCode="General" sourceLinked="1"/>
        <c:majorTickMark val="out"/>
        <c:minorTickMark val="none"/>
        <c:tickLblPos val="nextTo"/>
        <c:crossAx val="-1830710480"/>
        <c:crosses val="autoZero"/>
        <c:crossBetween val="midCat"/>
      </c:valAx>
      <c:valAx>
        <c:axId val="-1830710480"/>
        <c:scaling>
          <c:orientation val="minMax"/>
        </c:scaling>
        <c:delete val="0"/>
        <c:axPos val="l"/>
        <c:majorGridlines/>
        <c:title>
          <c:tx>
            <c:rich>
              <a:bodyPr rot="-5400000" vert="horz"/>
              <a:lstStyle/>
              <a:p>
                <a:pPr>
                  <a:defRPr sz="1100"/>
                </a:pPr>
                <a:r>
                  <a:rPr lang="en-US" sz="1100"/>
                  <a:t>Sales</a:t>
                </a:r>
              </a:p>
            </c:rich>
          </c:tx>
          <c:layout/>
          <c:overlay val="0"/>
        </c:title>
        <c:numFmt formatCode="General" sourceLinked="1"/>
        <c:majorTickMark val="out"/>
        <c:minorTickMark val="none"/>
        <c:tickLblPos val="nextTo"/>
        <c:crossAx val="-1830708848"/>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a:lstStyle/>
          <a:p>
            <a:pPr>
              <a:defRPr/>
            </a:pPr>
            <a:r>
              <a:rPr lang="en-US" sz="1600" dirty="0"/>
              <a:t>Bangalore</a:t>
            </a:r>
          </a:p>
        </c:rich>
      </c:tx>
      <c:layout>
        <c:manualLayout>
          <c:xMode val="edge"/>
          <c:yMode val="edge"/>
          <c:x val="0.3097031829790054"/>
          <c:y val="2.9977634796087171E-2"/>
        </c:manualLayout>
      </c:layout>
      <c:overlay val="0"/>
    </c:title>
    <c:autoTitleDeleted val="0"/>
    <c:plotArea>
      <c:layout/>
      <c:scatterChart>
        <c:scatterStyle val="lineMarker"/>
        <c:varyColors val="0"/>
        <c:ser>
          <c:idx val="0"/>
          <c:order val="0"/>
          <c:tx>
            <c:strRef>
              <c:f>Sheet1!$B$3</c:f>
              <c:strCache>
                <c:ptCount val="1"/>
                <c:pt idx="0">
                  <c:v>Sales</c:v>
                </c:pt>
              </c:strCache>
            </c:strRef>
          </c:tx>
          <c:spPr>
            <a:ln w="28575">
              <a:noFill/>
            </a:ln>
          </c:spPr>
          <c:trendline>
            <c:trendlineType val="linear"/>
            <c:dispRSqr val="0"/>
            <c:dispEq val="0"/>
          </c:trendline>
          <c:trendline>
            <c:trendlineType val="linear"/>
            <c:forward val="2"/>
            <c:dispRSqr val="0"/>
            <c:dispEq val="0"/>
          </c:trendline>
          <c:trendline>
            <c:trendlineType val="linear"/>
            <c:dispRSqr val="0"/>
            <c:dispEq val="0"/>
          </c:trendline>
          <c:xVal>
            <c:numRef>
              <c:f>Sheet1!$A$4:$A$14</c:f>
              <c:numCache>
                <c:formatCode>General</c:formatCode>
                <c:ptCount val="11"/>
                <c:pt idx="0">
                  <c:v>10</c:v>
                </c:pt>
                <c:pt idx="1">
                  <c:v>8</c:v>
                </c:pt>
                <c:pt idx="2">
                  <c:v>13</c:v>
                </c:pt>
                <c:pt idx="3">
                  <c:v>9</c:v>
                </c:pt>
                <c:pt idx="4">
                  <c:v>11</c:v>
                </c:pt>
                <c:pt idx="5">
                  <c:v>14</c:v>
                </c:pt>
                <c:pt idx="6">
                  <c:v>6</c:v>
                </c:pt>
                <c:pt idx="7">
                  <c:v>4</c:v>
                </c:pt>
                <c:pt idx="8">
                  <c:v>12</c:v>
                </c:pt>
                <c:pt idx="9">
                  <c:v>7</c:v>
                </c:pt>
                <c:pt idx="10">
                  <c:v>5</c:v>
                </c:pt>
              </c:numCache>
            </c:numRef>
          </c:xVal>
          <c:yVal>
            <c:numRef>
              <c:f>Sheet1!$B$4:$B$14</c:f>
              <c:numCache>
                <c:formatCode>General</c:formatCode>
                <c:ptCount val="11"/>
                <c:pt idx="0">
                  <c:v>9.1399999999999988</c:v>
                </c:pt>
                <c:pt idx="1">
                  <c:v>8.1399999999999988</c:v>
                </c:pt>
                <c:pt idx="2">
                  <c:v>8.7399999999999984</c:v>
                </c:pt>
                <c:pt idx="3">
                  <c:v>8.77</c:v>
                </c:pt>
                <c:pt idx="4">
                  <c:v>9.26</c:v>
                </c:pt>
                <c:pt idx="5">
                  <c:v>8.1</c:v>
                </c:pt>
                <c:pt idx="6">
                  <c:v>6.13</c:v>
                </c:pt>
                <c:pt idx="7">
                  <c:v>3.1</c:v>
                </c:pt>
                <c:pt idx="8">
                  <c:v>9.129999999999999</c:v>
                </c:pt>
                <c:pt idx="9">
                  <c:v>7.26</c:v>
                </c:pt>
                <c:pt idx="10">
                  <c:v>4.74</c:v>
                </c:pt>
              </c:numCache>
            </c:numRef>
          </c:yVal>
          <c:smooth val="0"/>
        </c:ser>
        <c:dLbls>
          <c:showLegendKey val="0"/>
          <c:showVal val="0"/>
          <c:showCatName val="0"/>
          <c:showSerName val="0"/>
          <c:showPercent val="0"/>
          <c:showBubbleSize val="0"/>
        </c:dLbls>
        <c:axId val="-1830707760"/>
        <c:axId val="-1830711024"/>
      </c:scatterChart>
      <c:valAx>
        <c:axId val="-1830707760"/>
        <c:scaling>
          <c:orientation val="minMax"/>
        </c:scaling>
        <c:delete val="0"/>
        <c:axPos val="b"/>
        <c:title>
          <c:tx>
            <c:rich>
              <a:bodyPr/>
              <a:lstStyle/>
              <a:p>
                <a:pPr>
                  <a:defRPr/>
                </a:pPr>
                <a:r>
                  <a:rPr lang="en-US"/>
                  <a:t>Price</a:t>
                </a:r>
              </a:p>
            </c:rich>
          </c:tx>
          <c:layout/>
          <c:overlay val="0"/>
        </c:title>
        <c:numFmt formatCode="General" sourceLinked="1"/>
        <c:majorTickMark val="out"/>
        <c:minorTickMark val="none"/>
        <c:tickLblPos val="nextTo"/>
        <c:crossAx val="-1830711024"/>
        <c:crosses val="autoZero"/>
        <c:crossBetween val="midCat"/>
      </c:valAx>
      <c:valAx>
        <c:axId val="-1830711024"/>
        <c:scaling>
          <c:orientation val="minMax"/>
        </c:scaling>
        <c:delete val="0"/>
        <c:axPos val="l"/>
        <c:majorGridlines/>
        <c:title>
          <c:tx>
            <c:rich>
              <a:bodyPr rot="-5400000" vert="horz"/>
              <a:lstStyle/>
              <a:p>
                <a:pPr>
                  <a:defRPr/>
                </a:pPr>
                <a:r>
                  <a:rPr lang="en-US"/>
                  <a:t>Sales</a:t>
                </a:r>
              </a:p>
            </c:rich>
          </c:tx>
          <c:layout/>
          <c:overlay val="0"/>
        </c:title>
        <c:numFmt formatCode="General" sourceLinked="1"/>
        <c:majorTickMark val="out"/>
        <c:minorTickMark val="none"/>
        <c:tickLblPos val="nextTo"/>
        <c:crossAx val="-1830707760"/>
        <c:crosses val="autoZero"/>
        <c:crossBetween val="midCat"/>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FCB63B-4EC6-4203-8019-3E0A0737027B}"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en-IN"/>
        </a:p>
      </dgm:t>
    </dgm:pt>
    <dgm:pt modelId="{3F8CF0E7-E900-454B-83E3-248F1507889F}">
      <dgm:prSet phldrT="[Text]" custT="1"/>
      <dgm:spPr/>
      <dgm:t>
        <a:bodyPr/>
        <a:lstStyle/>
        <a:p>
          <a:r>
            <a:rPr lang="en-IN" sz="1600" dirty="0" smtClean="0"/>
            <a:t>Introduction to Tableau</a:t>
          </a:r>
          <a:endParaRPr lang="en-IN" sz="1600" dirty="0"/>
        </a:p>
      </dgm:t>
    </dgm:pt>
    <dgm:pt modelId="{C0CB509C-23B1-4B66-98D3-1D9518E740A9}" type="parTrans" cxnId="{139A1FBB-DEA8-41E3-96A7-B805976C5C5F}">
      <dgm:prSet/>
      <dgm:spPr/>
      <dgm:t>
        <a:bodyPr/>
        <a:lstStyle/>
        <a:p>
          <a:endParaRPr lang="en-IN"/>
        </a:p>
      </dgm:t>
    </dgm:pt>
    <dgm:pt modelId="{CFE4CC5F-1628-4DF3-8821-0230FD2533B3}" type="sibTrans" cxnId="{139A1FBB-DEA8-41E3-96A7-B805976C5C5F}">
      <dgm:prSet/>
      <dgm:spPr/>
      <dgm:t>
        <a:bodyPr/>
        <a:lstStyle/>
        <a:p>
          <a:endParaRPr lang="en-IN"/>
        </a:p>
      </dgm:t>
    </dgm:pt>
    <dgm:pt modelId="{0A717A2E-4DD9-4C33-B2BB-CB7E12941A3C}">
      <dgm:prSet phldrT="[Text]" custT="1"/>
      <dgm:spPr/>
      <dgm:t>
        <a:bodyPr/>
        <a:lstStyle/>
        <a:p>
          <a:pPr algn="l">
            <a:lnSpc>
              <a:spcPct val="150000"/>
            </a:lnSpc>
          </a:pPr>
          <a:r>
            <a:rPr lang="en-IN" sz="1200" dirty="0" smtClean="0">
              <a:latin typeface="+mn-lt"/>
            </a:rPr>
            <a:t>What is Data Visualization</a:t>
          </a:r>
          <a:endParaRPr lang="en-IN" sz="1200" dirty="0">
            <a:latin typeface="+mn-lt"/>
          </a:endParaRPr>
        </a:p>
      </dgm:t>
    </dgm:pt>
    <dgm:pt modelId="{39119DFB-9E2C-4594-A0E4-5FFF23AABF6E}" type="parTrans" cxnId="{D5462849-5DB3-4900-831F-0C1216E28EAC}">
      <dgm:prSet/>
      <dgm:spPr/>
      <dgm:t>
        <a:bodyPr/>
        <a:lstStyle/>
        <a:p>
          <a:endParaRPr lang="en-IN"/>
        </a:p>
      </dgm:t>
    </dgm:pt>
    <dgm:pt modelId="{A7362722-813B-4613-B054-8346BF2A60E5}" type="sibTrans" cxnId="{D5462849-5DB3-4900-831F-0C1216E28EAC}">
      <dgm:prSet/>
      <dgm:spPr/>
      <dgm:t>
        <a:bodyPr/>
        <a:lstStyle/>
        <a:p>
          <a:endParaRPr lang="en-IN"/>
        </a:p>
      </dgm:t>
    </dgm:pt>
    <dgm:pt modelId="{C8810F06-213C-445F-AC47-676FB6FE993E}">
      <dgm:prSet phldrT="[Text]" custT="1"/>
      <dgm:spPr/>
      <dgm:t>
        <a:bodyPr/>
        <a:lstStyle/>
        <a:p>
          <a:r>
            <a:rPr lang="en-IN" sz="1600" dirty="0" smtClean="0"/>
            <a:t>Basic Concepts in Tableau</a:t>
          </a:r>
          <a:endParaRPr lang="en-IN" sz="1600" dirty="0"/>
        </a:p>
      </dgm:t>
    </dgm:pt>
    <dgm:pt modelId="{42B72FA7-FA38-4004-A88E-A400DA27E046}" type="parTrans" cxnId="{9B5AFBB8-7F36-4848-B01F-DF943BCB651B}">
      <dgm:prSet/>
      <dgm:spPr/>
      <dgm:t>
        <a:bodyPr/>
        <a:lstStyle/>
        <a:p>
          <a:endParaRPr lang="en-IN"/>
        </a:p>
      </dgm:t>
    </dgm:pt>
    <dgm:pt modelId="{78EB736B-6DD2-4E00-A188-7C3A612A2E16}" type="sibTrans" cxnId="{9B5AFBB8-7F36-4848-B01F-DF943BCB651B}">
      <dgm:prSet/>
      <dgm:spPr/>
      <dgm:t>
        <a:bodyPr/>
        <a:lstStyle/>
        <a:p>
          <a:endParaRPr lang="en-IN"/>
        </a:p>
      </dgm:t>
    </dgm:pt>
    <dgm:pt modelId="{0874CC3E-03FB-4A29-AC00-A22BA746D4CB}">
      <dgm:prSet phldrT="[Text]" custT="1"/>
      <dgm:spPr/>
      <dgm:t>
        <a:bodyPr/>
        <a:lstStyle/>
        <a:p>
          <a:pPr>
            <a:lnSpc>
              <a:spcPct val="150000"/>
            </a:lnSpc>
          </a:pPr>
          <a:r>
            <a:rPr lang="en-IN" sz="1200" dirty="0" smtClean="0">
              <a:latin typeface="+mn-lt"/>
            </a:rPr>
            <a:t>How does Tableau work?</a:t>
          </a:r>
          <a:endParaRPr lang="en-IN" sz="1200" dirty="0">
            <a:latin typeface="+mn-lt"/>
          </a:endParaRPr>
        </a:p>
      </dgm:t>
    </dgm:pt>
    <dgm:pt modelId="{D380F9B1-14C8-40FE-A8CD-4882B3417B6C}" type="parTrans" cxnId="{9E51B9B3-DCC4-44AA-85B9-E3C8766B41FE}">
      <dgm:prSet/>
      <dgm:spPr/>
      <dgm:t>
        <a:bodyPr/>
        <a:lstStyle/>
        <a:p>
          <a:endParaRPr lang="en-IN"/>
        </a:p>
      </dgm:t>
    </dgm:pt>
    <dgm:pt modelId="{B000B75A-B40F-40D2-82C2-20A7654EECFF}" type="sibTrans" cxnId="{9E51B9B3-DCC4-44AA-85B9-E3C8766B41FE}">
      <dgm:prSet/>
      <dgm:spPr/>
      <dgm:t>
        <a:bodyPr/>
        <a:lstStyle/>
        <a:p>
          <a:endParaRPr lang="en-IN"/>
        </a:p>
      </dgm:t>
    </dgm:pt>
    <dgm:pt modelId="{AE69498D-51E7-4A3E-8D75-7FDE7CE1AD52}">
      <dgm:prSet phldrT="[Text]" custT="1"/>
      <dgm:spPr/>
      <dgm:t>
        <a:bodyPr/>
        <a:lstStyle/>
        <a:p>
          <a:r>
            <a:rPr lang="en-IN" sz="1600" dirty="0" smtClean="0"/>
            <a:t>Tableau Demo</a:t>
          </a:r>
          <a:endParaRPr lang="en-IN" sz="1600" dirty="0"/>
        </a:p>
      </dgm:t>
    </dgm:pt>
    <dgm:pt modelId="{5FE9D9BD-89A1-4196-BECF-583F959DB633}" type="parTrans" cxnId="{12876BC0-E39F-4B4E-B259-9E8AC588B508}">
      <dgm:prSet/>
      <dgm:spPr/>
      <dgm:t>
        <a:bodyPr/>
        <a:lstStyle/>
        <a:p>
          <a:endParaRPr lang="en-IN"/>
        </a:p>
      </dgm:t>
    </dgm:pt>
    <dgm:pt modelId="{7847C586-2753-464A-B5F2-5E5A113E60E2}" type="sibTrans" cxnId="{12876BC0-E39F-4B4E-B259-9E8AC588B508}">
      <dgm:prSet/>
      <dgm:spPr/>
      <dgm:t>
        <a:bodyPr/>
        <a:lstStyle/>
        <a:p>
          <a:endParaRPr lang="en-IN"/>
        </a:p>
      </dgm:t>
    </dgm:pt>
    <dgm:pt modelId="{E5EAE2F6-AA89-447E-94AA-7258F3CEE4CD}">
      <dgm:prSet phldrT="[Text]" custT="1"/>
      <dgm:spPr/>
      <dgm:t>
        <a:bodyPr/>
        <a:lstStyle/>
        <a:p>
          <a:pPr>
            <a:lnSpc>
              <a:spcPct val="150000"/>
            </a:lnSpc>
          </a:pPr>
          <a:r>
            <a:rPr lang="en-IN" sz="1200" dirty="0" smtClean="0">
              <a:latin typeface="+mn-lt"/>
            </a:rPr>
            <a:t>Types of Connections - Demo</a:t>
          </a:r>
          <a:endParaRPr lang="en-IN" sz="1200" dirty="0"/>
        </a:p>
      </dgm:t>
    </dgm:pt>
    <dgm:pt modelId="{EF4BAB5C-E116-4D8C-BEF0-04B227008A37}" type="parTrans" cxnId="{05AC921E-03A1-4108-A97F-BC7C6EBD1317}">
      <dgm:prSet/>
      <dgm:spPr/>
      <dgm:t>
        <a:bodyPr/>
        <a:lstStyle/>
        <a:p>
          <a:endParaRPr lang="en-IN"/>
        </a:p>
      </dgm:t>
    </dgm:pt>
    <dgm:pt modelId="{4EBB6A94-C4BC-4EA3-9BC5-DF17283F8205}" type="sibTrans" cxnId="{05AC921E-03A1-4108-A97F-BC7C6EBD1317}">
      <dgm:prSet/>
      <dgm:spPr/>
      <dgm:t>
        <a:bodyPr/>
        <a:lstStyle/>
        <a:p>
          <a:endParaRPr lang="en-IN"/>
        </a:p>
      </dgm:t>
    </dgm:pt>
    <dgm:pt modelId="{260F7D89-E81B-4912-A825-AC6573407B57}">
      <dgm:prSet phldrT="[Text]" custT="1"/>
      <dgm:spPr/>
      <dgm:t>
        <a:bodyPr/>
        <a:lstStyle/>
        <a:p>
          <a:pPr algn="l">
            <a:lnSpc>
              <a:spcPct val="150000"/>
            </a:lnSpc>
          </a:pPr>
          <a:r>
            <a:rPr lang="en-IN" sz="1200" dirty="0" smtClean="0">
              <a:latin typeface="+mn-lt"/>
            </a:rPr>
            <a:t>What is Tableau</a:t>
          </a:r>
          <a:endParaRPr lang="en-IN" sz="1200" dirty="0">
            <a:latin typeface="+mn-lt"/>
          </a:endParaRPr>
        </a:p>
      </dgm:t>
    </dgm:pt>
    <dgm:pt modelId="{E771E6E7-FA30-433D-836F-BFEB609128D7}" type="parTrans" cxnId="{D253DA4F-2819-493E-B741-766D4EA49B2D}">
      <dgm:prSet/>
      <dgm:spPr/>
      <dgm:t>
        <a:bodyPr/>
        <a:lstStyle/>
        <a:p>
          <a:endParaRPr lang="en-IN"/>
        </a:p>
      </dgm:t>
    </dgm:pt>
    <dgm:pt modelId="{0407B7A7-89D6-40B2-9546-848CC4C3A368}" type="sibTrans" cxnId="{D253DA4F-2819-493E-B741-766D4EA49B2D}">
      <dgm:prSet/>
      <dgm:spPr/>
      <dgm:t>
        <a:bodyPr/>
        <a:lstStyle/>
        <a:p>
          <a:endParaRPr lang="en-IN"/>
        </a:p>
      </dgm:t>
    </dgm:pt>
    <dgm:pt modelId="{5892A6B5-2C6A-4F69-81BA-4C7F225CA2E5}">
      <dgm:prSet phldrT="[Text]" custT="1"/>
      <dgm:spPr/>
      <dgm:t>
        <a:bodyPr/>
        <a:lstStyle/>
        <a:p>
          <a:pPr algn="l">
            <a:lnSpc>
              <a:spcPct val="150000"/>
            </a:lnSpc>
          </a:pPr>
          <a:r>
            <a:rPr lang="en-IN" sz="1200" dirty="0" smtClean="0">
              <a:latin typeface="+mn-lt"/>
            </a:rPr>
            <a:t>Why Tableau</a:t>
          </a:r>
          <a:endParaRPr lang="en-IN" sz="1200" dirty="0">
            <a:latin typeface="+mn-lt"/>
          </a:endParaRPr>
        </a:p>
      </dgm:t>
    </dgm:pt>
    <dgm:pt modelId="{805FC01E-6850-414B-A396-A252756E0C74}" type="parTrans" cxnId="{75107117-27B0-47EA-965B-20EB58769480}">
      <dgm:prSet/>
      <dgm:spPr/>
      <dgm:t>
        <a:bodyPr/>
        <a:lstStyle/>
        <a:p>
          <a:endParaRPr lang="en-IN"/>
        </a:p>
      </dgm:t>
    </dgm:pt>
    <dgm:pt modelId="{53468AA3-736E-47C0-B396-AC19BDF89622}" type="sibTrans" cxnId="{75107117-27B0-47EA-965B-20EB58769480}">
      <dgm:prSet/>
      <dgm:spPr/>
      <dgm:t>
        <a:bodyPr/>
        <a:lstStyle/>
        <a:p>
          <a:endParaRPr lang="en-IN"/>
        </a:p>
      </dgm:t>
    </dgm:pt>
    <dgm:pt modelId="{A3977A60-6DCA-47C9-8E64-0C9E2925FDCD}">
      <dgm:prSet phldrT="[Text]" custT="1"/>
      <dgm:spPr/>
      <dgm:t>
        <a:bodyPr/>
        <a:lstStyle/>
        <a:p>
          <a:pPr algn="l">
            <a:lnSpc>
              <a:spcPct val="150000"/>
            </a:lnSpc>
          </a:pPr>
          <a:r>
            <a:rPr lang="en-IN" sz="1200" dirty="0" smtClean="0">
              <a:latin typeface="+mn-lt"/>
            </a:rPr>
            <a:t>Tableau Products and Similar Products</a:t>
          </a:r>
          <a:endParaRPr lang="en-IN" sz="1200" dirty="0">
            <a:latin typeface="+mn-lt"/>
          </a:endParaRPr>
        </a:p>
      </dgm:t>
    </dgm:pt>
    <dgm:pt modelId="{ED9370D0-05FA-46A9-A87A-61B58CE1319C}" type="parTrans" cxnId="{DE564B99-17B0-4773-BAE6-5714199A92FA}">
      <dgm:prSet/>
      <dgm:spPr/>
      <dgm:t>
        <a:bodyPr/>
        <a:lstStyle/>
        <a:p>
          <a:endParaRPr lang="en-IN"/>
        </a:p>
      </dgm:t>
    </dgm:pt>
    <dgm:pt modelId="{7ECEB279-3AF5-4248-9BEA-959F6A221851}" type="sibTrans" cxnId="{DE564B99-17B0-4773-BAE6-5714199A92FA}">
      <dgm:prSet/>
      <dgm:spPr/>
      <dgm:t>
        <a:bodyPr/>
        <a:lstStyle/>
        <a:p>
          <a:endParaRPr lang="en-IN"/>
        </a:p>
      </dgm:t>
    </dgm:pt>
    <dgm:pt modelId="{D936B546-A854-4230-A2AF-5B2CF2043585}">
      <dgm:prSet phldrT="[Text]" custT="1"/>
      <dgm:spPr/>
      <dgm:t>
        <a:bodyPr/>
        <a:lstStyle/>
        <a:p>
          <a:pPr>
            <a:lnSpc>
              <a:spcPct val="150000"/>
            </a:lnSpc>
          </a:pPr>
          <a:r>
            <a:rPr lang="en-IN" sz="1200" dirty="0" smtClean="0">
              <a:latin typeface="+mn-lt"/>
            </a:rPr>
            <a:t>Calculated Fields</a:t>
          </a:r>
          <a:endParaRPr lang="en-IN" sz="1200" dirty="0">
            <a:latin typeface="+mn-lt"/>
          </a:endParaRPr>
        </a:p>
      </dgm:t>
    </dgm:pt>
    <dgm:pt modelId="{C32E92D2-47FD-47AC-A5C2-80616DC50A12}" type="parTrans" cxnId="{47B3CC70-0535-4ED4-8C49-121D8A85D071}">
      <dgm:prSet/>
      <dgm:spPr/>
      <dgm:t>
        <a:bodyPr/>
        <a:lstStyle/>
        <a:p>
          <a:endParaRPr lang="en-IN"/>
        </a:p>
      </dgm:t>
    </dgm:pt>
    <dgm:pt modelId="{EB9D118A-FB6E-42A7-9454-1183A3A7DFC4}" type="sibTrans" cxnId="{47B3CC70-0535-4ED4-8C49-121D8A85D071}">
      <dgm:prSet/>
      <dgm:spPr/>
      <dgm:t>
        <a:bodyPr/>
        <a:lstStyle/>
        <a:p>
          <a:endParaRPr lang="en-IN"/>
        </a:p>
      </dgm:t>
    </dgm:pt>
    <dgm:pt modelId="{A868B5C4-5B9D-4328-988C-0C6F29684D6A}">
      <dgm:prSet phldrT="[Text]" custT="1"/>
      <dgm:spPr/>
      <dgm:t>
        <a:bodyPr/>
        <a:lstStyle/>
        <a:p>
          <a:pPr>
            <a:lnSpc>
              <a:spcPct val="150000"/>
            </a:lnSpc>
          </a:pPr>
          <a:r>
            <a:rPr lang="en-IN" sz="1200" dirty="0" smtClean="0">
              <a:latin typeface="+mn-lt"/>
            </a:rPr>
            <a:t>Types of Connections</a:t>
          </a:r>
          <a:endParaRPr lang="en-IN" sz="1200" dirty="0">
            <a:latin typeface="+mn-lt"/>
          </a:endParaRPr>
        </a:p>
      </dgm:t>
    </dgm:pt>
    <dgm:pt modelId="{5C455900-E81A-4E74-BA22-1532EA832936}" type="parTrans" cxnId="{F602705C-C8D6-4A51-908F-F9136BE53BF1}">
      <dgm:prSet/>
      <dgm:spPr/>
      <dgm:t>
        <a:bodyPr/>
        <a:lstStyle/>
        <a:p>
          <a:endParaRPr lang="en-IN"/>
        </a:p>
      </dgm:t>
    </dgm:pt>
    <dgm:pt modelId="{636D09FB-6801-4330-B122-41BB17C7FF36}" type="sibTrans" cxnId="{F602705C-C8D6-4A51-908F-F9136BE53BF1}">
      <dgm:prSet/>
      <dgm:spPr/>
      <dgm:t>
        <a:bodyPr/>
        <a:lstStyle/>
        <a:p>
          <a:endParaRPr lang="en-IN"/>
        </a:p>
      </dgm:t>
    </dgm:pt>
    <dgm:pt modelId="{F728AB3E-05B3-462C-85CB-F37A87B86BF8}">
      <dgm:prSet phldrT="[Text]" custT="1"/>
      <dgm:spPr/>
      <dgm:t>
        <a:bodyPr/>
        <a:lstStyle/>
        <a:p>
          <a:pPr>
            <a:lnSpc>
              <a:spcPct val="150000"/>
            </a:lnSpc>
          </a:pPr>
          <a:r>
            <a:rPr lang="en-IN" sz="1200" dirty="0" smtClean="0">
              <a:latin typeface="+mn-lt"/>
            </a:rPr>
            <a:t>Filters</a:t>
          </a:r>
          <a:endParaRPr lang="en-IN" sz="1200" dirty="0">
            <a:latin typeface="+mn-lt"/>
          </a:endParaRPr>
        </a:p>
      </dgm:t>
    </dgm:pt>
    <dgm:pt modelId="{A2E6451E-6221-4B2E-B039-CC75295665E6}" type="parTrans" cxnId="{4DC22063-F607-4A48-8498-6388BF4FBD51}">
      <dgm:prSet/>
      <dgm:spPr/>
      <dgm:t>
        <a:bodyPr/>
        <a:lstStyle/>
        <a:p>
          <a:endParaRPr lang="en-IN"/>
        </a:p>
      </dgm:t>
    </dgm:pt>
    <dgm:pt modelId="{EB3B2068-CAF2-4C65-89BD-9686AA998D22}" type="sibTrans" cxnId="{4DC22063-F607-4A48-8498-6388BF4FBD51}">
      <dgm:prSet/>
      <dgm:spPr/>
      <dgm:t>
        <a:bodyPr/>
        <a:lstStyle/>
        <a:p>
          <a:endParaRPr lang="en-IN"/>
        </a:p>
      </dgm:t>
    </dgm:pt>
    <dgm:pt modelId="{7F8DFB4A-8EFF-4037-BB6D-AAF7155FC9B2}">
      <dgm:prSet phldrT="[Text]" custT="1"/>
      <dgm:spPr/>
      <dgm:t>
        <a:bodyPr/>
        <a:lstStyle/>
        <a:p>
          <a:pPr>
            <a:lnSpc>
              <a:spcPct val="150000"/>
            </a:lnSpc>
          </a:pPr>
          <a:r>
            <a:rPr lang="en-IN" sz="1200" dirty="0" smtClean="0">
              <a:latin typeface="+mn-lt"/>
            </a:rPr>
            <a:t>Sets</a:t>
          </a:r>
          <a:endParaRPr lang="en-IN" sz="1200" dirty="0">
            <a:latin typeface="+mn-lt"/>
          </a:endParaRPr>
        </a:p>
      </dgm:t>
    </dgm:pt>
    <dgm:pt modelId="{C0C41841-B0ED-4355-918D-5DC138F9DDC7}" type="parTrans" cxnId="{B4970954-1C5B-4436-B109-B29C2FB78099}">
      <dgm:prSet/>
      <dgm:spPr/>
      <dgm:t>
        <a:bodyPr/>
        <a:lstStyle/>
        <a:p>
          <a:endParaRPr lang="en-IN"/>
        </a:p>
      </dgm:t>
    </dgm:pt>
    <dgm:pt modelId="{83AF2B9C-EA98-40E5-9386-77F018B159AB}" type="sibTrans" cxnId="{B4970954-1C5B-4436-B109-B29C2FB78099}">
      <dgm:prSet/>
      <dgm:spPr/>
      <dgm:t>
        <a:bodyPr/>
        <a:lstStyle/>
        <a:p>
          <a:endParaRPr lang="en-IN"/>
        </a:p>
      </dgm:t>
    </dgm:pt>
    <dgm:pt modelId="{927B5A23-E503-4778-B7F1-90AC16B2196B}">
      <dgm:prSet phldrT="[Text]" custT="1"/>
      <dgm:spPr/>
      <dgm:t>
        <a:bodyPr/>
        <a:lstStyle/>
        <a:p>
          <a:pPr>
            <a:lnSpc>
              <a:spcPct val="150000"/>
            </a:lnSpc>
          </a:pPr>
          <a:r>
            <a:rPr lang="en-IN" sz="1200" dirty="0" smtClean="0">
              <a:latin typeface="+mn-lt"/>
            </a:rPr>
            <a:t>Grouping/Hierarchy</a:t>
          </a:r>
          <a:endParaRPr lang="en-IN" sz="1200" dirty="0">
            <a:latin typeface="+mn-lt"/>
          </a:endParaRPr>
        </a:p>
      </dgm:t>
    </dgm:pt>
    <dgm:pt modelId="{2E793C48-78AE-4D3B-B72F-BC041748757B}" type="parTrans" cxnId="{78C970F8-4AE0-48BE-8B00-8FAD0DCF9154}">
      <dgm:prSet/>
      <dgm:spPr/>
      <dgm:t>
        <a:bodyPr/>
        <a:lstStyle/>
        <a:p>
          <a:endParaRPr lang="en-IN"/>
        </a:p>
      </dgm:t>
    </dgm:pt>
    <dgm:pt modelId="{63A10AE4-99A4-49C8-836B-394C7E4033F8}" type="sibTrans" cxnId="{78C970F8-4AE0-48BE-8B00-8FAD0DCF9154}">
      <dgm:prSet/>
      <dgm:spPr/>
      <dgm:t>
        <a:bodyPr/>
        <a:lstStyle/>
        <a:p>
          <a:endParaRPr lang="en-IN"/>
        </a:p>
      </dgm:t>
    </dgm:pt>
    <dgm:pt modelId="{6DE9AA55-0E62-44B9-BE0E-98D4CC76F0A5}">
      <dgm:prSet phldrT="[Text]" custT="1"/>
      <dgm:spPr/>
      <dgm:t>
        <a:bodyPr/>
        <a:lstStyle/>
        <a:p>
          <a:pPr>
            <a:lnSpc>
              <a:spcPct val="150000"/>
            </a:lnSpc>
          </a:pPr>
          <a:r>
            <a:rPr lang="en-IN" sz="1200" dirty="0" smtClean="0">
              <a:latin typeface="+mn-lt"/>
            </a:rPr>
            <a:t>Parameter</a:t>
          </a:r>
          <a:endParaRPr lang="en-IN" sz="1200" dirty="0">
            <a:latin typeface="+mn-lt"/>
          </a:endParaRPr>
        </a:p>
      </dgm:t>
    </dgm:pt>
    <dgm:pt modelId="{8165431E-0927-4EA1-B4E9-9D44459DB9A3}" type="parTrans" cxnId="{3EBB4902-C5C6-4F19-B6E8-9429D4253EBB}">
      <dgm:prSet/>
      <dgm:spPr/>
      <dgm:t>
        <a:bodyPr/>
        <a:lstStyle/>
        <a:p>
          <a:endParaRPr lang="en-IN"/>
        </a:p>
      </dgm:t>
    </dgm:pt>
    <dgm:pt modelId="{3F587F2D-356C-46F3-956C-EA1202C309F2}" type="sibTrans" cxnId="{3EBB4902-C5C6-4F19-B6E8-9429D4253EBB}">
      <dgm:prSet/>
      <dgm:spPr/>
      <dgm:t>
        <a:bodyPr/>
        <a:lstStyle/>
        <a:p>
          <a:endParaRPr lang="en-IN"/>
        </a:p>
      </dgm:t>
    </dgm:pt>
    <dgm:pt modelId="{E0D33851-5D7F-4FF0-A5F3-38BE0F17B46F}">
      <dgm:prSet phldrT="[Text]" custT="1"/>
      <dgm:spPr/>
      <dgm:t>
        <a:bodyPr/>
        <a:lstStyle/>
        <a:p>
          <a:pPr>
            <a:lnSpc>
              <a:spcPct val="150000"/>
            </a:lnSpc>
          </a:pPr>
          <a:r>
            <a:rPr lang="en-IN" sz="1200" dirty="0" smtClean="0">
              <a:latin typeface="+mn-lt"/>
            </a:rPr>
            <a:t>Windows Function/Table Calculation</a:t>
          </a:r>
          <a:endParaRPr lang="en-IN" sz="1200" dirty="0">
            <a:latin typeface="+mn-lt"/>
          </a:endParaRPr>
        </a:p>
      </dgm:t>
    </dgm:pt>
    <dgm:pt modelId="{965C2283-66A7-495A-B10B-3EC78A634C43}" type="parTrans" cxnId="{57939987-DDE6-4FF3-B3F5-7746076D1C4A}">
      <dgm:prSet/>
      <dgm:spPr/>
      <dgm:t>
        <a:bodyPr/>
        <a:lstStyle/>
        <a:p>
          <a:endParaRPr lang="en-IN"/>
        </a:p>
      </dgm:t>
    </dgm:pt>
    <dgm:pt modelId="{41C5B9CD-6696-4C7E-AC5F-48DE238147AC}" type="sibTrans" cxnId="{57939987-DDE6-4FF3-B3F5-7746076D1C4A}">
      <dgm:prSet/>
      <dgm:spPr/>
      <dgm:t>
        <a:bodyPr/>
        <a:lstStyle/>
        <a:p>
          <a:endParaRPr lang="en-IN"/>
        </a:p>
      </dgm:t>
    </dgm:pt>
    <dgm:pt modelId="{B03B328C-1551-4732-A8D5-BD81939E669F}">
      <dgm:prSet phldrT="[Text]" custT="1"/>
      <dgm:spPr/>
      <dgm:t>
        <a:bodyPr/>
        <a:lstStyle/>
        <a:p>
          <a:pPr>
            <a:lnSpc>
              <a:spcPct val="150000"/>
            </a:lnSpc>
          </a:pPr>
          <a:r>
            <a:rPr lang="en-IN" sz="1200" dirty="0" smtClean="0">
              <a:latin typeface="+mn-lt"/>
            </a:rPr>
            <a:t>Dual Axis</a:t>
          </a:r>
          <a:endParaRPr lang="en-IN" sz="1200" dirty="0">
            <a:latin typeface="+mn-lt"/>
          </a:endParaRPr>
        </a:p>
      </dgm:t>
    </dgm:pt>
    <dgm:pt modelId="{D77601AD-3276-42E9-8B7D-6C9F96C2EECD}" type="parTrans" cxnId="{06AA226A-5E08-4640-85B0-85EB0B4CA56F}">
      <dgm:prSet/>
      <dgm:spPr/>
      <dgm:t>
        <a:bodyPr/>
        <a:lstStyle/>
        <a:p>
          <a:endParaRPr lang="en-IN"/>
        </a:p>
      </dgm:t>
    </dgm:pt>
    <dgm:pt modelId="{E0DF9165-04CD-41E1-9E71-F58552CC899C}" type="sibTrans" cxnId="{06AA226A-5E08-4640-85B0-85EB0B4CA56F}">
      <dgm:prSet/>
      <dgm:spPr/>
      <dgm:t>
        <a:bodyPr/>
        <a:lstStyle/>
        <a:p>
          <a:endParaRPr lang="en-IN"/>
        </a:p>
      </dgm:t>
    </dgm:pt>
    <dgm:pt modelId="{6E7B57E6-324B-4E39-9EC2-14E8110B5781}">
      <dgm:prSet phldrT="[Text]" custT="1"/>
      <dgm:spPr/>
      <dgm:t>
        <a:bodyPr/>
        <a:lstStyle/>
        <a:p>
          <a:pPr>
            <a:lnSpc>
              <a:spcPct val="150000"/>
            </a:lnSpc>
          </a:pPr>
          <a:r>
            <a:rPr lang="en-IN" sz="1200" dirty="0" smtClean="0">
              <a:latin typeface="+mn-lt"/>
            </a:rPr>
            <a:t>Data Blending</a:t>
          </a:r>
          <a:endParaRPr lang="en-IN" sz="1200" dirty="0">
            <a:latin typeface="+mn-lt"/>
          </a:endParaRPr>
        </a:p>
      </dgm:t>
    </dgm:pt>
    <dgm:pt modelId="{FD11672F-D28A-44A9-B7C3-EEE7A4176C65}" type="parTrans" cxnId="{59CBFFE1-3F07-46F3-AA1B-A410A846A299}">
      <dgm:prSet/>
      <dgm:spPr/>
      <dgm:t>
        <a:bodyPr/>
        <a:lstStyle/>
        <a:p>
          <a:endParaRPr lang="en-IN"/>
        </a:p>
      </dgm:t>
    </dgm:pt>
    <dgm:pt modelId="{2CD25E78-08B8-4EFB-B295-DA7ED1A0D1F1}" type="sibTrans" cxnId="{59CBFFE1-3F07-46F3-AA1B-A410A846A299}">
      <dgm:prSet/>
      <dgm:spPr/>
      <dgm:t>
        <a:bodyPr/>
        <a:lstStyle/>
        <a:p>
          <a:endParaRPr lang="en-IN"/>
        </a:p>
      </dgm:t>
    </dgm:pt>
    <dgm:pt modelId="{3FF378B2-9549-47CD-8100-524281C899C5}">
      <dgm:prSet custT="1"/>
      <dgm:spPr/>
      <dgm:t>
        <a:bodyPr/>
        <a:lstStyle/>
        <a:p>
          <a:pPr>
            <a:lnSpc>
              <a:spcPct val="150000"/>
            </a:lnSpc>
          </a:pPr>
          <a:r>
            <a:rPr lang="en-IN" sz="1200" dirty="0" smtClean="0">
              <a:latin typeface="+mn-lt"/>
            </a:rPr>
            <a:t>Calculated Fields - Demo</a:t>
          </a:r>
        </a:p>
      </dgm:t>
    </dgm:pt>
    <dgm:pt modelId="{DFE9EDF8-38C0-4C82-ACC6-540E7EB51AFD}" type="parTrans" cxnId="{D8049762-ACFC-4C1E-8F0F-CD396C0CB8B2}">
      <dgm:prSet/>
      <dgm:spPr/>
      <dgm:t>
        <a:bodyPr/>
        <a:lstStyle/>
        <a:p>
          <a:endParaRPr lang="en-IN"/>
        </a:p>
      </dgm:t>
    </dgm:pt>
    <dgm:pt modelId="{47174EDC-9021-49EA-B3FE-15AEFE135A36}" type="sibTrans" cxnId="{D8049762-ACFC-4C1E-8F0F-CD396C0CB8B2}">
      <dgm:prSet/>
      <dgm:spPr/>
      <dgm:t>
        <a:bodyPr/>
        <a:lstStyle/>
        <a:p>
          <a:endParaRPr lang="en-IN"/>
        </a:p>
      </dgm:t>
    </dgm:pt>
    <dgm:pt modelId="{140366CE-2CA0-4F9F-9D79-39CDE39F2E15}">
      <dgm:prSet custT="1"/>
      <dgm:spPr/>
      <dgm:t>
        <a:bodyPr/>
        <a:lstStyle/>
        <a:p>
          <a:pPr>
            <a:lnSpc>
              <a:spcPct val="150000"/>
            </a:lnSpc>
          </a:pPr>
          <a:r>
            <a:rPr lang="en-IN" sz="1200" dirty="0" smtClean="0">
              <a:latin typeface="+mn-lt"/>
            </a:rPr>
            <a:t>Filters - Demo</a:t>
          </a:r>
        </a:p>
      </dgm:t>
    </dgm:pt>
    <dgm:pt modelId="{5391AD59-F213-4C7A-968A-7FC943D9F1D7}" type="parTrans" cxnId="{3D5FAE87-87B2-499D-B57C-CDF1597F7A96}">
      <dgm:prSet/>
      <dgm:spPr/>
      <dgm:t>
        <a:bodyPr/>
        <a:lstStyle/>
        <a:p>
          <a:endParaRPr lang="en-IN"/>
        </a:p>
      </dgm:t>
    </dgm:pt>
    <dgm:pt modelId="{394FEC42-A574-440D-B370-B1879BB5F7CE}" type="sibTrans" cxnId="{3D5FAE87-87B2-499D-B57C-CDF1597F7A96}">
      <dgm:prSet/>
      <dgm:spPr/>
      <dgm:t>
        <a:bodyPr/>
        <a:lstStyle/>
        <a:p>
          <a:endParaRPr lang="en-IN"/>
        </a:p>
      </dgm:t>
    </dgm:pt>
    <dgm:pt modelId="{25C17452-017B-4CF6-A7B9-6C931DFF22E5}">
      <dgm:prSet custT="1"/>
      <dgm:spPr/>
      <dgm:t>
        <a:bodyPr/>
        <a:lstStyle/>
        <a:p>
          <a:pPr>
            <a:lnSpc>
              <a:spcPct val="150000"/>
            </a:lnSpc>
          </a:pPr>
          <a:r>
            <a:rPr lang="en-IN" sz="1200" dirty="0" smtClean="0">
              <a:latin typeface="+mn-lt"/>
            </a:rPr>
            <a:t>Sets - Demo</a:t>
          </a:r>
        </a:p>
      </dgm:t>
    </dgm:pt>
    <dgm:pt modelId="{1CE0105A-233F-4E59-8CB7-C8F2E01ECCDD}" type="parTrans" cxnId="{31A40B9E-A1FB-4BE4-B197-902746579855}">
      <dgm:prSet/>
      <dgm:spPr/>
      <dgm:t>
        <a:bodyPr/>
        <a:lstStyle/>
        <a:p>
          <a:endParaRPr lang="en-IN"/>
        </a:p>
      </dgm:t>
    </dgm:pt>
    <dgm:pt modelId="{AFDE72CA-5954-4602-BCDD-6916F4CD7ADA}" type="sibTrans" cxnId="{31A40B9E-A1FB-4BE4-B197-902746579855}">
      <dgm:prSet/>
      <dgm:spPr/>
      <dgm:t>
        <a:bodyPr/>
        <a:lstStyle/>
        <a:p>
          <a:endParaRPr lang="en-IN"/>
        </a:p>
      </dgm:t>
    </dgm:pt>
    <dgm:pt modelId="{1C27A590-D700-4F93-B856-B8178ECB6A7B}">
      <dgm:prSet custT="1"/>
      <dgm:spPr/>
      <dgm:t>
        <a:bodyPr/>
        <a:lstStyle/>
        <a:p>
          <a:pPr>
            <a:lnSpc>
              <a:spcPct val="150000"/>
            </a:lnSpc>
          </a:pPr>
          <a:r>
            <a:rPr lang="en-IN" sz="1200" dirty="0" smtClean="0">
              <a:latin typeface="+mn-lt"/>
            </a:rPr>
            <a:t>Grouping/Hierarchy - Demo</a:t>
          </a:r>
        </a:p>
      </dgm:t>
    </dgm:pt>
    <dgm:pt modelId="{22304FA6-BCA3-427E-95AB-5118721C0A84}" type="parTrans" cxnId="{DE012964-6AD7-4C17-B209-F34AD73706A4}">
      <dgm:prSet/>
      <dgm:spPr/>
      <dgm:t>
        <a:bodyPr/>
        <a:lstStyle/>
        <a:p>
          <a:endParaRPr lang="en-IN"/>
        </a:p>
      </dgm:t>
    </dgm:pt>
    <dgm:pt modelId="{E7F0F039-6998-44E7-BD21-889EB0170CA6}" type="sibTrans" cxnId="{DE012964-6AD7-4C17-B209-F34AD73706A4}">
      <dgm:prSet/>
      <dgm:spPr/>
      <dgm:t>
        <a:bodyPr/>
        <a:lstStyle/>
        <a:p>
          <a:endParaRPr lang="en-IN"/>
        </a:p>
      </dgm:t>
    </dgm:pt>
    <dgm:pt modelId="{DA40E7F0-6C0E-4D4A-89E6-A6D95162C682}">
      <dgm:prSet custT="1"/>
      <dgm:spPr/>
      <dgm:t>
        <a:bodyPr/>
        <a:lstStyle/>
        <a:p>
          <a:pPr>
            <a:lnSpc>
              <a:spcPct val="150000"/>
            </a:lnSpc>
          </a:pPr>
          <a:r>
            <a:rPr lang="en-IN" sz="1200" dirty="0" smtClean="0">
              <a:latin typeface="+mn-lt"/>
            </a:rPr>
            <a:t>Parameter - Demo</a:t>
          </a:r>
        </a:p>
      </dgm:t>
    </dgm:pt>
    <dgm:pt modelId="{4DC282A2-B710-48DE-AA14-D2A4E510D4A2}" type="parTrans" cxnId="{472CA873-7437-4745-8AA1-2E12F6DFDF91}">
      <dgm:prSet/>
      <dgm:spPr/>
      <dgm:t>
        <a:bodyPr/>
        <a:lstStyle/>
        <a:p>
          <a:endParaRPr lang="en-IN"/>
        </a:p>
      </dgm:t>
    </dgm:pt>
    <dgm:pt modelId="{9F6399F9-C60E-4EB3-8D65-A8449EE34A48}" type="sibTrans" cxnId="{472CA873-7437-4745-8AA1-2E12F6DFDF91}">
      <dgm:prSet/>
      <dgm:spPr/>
      <dgm:t>
        <a:bodyPr/>
        <a:lstStyle/>
        <a:p>
          <a:endParaRPr lang="en-IN"/>
        </a:p>
      </dgm:t>
    </dgm:pt>
    <dgm:pt modelId="{31E28D88-1EBC-4050-A088-D4D553FDF552}">
      <dgm:prSet custT="1"/>
      <dgm:spPr/>
      <dgm:t>
        <a:bodyPr/>
        <a:lstStyle/>
        <a:p>
          <a:pPr>
            <a:lnSpc>
              <a:spcPct val="150000"/>
            </a:lnSpc>
          </a:pPr>
          <a:r>
            <a:rPr lang="en-IN" sz="1200" dirty="0" smtClean="0">
              <a:latin typeface="+mn-lt"/>
            </a:rPr>
            <a:t>Windows Function/Table Calculation - Demo</a:t>
          </a:r>
        </a:p>
      </dgm:t>
    </dgm:pt>
    <dgm:pt modelId="{2F5EA045-FCE4-4B0E-92EC-C6B6731C54DB}" type="parTrans" cxnId="{E79FBEF0-059F-4DEC-8171-90075D94A3B1}">
      <dgm:prSet/>
      <dgm:spPr/>
      <dgm:t>
        <a:bodyPr/>
        <a:lstStyle/>
        <a:p>
          <a:endParaRPr lang="en-IN"/>
        </a:p>
      </dgm:t>
    </dgm:pt>
    <dgm:pt modelId="{9F4CB62A-A162-4EF8-8CF1-DEEE5370EAE4}" type="sibTrans" cxnId="{E79FBEF0-059F-4DEC-8171-90075D94A3B1}">
      <dgm:prSet/>
      <dgm:spPr/>
      <dgm:t>
        <a:bodyPr/>
        <a:lstStyle/>
        <a:p>
          <a:endParaRPr lang="en-IN"/>
        </a:p>
      </dgm:t>
    </dgm:pt>
    <dgm:pt modelId="{2320D5AF-B4E9-430F-9D7E-31D01DB16CE6}">
      <dgm:prSet custT="1"/>
      <dgm:spPr/>
      <dgm:t>
        <a:bodyPr/>
        <a:lstStyle/>
        <a:p>
          <a:pPr>
            <a:lnSpc>
              <a:spcPct val="150000"/>
            </a:lnSpc>
          </a:pPr>
          <a:r>
            <a:rPr lang="en-IN" sz="1200" dirty="0" smtClean="0">
              <a:latin typeface="+mn-lt"/>
            </a:rPr>
            <a:t>Dual Axis - Demo</a:t>
          </a:r>
        </a:p>
      </dgm:t>
    </dgm:pt>
    <dgm:pt modelId="{6EE0CCD1-D0A8-4A13-987B-C4F8B3847D76}" type="parTrans" cxnId="{94A4FFFD-CF93-4582-A516-AD899BB355E8}">
      <dgm:prSet/>
      <dgm:spPr/>
      <dgm:t>
        <a:bodyPr/>
        <a:lstStyle/>
        <a:p>
          <a:endParaRPr lang="en-IN"/>
        </a:p>
      </dgm:t>
    </dgm:pt>
    <dgm:pt modelId="{AF78C61C-0D15-4905-A196-15CBE6C74FF7}" type="sibTrans" cxnId="{94A4FFFD-CF93-4582-A516-AD899BB355E8}">
      <dgm:prSet/>
      <dgm:spPr/>
      <dgm:t>
        <a:bodyPr/>
        <a:lstStyle/>
        <a:p>
          <a:endParaRPr lang="en-IN"/>
        </a:p>
      </dgm:t>
    </dgm:pt>
    <dgm:pt modelId="{74ED1DB8-6A8E-4B59-AE17-A11121E1D112}">
      <dgm:prSet custT="1"/>
      <dgm:spPr/>
      <dgm:t>
        <a:bodyPr/>
        <a:lstStyle/>
        <a:p>
          <a:pPr>
            <a:lnSpc>
              <a:spcPct val="150000"/>
            </a:lnSpc>
          </a:pPr>
          <a:r>
            <a:rPr lang="en-IN" sz="1200" dirty="0" smtClean="0">
              <a:latin typeface="+mn-lt"/>
            </a:rPr>
            <a:t>Data Blending - Demo</a:t>
          </a:r>
        </a:p>
      </dgm:t>
    </dgm:pt>
    <dgm:pt modelId="{D598C4D2-328B-468D-A44A-D0BB5B12A6D6}" type="parTrans" cxnId="{871FA83D-AB0E-4A55-A5B6-5E1355C204A1}">
      <dgm:prSet/>
      <dgm:spPr/>
      <dgm:t>
        <a:bodyPr/>
        <a:lstStyle/>
        <a:p>
          <a:endParaRPr lang="en-IN"/>
        </a:p>
      </dgm:t>
    </dgm:pt>
    <dgm:pt modelId="{ADE581FD-1988-4FC3-B76A-5F14C3C250BA}" type="sibTrans" cxnId="{871FA83D-AB0E-4A55-A5B6-5E1355C204A1}">
      <dgm:prSet/>
      <dgm:spPr/>
      <dgm:t>
        <a:bodyPr/>
        <a:lstStyle/>
        <a:p>
          <a:endParaRPr lang="en-IN"/>
        </a:p>
      </dgm:t>
    </dgm:pt>
    <dgm:pt modelId="{E756D5B7-3371-4BDD-A73C-30D9F385DBBF}">
      <dgm:prSet custT="1"/>
      <dgm:spPr/>
      <dgm:t>
        <a:bodyPr/>
        <a:lstStyle/>
        <a:p>
          <a:pPr>
            <a:lnSpc>
              <a:spcPct val="150000"/>
            </a:lnSpc>
          </a:pPr>
          <a:endParaRPr lang="en-IN" sz="1200" dirty="0" smtClean="0">
            <a:latin typeface="+mn-lt"/>
          </a:endParaRPr>
        </a:p>
      </dgm:t>
    </dgm:pt>
    <dgm:pt modelId="{5AED9A2C-8986-4672-918B-B4594268D1D9}" type="parTrans" cxnId="{AC98BBF3-C0F0-4A35-98E0-DDD0E51571AD}">
      <dgm:prSet/>
      <dgm:spPr/>
      <dgm:t>
        <a:bodyPr/>
        <a:lstStyle/>
        <a:p>
          <a:endParaRPr lang="en-IN"/>
        </a:p>
      </dgm:t>
    </dgm:pt>
    <dgm:pt modelId="{F53570D4-D091-44E8-908B-2CA12B251B71}" type="sibTrans" cxnId="{AC98BBF3-C0F0-4A35-98E0-DDD0E51571AD}">
      <dgm:prSet/>
      <dgm:spPr/>
      <dgm:t>
        <a:bodyPr/>
        <a:lstStyle/>
        <a:p>
          <a:endParaRPr lang="en-IN"/>
        </a:p>
      </dgm:t>
    </dgm:pt>
    <dgm:pt modelId="{354C3EE2-A311-4391-9E5E-6D04FDE5E026}">
      <dgm:prSet phldrT="[Text]" custT="1"/>
      <dgm:spPr/>
      <dgm:t>
        <a:bodyPr/>
        <a:lstStyle/>
        <a:p>
          <a:pPr>
            <a:lnSpc>
              <a:spcPct val="150000"/>
            </a:lnSpc>
          </a:pPr>
          <a:r>
            <a:rPr lang="en-IN" sz="1200" dirty="0" smtClean="0">
              <a:latin typeface="+mn-lt"/>
            </a:rPr>
            <a:t>Dimensions vs Measures</a:t>
          </a:r>
          <a:endParaRPr lang="en-IN" sz="1200" dirty="0">
            <a:latin typeface="+mn-lt"/>
          </a:endParaRPr>
        </a:p>
      </dgm:t>
    </dgm:pt>
    <dgm:pt modelId="{160F350F-0BB8-434F-8E92-B0975E584427}" type="parTrans" cxnId="{B0E4C690-4E02-4A98-84B9-E34F5A572F49}">
      <dgm:prSet/>
      <dgm:spPr/>
      <dgm:t>
        <a:bodyPr/>
        <a:lstStyle/>
        <a:p>
          <a:endParaRPr lang="en-IN"/>
        </a:p>
      </dgm:t>
    </dgm:pt>
    <dgm:pt modelId="{3AC9B714-3965-40A9-ABDB-8F1C75349BEE}" type="sibTrans" cxnId="{B0E4C690-4E02-4A98-84B9-E34F5A572F49}">
      <dgm:prSet/>
      <dgm:spPr/>
      <dgm:t>
        <a:bodyPr/>
        <a:lstStyle/>
        <a:p>
          <a:endParaRPr lang="en-IN"/>
        </a:p>
      </dgm:t>
    </dgm:pt>
    <dgm:pt modelId="{7BFE6694-9C3B-48D0-8AB2-12CEB71B9C1B}" type="pres">
      <dgm:prSet presAssocID="{AAFCB63B-4EC6-4203-8019-3E0A0737027B}" presName="Name0" presStyleCnt="0">
        <dgm:presLayoutVars>
          <dgm:dir/>
          <dgm:animLvl val="lvl"/>
          <dgm:resizeHandles val="exact"/>
        </dgm:presLayoutVars>
      </dgm:prSet>
      <dgm:spPr/>
      <dgm:t>
        <a:bodyPr/>
        <a:lstStyle/>
        <a:p>
          <a:endParaRPr lang="en-IN"/>
        </a:p>
      </dgm:t>
    </dgm:pt>
    <dgm:pt modelId="{1C610709-0DEF-476F-B033-005D03D5589A}" type="pres">
      <dgm:prSet presAssocID="{3F8CF0E7-E900-454B-83E3-248F1507889F}" presName="composite" presStyleCnt="0"/>
      <dgm:spPr/>
      <dgm:t>
        <a:bodyPr/>
        <a:lstStyle/>
        <a:p>
          <a:endParaRPr lang="en-IN"/>
        </a:p>
      </dgm:t>
    </dgm:pt>
    <dgm:pt modelId="{17FB0DAA-2335-4FFF-85A2-FD6A63B18BE6}" type="pres">
      <dgm:prSet presAssocID="{3F8CF0E7-E900-454B-83E3-248F1507889F}" presName="parTx" presStyleLbl="node1" presStyleIdx="0" presStyleCnt="3" custLinFactNeighborX="-1257" custLinFactNeighborY="-2695">
        <dgm:presLayoutVars>
          <dgm:chMax val="0"/>
          <dgm:chPref val="0"/>
          <dgm:bulletEnabled val="1"/>
        </dgm:presLayoutVars>
      </dgm:prSet>
      <dgm:spPr/>
      <dgm:t>
        <a:bodyPr/>
        <a:lstStyle/>
        <a:p>
          <a:endParaRPr lang="en-IN"/>
        </a:p>
      </dgm:t>
    </dgm:pt>
    <dgm:pt modelId="{3461E5C7-0B8D-4902-BBCA-14FCF9DB3988}" type="pres">
      <dgm:prSet presAssocID="{3F8CF0E7-E900-454B-83E3-248F1507889F}" presName="desTx" presStyleLbl="revTx" presStyleIdx="0" presStyleCnt="3" custScaleX="113129" custLinFactNeighborX="7011" custLinFactNeighborY="36">
        <dgm:presLayoutVars>
          <dgm:bulletEnabled val="1"/>
        </dgm:presLayoutVars>
      </dgm:prSet>
      <dgm:spPr/>
      <dgm:t>
        <a:bodyPr/>
        <a:lstStyle/>
        <a:p>
          <a:endParaRPr lang="en-IN"/>
        </a:p>
      </dgm:t>
    </dgm:pt>
    <dgm:pt modelId="{5676B859-4C75-4317-AB5D-E577769FCEFE}" type="pres">
      <dgm:prSet presAssocID="{CFE4CC5F-1628-4DF3-8821-0230FD2533B3}" presName="space" presStyleCnt="0"/>
      <dgm:spPr/>
      <dgm:t>
        <a:bodyPr/>
        <a:lstStyle/>
        <a:p>
          <a:endParaRPr lang="en-IN"/>
        </a:p>
      </dgm:t>
    </dgm:pt>
    <dgm:pt modelId="{D2EBA113-1425-4EEA-AFFE-E35ACCF6FCAD}" type="pres">
      <dgm:prSet presAssocID="{C8810F06-213C-445F-AC47-676FB6FE993E}" presName="composite" presStyleCnt="0"/>
      <dgm:spPr/>
      <dgm:t>
        <a:bodyPr/>
        <a:lstStyle/>
        <a:p>
          <a:endParaRPr lang="en-IN"/>
        </a:p>
      </dgm:t>
    </dgm:pt>
    <dgm:pt modelId="{E9030D9D-9484-4605-94D5-34B460D6498D}" type="pres">
      <dgm:prSet presAssocID="{C8810F06-213C-445F-AC47-676FB6FE993E}" presName="parTx" presStyleLbl="node1" presStyleIdx="1" presStyleCnt="3" custScaleX="108875">
        <dgm:presLayoutVars>
          <dgm:chMax val="0"/>
          <dgm:chPref val="0"/>
          <dgm:bulletEnabled val="1"/>
        </dgm:presLayoutVars>
      </dgm:prSet>
      <dgm:spPr/>
      <dgm:t>
        <a:bodyPr/>
        <a:lstStyle/>
        <a:p>
          <a:endParaRPr lang="en-IN"/>
        </a:p>
      </dgm:t>
    </dgm:pt>
    <dgm:pt modelId="{A5544F3B-9912-444D-AE48-8298C593554E}" type="pres">
      <dgm:prSet presAssocID="{C8810F06-213C-445F-AC47-676FB6FE993E}" presName="desTx" presStyleLbl="revTx" presStyleIdx="1" presStyleCnt="3">
        <dgm:presLayoutVars>
          <dgm:bulletEnabled val="1"/>
        </dgm:presLayoutVars>
      </dgm:prSet>
      <dgm:spPr/>
      <dgm:t>
        <a:bodyPr/>
        <a:lstStyle/>
        <a:p>
          <a:endParaRPr lang="en-IN"/>
        </a:p>
      </dgm:t>
    </dgm:pt>
    <dgm:pt modelId="{46AB7876-AE8C-40BA-BA24-EF7F635D1F45}" type="pres">
      <dgm:prSet presAssocID="{78EB736B-6DD2-4E00-A188-7C3A612A2E16}" presName="space" presStyleCnt="0"/>
      <dgm:spPr/>
      <dgm:t>
        <a:bodyPr/>
        <a:lstStyle/>
        <a:p>
          <a:endParaRPr lang="en-IN"/>
        </a:p>
      </dgm:t>
    </dgm:pt>
    <dgm:pt modelId="{8D7EFE08-BE50-4FE6-942B-A52688B5B04D}" type="pres">
      <dgm:prSet presAssocID="{AE69498D-51E7-4A3E-8D75-7FDE7CE1AD52}" presName="composite" presStyleCnt="0"/>
      <dgm:spPr/>
      <dgm:t>
        <a:bodyPr/>
        <a:lstStyle/>
        <a:p>
          <a:endParaRPr lang="en-IN"/>
        </a:p>
      </dgm:t>
    </dgm:pt>
    <dgm:pt modelId="{EF7FB9FD-6151-4F6D-8B29-B451B3816276}" type="pres">
      <dgm:prSet presAssocID="{AE69498D-51E7-4A3E-8D75-7FDE7CE1AD52}" presName="parTx" presStyleLbl="node1" presStyleIdx="2" presStyleCnt="3">
        <dgm:presLayoutVars>
          <dgm:chMax val="0"/>
          <dgm:chPref val="0"/>
          <dgm:bulletEnabled val="1"/>
        </dgm:presLayoutVars>
      </dgm:prSet>
      <dgm:spPr/>
      <dgm:t>
        <a:bodyPr/>
        <a:lstStyle/>
        <a:p>
          <a:endParaRPr lang="en-IN"/>
        </a:p>
      </dgm:t>
    </dgm:pt>
    <dgm:pt modelId="{1A8C7EE1-BE46-48D8-BC96-CAD6E9B6E131}" type="pres">
      <dgm:prSet presAssocID="{AE69498D-51E7-4A3E-8D75-7FDE7CE1AD52}" presName="desTx" presStyleLbl="revTx" presStyleIdx="2" presStyleCnt="3">
        <dgm:presLayoutVars>
          <dgm:bulletEnabled val="1"/>
        </dgm:presLayoutVars>
      </dgm:prSet>
      <dgm:spPr/>
      <dgm:t>
        <a:bodyPr/>
        <a:lstStyle/>
        <a:p>
          <a:endParaRPr lang="en-IN"/>
        </a:p>
      </dgm:t>
    </dgm:pt>
  </dgm:ptLst>
  <dgm:cxnLst>
    <dgm:cxn modelId="{D253DA4F-2819-493E-B741-766D4EA49B2D}" srcId="{3F8CF0E7-E900-454B-83E3-248F1507889F}" destId="{260F7D89-E81B-4912-A825-AC6573407B57}" srcOrd="1" destOrd="0" parTransId="{E771E6E7-FA30-433D-836F-BFEB609128D7}" sibTransId="{0407B7A7-89D6-40B2-9546-848CC4C3A368}"/>
    <dgm:cxn modelId="{94A4FFFD-CF93-4582-A516-AD899BB355E8}" srcId="{AE69498D-51E7-4A3E-8D75-7FDE7CE1AD52}" destId="{2320D5AF-B4E9-430F-9D7E-31D01DB16CE6}" srcOrd="7" destOrd="0" parTransId="{6EE0CCD1-D0A8-4A13-987B-C4F8B3847D76}" sibTransId="{AF78C61C-0D15-4905-A196-15CBE6C74FF7}"/>
    <dgm:cxn modelId="{A28CD6FF-9878-4FE1-9829-8A24CAEED834}" type="presOf" srcId="{6DE9AA55-0E62-44B9-BE0E-98D4CC76F0A5}" destId="{A5544F3B-9912-444D-AE48-8298C593554E}" srcOrd="0" destOrd="7" presId="urn:microsoft.com/office/officeart/2005/8/layout/chevron1"/>
    <dgm:cxn modelId="{174D3EC4-BF42-48B4-8D83-F87700A75EE6}" type="presOf" srcId="{25C17452-017B-4CF6-A7B9-6C931DFF22E5}" destId="{1A8C7EE1-BE46-48D8-BC96-CAD6E9B6E131}" srcOrd="0" destOrd="3" presId="urn:microsoft.com/office/officeart/2005/8/layout/chevron1"/>
    <dgm:cxn modelId="{3EBB4902-C5C6-4F19-B6E8-9429D4253EBB}" srcId="{C8810F06-213C-445F-AC47-676FB6FE993E}" destId="{6DE9AA55-0E62-44B9-BE0E-98D4CC76F0A5}" srcOrd="7" destOrd="0" parTransId="{8165431E-0927-4EA1-B4E9-9D44459DB9A3}" sibTransId="{3F587F2D-356C-46F3-956C-EA1202C309F2}"/>
    <dgm:cxn modelId="{A94E1029-172B-4A26-BCF0-14C0F8B78CC0}" type="presOf" srcId="{AAFCB63B-4EC6-4203-8019-3E0A0737027B}" destId="{7BFE6694-9C3B-48D0-8AB2-12CEB71B9C1B}" srcOrd="0" destOrd="0" presId="urn:microsoft.com/office/officeart/2005/8/layout/chevron1"/>
    <dgm:cxn modelId="{E79FBEF0-059F-4DEC-8171-90075D94A3B1}" srcId="{AE69498D-51E7-4A3E-8D75-7FDE7CE1AD52}" destId="{31E28D88-1EBC-4050-A088-D4D553FDF552}" srcOrd="6" destOrd="0" parTransId="{2F5EA045-FCE4-4B0E-92EC-C6B6731C54DB}" sibTransId="{9F4CB62A-A162-4EF8-8CF1-DEEE5370EAE4}"/>
    <dgm:cxn modelId="{871FA83D-AB0E-4A55-A5B6-5E1355C204A1}" srcId="{AE69498D-51E7-4A3E-8D75-7FDE7CE1AD52}" destId="{74ED1DB8-6A8E-4B59-AE17-A11121E1D112}" srcOrd="8" destOrd="0" parTransId="{D598C4D2-328B-468D-A44A-D0BB5B12A6D6}" sibTransId="{ADE581FD-1988-4FC3-B76A-5F14C3C250BA}"/>
    <dgm:cxn modelId="{A7E34C8B-B43D-461D-AB32-D3092D0CC511}" type="presOf" srcId="{E0D33851-5D7F-4FF0-A5F3-38BE0F17B46F}" destId="{A5544F3B-9912-444D-AE48-8298C593554E}" srcOrd="0" destOrd="8" presId="urn:microsoft.com/office/officeart/2005/8/layout/chevron1"/>
    <dgm:cxn modelId="{8F39200E-2F22-449F-9E64-71C955365237}" type="presOf" srcId="{0A717A2E-4DD9-4C33-B2BB-CB7E12941A3C}" destId="{3461E5C7-0B8D-4902-BBCA-14FCF9DB3988}" srcOrd="0" destOrd="0" presId="urn:microsoft.com/office/officeart/2005/8/layout/chevron1"/>
    <dgm:cxn modelId="{0F68F021-F42C-4DF0-8A01-7B1F17083572}" type="presOf" srcId="{A3977A60-6DCA-47C9-8E64-0C9E2925FDCD}" destId="{3461E5C7-0B8D-4902-BBCA-14FCF9DB3988}" srcOrd="0" destOrd="3" presId="urn:microsoft.com/office/officeart/2005/8/layout/chevron1"/>
    <dgm:cxn modelId="{05AC921E-03A1-4108-A97F-BC7C6EBD1317}" srcId="{AE69498D-51E7-4A3E-8D75-7FDE7CE1AD52}" destId="{E5EAE2F6-AA89-447E-94AA-7258F3CEE4CD}" srcOrd="0" destOrd="0" parTransId="{EF4BAB5C-E116-4D8C-BEF0-04B227008A37}" sibTransId="{4EBB6A94-C4BC-4EA3-9BC5-DF17283F8205}"/>
    <dgm:cxn modelId="{B0E4C690-4E02-4A98-84B9-E34F5A572F49}" srcId="{C8810F06-213C-445F-AC47-676FB6FE993E}" destId="{354C3EE2-A311-4391-9E5E-6D04FDE5E026}" srcOrd="2" destOrd="0" parTransId="{160F350F-0BB8-434F-8E92-B0975E584427}" sibTransId="{3AC9B714-3965-40A9-ABDB-8F1C75349BEE}"/>
    <dgm:cxn modelId="{3F9C0468-28C0-4883-A3ED-471574BB82FE}" type="presOf" srcId="{0874CC3E-03FB-4A29-AC00-A22BA746D4CB}" destId="{A5544F3B-9912-444D-AE48-8298C593554E}" srcOrd="0" destOrd="0" presId="urn:microsoft.com/office/officeart/2005/8/layout/chevron1"/>
    <dgm:cxn modelId="{AC98BBF3-C0F0-4A35-98E0-DDD0E51571AD}" srcId="{AE69498D-51E7-4A3E-8D75-7FDE7CE1AD52}" destId="{E756D5B7-3371-4BDD-A73C-30D9F385DBBF}" srcOrd="9" destOrd="0" parTransId="{5AED9A2C-8986-4672-918B-B4594268D1D9}" sibTransId="{F53570D4-D091-44E8-908B-2CA12B251B71}"/>
    <dgm:cxn modelId="{47B3CC70-0535-4ED4-8C49-121D8A85D071}" srcId="{C8810F06-213C-445F-AC47-676FB6FE993E}" destId="{D936B546-A854-4230-A2AF-5B2CF2043585}" srcOrd="3" destOrd="0" parTransId="{C32E92D2-47FD-47AC-A5C2-80616DC50A12}" sibTransId="{EB9D118A-FB6E-42A7-9454-1183A3A7DFC4}"/>
    <dgm:cxn modelId="{78C970F8-4AE0-48BE-8B00-8FAD0DCF9154}" srcId="{C8810F06-213C-445F-AC47-676FB6FE993E}" destId="{927B5A23-E503-4778-B7F1-90AC16B2196B}" srcOrd="6" destOrd="0" parTransId="{2E793C48-78AE-4D3B-B72F-BC041748757B}" sibTransId="{63A10AE4-99A4-49C8-836B-394C7E4033F8}"/>
    <dgm:cxn modelId="{E472120B-14C1-469E-ACD8-F25394A85A3A}" type="presOf" srcId="{354C3EE2-A311-4391-9E5E-6D04FDE5E026}" destId="{A5544F3B-9912-444D-AE48-8298C593554E}" srcOrd="0" destOrd="2" presId="urn:microsoft.com/office/officeart/2005/8/layout/chevron1"/>
    <dgm:cxn modelId="{F536716E-CA05-4B33-AF95-E7DFCACE11D7}" type="presOf" srcId="{C8810F06-213C-445F-AC47-676FB6FE993E}" destId="{E9030D9D-9484-4605-94D5-34B460D6498D}" srcOrd="0" destOrd="0" presId="urn:microsoft.com/office/officeart/2005/8/layout/chevron1"/>
    <dgm:cxn modelId="{29BA6B78-B9EF-4E0A-BE10-D6D3D882153F}" type="presOf" srcId="{7F8DFB4A-8EFF-4037-BB6D-AAF7155FC9B2}" destId="{A5544F3B-9912-444D-AE48-8298C593554E}" srcOrd="0" destOrd="5" presId="urn:microsoft.com/office/officeart/2005/8/layout/chevron1"/>
    <dgm:cxn modelId="{318B936B-F306-4897-939F-57BC5B4169AD}" type="presOf" srcId="{AE69498D-51E7-4A3E-8D75-7FDE7CE1AD52}" destId="{EF7FB9FD-6151-4F6D-8B29-B451B3816276}" srcOrd="0" destOrd="0" presId="urn:microsoft.com/office/officeart/2005/8/layout/chevron1"/>
    <dgm:cxn modelId="{06AA226A-5E08-4640-85B0-85EB0B4CA56F}" srcId="{C8810F06-213C-445F-AC47-676FB6FE993E}" destId="{B03B328C-1551-4732-A8D5-BD81939E669F}" srcOrd="9" destOrd="0" parTransId="{D77601AD-3276-42E9-8B7D-6C9F96C2EECD}" sibTransId="{E0DF9165-04CD-41E1-9E71-F58552CC899C}"/>
    <dgm:cxn modelId="{4DC22063-F607-4A48-8498-6388BF4FBD51}" srcId="{C8810F06-213C-445F-AC47-676FB6FE993E}" destId="{F728AB3E-05B3-462C-85CB-F37A87B86BF8}" srcOrd="4" destOrd="0" parTransId="{A2E6451E-6221-4B2E-B039-CC75295665E6}" sibTransId="{EB3B2068-CAF2-4C65-89BD-9686AA998D22}"/>
    <dgm:cxn modelId="{59CBFFE1-3F07-46F3-AA1B-A410A846A299}" srcId="{C8810F06-213C-445F-AC47-676FB6FE993E}" destId="{6E7B57E6-324B-4E39-9EC2-14E8110B5781}" srcOrd="10" destOrd="0" parTransId="{FD11672F-D28A-44A9-B7C3-EEE7A4176C65}" sibTransId="{2CD25E78-08B8-4EFB-B295-DA7ED1A0D1F1}"/>
    <dgm:cxn modelId="{75107117-27B0-47EA-965B-20EB58769480}" srcId="{3F8CF0E7-E900-454B-83E3-248F1507889F}" destId="{5892A6B5-2C6A-4F69-81BA-4C7F225CA2E5}" srcOrd="2" destOrd="0" parTransId="{805FC01E-6850-414B-A396-A252756E0C74}" sibTransId="{53468AA3-736E-47C0-B396-AC19BDF89622}"/>
    <dgm:cxn modelId="{1B659FCD-F5A2-4751-A956-AE889D15D9B4}" type="presOf" srcId="{1C27A590-D700-4F93-B856-B8178ECB6A7B}" destId="{1A8C7EE1-BE46-48D8-BC96-CAD6E9B6E131}" srcOrd="0" destOrd="4" presId="urn:microsoft.com/office/officeart/2005/8/layout/chevron1"/>
    <dgm:cxn modelId="{57939987-DDE6-4FF3-B3F5-7746076D1C4A}" srcId="{C8810F06-213C-445F-AC47-676FB6FE993E}" destId="{E0D33851-5D7F-4FF0-A5F3-38BE0F17B46F}" srcOrd="8" destOrd="0" parTransId="{965C2283-66A7-495A-B10B-3EC78A634C43}" sibTransId="{41C5B9CD-6696-4C7E-AC5F-48DE238147AC}"/>
    <dgm:cxn modelId="{1896174F-F6E2-4F2B-A1C6-5D1E0E1B39FD}" type="presOf" srcId="{A868B5C4-5B9D-4328-988C-0C6F29684D6A}" destId="{A5544F3B-9912-444D-AE48-8298C593554E}" srcOrd="0" destOrd="1" presId="urn:microsoft.com/office/officeart/2005/8/layout/chevron1"/>
    <dgm:cxn modelId="{623EC052-7740-4730-BB22-4903BC96A847}" type="presOf" srcId="{3FF378B2-9549-47CD-8100-524281C899C5}" destId="{1A8C7EE1-BE46-48D8-BC96-CAD6E9B6E131}" srcOrd="0" destOrd="1" presId="urn:microsoft.com/office/officeart/2005/8/layout/chevron1"/>
    <dgm:cxn modelId="{F789284C-1CD4-4D54-AEF0-0EF149BDEF7D}" type="presOf" srcId="{31E28D88-1EBC-4050-A088-D4D553FDF552}" destId="{1A8C7EE1-BE46-48D8-BC96-CAD6E9B6E131}" srcOrd="0" destOrd="6" presId="urn:microsoft.com/office/officeart/2005/8/layout/chevron1"/>
    <dgm:cxn modelId="{A436D734-4FCC-4CAC-B280-93698409E8C7}" type="presOf" srcId="{260F7D89-E81B-4912-A825-AC6573407B57}" destId="{3461E5C7-0B8D-4902-BBCA-14FCF9DB3988}" srcOrd="0" destOrd="1" presId="urn:microsoft.com/office/officeart/2005/8/layout/chevron1"/>
    <dgm:cxn modelId="{139A1FBB-DEA8-41E3-96A7-B805976C5C5F}" srcId="{AAFCB63B-4EC6-4203-8019-3E0A0737027B}" destId="{3F8CF0E7-E900-454B-83E3-248F1507889F}" srcOrd="0" destOrd="0" parTransId="{C0CB509C-23B1-4B66-98D3-1D9518E740A9}" sibTransId="{CFE4CC5F-1628-4DF3-8821-0230FD2533B3}"/>
    <dgm:cxn modelId="{630A81FD-542D-479B-A0F6-C20BD89D40AA}" type="presOf" srcId="{D936B546-A854-4230-A2AF-5B2CF2043585}" destId="{A5544F3B-9912-444D-AE48-8298C593554E}" srcOrd="0" destOrd="3" presId="urn:microsoft.com/office/officeart/2005/8/layout/chevron1"/>
    <dgm:cxn modelId="{30737719-6334-4E9D-99C7-2F41C0A3E1F5}" type="presOf" srcId="{140366CE-2CA0-4F9F-9D79-39CDE39F2E15}" destId="{1A8C7EE1-BE46-48D8-BC96-CAD6E9B6E131}" srcOrd="0" destOrd="2" presId="urn:microsoft.com/office/officeart/2005/8/layout/chevron1"/>
    <dgm:cxn modelId="{472CA873-7437-4745-8AA1-2E12F6DFDF91}" srcId="{AE69498D-51E7-4A3E-8D75-7FDE7CE1AD52}" destId="{DA40E7F0-6C0E-4D4A-89E6-A6D95162C682}" srcOrd="5" destOrd="0" parTransId="{4DC282A2-B710-48DE-AA14-D2A4E510D4A2}" sibTransId="{9F6399F9-C60E-4EB3-8D65-A8449EE34A48}"/>
    <dgm:cxn modelId="{437F592C-1B28-45BF-9DB8-AF67082A6027}" type="presOf" srcId="{2320D5AF-B4E9-430F-9D7E-31D01DB16CE6}" destId="{1A8C7EE1-BE46-48D8-BC96-CAD6E9B6E131}" srcOrd="0" destOrd="7" presId="urn:microsoft.com/office/officeart/2005/8/layout/chevron1"/>
    <dgm:cxn modelId="{9E51B9B3-DCC4-44AA-85B9-E3C8766B41FE}" srcId="{C8810F06-213C-445F-AC47-676FB6FE993E}" destId="{0874CC3E-03FB-4A29-AC00-A22BA746D4CB}" srcOrd="0" destOrd="0" parTransId="{D380F9B1-14C8-40FE-A8CD-4882B3417B6C}" sibTransId="{B000B75A-B40F-40D2-82C2-20A7654EECFF}"/>
    <dgm:cxn modelId="{19EA453B-F71A-4D20-9E19-4857D3A5BAAB}" type="presOf" srcId="{3F8CF0E7-E900-454B-83E3-248F1507889F}" destId="{17FB0DAA-2335-4FFF-85A2-FD6A63B18BE6}" srcOrd="0" destOrd="0" presId="urn:microsoft.com/office/officeart/2005/8/layout/chevron1"/>
    <dgm:cxn modelId="{31A40B9E-A1FB-4BE4-B197-902746579855}" srcId="{AE69498D-51E7-4A3E-8D75-7FDE7CE1AD52}" destId="{25C17452-017B-4CF6-A7B9-6C931DFF22E5}" srcOrd="3" destOrd="0" parTransId="{1CE0105A-233F-4E59-8CB7-C8F2E01ECCDD}" sibTransId="{AFDE72CA-5954-4602-BCDD-6916F4CD7ADA}"/>
    <dgm:cxn modelId="{0AFF5449-7524-4168-A28D-EDA6A4649FAD}" type="presOf" srcId="{927B5A23-E503-4778-B7F1-90AC16B2196B}" destId="{A5544F3B-9912-444D-AE48-8298C593554E}" srcOrd="0" destOrd="6" presId="urn:microsoft.com/office/officeart/2005/8/layout/chevron1"/>
    <dgm:cxn modelId="{9B5AFBB8-7F36-4848-B01F-DF943BCB651B}" srcId="{AAFCB63B-4EC6-4203-8019-3E0A0737027B}" destId="{C8810F06-213C-445F-AC47-676FB6FE993E}" srcOrd="1" destOrd="0" parTransId="{42B72FA7-FA38-4004-A88E-A400DA27E046}" sibTransId="{78EB736B-6DD2-4E00-A188-7C3A612A2E16}"/>
    <dgm:cxn modelId="{B4970954-1C5B-4436-B109-B29C2FB78099}" srcId="{C8810F06-213C-445F-AC47-676FB6FE993E}" destId="{7F8DFB4A-8EFF-4037-BB6D-AAF7155FC9B2}" srcOrd="5" destOrd="0" parTransId="{C0C41841-B0ED-4355-918D-5DC138F9DDC7}" sibTransId="{83AF2B9C-EA98-40E5-9386-77F018B159AB}"/>
    <dgm:cxn modelId="{DCAB0D71-7ABA-4F6F-8450-7143FCA19A9D}" type="presOf" srcId="{E756D5B7-3371-4BDD-A73C-30D9F385DBBF}" destId="{1A8C7EE1-BE46-48D8-BC96-CAD6E9B6E131}" srcOrd="0" destOrd="9" presId="urn:microsoft.com/office/officeart/2005/8/layout/chevron1"/>
    <dgm:cxn modelId="{82DF84DF-4742-408C-A236-4470A9FB65AE}" type="presOf" srcId="{F728AB3E-05B3-462C-85CB-F37A87B86BF8}" destId="{A5544F3B-9912-444D-AE48-8298C593554E}" srcOrd="0" destOrd="4" presId="urn:microsoft.com/office/officeart/2005/8/layout/chevron1"/>
    <dgm:cxn modelId="{5A6533B4-3459-4F8B-B3FB-BD7D649E4215}" type="presOf" srcId="{74ED1DB8-6A8E-4B59-AE17-A11121E1D112}" destId="{1A8C7EE1-BE46-48D8-BC96-CAD6E9B6E131}" srcOrd="0" destOrd="8" presId="urn:microsoft.com/office/officeart/2005/8/layout/chevron1"/>
    <dgm:cxn modelId="{DE012964-6AD7-4C17-B209-F34AD73706A4}" srcId="{AE69498D-51E7-4A3E-8D75-7FDE7CE1AD52}" destId="{1C27A590-D700-4F93-B856-B8178ECB6A7B}" srcOrd="4" destOrd="0" parTransId="{22304FA6-BCA3-427E-95AB-5118721C0A84}" sibTransId="{E7F0F039-6998-44E7-BD21-889EB0170CA6}"/>
    <dgm:cxn modelId="{12876BC0-E39F-4B4E-B259-9E8AC588B508}" srcId="{AAFCB63B-4EC6-4203-8019-3E0A0737027B}" destId="{AE69498D-51E7-4A3E-8D75-7FDE7CE1AD52}" srcOrd="2" destOrd="0" parTransId="{5FE9D9BD-89A1-4196-BECF-583F959DB633}" sibTransId="{7847C586-2753-464A-B5F2-5E5A113E60E2}"/>
    <dgm:cxn modelId="{3D5FAE87-87B2-499D-B57C-CDF1597F7A96}" srcId="{AE69498D-51E7-4A3E-8D75-7FDE7CE1AD52}" destId="{140366CE-2CA0-4F9F-9D79-39CDE39F2E15}" srcOrd="2" destOrd="0" parTransId="{5391AD59-F213-4C7A-968A-7FC943D9F1D7}" sibTransId="{394FEC42-A574-440D-B370-B1879BB5F7CE}"/>
    <dgm:cxn modelId="{BF2A45BE-914F-489D-8224-94A22DE72235}" type="presOf" srcId="{E5EAE2F6-AA89-447E-94AA-7258F3CEE4CD}" destId="{1A8C7EE1-BE46-48D8-BC96-CAD6E9B6E131}" srcOrd="0" destOrd="0" presId="urn:microsoft.com/office/officeart/2005/8/layout/chevron1"/>
    <dgm:cxn modelId="{E57A3CC7-F23B-4A5F-A088-1FF5C827B8F0}" type="presOf" srcId="{6E7B57E6-324B-4E39-9EC2-14E8110B5781}" destId="{A5544F3B-9912-444D-AE48-8298C593554E}" srcOrd="0" destOrd="10" presId="urn:microsoft.com/office/officeart/2005/8/layout/chevron1"/>
    <dgm:cxn modelId="{D6BADEFA-1121-4281-94DE-AF9C58F15986}" type="presOf" srcId="{5892A6B5-2C6A-4F69-81BA-4C7F225CA2E5}" destId="{3461E5C7-0B8D-4902-BBCA-14FCF9DB3988}" srcOrd="0" destOrd="2" presId="urn:microsoft.com/office/officeart/2005/8/layout/chevron1"/>
    <dgm:cxn modelId="{F602705C-C8D6-4A51-908F-F9136BE53BF1}" srcId="{C8810F06-213C-445F-AC47-676FB6FE993E}" destId="{A868B5C4-5B9D-4328-988C-0C6F29684D6A}" srcOrd="1" destOrd="0" parTransId="{5C455900-E81A-4E74-BA22-1532EA832936}" sibTransId="{636D09FB-6801-4330-B122-41BB17C7FF36}"/>
    <dgm:cxn modelId="{DE564B99-17B0-4773-BAE6-5714199A92FA}" srcId="{3F8CF0E7-E900-454B-83E3-248F1507889F}" destId="{A3977A60-6DCA-47C9-8E64-0C9E2925FDCD}" srcOrd="3" destOrd="0" parTransId="{ED9370D0-05FA-46A9-A87A-61B58CE1319C}" sibTransId="{7ECEB279-3AF5-4248-9BEA-959F6A221851}"/>
    <dgm:cxn modelId="{D8049762-ACFC-4C1E-8F0F-CD396C0CB8B2}" srcId="{AE69498D-51E7-4A3E-8D75-7FDE7CE1AD52}" destId="{3FF378B2-9549-47CD-8100-524281C899C5}" srcOrd="1" destOrd="0" parTransId="{DFE9EDF8-38C0-4C82-ACC6-540E7EB51AFD}" sibTransId="{47174EDC-9021-49EA-B3FE-15AEFE135A36}"/>
    <dgm:cxn modelId="{24A1154A-E859-49F2-9757-FEB8BEFC88B1}" type="presOf" srcId="{B03B328C-1551-4732-A8D5-BD81939E669F}" destId="{A5544F3B-9912-444D-AE48-8298C593554E}" srcOrd="0" destOrd="9" presId="urn:microsoft.com/office/officeart/2005/8/layout/chevron1"/>
    <dgm:cxn modelId="{D5462849-5DB3-4900-831F-0C1216E28EAC}" srcId="{3F8CF0E7-E900-454B-83E3-248F1507889F}" destId="{0A717A2E-4DD9-4C33-B2BB-CB7E12941A3C}" srcOrd="0" destOrd="0" parTransId="{39119DFB-9E2C-4594-A0E4-5FFF23AABF6E}" sibTransId="{A7362722-813B-4613-B054-8346BF2A60E5}"/>
    <dgm:cxn modelId="{734D7B00-C06D-4666-9DFD-3CA8EC8DAA04}" type="presOf" srcId="{DA40E7F0-6C0E-4D4A-89E6-A6D95162C682}" destId="{1A8C7EE1-BE46-48D8-BC96-CAD6E9B6E131}" srcOrd="0" destOrd="5" presId="urn:microsoft.com/office/officeart/2005/8/layout/chevron1"/>
    <dgm:cxn modelId="{C18689FD-98DD-492C-B564-10DB75AC636B}" type="presParOf" srcId="{7BFE6694-9C3B-48D0-8AB2-12CEB71B9C1B}" destId="{1C610709-0DEF-476F-B033-005D03D5589A}" srcOrd="0" destOrd="0" presId="urn:microsoft.com/office/officeart/2005/8/layout/chevron1"/>
    <dgm:cxn modelId="{D940319B-1536-4BAC-AE95-61B86BB9D3AD}" type="presParOf" srcId="{1C610709-0DEF-476F-B033-005D03D5589A}" destId="{17FB0DAA-2335-4FFF-85A2-FD6A63B18BE6}" srcOrd="0" destOrd="0" presId="urn:microsoft.com/office/officeart/2005/8/layout/chevron1"/>
    <dgm:cxn modelId="{1E14DB0F-48B1-46B0-8BA7-519F2369CE0C}" type="presParOf" srcId="{1C610709-0DEF-476F-B033-005D03D5589A}" destId="{3461E5C7-0B8D-4902-BBCA-14FCF9DB3988}" srcOrd="1" destOrd="0" presId="urn:microsoft.com/office/officeart/2005/8/layout/chevron1"/>
    <dgm:cxn modelId="{E7C25D14-2AEC-4B52-BD1E-7D9D6A35CA0F}" type="presParOf" srcId="{7BFE6694-9C3B-48D0-8AB2-12CEB71B9C1B}" destId="{5676B859-4C75-4317-AB5D-E577769FCEFE}" srcOrd="1" destOrd="0" presId="urn:microsoft.com/office/officeart/2005/8/layout/chevron1"/>
    <dgm:cxn modelId="{F1E931E3-2BAD-4746-A9A6-CF5E6F22A289}" type="presParOf" srcId="{7BFE6694-9C3B-48D0-8AB2-12CEB71B9C1B}" destId="{D2EBA113-1425-4EEA-AFFE-E35ACCF6FCAD}" srcOrd="2" destOrd="0" presId="urn:microsoft.com/office/officeart/2005/8/layout/chevron1"/>
    <dgm:cxn modelId="{156D76A3-D8EA-4118-AD47-09A2BECD2C4A}" type="presParOf" srcId="{D2EBA113-1425-4EEA-AFFE-E35ACCF6FCAD}" destId="{E9030D9D-9484-4605-94D5-34B460D6498D}" srcOrd="0" destOrd="0" presId="urn:microsoft.com/office/officeart/2005/8/layout/chevron1"/>
    <dgm:cxn modelId="{38C6AFEC-52F6-4903-85CD-66C6FE6454B1}" type="presParOf" srcId="{D2EBA113-1425-4EEA-AFFE-E35ACCF6FCAD}" destId="{A5544F3B-9912-444D-AE48-8298C593554E}" srcOrd="1" destOrd="0" presId="urn:microsoft.com/office/officeart/2005/8/layout/chevron1"/>
    <dgm:cxn modelId="{7D7DA86D-FD13-4A1D-9EEA-70CEB313AF66}" type="presParOf" srcId="{7BFE6694-9C3B-48D0-8AB2-12CEB71B9C1B}" destId="{46AB7876-AE8C-40BA-BA24-EF7F635D1F45}" srcOrd="3" destOrd="0" presId="urn:microsoft.com/office/officeart/2005/8/layout/chevron1"/>
    <dgm:cxn modelId="{F14C387C-F684-4E4F-89B0-EBF180E0FB78}" type="presParOf" srcId="{7BFE6694-9C3B-48D0-8AB2-12CEB71B9C1B}" destId="{8D7EFE08-BE50-4FE6-942B-A52688B5B04D}" srcOrd="4" destOrd="0" presId="urn:microsoft.com/office/officeart/2005/8/layout/chevron1"/>
    <dgm:cxn modelId="{96CB2457-41FD-49E4-B1A4-F0FCECE36BFC}" type="presParOf" srcId="{8D7EFE08-BE50-4FE6-942B-A52688B5B04D}" destId="{EF7FB9FD-6151-4F6D-8B29-B451B3816276}" srcOrd="0" destOrd="0" presId="urn:microsoft.com/office/officeart/2005/8/layout/chevron1"/>
    <dgm:cxn modelId="{F9016E0B-B480-43B2-B0B2-CFD6B841FFFF}" type="presParOf" srcId="{8D7EFE08-BE50-4FE6-942B-A52688B5B04D}" destId="{1A8C7EE1-BE46-48D8-BC96-CAD6E9B6E131}"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7876A-7065-4BB7-8A11-B2F7CF47BEDF}" type="doc">
      <dgm:prSet loTypeId="urn:microsoft.com/office/officeart/2005/8/layout/hProcess9" loCatId="process" qsTypeId="urn:microsoft.com/office/officeart/2005/8/quickstyle/simple1" qsCatId="simple" csTypeId="urn:microsoft.com/office/officeart/2005/8/colors/colorful5" csCatId="colorful" phldr="1"/>
      <dgm:spPr/>
    </dgm:pt>
    <dgm:pt modelId="{580B3B76-D017-4B5E-BFBE-401FE749F28C}">
      <dgm:prSet phldrT="[Text]" custT="1"/>
      <dgm:spPr/>
      <dgm:t>
        <a:bodyPr/>
        <a:lstStyle/>
        <a:p>
          <a:r>
            <a:rPr lang="en-IN" sz="2800" dirty="0" smtClean="0"/>
            <a:t>Prepare Data Source</a:t>
          </a:r>
          <a:endParaRPr lang="en-IN" sz="1700" dirty="0"/>
        </a:p>
      </dgm:t>
    </dgm:pt>
    <dgm:pt modelId="{C5BE3648-26A2-422E-81B8-B8F80CD7B177}" type="parTrans" cxnId="{C4397E7F-9B09-433A-89D7-76DD63AA980F}">
      <dgm:prSet/>
      <dgm:spPr/>
      <dgm:t>
        <a:bodyPr/>
        <a:lstStyle/>
        <a:p>
          <a:endParaRPr lang="en-IN"/>
        </a:p>
      </dgm:t>
    </dgm:pt>
    <dgm:pt modelId="{8E448E73-7A6A-4722-B148-4BA9289B933B}" type="sibTrans" cxnId="{C4397E7F-9B09-433A-89D7-76DD63AA980F}">
      <dgm:prSet/>
      <dgm:spPr/>
      <dgm:t>
        <a:bodyPr/>
        <a:lstStyle/>
        <a:p>
          <a:endParaRPr lang="en-IN"/>
        </a:p>
      </dgm:t>
    </dgm:pt>
    <dgm:pt modelId="{4ADA6A3E-20A3-46EB-87E0-8700A16707DA}">
      <dgm:prSet phldrT="[Text]" custT="1"/>
      <dgm:spPr/>
      <dgm:t>
        <a:bodyPr/>
        <a:lstStyle/>
        <a:p>
          <a:r>
            <a:rPr lang="en-IN" sz="2800" dirty="0" smtClean="0"/>
            <a:t>Establish Connection with Tableau</a:t>
          </a:r>
          <a:endParaRPr lang="en-IN" sz="2800" dirty="0"/>
        </a:p>
      </dgm:t>
    </dgm:pt>
    <dgm:pt modelId="{E0DB20F8-A87B-4D11-A5F4-BD0FE9A73F6B}" type="parTrans" cxnId="{E889EFBD-1B1D-4921-B333-7A7762B5DFB6}">
      <dgm:prSet/>
      <dgm:spPr/>
      <dgm:t>
        <a:bodyPr/>
        <a:lstStyle/>
        <a:p>
          <a:endParaRPr lang="en-IN"/>
        </a:p>
      </dgm:t>
    </dgm:pt>
    <dgm:pt modelId="{88272072-63AC-4F0B-B3D8-03991F44CC34}" type="sibTrans" cxnId="{E889EFBD-1B1D-4921-B333-7A7762B5DFB6}">
      <dgm:prSet/>
      <dgm:spPr/>
      <dgm:t>
        <a:bodyPr/>
        <a:lstStyle/>
        <a:p>
          <a:endParaRPr lang="en-IN"/>
        </a:p>
      </dgm:t>
    </dgm:pt>
    <dgm:pt modelId="{529D9538-32EF-47C4-8378-CA6809BE164E}">
      <dgm:prSet phldrT="[Text]" custT="1"/>
      <dgm:spPr/>
      <dgm:t>
        <a:bodyPr/>
        <a:lstStyle/>
        <a:p>
          <a:r>
            <a:rPr lang="en-IN" sz="2800" dirty="0" smtClean="0"/>
            <a:t>Create sheets by using features</a:t>
          </a:r>
          <a:endParaRPr lang="en-IN" sz="2800" dirty="0"/>
        </a:p>
      </dgm:t>
    </dgm:pt>
    <dgm:pt modelId="{D387C207-7009-4CBA-954D-D7F1DAC8166F}" type="sibTrans" cxnId="{807C0BC7-710D-4E18-8248-559695D615DF}">
      <dgm:prSet/>
      <dgm:spPr/>
      <dgm:t>
        <a:bodyPr/>
        <a:lstStyle/>
        <a:p>
          <a:endParaRPr lang="en-IN"/>
        </a:p>
      </dgm:t>
    </dgm:pt>
    <dgm:pt modelId="{F06B9BD7-FB70-496B-A751-C19AE3528398}" type="parTrans" cxnId="{807C0BC7-710D-4E18-8248-559695D615DF}">
      <dgm:prSet/>
      <dgm:spPr/>
      <dgm:t>
        <a:bodyPr/>
        <a:lstStyle/>
        <a:p>
          <a:endParaRPr lang="en-IN"/>
        </a:p>
      </dgm:t>
    </dgm:pt>
    <dgm:pt modelId="{47E25B63-6AD7-421E-AF2E-6D89CF55E8D1}">
      <dgm:prSet phldrT="[Text]" custT="1"/>
      <dgm:spPr/>
      <dgm:t>
        <a:bodyPr/>
        <a:lstStyle/>
        <a:p>
          <a:r>
            <a:rPr lang="en-IN" sz="2800" dirty="0" smtClean="0"/>
            <a:t>Put all these sheets in the dashboard</a:t>
          </a:r>
          <a:endParaRPr lang="en-IN" sz="2800" dirty="0"/>
        </a:p>
      </dgm:t>
    </dgm:pt>
    <dgm:pt modelId="{95BB9E26-115D-4477-A6E8-58562112C54B}" type="parTrans" cxnId="{95FF420F-FF0F-490E-85D3-CEA8695E30B1}">
      <dgm:prSet/>
      <dgm:spPr/>
      <dgm:t>
        <a:bodyPr/>
        <a:lstStyle/>
        <a:p>
          <a:endParaRPr lang="en-IN"/>
        </a:p>
      </dgm:t>
    </dgm:pt>
    <dgm:pt modelId="{04D01538-3A7A-4C73-A653-9646AF315F46}" type="sibTrans" cxnId="{95FF420F-FF0F-490E-85D3-CEA8695E30B1}">
      <dgm:prSet/>
      <dgm:spPr/>
      <dgm:t>
        <a:bodyPr/>
        <a:lstStyle/>
        <a:p>
          <a:endParaRPr lang="en-IN"/>
        </a:p>
      </dgm:t>
    </dgm:pt>
    <dgm:pt modelId="{CB76B925-90D0-49C2-AB55-8B1604843EC2}">
      <dgm:prSet phldrT="[Text]" custT="1"/>
      <dgm:spPr/>
      <dgm:t>
        <a:bodyPr/>
        <a:lstStyle/>
        <a:p>
          <a:r>
            <a:rPr lang="en-IN" sz="2800" dirty="0" smtClean="0"/>
            <a:t>Improve the visual appeal</a:t>
          </a:r>
          <a:endParaRPr lang="en-IN" sz="2800" dirty="0"/>
        </a:p>
      </dgm:t>
    </dgm:pt>
    <dgm:pt modelId="{F64E83CA-54A8-47FE-B47A-6C781D00A1DD}" type="parTrans" cxnId="{6D1C260D-2714-4514-AFA3-F697733805AA}">
      <dgm:prSet/>
      <dgm:spPr/>
      <dgm:t>
        <a:bodyPr/>
        <a:lstStyle/>
        <a:p>
          <a:endParaRPr lang="en-IN"/>
        </a:p>
      </dgm:t>
    </dgm:pt>
    <dgm:pt modelId="{B9EE9C42-E628-4CD5-BBD0-B0B768C168BD}" type="sibTrans" cxnId="{6D1C260D-2714-4514-AFA3-F697733805AA}">
      <dgm:prSet/>
      <dgm:spPr/>
      <dgm:t>
        <a:bodyPr/>
        <a:lstStyle/>
        <a:p>
          <a:endParaRPr lang="en-IN"/>
        </a:p>
      </dgm:t>
    </dgm:pt>
    <dgm:pt modelId="{8B226B4C-4C7E-408A-99DC-A58454EC69B4}" type="pres">
      <dgm:prSet presAssocID="{3DE7876A-7065-4BB7-8A11-B2F7CF47BEDF}" presName="CompostProcess" presStyleCnt="0">
        <dgm:presLayoutVars>
          <dgm:dir/>
          <dgm:resizeHandles val="exact"/>
        </dgm:presLayoutVars>
      </dgm:prSet>
      <dgm:spPr/>
    </dgm:pt>
    <dgm:pt modelId="{70F813B4-F3A8-4559-BBDE-D3C7238669B8}" type="pres">
      <dgm:prSet presAssocID="{3DE7876A-7065-4BB7-8A11-B2F7CF47BEDF}" presName="arrow" presStyleLbl="bgShp" presStyleIdx="0" presStyleCnt="1" custScaleX="117647"/>
      <dgm:spPr/>
    </dgm:pt>
    <dgm:pt modelId="{E5E20BDD-9446-4B6C-98A7-17CCB90CE441}" type="pres">
      <dgm:prSet presAssocID="{3DE7876A-7065-4BB7-8A11-B2F7CF47BEDF}" presName="linearProcess" presStyleCnt="0"/>
      <dgm:spPr/>
    </dgm:pt>
    <dgm:pt modelId="{37684333-FAD3-45E4-9D35-F6FE41E6EFF4}" type="pres">
      <dgm:prSet presAssocID="{580B3B76-D017-4B5E-BFBE-401FE749F28C}" presName="textNode" presStyleLbl="node1" presStyleIdx="0" presStyleCnt="5">
        <dgm:presLayoutVars>
          <dgm:bulletEnabled val="1"/>
        </dgm:presLayoutVars>
      </dgm:prSet>
      <dgm:spPr/>
      <dgm:t>
        <a:bodyPr/>
        <a:lstStyle/>
        <a:p>
          <a:endParaRPr lang="en-IN"/>
        </a:p>
      </dgm:t>
    </dgm:pt>
    <dgm:pt modelId="{D161C8B7-CDB0-4224-8172-CA3304661206}" type="pres">
      <dgm:prSet presAssocID="{8E448E73-7A6A-4722-B148-4BA9289B933B}" presName="sibTrans" presStyleCnt="0"/>
      <dgm:spPr/>
    </dgm:pt>
    <dgm:pt modelId="{CA202CBD-FBBD-47FF-843E-248E31EFD770}" type="pres">
      <dgm:prSet presAssocID="{4ADA6A3E-20A3-46EB-87E0-8700A16707DA}" presName="textNode" presStyleLbl="node1" presStyleIdx="1" presStyleCnt="5" custScaleX="109327">
        <dgm:presLayoutVars>
          <dgm:bulletEnabled val="1"/>
        </dgm:presLayoutVars>
      </dgm:prSet>
      <dgm:spPr/>
      <dgm:t>
        <a:bodyPr/>
        <a:lstStyle/>
        <a:p>
          <a:endParaRPr lang="en-IN"/>
        </a:p>
      </dgm:t>
    </dgm:pt>
    <dgm:pt modelId="{41B49922-13C5-4BB8-9845-428105615C48}" type="pres">
      <dgm:prSet presAssocID="{88272072-63AC-4F0B-B3D8-03991F44CC34}" presName="sibTrans" presStyleCnt="0"/>
      <dgm:spPr/>
    </dgm:pt>
    <dgm:pt modelId="{2B5A6A6A-CF1D-4D41-834D-2A00D3A314A1}" type="pres">
      <dgm:prSet presAssocID="{529D9538-32EF-47C4-8378-CA6809BE164E}" presName="textNode" presStyleLbl="node1" presStyleIdx="2" presStyleCnt="5">
        <dgm:presLayoutVars>
          <dgm:bulletEnabled val="1"/>
        </dgm:presLayoutVars>
      </dgm:prSet>
      <dgm:spPr/>
      <dgm:t>
        <a:bodyPr/>
        <a:lstStyle/>
        <a:p>
          <a:endParaRPr lang="en-IN"/>
        </a:p>
      </dgm:t>
    </dgm:pt>
    <dgm:pt modelId="{FB7DD163-AC70-4993-A40F-2C4DD9E60A00}" type="pres">
      <dgm:prSet presAssocID="{D387C207-7009-4CBA-954D-D7F1DAC8166F}" presName="sibTrans" presStyleCnt="0"/>
      <dgm:spPr/>
    </dgm:pt>
    <dgm:pt modelId="{CF2F903D-CA57-4D6D-BB4F-C897168473F5}" type="pres">
      <dgm:prSet presAssocID="{47E25B63-6AD7-421E-AF2E-6D89CF55E8D1}" presName="textNode" presStyleLbl="node1" presStyleIdx="3" presStyleCnt="5">
        <dgm:presLayoutVars>
          <dgm:bulletEnabled val="1"/>
        </dgm:presLayoutVars>
      </dgm:prSet>
      <dgm:spPr/>
      <dgm:t>
        <a:bodyPr/>
        <a:lstStyle/>
        <a:p>
          <a:endParaRPr lang="en-IN"/>
        </a:p>
      </dgm:t>
    </dgm:pt>
    <dgm:pt modelId="{99327EEC-6FC2-4DDC-B8B4-CCEC5C0DCF26}" type="pres">
      <dgm:prSet presAssocID="{04D01538-3A7A-4C73-A653-9646AF315F46}" presName="sibTrans" presStyleCnt="0"/>
      <dgm:spPr/>
    </dgm:pt>
    <dgm:pt modelId="{1EE68709-04CA-48F5-82FA-57EE684640E5}" type="pres">
      <dgm:prSet presAssocID="{CB76B925-90D0-49C2-AB55-8B1604843EC2}" presName="textNode" presStyleLbl="node1" presStyleIdx="4" presStyleCnt="5">
        <dgm:presLayoutVars>
          <dgm:bulletEnabled val="1"/>
        </dgm:presLayoutVars>
      </dgm:prSet>
      <dgm:spPr/>
      <dgm:t>
        <a:bodyPr/>
        <a:lstStyle/>
        <a:p>
          <a:endParaRPr lang="en-IN"/>
        </a:p>
      </dgm:t>
    </dgm:pt>
  </dgm:ptLst>
  <dgm:cxnLst>
    <dgm:cxn modelId="{95FF420F-FF0F-490E-85D3-CEA8695E30B1}" srcId="{3DE7876A-7065-4BB7-8A11-B2F7CF47BEDF}" destId="{47E25B63-6AD7-421E-AF2E-6D89CF55E8D1}" srcOrd="3" destOrd="0" parTransId="{95BB9E26-115D-4477-A6E8-58562112C54B}" sibTransId="{04D01538-3A7A-4C73-A653-9646AF315F46}"/>
    <dgm:cxn modelId="{EC5291B9-168F-4A43-A01C-5681576E04B2}" type="presOf" srcId="{4ADA6A3E-20A3-46EB-87E0-8700A16707DA}" destId="{CA202CBD-FBBD-47FF-843E-248E31EFD770}" srcOrd="0" destOrd="0" presId="urn:microsoft.com/office/officeart/2005/8/layout/hProcess9"/>
    <dgm:cxn modelId="{EF4A1802-C5A5-4F6B-8C17-D3FA01219651}" type="presOf" srcId="{580B3B76-D017-4B5E-BFBE-401FE749F28C}" destId="{37684333-FAD3-45E4-9D35-F6FE41E6EFF4}" srcOrd="0" destOrd="0" presId="urn:microsoft.com/office/officeart/2005/8/layout/hProcess9"/>
    <dgm:cxn modelId="{D6300B12-9AEE-4A94-9663-1E2502E71327}" type="presOf" srcId="{529D9538-32EF-47C4-8378-CA6809BE164E}" destId="{2B5A6A6A-CF1D-4D41-834D-2A00D3A314A1}" srcOrd="0" destOrd="0" presId="urn:microsoft.com/office/officeart/2005/8/layout/hProcess9"/>
    <dgm:cxn modelId="{60844DCE-8F21-4217-A17D-7408B9041496}" type="presOf" srcId="{47E25B63-6AD7-421E-AF2E-6D89CF55E8D1}" destId="{CF2F903D-CA57-4D6D-BB4F-C897168473F5}" srcOrd="0" destOrd="0" presId="urn:microsoft.com/office/officeart/2005/8/layout/hProcess9"/>
    <dgm:cxn modelId="{E3F1133E-89C6-4273-9D97-3F9D7B951D63}" type="presOf" srcId="{3DE7876A-7065-4BB7-8A11-B2F7CF47BEDF}" destId="{8B226B4C-4C7E-408A-99DC-A58454EC69B4}" srcOrd="0" destOrd="0" presId="urn:microsoft.com/office/officeart/2005/8/layout/hProcess9"/>
    <dgm:cxn modelId="{807C0BC7-710D-4E18-8248-559695D615DF}" srcId="{3DE7876A-7065-4BB7-8A11-B2F7CF47BEDF}" destId="{529D9538-32EF-47C4-8378-CA6809BE164E}" srcOrd="2" destOrd="0" parTransId="{F06B9BD7-FB70-496B-A751-C19AE3528398}" sibTransId="{D387C207-7009-4CBA-954D-D7F1DAC8166F}"/>
    <dgm:cxn modelId="{6D1C260D-2714-4514-AFA3-F697733805AA}" srcId="{3DE7876A-7065-4BB7-8A11-B2F7CF47BEDF}" destId="{CB76B925-90D0-49C2-AB55-8B1604843EC2}" srcOrd="4" destOrd="0" parTransId="{F64E83CA-54A8-47FE-B47A-6C781D00A1DD}" sibTransId="{B9EE9C42-E628-4CD5-BBD0-B0B768C168BD}"/>
    <dgm:cxn modelId="{E889EFBD-1B1D-4921-B333-7A7762B5DFB6}" srcId="{3DE7876A-7065-4BB7-8A11-B2F7CF47BEDF}" destId="{4ADA6A3E-20A3-46EB-87E0-8700A16707DA}" srcOrd="1" destOrd="0" parTransId="{E0DB20F8-A87B-4D11-A5F4-BD0FE9A73F6B}" sibTransId="{88272072-63AC-4F0B-B3D8-03991F44CC34}"/>
    <dgm:cxn modelId="{C4397E7F-9B09-433A-89D7-76DD63AA980F}" srcId="{3DE7876A-7065-4BB7-8A11-B2F7CF47BEDF}" destId="{580B3B76-D017-4B5E-BFBE-401FE749F28C}" srcOrd="0" destOrd="0" parTransId="{C5BE3648-26A2-422E-81B8-B8F80CD7B177}" sibTransId="{8E448E73-7A6A-4722-B148-4BA9289B933B}"/>
    <dgm:cxn modelId="{173E8548-2E9B-4B15-BD69-0EA53F4BB78D}" type="presOf" srcId="{CB76B925-90D0-49C2-AB55-8B1604843EC2}" destId="{1EE68709-04CA-48F5-82FA-57EE684640E5}" srcOrd="0" destOrd="0" presId="urn:microsoft.com/office/officeart/2005/8/layout/hProcess9"/>
    <dgm:cxn modelId="{448F96B9-7855-4DB0-943A-2775C1973E20}" type="presParOf" srcId="{8B226B4C-4C7E-408A-99DC-A58454EC69B4}" destId="{70F813B4-F3A8-4559-BBDE-D3C7238669B8}" srcOrd="0" destOrd="0" presId="urn:microsoft.com/office/officeart/2005/8/layout/hProcess9"/>
    <dgm:cxn modelId="{210265A6-4BCB-43B7-B017-1D7CB019A4FD}" type="presParOf" srcId="{8B226B4C-4C7E-408A-99DC-A58454EC69B4}" destId="{E5E20BDD-9446-4B6C-98A7-17CCB90CE441}" srcOrd="1" destOrd="0" presId="urn:microsoft.com/office/officeart/2005/8/layout/hProcess9"/>
    <dgm:cxn modelId="{0B80326F-1A27-443D-AD05-8608BA60C772}" type="presParOf" srcId="{E5E20BDD-9446-4B6C-98A7-17CCB90CE441}" destId="{37684333-FAD3-45E4-9D35-F6FE41E6EFF4}" srcOrd="0" destOrd="0" presId="urn:microsoft.com/office/officeart/2005/8/layout/hProcess9"/>
    <dgm:cxn modelId="{06126532-AFCE-4B80-87B5-A5B6B450680A}" type="presParOf" srcId="{E5E20BDD-9446-4B6C-98A7-17CCB90CE441}" destId="{D161C8B7-CDB0-4224-8172-CA3304661206}" srcOrd="1" destOrd="0" presId="urn:microsoft.com/office/officeart/2005/8/layout/hProcess9"/>
    <dgm:cxn modelId="{8BB2E3AE-C28C-4CE4-BAB9-95155ABD1172}" type="presParOf" srcId="{E5E20BDD-9446-4B6C-98A7-17CCB90CE441}" destId="{CA202CBD-FBBD-47FF-843E-248E31EFD770}" srcOrd="2" destOrd="0" presId="urn:microsoft.com/office/officeart/2005/8/layout/hProcess9"/>
    <dgm:cxn modelId="{3DC02F2F-9230-40C9-ADFB-8D2D2AA9958B}" type="presParOf" srcId="{E5E20BDD-9446-4B6C-98A7-17CCB90CE441}" destId="{41B49922-13C5-4BB8-9845-428105615C48}" srcOrd="3" destOrd="0" presId="urn:microsoft.com/office/officeart/2005/8/layout/hProcess9"/>
    <dgm:cxn modelId="{321C6497-9D7E-4079-9FAC-438AE236A37C}" type="presParOf" srcId="{E5E20BDD-9446-4B6C-98A7-17CCB90CE441}" destId="{2B5A6A6A-CF1D-4D41-834D-2A00D3A314A1}" srcOrd="4" destOrd="0" presId="urn:microsoft.com/office/officeart/2005/8/layout/hProcess9"/>
    <dgm:cxn modelId="{26033409-F595-4A00-8475-5992D3CEA4C1}" type="presParOf" srcId="{E5E20BDD-9446-4B6C-98A7-17CCB90CE441}" destId="{FB7DD163-AC70-4993-A40F-2C4DD9E60A00}" srcOrd="5" destOrd="0" presId="urn:microsoft.com/office/officeart/2005/8/layout/hProcess9"/>
    <dgm:cxn modelId="{2998FBC8-622C-421C-945E-8670B2701B37}" type="presParOf" srcId="{E5E20BDD-9446-4B6C-98A7-17CCB90CE441}" destId="{CF2F903D-CA57-4D6D-BB4F-C897168473F5}" srcOrd="6" destOrd="0" presId="urn:microsoft.com/office/officeart/2005/8/layout/hProcess9"/>
    <dgm:cxn modelId="{DFA618AD-845D-4C86-8A49-079C669876DE}" type="presParOf" srcId="{E5E20BDD-9446-4B6C-98A7-17CCB90CE441}" destId="{99327EEC-6FC2-4DDC-B8B4-CCEC5C0DCF26}" srcOrd="7" destOrd="0" presId="urn:microsoft.com/office/officeart/2005/8/layout/hProcess9"/>
    <dgm:cxn modelId="{F9623071-EFD5-45A7-BC8D-F7E4FB233F63}" type="presParOf" srcId="{E5E20BDD-9446-4B6C-98A7-17CCB90CE441}" destId="{1EE68709-04CA-48F5-82FA-57EE684640E5}"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B0DAA-2335-4FFF-85A2-FD6A63B18BE6}">
      <dsp:nvSpPr>
        <dsp:cNvPr id="0" name=""/>
        <dsp:cNvSpPr/>
      </dsp:nvSpPr>
      <dsp:spPr>
        <a:xfrm>
          <a:off x="149390" y="27899"/>
          <a:ext cx="3673643" cy="1469457"/>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Introduction to Tableau</a:t>
          </a:r>
          <a:endParaRPr lang="en-IN" sz="1600" kern="1200" dirty="0"/>
        </a:p>
      </dsp:txBody>
      <dsp:txXfrm>
        <a:off x="884119" y="27899"/>
        <a:ext cx="2204186" cy="1469457"/>
      </dsp:txXfrm>
    </dsp:sp>
    <dsp:sp modelId="{3461E5C7-0B8D-4902-BBCA-14FCF9DB3988}">
      <dsp:nvSpPr>
        <dsp:cNvPr id="0" name=""/>
        <dsp:cNvSpPr/>
      </dsp:nvSpPr>
      <dsp:spPr>
        <a:xfrm>
          <a:off x="208690" y="1721863"/>
          <a:ext cx="3324765" cy="3393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What is Data Visualization</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What is Tableau</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Why Tableau</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Tableau Products and Similar Products</a:t>
          </a:r>
          <a:endParaRPr lang="en-IN" sz="1200" kern="1200" dirty="0">
            <a:latin typeface="+mn-lt"/>
          </a:endParaRPr>
        </a:p>
      </dsp:txBody>
      <dsp:txXfrm>
        <a:off x="208690" y="1721863"/>
        <a:ext cx="3324765" cy="3393457"/>
      </dsp:txXfrm>
    </dsp:sp>
    <dsp:sp modelId="{E9030D9D-9484-4605-94D5-34B460D6498D}">
      <dsp:nvSpPr>
        <dsp:cNvPr id="0" name=""/>
        <dsp:cNvSpPr/>
      </dsp:nvSpPr>
      <dsp:spPr>
        <a:xfrm>
          <a:off x="3653212" y="67501"/>
          <a:ext cx="3999679" cy="1469457"/>
        </a:xfrm>
        <a:prstGeom prst="chevron">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Basic Concepts in Tableau</a:t>
          </a:r>
          <a:endParaRPr lang="en-IN" sz="1600" kern="1200" dirty="0"/>
        </a:p>
      </dsp:txBody>
      <dsp:txXfrm>
        <a:off x="4387941" y="67501"/>
        <a:ext cx="2530222" cy="1469457"/>
      </dsp:txXfrm>
    </dsp:sp>
    <dsp:sp modelId="{A5544F3B-9912-444D-AE48-8298C593554E}">
      <dsp:nvSpPr>
        <dsp:cNvPr id="0" name=""/>
        <dsp:cNvSpPr/>
      </dsp:nvSpPr>
      <dsp:spPr>
        <a:xfrm>
          <a:off x="3816230" y="1720641"/>
          <a:ext cx="2938915" cy="3393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How does Tableau work?</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Types of Connections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Dimensions vs Measures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Calculated Fields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Filters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Sets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Grouping/Hierarchy</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Parameter</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Windows Function/Table Calculation</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Dual Axis</a:t>
          </a:r>
          <a:endParaRPr lang="en-IN" sz="1200" kern="1200" dirty="0">
            <a:latin typeface="+mn-lt"/>
          </a:endParaRPr>
        </a:p>
        <a:p>
          <a:pPr marL="114300" lvl="1" indent="-114300" algn="l" defTabSz="533400">
            <a:lnSpc>
              <a:spcPct val="150000"/>
            </a:lnSpc>
            <a:spcBef>
              <a:spcPct val="0"/>
            </a:spcBef>
            <a:spcAft>
              <a:spcPct val="15000"/>
            </a:spcAft>
            <a:buChar char="••"/>
          </a:pPr>
          <a:r>
            <a:rPr lang="en-IN" sz="1200" kern="1200" dirty="0" smtClean="0">
              <a:latin typeface="+mn-lt"/>
            </a:rPr>
            <a:t>Data Blending</a:t>
          </a:r>
          <a:endParaRPr lang="en-IN" sz="1200" kern="1200" dirty="0">
            <a:latin typeface="+mn-lt"/>
          </a:endParaRPr>
        </a:p>
      </dsp:txBody>
      <dsp:txXfrm>
        <a:off x="3816230" y="1720641"/>
        <a:ext cx="2938915" cy="3393457"/>
      </dsp:txXfrm>
    </dsp:sp>
    <dsp:sp modelId="{EF7FB9FD-6151-4F6D-8B29-B451B3816276}">
      <dsp:nvSpPr>
        <dsp:cNvPr id="0" name=""/>
        <dsp:cNvSpPr/>
      </dsp:nvSpPr>
      <dsp:spPr>
        <a:xfrm>
          <a:off x="7436892" y="67501"/>
          <a:ext cx="3673643" cy="1469457"/>
        </a:xfrm>
        <a:prstGeom prst="chevron">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lvl="0" algn="ctr" defTabSz="711200">
            <a:lnSpc>
              <a:spcPct val="90000"/>
            </a:lnSpc>
            <a:spcBef>
              <a:spcPct val="0"/>
            </a:spcBef>
            <a:spcAft>
              <a:spcPct val="35000"/>
            </a:spcAft>
          </a:pPr>
          <a:r>
            <a:rPr lang="en-IN" sz="1600" kern="1200" dirty="0" smtClean="0"/>
            <a:t>Tableau Demo</a:t>
          </a:r>
          <a:endParaRPr lang="en-IN" sz="1600" kern="1200" dirty="0"/>
        </a:p>
      </dsp:txBody>
      <dsp:txXfrm>
        <a:off x="8171621" y="67501"/>
        <a:ext cx="2204186" cy="1469457"/>
      </dsp:txXfrm>
    </dsp:sp>
    <dsp:sp modelId="{1A8C7EE1-BE46-48D8-BC96-CAD6E9B6E131}">
      <dsp:nvSpPr>
        <dsp:cNvPr id="0" name=""/>
        <dsp:cNvSpPr/>
      </dsp:nvSpPr>
      <dsp:spPr>
        <a:xfrm>
          <a:off x="7436892" y="1720641"/>
          <a:ext cx="2938915" cy="33934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533400">
            <a:lnSpc>
              <a:spcPct val="150000"/>
            </a:lnSpc>
            <a:spcBef>
              <a:spcPct val="0"/>
            </a:spcBef>
            <a:spcAft>
              <a:spcPct val="15000"/>
            </a:spcAft>
            <a:buChar char="••"/>
          </a:pPr>
          <a:r>
            <a:rPr lang="en-IN" sz="1200" kern="1200" dirty="0" smtClean="0">
              <a:latin typeface="+mn-lt"/>
            </a:rPr>
            <a:t>Types of Connections - Demo</a:t>
          </a:r>
          <a:endParaRPr lang="en-IN" sz="1200" kern="1200" dirty="0"/>
        </a:p>
        <a:p>
          <a:pPr marL="114300" lvl="1" indent="-114300" algn="l" defTabSz="533400">
            <a:lnSpc>
              <a:spcPct val="150000"/>
            </a:lnSpc>
            <a:spcBef>
              <a:spcPct val="0"/>
            </a:spcBef>
            <a:spcAft>
              <a:spcPct val="15000"/>
            </a:spcAft>
            <a:buChar char="••"/>
          </a:pPr>
          <a:r>
            <a:rPr lang="en-IN" sz="1200" kern="1200" dirty="0" smtClean="0">
              <a:latin typeface="+mn-lt"/>
            </a:rPr>
            <a:t>Calculated Fields - Demo</a:t>
          </a:r>
        </a:p>
        <a:p>
          <a:pPr marL="114300" lvl="1" indent="-114300" algn="l" defTabSz="533400">
            <a:lnSpc>
              <a:spcPct val="150000"/>
            </a:lnSpc>
            <a:spcBef>
              <a:spcPct val="0"/>
            </a:spcBef>
            <a:spcAft>
              <a:spcPct val="15000"/>
            </a:spcAft>
            <a:buChar char="••"/>
          </a:pPr>
          <a:r>
            <a:rPr lang="en-IN" sz="1200" kern="1200" dirty="0" smtClean="0">
              <a:latin typeface="+mn-lt"/>
            </a:rPr>
            <a:t>Filters - Demo</a:t>
          </a:r>
        </a:p>
        <a:p>
          <a:pPr marL="114300" lvl="1" indent="-114300" algn="l" defTabSz="533400">
            <a:lnSpc>
              <a:spcPct val="150000"/>
            </a:lnSpc>
            <a:spcBef>
              <a:spcPct val="0"/>
            </a:spcBef>
            <a:spcAft>
              <a:spcPct val="15000"/>
            </a:spcAft>
            <a:buChar char="••"/>
          </a:pPr>
          <a:r>
            <a:rPr lang="en-IN" sz="1200" kern="1200" dirty="0" smtClean="0">
              <a:latin typeface="+mn-lt"/>
            </a:rPr>
            <a:t>Sets - Demo</a:t>
          </a:r>
        </a:p>
        <a:p>
          <a:pPr marL="114300" lvl="1" indent="-114300" algn="l" defTabSz="533400">
            <a:lnSpc>
              <a:spcPct val="150000"/>
            </a:lnSpc>
            <a:spcBef>
              <a:spcPct val="0"/>
            </a:spcBef>
            <a:spcAft>
              <a:spcPct val="15000"/>
            </a:spcAft>
            <a:buChar char="••"/>
          </a:pPr>
          <a:r>
            <a:rPr lang="en-IN" sz="1200" kern="1200" dirty="0" smtClean="0">
              <a:latin typeface="+mn-lt"/>
            </a:rPr>
            <a:t>Grouping/Hierarchy - Demo</a:t>
          </a:r>
        </a:p>
        <a:p>
          <a:pPr marL="114300" lvl="1" indent="-114300" algn="l" defTabSz="533400">
            <a:lnSpc>
              <a:spcPct val="150000"/>
            </a:lnSpc>
            <a:spcBef>
              <a:spcPct val="0"/>
            </a:spcBef>
            <a:spcAft>
              <a:spcPct val="15000"/>
            </a:spcAft>
            <a:buChar char="••"/>
          </a:pPr>
          <a:r>
            <a:rPr lang="en-IN" sz="1200" kern="1200" dirty="0" smtClean="0">
              <a:latin typeface="+mn-lt"/>
            </a:rPr>
            <a:t>Parameter - Demo</a:t>
          </a:r>
        </a:p>
        <a:p>
          <a:pPr marL="114300" lvl="1" indent="-114300" algn="l" defTabSz="533400">
            <a:lnSpc>
              <a:spcPct val="150000"/>
            </a:lnSpc>
            <a:spcBef>
              <a:spcPct val="0"/>
            </a:spcBef>
            <a:spcAft>
              <a:spcPct val="15000"/>
            </a:spcAft>
            <a:buChar char="••"/>
          </a:pPr>
          <a:r>
            <a:rPr lang="en-IN" sz="1200" kern="1200" dirty="0" smtClean="0">
              <a:latin typeface="+mn-lt"/>
            </a:rPr>
            <a:t>Windows Function/Table Calculation - Demo</a:t>
          </a:r>
        </a:p>
        <a:p>
          <a:pPr marL="114300" lvl="1" indent="-114300" algn="l" defTabSz="533400">
            <a:lnSpc>
              <a:spcPct val="150000"/>
            </a:lnSpc>
            <a:spcBef>
              <a:spcPct val="0"/>
            </a:spcBef>
            <a:spcAft>
              <a:spcPct val="15000"/>
            </a:spcAft>
            <a:buChar char="••"/>
          </a:pPr>
          <a:r>
            <a:rPr lang="en-IN" sz="1200" kern="1200" dirty="0" smtClean="0">
              <a:latin typeface="+mn-lt"/>
            </a:rPr>
            <a:t>Dual Axis - Demo</a:t>
          </a:r>
        </a:p>
        <a:p>
          <a:pPr marL="114300" lvl="1" indent="-114300" algn="l" defTabSz="533400">
            <a:lnSpc>
              <a:spcPct val="150000"/>
            </a:lnSpc>
            <a:spcBef>
              <a:spcPct val="0"/>
            </a:spcBef>
            <a:spcAft>
              <a:spcPct val="15000"/>
            </a:spcAft>
            <a:buChar char="••"/>
          </a:pPr>
          <a:r>
            <a:rPr lang="en-IN" sz="1200" kern="1200" dirty="0" smtClean="0">
              <a:latin typeface="+mn-lt"/>
            </a:rPr>
            <a:t>Data Blending - Demo</a:t>
          </a:r>
        </a:p>
        <a:p>
          <a:pPr marL="114300" lvl="1" indent="-114300" algn="l" defTabSz="533400">
            <a:lnSpc>
              <a:spcPct val="150000"/>
            </a:lnSpc>
            <a:spcBef>
              <a:spcPct val="0"/>
            </a:spcBef>
            <a:spcAft>
              <a:spcPct val="15000"/>
            </a:spcAft>
            <a:buChar char="••"/>
          </a:pPr>
          <a:endParaRPr lang="en-IN" sz="1200" kern="1200" dirty="0" smtClean="0">
            <a:latin typeface="+mn-lt"/>
          </a:endParaRPr>
        </a:p>
      </dsp:txBody>
      <dsp:txXfrm>
        <a:off x="7436892" y="1720641"/>
        <a:ext cx="2938915" cy="33934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813B4-F3A8-4559-BBDE-D3C7238669B8}">
      <dsp:nvSpPr>
        <dsp:cNvPr id="0" name=""/>
        <dsp:cNvSpPr/>
      </dsp:nvSpPr>
      <dsp:spPr>
        <a:xfrm>
          <a:off x="2" y="0"/>
          <a:ext cx="11398997" cy="5418667"/>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84333-FAD3-45E4-9D35-F6FE41E6EFF4}">
      <dsp:nvSpPr>
        <dsp:cNvPr id="0" name=""/>
        <dsp:cNvSpPr/>
      </dsp:nvSpPr>
      <dsp:spPr>
        <a:xfrm>
          <a:off x="5762" y="1625600"/>
          <a:ext cx="1977014" cy="216746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t>Prepare Data Source</a:t>
          </a:r>
          <a:endParaRPr lang="en-IN" sz="1700" kern="1200" dirty="0"/>
        </a:p>
      </dsp:txBody>
      <dsp:txXfrm>
        <a:off x="102272" y="1722110"/>
        <a:ext cx="1783994" cy="1974446"/>
      </dsp:txXfrm>
    </dsp:sp>
    <dsp:sp modelId="{CA202CBD-FBBD-47FF-843E-248E31EFD770}">
      <dsp:nvSpPr>
        <dsp:cNvPr id="0" name=""/>
        <dsp:cNvSpPr/>
      </dsp:nvSpPr>
      <dsp:spPr>
        <a:xfrm>
          <a:off x="2312279" y="1625600"/>
          <a:ext cx="2161410" cy="2167466"/>
        </a:xfrm>
        <a:prstGeom prst="roundRect">
          <a:avLst/>
        </a:prstGeom>
        <a:solidFill>
          <a:schemeClr val="accent5">
            <a:hueOff val="-1838336"/>
            <a:satOff val="-2557"/>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t>Establish Connection with Tableau</a:t>
          </a:r>
          <a:endParaRPr lang="en-IN" sz="2800" kern="1200" dirty="0"/>
        </a:p>
      </dsp:txBody>
      <dsp:txXfrm>
        <a:off x="2417790" y="1731111"/>
        <a:ext cx="1950388" cy="1956444"/>
      </dsp:txXfrm>
    </dsp:sp>
    <dsp:sp modelId="{2B5A6A6A-CF1D-4D41-834D-2A00D3A314A1}">
      <dsp:nvSpPr>
        <dsp:cNvPr id="0" name=""/>
        <dsp:cNvSpPr/>
      </dsp:nvSpPr>
      <dsp:spPr>
        <a:xfrm>
          <a:off x="4803192" y="1625600"/>
          <a:ext cx="1977014" cy="2167466"/>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t>Create sheets by using features</a:t>
          </a:r>
          <a:endParaRPr lang="en-IN" sz="2800" kern="1200" dirty="0"/>
        </a:p>
      </dsp:txBody>
      <dsp:txXfrm>
        <a:off x="4899702" y="1722110"/>
        <a:ext cx="1783994" cy="1974446"/>
      </dsp:txXfrm>
    </dsp:sp>
    <dsp:sp modelId="{CF2F903D-CA57-4D6D-BB4F-C897168473F5}">
      <dsp:nvSpPr>
        <dsp:cNvPr id="0" name=""/>
        <dsp:cNvSpPr/>
      </dsp:nvSpPr>
      <dsp:spPr>
        <a:xfrm>
          <a:off x="7109709" y="1625600"/>
          <a:ext cx="1977014" cy="2167466"/>
        </a:xfrm>
        <a:prstGeom prst="roundRect">
          <a:avLst/>
        </a:prstGeom>
        <a:solidFill>
          <a:schemeClr val="accent5">
            <a:hueOff val="-5515009"/>
            <a:satOff val="-7671"/>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t>Put all these sheets in the dashboard</a:t>
          </a:r>
          <a:endParaRPr lang="en-IN" sz="2800" kern="1200" dirty="0"/>
        </a:p>
      </dsp:txBody>
      <dsp:txXfrm>
        <a:off x="7206219" y="1722110"/>
        <a:ext cx="1783994" cy="1974446"/>
      </dsp:txXfrm>
    </dsp:sp>
    <dsp:sp modelId="{1EE68709-04CA-48F5-82FA-57EE684640E5}">
      <dsp:nvSpPr>
        <dsp:cNvPr id="0" name=""/>
        <dsp:cNvSpPr/>
      </dsp:nvSpPr>
      <dsp:spPr>
        <a:xfrm>
          <a:off x="9416226" y="1625600"/>
          <a:ext cx="1977014" cy="2167466"/>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IN" sz="2800" kern="1200" dirty="0" smtClean="0"/>
            <a:t>Improve the visual appeal</a:t>
          </a:r>
          <a:endParaRPr lang="en-IN" sz="2800" kern="1200" dirty="0"/>
        </a:p>
      </dsp:txBody>
      <dsp:txXfrm>
        <a:off x="9512736" y="1722110"/>
        <a:ext cx="1783994" cy="197444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7875F7-66C3-48C3-9B58-3ED4E0CA8240}" type="datetimeFigureOut">
              <a:rPr lang="en-IN" smtClean="0"/>
              <a:t>27-07-2016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810C48-C167-41B4-8AB7-61053A0E9241}" type="slidenum">
              <a:rPr lang="en-IN" smtClean="0"/>
              <a:t>‹#›</a:t>
            </a:fld>
            <a:endParaRPr lang="en-IN"/>
          </a:p>
        </p:txBody>
      </p:sp>
    </p:spTree>
    <p:extLst>
      <p:ext uri="{BB962C8B-B14F-4D97-AF65-F5344CB8AC3E}">
        <p14:creationId xmlns:p14="http://schemas.microsoft.com/office/powerpoint/2010/main" val="148575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tableau.com/about/blog/2014/7/understanding-tableau-data-extracts-part1"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smtClean="0">
                <a:solidFill>
                  <a:schemeClr val="tx1"/>
                </a:solidFill>
              </a:rPr>
              <a:t>Data visualization is a general term that describes any effort to help people understand the significance of data by placing it in a visual context. Patterns, trends and correlations that might go undetected in text-based data can be exposed and recognized easier with data visualization software.</a:t>
            </a:r>
          </a:p>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3</a:t>
            </a:fld>
            <a:endParaRPr lang="en-IN"/>
          </a:p>
        </p:txBody>
      </p:sp>
    </p:spTree>
    <p:extLst>
      <p:ext uri="{BB962C8B-B14F-4D97-AF65-F5344CB8AC3E}">
        <p14:creationId xmlns:p14="http://schemas.microsoft.com/office/powerpoint/2010/main" val="2654028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F3A600-E9C9-4F6F-9259-2CD4C941B10C}" type="slidenum">
              <a:rPr lang="en-IN" smtClean="0">
                <a:solidFill>
                  <a:prstClr val="black"/>
                </a:solidFill>
              </a:rPr>
              <a:pPr/>
              <a:t>5</a:t>
            </a:fld>
            <a:endParaRPr lang="en-IN">
              <a:solidFill>
                <a:prstClr val="black"/>
              </a:solidFill>
            </a:endParaRPr>
          </a:p>
        </p:txBody>
      </p:sp>
    </p:spTree>
    <p:extLst>
      <p:ext uri="{BB962C8B-B14F-4D97-AF65-F5344CB8AC3E}">
        <p14:creationId xmlns:p14="http://schemas.microsoft.com/office/powerpoint/2010/main" val="1178643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6</a:t>
            </a:fld>
            <a:endParaRPr lang="en-IN"/>
          </a:p>
        </p:txBody>
      </p:sp>
    </p:spTree>
    <p:extLst>
      <p:ext uri="{BB962C8B-B14F-4D97-AF65-F5344CB8AC3E}">
        <p14:creationId xmlns:p14="http://schemas.microsoft.com/office/powerpoint/2010/main" val="3710415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Talk </a:t>
            </a:r>
            <a:r>
              <a:rPr lang="en-IN" dirty="0" err="1" smtClean="0"/>
              <a:t>abt</a:t>
            </a:r>
            <a:r>
              <a:rPr lang="en-IN" dirty="0" smtClean="0"/>
              <a:t> Tableau Online also</a:t>
            </a:r>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8</a:t>
            </a:fld>
            <a:endParaRPr lang="en-IN"/>
          </a:p>
        </p:txBody>
      </p:sp>
    </p:spTree>
    <p:extLst>
      <p:ext uri="{BB962C8B-B14F-4D97-AF65-F5344CB8AC3E}">
        <p14:creationId xmlns:p14="http://schemas.microsoft.com/office/powerpoint/2010/main" val="695343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fontAlgn="base">
              <a:buFont typeface="Arial" panose="020B0604020202020204" pitchFamily="34" charset="0"/>
              <a:buChar char="•"/>
            </a:pPr>
            <a:r>
              <a:rPr lang="en-IN" sz="1200" dirty="0" smtClean="0"/>
              <a:t>Extract Connection: A connection with a static database, which is refreshed every day/hour/period. All data is copied from the data source to Tableau Server. Refreshing the data source will not give you the latest data - you have to refresh the extract to get these.</a:t>
            </a:r>
          </a:p>
          <a:p>
            <a:pPr fontAlgn="base"/>
            <a:endParaRPr lang="en-IN" sz="1200" dirty="0" smtClean="0"/>
          </a:p>
          <a:p>
            <a:pPr marL="342900" indent="-342900" fontAlgn="base">
              <a:buFont typeface="Arial" panose="020B0604020202020204" pitchFamily="34" charset="0"/>
              <a:buChar char="•"/>
            </a:pPr>
            <a:r>
              <a:rPr lang="en-IN" sz="1200" dirty="0" smtClean="0"/>
              <a:t>Live Connection: This will query the underlying data in the data source/database - refreshing the visualisation will give you the latest results. No data is copied to Tableau Server for pre-processing.</a:t>
            </a:r>
            <a:endParaRPr lang="en-IN" sz="1200" b="0" i="0" dirty="0" smtClean="0">
              <a:effectLst/>
            </a:endParaRPr>
          </a:p>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10</a:t>
            </a:fld>
            <a:endParaRPr lang="en-IN"/>
          </a:p>
        </p:txBody>
      </p:sp>
    </p:spTree>
    <p:extLst>
      <p:ext uri="{BB962C8B-B14F-4D97-AF65-F5344CB8AC3E}">
        <p14:creationId xmlns:p14="http://schemas.microsoft.com/office/powerpoint/2010/main" val="4195512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dirty="0" smtClean="0">
                <a:hlinkClick r:id="rId3"/>
              </a:rPr>
              <a:t>http://www.tableau.com/about/blog/2014/7/understanding-tableau-data-extracts-part1</a:t>
            </a:r>
            <a:endParaRPr lang="en-IN" sz="1200" dirty="0" smtClean="0"/>
          </a:p>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11</a:t>
            </a:fld>
            <a:endParaRPr lang="en-IN"/>
          </a:p>
        </p:txBody>
      </p:sp>
    </p:spTree>
    <p:extLst>
      <p:ext uri="{BB962C8B-B14F-4D97-AF65-F5344CB8AC3E}">
        <p14:creationId xmlns:p14="http://schemas.microsoft.com/office/powerpoint/2010/main" val="517746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16</a:t>
            </a:fld>
            <a:endParaRPr lang="en-IN"/>
          </a:p>
        </p:txBody>
      </p:sp>
    </p:spTree>
    <p:extLst>
      <p:ext uri="{BB962C8B-B14F-4D97-AF65-F5344CB8AC3E}">
        <p14:creationId xmlns:p14="http://schemas.microsoft.com/office/powerpoint/2010/main" val="1124676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fontAlgn="base">
              <a:buFont typeface="Arial" panose="020B0604020202020204" pitchFamily="34" charset="0"/>
              <a:buChar char="•"/>
            </a:pPr>
            <a:r>
              <a:rPr lang="en-IN" sz="2400" dirty="0" smtClean="0"/>
              <a:t>You may create a context filter to:</a:t>
            </a:r>
          </a:p>
          <a:p>
            <a:pPr marL="800100" lvl="1" indent="-342900" fontAlgn="base">
              <a:buFont typeface="Arial" panose="020B0604020202020204" pitchFamily="34" charset="0"/>
              <a:buChar char="•"/>
            </a:pPr>
            <a:r>
              <a:rPr lang="en-IN" sz="2400" dirty="0" smtClean="0"/>
              <a:t>Improve performance – If you set a lot of filters or have a large data source, the queries can be slow. You can set one or more context filters to improve performance.</a:t>
            </a:r>
          </a:p>
          <a:p>
            <a:pPr marL="800100" lvl="1" indent="-342900" fontAlgn="base">
              <a:buFont typeface="Arial" panose="020B0604020202020204" pitchFamily="34" charset="0"/>
              <a:buChar char="•"/>
            </a:pPr>
            <a:r>
              <a:rPr lang="en-IN" sz="2400" dirty="0" smtClean="0"/>
              <a:t>Create a dependent numerical or top N filter – You can set a context filter to include only the data of interest, and then set a numerical or a top N filter.</a:t>
            </a:r>
          </a:p>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25</a:t>
            </a:fld>
            <a:endParaRPr lang="en-IN"/>
          </a:p>
        </p:txBody>
      </p:sp>
    </p:spTree>
    <p:extLst>
      <p:ext uri="{BB962C8B-B14F-4D97-AF65-F5344CB8AC3E}">
        <p14:creationId xmlns:p14="http://schemas.microsoft.com/office/powerpoint/2010/main" val="1076562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smtClean="0"/>
              <a:t>For example, you may have Sales data collected in an Oracle database and Sales Goal data in an Excel spreadsheet. To compare actual sales to target sales, you can blend the data based on common dimensions to get access to the Sales Goal measure.</a:t>
            </a:r>
          </a:p>
          <a:p>
            <a:endParaRPr lang="en-IN" dirty="0"/>
          </a:p>
        </p:txBody>
      </p:sp>
      <p:sp>
        <p:nvSpPr>
          <p:cNvPr id="4" name="Slide Number Placeholder 3"/>
          <p:cNvSpPr>
            <a:spLocks noGrp="1"/>
          </p:cNvSpPr>
          <p:nvPr>
            <p:ph type="sldNum" sz="quarter" idx="10"/>
          </p:nvPr>
        </p:nvSpPr>
        <p:spPr/>
        <p:txBody>
          <a:bodyPr/>
          <a:lstStyle/>
          <a:p>
            <a:fld id="{91810C48-C167-41B4-8AB7-61053A0E9241}" type="slidenum">
              <a:rPr lang="en-IN" smtClean="0"/>
              <a:t>51</a:t>
            </a:fld>
            <a:endParaRPr lang="en-IN"/>
          </a:p>
        </p:txBody>
      </p:sp>
    </p:spTree>
    <p:extLst>
      <p:ext uri="{BB962C8B-B14F-4D97-AF65-F5344CB8AC3E}">
        <p14:creationId xmlns:p14="http://schemas.microsoft.com/office/powerpoint/2010/main" val="3655821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8" name="Text Placeholder 7"/>
          <p:cNvSpPr>
            <a:spLocks noGrp="1"/>
          </p:cNvSpPr>
          <p:nvPr>
            <p:ph type="body" sz="quarter" idx="13"/>
          </p:nvPr>
        </p:nvSpPr>
        <p:spPr>
          <a:xfrm>
            <a:off x="4905828" y="266788"/>
            <a:ext cx="1656443" cy="480131"/>
          </a:xfrm>
          <a:prstGeom prst="rect">
            <a:avLst/>
          </a:prstGeom>
          <a:solidFill>
            <a:schemeClr val="bg1"/>
          </a:solidFill>
        </p:spPr>
        <p:txBody>
          <a:bodyPr wrap="square">
            <a:norm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87097672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272039261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Tree>
    <p:extLst>
      <p:ext uri="{BB962C8B-B14F-4D97-AF65-F5344CB8AC3E}">
        <p14:creationId xmlns:p14="http://schemas.microsoft.com/office/powerpoint/2010/main" val="41248311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35552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8511205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511623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58299952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6438094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4" name="Footer Placeholder 3"/>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32003172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3" name="Footer Placeholder 2"/>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4" name="Slide Number Placeholder 3"/>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4671419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312369327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418148798"/>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200633101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82335404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99303642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7/27/2016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25170970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8" name="Text Placeholder 7"/>
          <p:cNvSpPr>
            <a:spLocks noGrp="1"/>
          </p:cNvSpPr>
          <p:nvPr>
            <p:ph type="body" sz="quarter" idx="13"/>
          </p:nvPr>
        </p:nvSpPr>
        <p:spPr>
          <a:xfrm>
            <a:off x="4905828" y="266788"/>
            <a:ext cx="1656443" cy="480131"/>
          </a:xfrm>
          <a:prstGeom prst="rect">
            <a:avLst/>
          </a:prstGeom>
          <a:solidFill>
            <a:schemeClr val="bg1"/>
          </a:solidFill>
        </p:spPr>
        <p:txBody>
          <a:bodyPr wrap="square">
            <a:norm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50805571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a:prstGeom prst="rect">
            <a:avLst/>
          </a:prstGeo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E22D1A-CAE7-4D37-85C8-6F613DE24951}" type="datetime1">
              <a:rPr lang="en-US" smtClean="0">
                <a:solidFill>
                  <a:srgbClr val="ACD433"/>
                </a:solidFill>
              </a:rPr>
              <a:pPr/>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877212852"/>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2E54B1-73A1-4263-B78F-FF5389683A00}"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14476831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4F1AEE-92DB-4E7F-88D2-942D1764EA56}"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336901223"/>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154955" y="2603500"/>
            <a:ext cx="8761412" cy="3416300"/>
          </a:xfrm>
          <a:prstGeom prst="rect">
            <a:avLst/>
          </a:prstGeo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ECB69-58DB-4BFC-A325-53FE97BF7120}"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99010511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1154955" y="2603500"/>
            <a:ext cx="8761412" cy="34163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1A7A2F9-2791-4C9B-A4CB-730F738B65FA}" type="datetime1">
              <a:rPr lang="en-US" smtClean="0">
                <a:solidFill>
                  <a:srgbClr val="ACD433"/>
                </a:solidFill>
              </a:rPr>
              <a:pPr/>
              <a:t>7/27/2016</a:t>
            </a:fld>
            <a:endParaRPr lang="en-US" dirty="0">
              <a:solidFill>
                <a:srgbClr val="ACD433"/>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solidFill>
                  <a:schemeClr val="tx2">
                    <a:lumMod val="60000"/>
                    <a:lumOff val="40000"/>
                  </a:schemeClr>
                </a:solidFill>
              </a:defRPr>
            </a:lvl1pPr>
          </a:lstStyle>
          <a:p>
            <a:pPr lvl="0"/>
            <a:endParaRPr lang="en-IN" dirty="0"/>
          </a:p>
        </p:txBody>
      </p:sp>
      <p:sp>
        <p:nvSpPr>
          <p:cNvPr id="8" name="Footer Placeholder 4"/>
          <p:cNvSpPr>
            <a:spLocks noGrp="1"/>
          </p:cNvSpPr>
          <p:nvPr>
            <p:ph type="ftr" sz="quarter" idx="3"/>
          </p:nvPr>
        </p:nvSpPr>
        <p:spPr>
          <a:xfrm>
            <a:off x="1196498" y="6647419"/>
            <a:ext cx="8964000" cy="198472"/>
          </a:xfrm>
          <a:prstGeom prst="rect">
            <a:avLst/>
          </a:prstGeom>
        </p:spPr>
        <p:txBody>
          <a:bodyPr vert="horz" lIns="91440" tIns="45720" rIns="91440" bIns="45720" rtlCol="0" anchor="b"/>
          <a:lstStyle>
            <a:lvl1pPr algn="l">
              <a:defRPr sz="1000" b="1" i="0">
                <a:solidFill>
                  <a:schemeClr val="bg2">
                    <a:lumMod val="75000"/>
                  </a:schemeClr>
                </a:solidFill>
                <a:latin typeface="+mn-lt"/>
              </a:defRPr>
            </a:lvl1p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Tree>
    <p:extLst>
      <p:ext uri="{BB962C8B-B14F-4D97-AF65-F5344CB8AC3E}">
        <p14:creationId xmlns:p14="http://schemas.microsoft.com/office/powerpoint/2010/main" val="267376166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8D8B9C-4075-4BC1-AF9A-5E9B94506DB7}" type="datetime1">
              <a:rPr lang="en-US" smtClean="0">
                <a:solidFill>
                  <a:srgbClr val="ACD433"/>
                </a:solidFill>
              </a:rPr>
              <a:pPr/>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042171652"/>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a:prstGeom prst="rect">
            <a:avLst/>
          </a:prstGeo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8EA3936-0EFA-41DE-9BD7-867C7334E912}"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260544336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7/27/2016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76080846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a:prstGeom prst="rect">
            <a:avLst/>
          </a:prstGeo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E22D1A-CAE7-4D37-85C8-6F613DE24951}" type="datetime1">
              <a:rPr lang="en-US" smtClean="0">
                <a:solidFill>
                  <a:srgbClr val="ACD433"/>
                </a:solidFill>
              </a:rPr>
              <a:pPr/>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7488425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2E54B1-73A1-4263-B78F-FF5389683A00}"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90468793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a:prstGeom prst="rect">
            <a:avLst/>
          </a:prstGeo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a:prstGeom prst="rect">
            <a:avLst/>
          </a:prstGeo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24F1AEE-92DB-4E7F-88D2-942D1764EA56}"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328655581"/>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154955" y="2603500"/>
            <a:ext cx="8761412" cy="3416300"/>
          </a:xfrm>
          <a:prstGeom prst="rect">
            <a:avLst/>
          </a:prstGeo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AECB69-58DB-4BFC-A325-53FE97BF7120}"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dirty="0" smtClean="0">
                <a:solidFill>
                  <a:srgbClr val="EBEBEB">
                    <a:lumMod val="75000"/>
                  </a:srgbClr>
                </a:solidFill>
              </a:rPr>
              <a:t>The information contained in this document is strictly private and confidential. © Copyright, Tata Insights and Quants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a:prstGeom prst="rect">
            <a:avLst/>
          </a:prstGeo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29440997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830389727"/>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54641192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8DEFF4-E5D7-40E3-9F07-A97091335251}" type="datetime1">
              <a:rPr lang="en-US" smtClean="0">
                <a:solidFill>
                  <a:srgbClr val="ACD433"/>
                </a:solidFill>
              </a:rPr>
              <a:pPr/>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31083498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6CA6C49-0AE7-488E-97EC-96C9E77398C9}"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2381665708"/>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D04742-B436-4121-8625-7255589F0C2E}" type="datetime1">
              <a:rPr lang="en-US" smtClean="0">
                <a:solidFill>
                  <a:srgbClr val="ACD433"/>
                </a:solidFill>
              </a:rPr>
              <a:pPr/>
              <a:t>7/27/2016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292023103"/>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E60A81-ACC1-4719-B82F-168E1D300DFB}" type="datetime1">
              <a:rPr lang="en-US" smtClean="0">
                <a:solidFill>
                  <a:srgbClr val="ACD433"/>
                </a:solidFill>
              </a:rPr>
              <a:pPr/>
              <a:t>7/27/2016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518684183"/>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B1452F5-F43F-46F3-AC66-C35140D634AF}"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370538047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7379C36-066F-4D49-83BF-071CB4A34EBA}" type="datetime1">
              <a:rPr lang="en-US" smtClean="0">
                <a:solidFill>
                  <a:srgbClr val="ACD433"/>
                </a:solidFill>
              </a:rPr>
              <a:pPr/>
              <a:t>7/27/2016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707942842"/>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8698F9D-15CA-4DE4-A4C6-099D68AC7ACF}"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smtClean="0"/>
              <a:t>Click to edit Master title style</a:t>
            </a:r>
            <a:endParaRPr lang="en-US" dirty="0"/>
          </a:p>
        </p:txBody>
      </p:sp>
    </p:spTree>
    <p:extLst>
      <p:ext uri="{BB962C8B-B14F-4D97-AF65-F5344CB8AC3E}">
        <p14:creationId xmlns:p14="http://schemas.microsoft.com/office/powerpoint/2010/main" val="1619575356"/>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11" name="Text Placeholder 7"/>
          <p:cNvSpPr>
            <a:spLocks noGrp="1"/>
          </p:cNvSpPr>
          <p:nvPr>
            <p:ph type="body" sz="quarter" idx="13"/>
          </p:nvPr>
        </p:nvSpPr>
        <p:spPr>
          <a:xfrm>
            <a:off x="4122056" y="305025"/>
            <a:ext cx="3526972" cy="480131"/>
          </a:xfrm>
          <a:prstGeom prst="rect">
            <a:avLst/>
          </a:prstGeom>
          <a:solidFill>
            <a:schemeClr val="bg1"/>
          </a:solidFill>
        </p:spPr>
        <p:txBody>
          <a:bodyPr wrap="square">
            <a:sp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4141363773"/>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solidFill>
                  <a:srgbClr val="000000">
                    <a:tint val="75000"/>
                  </a:srgbClr>
                </a:solidFill>
              </a:rPr>
              <a:pPr/>
              <a:t>27-07-2016</a:t>
            </a:fld>
            <a:endParaRPr lang="en-IN" dirty="0">
              <a:solidFill>
                <a:srgbClr val="000000">
                  <a:tint val="75000"/>
                </a:srgbClr>
              </a:solidFill>
            </a:endParaRPr>
          </a:p>
        </p:txBody>
      </p:sp>
      <p:sp>
        <p:nvSpPr>
          <p:cNvPr id="5" name="Footer Placeholder 4"/>
          <p:cNvSpPr>
            <a:spLocks noGrp="1"/>
          </p:cNvSpPr>
          <p:nvPr>
            <p:ph type="ftr" sz="quarter" idx="11"/>
          </p:nvPr>
        </p:nvSpPr>
        <p:spPr/>
        <p:txBody>
          <a:bodyPr/>
          <a:lstStyle/>
          <a:p>
            <a:endParaRPr lang="en-IN"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3040F425-731D-4835-A38A-9545B9CAE996}" type="slidenum">
              <a:rPr lang="en-IN" smtClean="0">
                <a:solidFill>
                  <a:srgbClr val="000000">
                    <a:tint val="75000"/>
                  </a:srgbClr>
                </a:solidFill>
              </a:rPr>
              <a:pPr/>
              <a:t>‹#›</a:t>
            </a:fld>
            <a:endParaRPr lang="en-IN" dirty="0">
              <a:solidFill>
                <a:srgbClr val="000000">
                  <a:tint val="75000"/>
                </a:srgbClr>
              </a:solidFill>
            </a:endParaRPr>
          </a:p>
        </p:txBody>
      </p:sp>
      <p:sp>
        <p:nvSpPr>
          <p:cNvPr id="8" name="Text Placeholder 7"/>
          <p:cNvSpPr>
            <a:spLocks noGrp="1"/>
          </p:cNvSpPr>
          <p:nvPr>
            <p:ph type="body" sz="quarter" idx="13"/>
          </p:nvPr>
        </p:nvSpPr>
        <p:spPr>
          <a:xfrm>
            <a:off x="4905828" y="266788"/>
            <a:ext cx="1656443" cy="480131"/>
          </a:xfrm>
          <a:prstGeom prst="rect">
            <a:avLst/>
          </a:prstGeom>
          <a:solidFill>
            <a:schemeClr val="bg1"/>
          </a:solidFill>
        </p:spPr>
        <p:txBody>
          <a:bodyPr wrap="square">
            <a:normAutofit/>
          </a:bodyPr>
          <a:lstStyle>
            <a:lvl1pPr marL="0" indent="0" algn="ctr">
              <a:buNone/>
              <a:defRPr b="1" baseline="0">
                <a:solidFill>
                  <a:srgbClr val="0070C0"/>
                </a:solidFill>
                <a:latin typeface="Leelawadee UI" panose="020B0502040204020203" pitchFamily="34" charset="-34"/>
                <a:cs typeface="Leelawadee UI" panose="020B0502040204020203" pitchFamily="34" charset="-34"/>
              </a:defRPr>
            </a:lvl1pPr>
          </a:lstStyle>
          <a:p>
            <a:pPr lvl="0"/>
            <a:r>
              <a:rPr lang="en-US" dirty="0" smtClean="0"/>
              <a:t>Click </a:t>
            </a:r>
          </a:p>
        </p:txBody>
      </p:sp>
    </p:spTree>
    <p:extLst>
      <p:ext uri="{BB962C8B-B14F-4D97-AF65-F5344CB8AC3E}">
        <p14:creationId xmlns:p14="http://schemas.microsoft.com/office/powerpoint/2010/main" val="3301600859"/>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687454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123535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09851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29598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135616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094387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987267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0160728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08596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192335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164580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8972237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7/27/2016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2178688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5512893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492805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14413048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10201556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91005932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8770897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9" Type="http://schemas.openxmlformats.org/officeDocument/2006/relationships/image" Target="../media/image1.jpeg"/><Relationship Id="rId21" Type="http://schemas.openxmlformats.org/officeDocument/2006/relationships/slideLayout" Target="../slideLayouts/slideLayout24.xml"/><Relationship Id="rId34" Type="http://schemas.openxmlformats.org/officeDocument/2006/relationships/slideLayout" Target="../slideLayouts/slideLayout37.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38" Type="http://schemas.openxmlformats.org/officeDocument/2006/relationships/theme" Target="../theme/theme2.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slideLayout" Target="../slideLayouts/slideLayout40.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slideLayout" Target="../slideLayouts/slideLayout39.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slideLayout" Target="../slideLayouts/slideLayout34.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8" Type="http://schemas.openxmlformats.org/officeDocument/2006/relationships/slideLayout" Target="../slideLayouts/slideLayout11.xml"/><Relationship Id="rId3"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theme" Target="../theme/theme3.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3"/>
          </p:nvPr>
        </p:nvSpPr>
        <p:spPr>
          <a:xfrm>
            <a:off x="2946400" y="6505431"/>
            <a:ext cx="511345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dirty="0"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9448800" y="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10" name="Rectangle 9"/>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1978708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7/27/2016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cxnSp>
        <p:nvCxnSpPr>
          <p:cNvPr id="7" name="Straight Connector 6"/>
          <p:cNvCxnSpPr/>
          <p:nvPr userDrawn="1"/>
        </p:nvCxnSpPr>
        <p:spPr>
          <a:xfrm>
            <a:off x="1" y="512914"/>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rotWithShape="1">
          <a:blip r:embed="rId39"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9" name="Rectangle 8"/>
          <p:cNvSpPr/>
          <p:nvPr userDrawn="1"/>
        </p:nvSpPr>
        <p:spPr>
          <a:xfrm>
            <a:off x="6002452" y="6572578"/>
            <a:ext cx="6096000" cy="230832"/>
          </a:xfrm>
          <a:prstGeom prst="rect">
            <a:avLst/>
          </a:prstGeom>
        </p:spPr>
        <p:txBody>
          <a:bodyPr>
            <a:spAutoFit/>
          </a:bodyPr>
          <a:lstStyle/>
          <a:p>
            <a:pPr algn="r"/>
            <a:r>
              <a:rPr lang="en-IN" sz="900"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p>
        </p:txBody>
      </p:sp>
    </p:spTree>
    <p:extLst>
      <p:ext uri="{BB962C8B-B14F-4D97-AF65-F5344CB8AC3E}">
        <p14:creationId xmlns:p14="http://schemas.microsoft.com/office/powerpoint/2010/main" val="323537166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81" r:id="rId3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21FACE-E8F9-4406-8FAD-E38769FF28FC}" type="datetimeFigureOut">
              <a:rPr lang="en-IN" smtClean="0">
                <a:solidFill>
                  <a:prstClr val="black">
                    <a:tint val="75000"/>
                  </a:prstClr>
                </a:solidFill>
              </a:rPr>
              <a:pPr/>
              <a:t>27-07-2016</a:t>
            </a:fld>
            <a:endParaRPr lang="en-IN">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DB1803-5FB1-45C7-863C-2EB59EF6ECE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100429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2.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BEBA8EAE-BF5A-486C-A8C5-ECC9F3942E4B}">
                <a14:imgProps xmlns:a14="http://schemas.microsoft.com/office/drawing/2010/main">
                  <a14:imgLayer r:embed="rId3">
                    <a14:imgEffect>
                      <a14:artisticChalkSketch/>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92000" cy="4943061"/>
          </a:xfrm>
          <a:prstGeom prst="rect">
            <a:avLst/>
          </a:prstGeom>
        </p:spPr>
      </p:pic>
      <p:grpSp>
        <p:nvGrpSpPr>
          <p:cNvPr id="8" name="Group 7"/>
          <p:cNvGrpSpPr/>
          <p:nvPr/>
        </p:nvGrpSpPr>
        <p:grpSpPr>
          <a:xfrm>
            <a:off x="2895600" y="5175028"/>
            <a:ext cx="6400800" cy="1200329"/>
            <a:chOff x="2895600" y="1960714"/>
            <a:chExt cx="6400800" cy="1200329"/>
          </a:xfrm>
        </p:grpSpPr>
        <p:sp>
          <p:nvSpPr>
            <p:cNvPr id="5" name="Rectangle 4"/>
            <p:cNvSpPr/>
            <p:nvPr/>
          </p:nvSpPr>
          <p:spPr>
            <a:xfrm>
              <a:off x="4457180" y="1960714"/>
              <a:ext cx="3283206" cy="1200329"/>
            </a:xfrm>
            <a:prstGeom prst="rect">
              <a:avLst/>
            </a:prstGeom>
          </p:spPr>
          <p:txBody>
            <a:bodyPr wrap="none">
              <a:spAutoFit/>
            </a:bodyPr>
            <a:lstStyle/>
            <a:p>
              <a:pPr algn="ctr"/>
              <a:r>
                <a:rPr lang="en-IN" sz="7200" dirty="0" smtClean="0">
                  <a:ln/>
                  <a:latin typeface="Leelawadee UI" panose="020B0502040204020203" pitchFamily="34" charset="-34"/>
                  <a:cs typeface="Leelawadee UI" panose="020B0502040204020203" pitchFamily="34" charset="-34"/>
                </a:rPr>
                <a:t>Tableau</a:t>
              </a:r>
              <a:endParaRPr lang="en-IN" sz="7200" dirty="0">
                <a:ln/>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17500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83304" y="5810440"/>
            <a:ext cx="2743200" cy="365125"/>
          </a:xfrm>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6" name="TextBox 5"/>
          <p:cNvSpPr txBox="1"/>
          <p:nvPr/>
        </p:nvSpPr>
        <p:spPr bwMode="gray">
          <a:xfrm>
            <a:off x="501061" y="1002804"/>
            <a:ext cx="8055470" cy="5181600"/>
          </a:xfrm>
          <a:prstGeom prst="rect">
            <a:avLst/>
          </a:prstGeom>
        </p:spPr>
        <p:txBody>
          <a:bodyPr vert="horz" wrap="square" lIns="91440" tIns="45720" rIns="91440" bIns="45720" rtlCol="0" anchor="ctr">
            <a:noAutofit/>
          </a:bodyPr>
          <a:lstStyle/>
          <a:p>
            <a:endParaRPr lang="en-IN" sz="2000" dirty="0">
              <a:solidFill>
                <a:prstClr val="black"/>
              </a:solidFill>
            </a:endParaRPr>
          </a:p>
        </p:txBody>
      </p:sp>
      <p:graphicFrame>
        <p:nvGraphicFramePr>
          <p:cNvPr id="8" name="Diagram 7"/>
          <p:cNvGraphicFramePr/>
          <p:nvPr>
            <p:extLst>
              <p:ext uri="{D42A27DB-BD31-4B8C-83A1-F6EECF244321}">
                <p14:modId xmlns:p14="http://schemas.microsoft.com/office/powerpoint/2010/main" val="468042938"/>
              </p:ext>
            </p:extLst>
          </p:nvPr>
        </p:nvGraphicFramePr>
        <p:xfrm>
          <a:off x="501061" y="1002804"/>
          <a:ext cx="1111318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Quick Overview</a:t>
            </a:r>
            <a:endParaRPr lang="en-IN" dirty="0"/>
          </a:p>
        </p:txBody>
      </p:sp>
    </p:spTree>
    <p:extLst>
      <p:ext uri="{BB962C8B-B14F-4D97-AF65-F5344CB8AC3E}">
        <p14:creationId xmlns:p14="http://schemas.microsoft.com/office/powerpoint/2010/main" val="21116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83304" y="5810440"/>
            <a:ext cx="2743200" cy="365125"/>
          </a:xfrm>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4" name="Text Placeholder 3"/>
          <p:cNvSpPr>
            <a:spLocks noGrp="1"/>
          </p:cNvSpPr>
          <p:nvPr>
            <p:ph type="body" sz="quarter" idx="13"/>
          </p:nvPr>
        </p:nvSpPr>
        <p:spPr>
          <a:xfrm>
            <a:off x="501061" y="671176"/>
            <a:ext cx="11295987" cy="5504389"/>
          </a:xfrm>
        </p:spPr>
        <p:txBody>
          <a:bodyPr>
            <a:normAutofit/>
          </a:bodyPr>
          <a:lstStyle/>
          <a:p>
            <a:pPr algn="ctr"/>
            <a:endParaRPr lang="en-IN" sz="3200" b="1" dirty="0">
              <a:solidFill>
                <a:schemeClr val="tx1"/>
              </a:solidFill>
            </a:endParaRPr>
          </a:p>
          <a:p>
            <a:r>
              <a:rPr lang="en-IN" sz="3200" b="1" dirty="0" smtClean="0">
                <a:solidFill>
                  <a:schemeClr val="tx1"/>
                </a:solidFill>
              </a:rPr>
              <a:t>What is Data Visualization?</a:t>
            </a:r>
          </a:p>
          <a:p>
            <a:endParaRPr lang="en-IN" sz="3200" dirty="0">
              <a:solidFill>
                <a:schemeClr val="tx1"/>
              </a:solidFill>
            </a:endParaRPr>
          </a:p>
          <a:p>
            <a:r>
              <a:rPr lang="en-IN" sz="2400" dirty="0" smtClean="0">
                <a:solidFill>
                  <a:schemeClr val="tx1"/>
                </a:solidFill>
              </a:rPr>
              <a:t>Help </a:t>
            </a:r>
            <a:r>
              <a:rPr lang="en-IN" sz="2400" dirty="0">
                <a:solidFill>
                  <a:schemeClr val="tx1"/>
                </a:solidFill>
              </a:rPr>
              <a:t>people understand the significance of data by placing it in a visual context. </a:t>
            </a:r>
            <a:endParaRPr lang="en-IN" sz="2400" dirty="0" smtClean="0">
              <a:solidFill>
                <a:schemeClr val="tx1"/>
              </a:solidFill>
            </a:endParaRPr>
          </a:p>
          <a:p>
            <a:endParaRPr lang="en-IN" sz="2400" dirty="0">
              <a:solidFill>
                <a:schemeClr val="tx1"/>
              </a:solidFill>
            </a:endParaRPr>
          </a:p>
          <a:p>
            <a:endParaRPr lang="en-IN" sz="2400" dirty="0" smtClean="0">
              <a:solidFill>
                <a:schemeClr val="tx1"/>
              </a:solidFill>
            </a:endParaRPr>
          </a:p>
          <a:p>
            <a:endParaRPr lang="en-IN" b="1" dirty="0" smtClean="0">
              <a:solidFill>
                <a:schemeClr val="tx1"/>
              </a:solidFill>
            </a:endParaRPr>
          </a:p>
        </p:txBody>
      </p:sp>
      <p:sp>
        <p:nvSpPr>
          <p:cNvPr id="6" name="TextBox 5"/>
          <p:cNvSpPr txBox="1"/>
          <p:nvPr/>
        </p:nvSpPr>
        <p:spPr bwMode="gray">
          <a:xfrm>
            <a:off x="501061" y="1002804"/>
            <a:ext cx="8055470" cy="5181600"/>
          </a:xfrm>
          <a:prstGeom prst="rect">
            <a:avLst/>
          </a:prstGeom>
        </p:spPr>
        <p:txBody>
          <a:bodyPr vert="horz" wrap="square" lIns="91440" tIns="45720" rIns="91440" bIns="45720" rtlCol="0" anchor="ctr">
            <a:noAutofit/>
          </a:bodyPr>
          <a:lstStyle/>
          <a:p>
            <a:endParaRPr lang="en-IN" sz="2000" dirty="0">
              <a:solidFill>
                <a:prstClr val="black"/>
              </a:solidFill>
            </a:endParaRPr>
          </a:p>
        </p:txBody>
      </p:sp>
      <p:sp>
        <p:nvSpPr>
          <p:cNvPr id="7" name="Text Placeholder 2"/>
          <p:cNvSpPr txBox="1">
            <a:spLocks/>
          </p:cNvSpPr>
          <p:nvPr/>
        </p:nvSpPr>
        <p:spPr>
          <a:xfrm>
            <a:off x="2487283" y="32763"/>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Introduction to Tableau</a:t>
            </a:r>
            <a:endParaRPr lang="en-IN" dirty="0"/>
          </a:p>
        </p:txBody>
      </p:sp>
    </p:spTree>
    <p:extLst>
      <p:ext uri="{BB962C8B-B14F-4D97-AF65-F5344CB8AC3E}">
        <p14:creationId xmlns:p14="http://schemas.microsoft.com/office/powerpoint/2010/main" val="26975714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graphicFrame>
        <p:nvGraphicFramePr>
          <p:cNvPr id="9" name="Table 8"/>
          <p:cNvGraphicFramePr>
            <a:graphicFrameLocks noGrp="1"/>
          </p:cNvGraphicFramePr>
          <p:nvPr>
            <p:extLst/>
          </p:nvPr>
        </p:nvGraphicFramePr>
        <p:xfrm>
          <a:off x="395785" y="1798829"/>
          <a:ext cx="3826592" cy="4286126"/>
        </p:xfrm>
        <a:graphic>
          <a:graphicData uri="http://schemas.openxmlformats.org/drawingml/2006/table">
            <a:tbl>
              <a:tblPr/>
              <a:tblGrid>
                <a:gridCol w="758665"/>
                <a:gridCol w="553348"/>
                <a:gridCol w="505892"/>
                <a:gridCol w="491012"/>
                <a:gridCol w="491012"/>
                <a:gridCol w="488462"/>
                <a:gridCol w="538201"/>
              </a:tblGrid>
              <a:tr h="312482">
                <a:tc>
                  <a:txBody>
                    <a:bodyPr/>
                    <a:lstStyle/>
                    <a:p>
                      <a:pPr algn="ctr"/>
                      <a:r>
                        <a:rPr lang="en-GB" sz="1100" b="1" i="0" dirty="0" smtClean="0"/>
                        <a:t>2015</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gridSpan="2">
                  <a:txBody>
                    <a:bodyPr/>
                    <a:lstStyle/>
                    <a:p>
                      <a:pPr algn="ctr"/>
                      <a:r>
                        <a:rPr lang="en-GB" sz="1100" b="1" i="0" dirty="0" smtClean="0"/>
                        <a:t>Delhi</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hMerge="1">
                  <a:txBody>
                    <a:bodyPr/>
                    <a:lstStyle/>
                    <a:p>
                      <a:pPr algn="r"/>
                      <a:endParaRPr lang="en-GB" sz="1000" b="1" i="0" dirty="0"/>
                    </a:p>
                  </a:txBody>
                  <a:tcPr marL="50173" marR="50173" marT="25086" marB="25086"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gridSpan="2">
                  <a:txBody>
                    <a:bodyPr/>
                    <a:lstStyle/>
                    <a:p>
                      <a:pPr algn="ctr"/>
                      <a:r>
                        <a:rPr lang="en-GB" sz="1100" b="1" i="0" dirty="0" smtClean="0"/>
                        <a:t>Mumbai</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hMerge="1">
                  <a:txBody>
                    <a:bodyPr/>
                    <a:lstStyle/>
                    <a:p>
                      <a:pPr algn="r"/>
                      <a:endParaRPr lang="en-GB" sz="1000" b="1" i="0" dirty="0"/>
                    </a:p>
                  </a:txBody>
                  <a:tcPr marL="50173" marR="50173" marT="25086" marB="25086" anchor="ctr">
                    <a:lnL>
                      <a:noFill/>
                    </a:lnL>
                    <a:lnR>
                      <a:noFill/>
                    </a:lnR>
                    <a:lnB w="9525" cap="flat" cmpd="sng" algn="ctr">
                      <a:solidFill>
                        <a:srgbClr val="DDDDDD"/>
                      </a:solidFill>
                      <a:prstDash val="solid"/>
                      <a:round/>
                      <a:headEnd type="none" w="med" len="med"/>
                      <a:tailEnd type="none" w="med" len="med"/>
                    </a:lnB>
                    <a:solidFill>
                      <a:srgbClr val="EEEEEE"/>
                    </a:solidFill>
                  </a:tcPr>
                </a:tc>
                <a:tc gridSpan="2">
                  <a:txBody>
                    <a:bodyPr/>
                    <a:lstStyle/>
                    <a:p>
                      <a:pPr algn="ctr"/>
                      <a:r>
                        <a:rPr lang="en-GB" sz="1100" b="1" i="0" dirty="0" smtClean="0"/>
                        <a:t>Bangalore</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hMerge="1">
                  <a:txBody>
                    <a:bodyPr/>
                    <a:lstStyle/>
                    <a:p>
                      <a:pPr algn="ct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r>
              <a:tr h="312482">
                <a:tc>
                  <a:txBody>
                    <a:bodyPr/>
                    <a:lstStyle/>
                    <a:p>
                      <a:pPr algn="ctr"/>
                      <a:r>
                        <a:rPr lang="en-GB" sz="1050" b="1" i="0" dirty="0"/>
                        <a:t>Month</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a:t>Price</a:t>
                      </a:r>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a:t>Sales</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a:t>Price</a:t>
                      </a:r>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a:t>Sales</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smtClean="0"/>
                        <a:t>Price</a:t>
                      </a:r>
                      <a:endParaRPr lang="en-GB" sz="1050" b="1" i="0" dirty="0"/>
                    </a:p>
                  </a:txBody>
                  <a:tcPr marL="50173" marR="50173" marT="25086" marB="25086"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c>
                  <a:txBody>
                    <a:bodyPr/>
                    <a:lstStyle/>
                    <a:p>
                      <a:pPr algn="ctr"/>
                      <a:r>
                        <a:rPr lang="en-GB" sz="1050" b="1" i="0" dirty="0" smtClean="0"/>
                        <a:t>Sales</a:t>
                      </a:r>
                      <a:endParaRPr lang="en-GB" sz="1050" b="1" i="0" dirty="0"/>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EE"/>
                    </a:solidFill>
                  </a:tcPr>
                </a:tc>
              </a:tr>
              <a:tr h="262344">
                <a:tc>
                  <a:txBody>
                    <a:bodyPr/>
                    <a:lstStyle/>
                    <a:p>
                      <a:pPr algn="ctr"/>
                      <a:r>
                        <a:rPr lang="en-GB" sz="1100" dirty="0"/>
                        <a:t>Jan</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10.0</a:t>
                      </a:r>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8.04</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6.58</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9.14</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dirty="0"/>
                        <a:t>Feb</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6.95</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5.76</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8</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8.14</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312482">
                <a:tc>
                  <a:txBody>
                    <a:bodyPr/>
                    <a:lstStyle/>
                    <a:p>
                      <a:pPr algn="ctr"/>
                      <a:r>
                        <a:rPr lang="en-GB" sz="1100" dirty="0"/>
                        <a:t>Mar</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13.0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7.58</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7.71</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13</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8.74</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dirty="0"/>
                        <a:t>Apr</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9.0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8.81</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8.84</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9</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8.77</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a:t>May</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11.0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8.33</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8.47</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11</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9.26</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a:t>Jun</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14.0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9.96</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7.04</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14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8.1</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a:t>Jul</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6.0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7.24</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5.25</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6</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6.13</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312482">
                <a:tc>
                  <a:txBody>
                    <a:bodyPr/>
                    <a:lstStyle/>
                    <a:p>
                      <a:pPr algn="ctr"/>
                      <a:r>
                        <a:rPr lang="en-GB" sz="1100" dirty="0"/>
                        <a:t>Aug</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4.0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4.26</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19.0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smtClean="0"/>
                        <a:t>12.5</a:t>
                      </a:r>
                      <a:endParaRPr lang="en-GB" sz="1100" dirty="0"/>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4</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3.1</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312482">
                <a:tc>
                  <a:txBody>
                    <a:bodyPr/>
                    <a:lstStyle/>
                    <a:p>
                      <a:pPr algn="ctr"/>
                      <a:r>
                        <a:rPr lang="en-GB" sz="1100" dirty="0"/>
                        <a:t>Sep</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12.0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smtClean="0"/>
                        <a:t>10.8</a:t>
                      </a:r>
                      <a:endParaRPr lang="en-GB" sz="1100" dirty="0"/>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5.56</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12</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9.13</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dirty="0"/>
                        <a:t>Oct</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7.0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4.82</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GB" sz="1100" dirty="0"/>
                        <a:t>7.91</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7</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7.26</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262344">
                <a:tc>
                  <a:txBody>
                    <a:bodyPr/>
                    <a:lstStyle/>
                    <a:p>
                      <a:pPr algn="ctr"/>
                      <a:r>
                        <a:rPr lang="en-GB" sz="1100" dirty="0"/>
                        <a:t>Nov</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t>5.0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dirty="0"/>
                        <a:t>5.68</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dirty="0"/>
                        <a:t>8.0</a:t>
                      </a:r>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dirty="0"/>
                        <a:t>6.89</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5</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kern="1200" dirty="0">
                          <a:solidFill>
                            <a:schemeClr val="tx1"/>
                          </a:solidFill>
                          <a:latin typeface="+mn-lt"/>
                          <a:ea typeface="+mn-ea"/>
                          <a:cs typeface="+mn-cs"/>
                        </a:rPr>
                        <a:t>4.74</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2482">
                <a:tc>
                  <a:txBody>
                    <a:bodyPr/>
                    <a:lstStyle/>
                    <a:p>
                      <a:pPr algn="ctr"/>
                      <a:r>
                        <a:rPr lang="en-GB" sz="1050" b="1" dirty="0"/>
                        <a:t>Average</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chemeClr val="bg1">
                        <a:lumMod val="85000"/>
                      </a:schemeClr>
                    </a:solidFill>
                  </a:tcPr>
                </a:tc>
                <a:tc>
                  <a:txBody>
                    <a:bodyPr/>
                    <a:lstStyle/>
                    <a:p>
                      <a:pPr algn="ctr"/>
                      <a:r>
                        <a:rPr lang="en-GB" sz="1100" b="1" i="0" dirty="0" smtClean="0"/>
                        <a:t>9</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ctr"/>
                      <a:r>
                        <a:rPr lang="en-GB" sz="1100" b="1" i="0" dirty="0"/>
                        <a:t>7.50</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ctr"/>
                      <a:r>
                        <a:rPr lang="en-GB" sz="1100" b="1" i="0" dirty="0" smtClean="0"/>
                        <a:t>9</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ctr"/>
                      <a:r>
                        <a:rPr lang="en-GB" sz="1100" b="1" i="0" dirty="0"/>
                        <a:t>7.50</a:t>
                      </a:r>
                    </a:p>
                  </a:txBody>
                  <a:tcPr marL="50173" marR="50173" marT="25086" marB="2508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ctr" rtl="0" fontAlgn="ctr"/>
                      <a:r>
                        <a:rPr lang="en-IN" sz="1100" b="1" kern="1200" dirty="0" smtClean="0">
                          <a:solidFill>
                            <a:schemeClr val="tx1"/>
                          </a:solidFill>
                          <a:latin typeface="+mn-lt"/>
                          <a:ea typeface="+mn-ea"/>
                          <a:cs typeface="+mn-cs"/>
                        </a:rPr>
                        <a:t>9</a:t>
                      </a:r>
                      <a:endParaRPr lang="en-IN" sz="1100" b="1" kern="1200" dirty="0">
                        <a:solidFill>
                          <a:schemeClr val="tx1"/>
                        </a:solidFill>
                        <a:latin typeface="+mn-lt"/>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ctr" rtl="0" fontAlgn="ctr"/>
                      <a:r>
                        <a:rPr lang="en-IN" sz="1100" b="1" kern="1200" dirty="0">
                          <a:solidFill>
                            <a:schemeClr val="tx1"/>
                          </a:solidFill>
                          <a:latin typeface="+mn-lt"/>
                          <a:ea typeface="+mn-ea"/>
                          <a:cs typeface="+mn-cs"/>
                        </a:rPr>
                        <a:t>7.5</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r>
              <a:tr h="312482">
                <a:tc>
                  <a:txBody>
                    <a:bodyPr/>
                    <a:lstStyle/>
                    <a:p>
                      <a:pPr algn="ctr"/>
                      <a:r>
                        <a:rPr lang="en-GB" sz="1050" b="1" dirty="0"/>
                        <a:t>Variance</a:t>
                      </a:r>
                    </a:p>
                  </a:txBody>
                  <a:tcPr marL="50173" marR="50173" marT="25086" marB="2508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GB" sz="1100" b="1" i="0" dirty="0" smtClean="0"/>
                        <a:t>10</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b="1" i="0" dirty="0"/>
                        <a:t>3.75</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b="1" i="0" dirty="0" smtClean="0"/>
                        <a:t>10</a:t>
                      </a:r>
                      <a:endParaRPr lang="en-GB" sz="1100" b="1" i="0" dirty="0"/>
                    </a:p>
                  </a:txBody>
                  <a:tcPr marL="50173" marR="50173" marT="25086" marB="25086"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b="1" i="0" dirty="0"/>
                        <a:t>3.75</a:t>
                      </a:r>
                    </a:p>
                  </a:txBody>
                  <a:tcPr marL="50173" marR="50173" marT="25086" marB="25086"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IN" sz="1100" b="1" kern="1200" dirty="0">
                          <a:solidFill>
                            <a:schemeClr val="tx1"/>
                          </a:solidFill>
                          <a:latin typeface="+mn-lt"/>
                          <a:ea typeface="+mn-ea"/>
                          <a:cs typeface="+mn-cs"/>
                        </a:rPr>
                        <a:t>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IN" sz="1100" b="1" kern="1200" dirty="0">
                          <a:solidFill>
                            <a:schemeClr val="tx1"/>
                          </a:solidFill>
                          <a:latin typeface="+mn-lt"/>
                          <a:ea typeface="+mn-ea"/>
                          <a:cs typeface="+mn-cs"/>
                        </a:rPr>
                        <a:t>3.75</a:t>
                      </a:r>
                    </a:p>
                  </a:txBody>
                  <a:tcPr marL="0" marR="0" marT="0" marB="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3" name="TextBox 12"/>
          <p:cNvSpPr txBox="1"/>
          <p:nvPr/>
        </p:nvSpPr>
        <p:spPr>
          <a:xfrm>
            <a:off x="626075" y="6299556"/>
            <a:ext cx="4217821" cy="307777"/>
          </a:xfrm>
          <a:prstGeom prst="rect">
            <a:avLst/>
          </a:prstGeom>
          <a:noFill/>
        </p:spPr>
        <p:txBody>
          <a:bodyPr wrap="none" rtlCol="0">
            <a:spAutoFit/>
          </a:bodyPr>
          <a:lstStyle/>
          <a:p>
            <a:r>
              <a:rPr lang="en-GB" sz="1400" b="1" dirty="0" smtClean="0">
                <a:solidFill>
                  <a:prstClr val="black"/>
                </a:solidFill>
              </a:rPr>
              <a:t>Note</a:t>
            </a:r>
            <a:r>
              <a:rPr lang="en-GB" sz="1400" dirty="0" smtClean="0">
                <a:solidFill>
                  <a:prstClr val="black"/>
                </a:solidFill>
              </a:rPr>
              <a:t> : Average price  &amp; Variance  is the same.</a:t>
            </a:r>
            <a:endParaRPr lang="en-GB" sz="1400" dirty="0">
              <a:solidFill>
                <a:prstClr val="black"/>
              </a:solidFill>
            </a:endParaRPr>
          </a:p>
        </p:txBody>
      </p:sp>
      <p:graphicFrame>
        <p:nvGraphicFramePr>
          <p:cNvPr id="14" name="Chart 13"/>
          <p:cNvGraphicFramePr/>
          <p:nvPr/>
        </p:nvGraphicFramePr>
        <p:xfrm>
          <a:off x="4354876" y="3889612"/>
          <a:ext cx="2673721" cy="24702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p:cNvGraphicFramePr/>
          <p:nvPr/>
        </p:nvGraphicFramePr>
        <p:xfrm>
          <a:off x="6943607" y="3849704"/>
          <a:ext cx="2541586" cy="25238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bwMode="gray">
          <a:xfrm>
            <a:off x="4926843" y="1841160"/>
            <a:ext cx="6677970" cy="1679962"/>
          </a:xfrm>
          <a:prstGeom prst="rect">
            <a:avLst/>
          </a:prstGeom>
        </p:spPr>
        <p:style>
          <a:lnRef idx="2">
            <a:schemeClr val="dk1"/>
          </a:lnRef>
          <a:fillRef idx="1">
            <a:schemeClr val="lt1"/>
          </a:fillRef>
          <a:effectRef idx="0">
            <a:schemeClr val="dk1"/>
          </a:effectRef>
          <a:fontRef idx="minor">
            <a:schemeClr val="dk1"/>
          </a:fontRef>
        </p:style>
        <p:txBody>
          <a:bodyPr vert="horz" wrap="square" lIns="91440" tIns="45720" rIns="91440" bIns="45720" rtlCol="0" anchor="ctr">
            <a:noAutofit/>
          </a:bodyPr>
          <a:lstStyle/>
          <a:p>
            <a:pPr marL="342900" indent="-260350"/>
            <a:r>
              <a:rPr lang="en-US" sz="1400" dirty="0" smtClean="0">
                <a:solidFill>
                  <a:prstClr val="black"/>
                </a:solidFill>
                <a:latin typeface="Leelawadee UI" panose="020B0502040204020203" pitchFamily="34" charset="-34"/>
                <a:cs typeface="Leelawadee UI" panose="020B0502040204020203" pitchFamily="34" charset="-34"/>
              </a:rPr>
              <a:t>Visualization  helps to:</a:t>
            </a:r>
          </a:p>
          <a:p>
            <a:pPr marL="342900" indent="-260350"/>
            <a:endParaRPr lang="en-US" sz="1400" dirty="0" smtClean="0">
              <a:solidFill>
                <a:prstClr val="black"/>
              </a:solidFill>
              <a:latin typeface="Leelawadee UI" panose="020B0502040204020203" pitchFamily="34" charset="-34"/>
              <a:cs typeface="Leelawadee UI" panose="020B0502040204020203" pitchFamily="34" charset="-34"/>
            </a:endParaRPr>
          </a:p>
          <a:p>
            <a:pPr marL="263525" indent="-180975">
              <a:buFont typeface="Arial" pitchFamily="34" charset="0"/>
              <a:buChar char="•"/>
            </a:pPr>
            <a:r>
              <a:rPr lang="en-US" sz="1400" dirty="0" smtClean="0">
                <a:solidFill>
                  <a:prstClr val="black"/>
                </a:solidFill>
                <a:latin typeface="Leelawadee UI" panose="020B0502040204020203" pitchFamily="34" charset="-34"/>
                <a:cs typeface="Leelawadee UI" panose="020B0502040204020203" pitchFamily="34" charset="-34"/>
              </a:rPr>
              <a:t>Analyze      :  Visual Comprehension is much faster than reading </a:t>
            </a:r>
          </a:p>
          <a:p>
            <a:pPr marL="263525" indent="-180975">
              <a:buFont typeface="Arial" pitchFamily="34" charset="0"/>
              <a:buChar char="•"/>
            </a:pPr>
            <a:r>
              <a:rPr lang="en-US" sz="1400" dirty="0" smtClean="0">
                <a:solidFill>
                  <a:prstClr val="black"/>
                </a:solidFill>
                <a:latin typeface="Leelawadee UI" panose="020B0502040204020203" pitchFamily="34" charset="-34"/>
                <a:cs typeface="Leelawadee UI" panose="020B0502040204020203" pitchFamily="34" charset="-34"/>
              </a:rPr>
              <a:t>Discover     :   Interactive visualizations lead to information discovery</a:t>
            </a:r>
          </a:p>
          <a:p>
            <a:pPr marL="263525" indent="-180975">
              <a:buFont typeface="Arial" pitchFamily="34" charset="0"/>
              <a:buChar char="•"/>
            </a:pPr>
            <a:r>
              <a:rPr lang="en-US" sz="1400" dirty="0" smtClean="0">
                <a:solidFill>
                  <a:prstClr val="black"/>
                </a:solidFill>
                <a:latin typeface="Leelawadee UI" panose="020B0502040204020203" pitchFamily="34" charset="-34"/>
                <a:cs typeface="Leelawadee UI" panose="020B0502040204020203" pitchFamily="34" charset="-34"/>
              </a:rPr>
              <a:t>Tell a Story  :  Great speaker use Visuals to make memorable story</a:t>
            </a:r>
          </a:p>
          <a:p>
            <a:pPr marL="342900" indent="-342900">
              <a:buFont typeface="Arial" pitchFamily="34" charset="0"/>
              <a:buChar char="•"/>
            </a:pPr>
            <a:endParaRPr lang="en-IN" sz="1200" dirty="0" smtClean="0">
              <a:solidFill>
                <a:prstClr val="black"/>
              </a:solidFill>
              <a:latin typeface="Leelawadee UI" panose="020B0502040204020203" pitchFamily="34" charset="-34"/>
              <a:cs typeface="Leelawadee UI" panose="020B0502040204020203" pitchFamily="34" charset="-34"/>
            </a:endParaRPr>
          </a:p>
        </p:txBody>
      </p:sp>
      <p:graphicFrame>
        <p:nvGraphicFramePr>
          <p:cNvPr id="18" name="Chart 17"/>
          <p:cNvGraphicFramePr/>
          <p:nvPr/>
        </p:nvGraphicFramePr>
        <p:xfrm>
          <a:off x="9473821" y="3831610"/>
          <a:ext cx="2536209" cy="2541895"/>
        </p:xfrm>
        <a:graphic>
          <a:graphicData uri="http://schemas.openxmlformats.org/drawingml/2006/chart">
            <c:chart xmlns:c="http://schemas.openxmlformats.org/drawingml/2006/chart" xmlns:r="http://schemas.openxmlformats.org/officeDocument/2006/relationships" r:id="rId4"/>
          </a:graphicData>
        </a:graphic>
      </p:graphicFrame>
      <p:grpSp>
        <p:nvGrpSpPr>
          <p:cNvPr id="28" name="Group 27"/>
          <p:cNvGrpSpPr/>
          <p:nvPr/>
        </p:nvGrpSpPr>
        <p:grpSpPr>
          <a:xfrm>
            <a:off x="1" y="187929"/>
            <a:ext cx="12192000" cy="1131320"/>
            <a:chOff x="1" y="155960"/>
            <a:chExt cx="12192000" cy="1131320"/>
          </a:xfrm>
        </p:grpSpPr>
        <p:sp>
          <p:nvSpPr>
            <p:cNvPr id="29" name="Rectangle 28"/>
            <p:cNvSpPr/>
            <p:nvPr/>
          </p:nvSpPr>
          <p:spPr>
            <a:xfrm>
              <a:off x="121675" y="596752"/>
              <a:ext cx="11948652" cy="584775"/>
            </a:xfrm>
            <a:prstGeom prst="rect">
              <a:avLst/>
            </a:prstGeom>
          </p:spPr>
          <p:txBody>
            <a:bodyPr wrap="square" anchor="t">
              <a:spAutoFit/>
            </a:bodyPr>
            <a:lstStyle/>
            <a:p>
              <a:pPr algn="ctr"/>
              <a:r>
                <a:rPr lang="en-IN" sz="1600" dirty="0">
                  <a:solidFill>
                    <a:prstClr val="black"/>
                  </a:solidFill>
                  <a:latin typeface="Leelawadee UI" panose="020B0502040204020203" pitchFamily="34" charset="-34"/>
                  <a:cs typeface="Leelawadee UI" panose="020B0502040204020203" pitchFamily="34" charset="-34"/>
                </a:rPr>
                <a:t>Visualization is any technique of creating images, diagrams, or animations to communicate a message and it has been an effective way to communicate both abstract and concrete ideas</a:t>
              </a:r>
              <a:r>
                <a:rPr lang="en-IN" sz="1600" dirty="0" smtClean="0">
                  <a:solidFill>
                    <a:prstClr val="black"/>
                  </a:solidFill>
                  <a:latin typeface="Leelawadee UI" panose="020B0502040204020203" pitchFamily="34" charset="-34"/>
                  <a:cs typeface="Leelawadee UI" panose="020B0502040204020203" pitchFamily="34" charset="-34"/>
                </a:rPr>
                <a:t>.</a:t>
              </a:r>
              <a:endParaRPr lang="en-IN" sz="1600" dirty="0">
                <a:solidFill>
                  <a:prstClr val="black"/>
                </a:solidFill>
                <a:latin typeface="Leelawadee UI" panose="020B0502040204020203" pitchFamily="34" charset="-34"/>
                <a:cs typeface="Leelawadee UI" panose="020B0502040204020203" pitchFamily="34" charset="-34"/>
              </a:endParaRPr>
            </a:p>
          </p:txBody>
        </p:sp>
        <p:sp>
          <p:nvSpPr>
            <p:cNvPr id="30" name="Rectangle 29"/>
            <p:cNvSpPr/>
            <p:nvPr/>
          </p:nvSpPr>
          <p:spPr>
            <a:xfrm>
              <a:off x="4843896" y="216207"/>
              <a:ext cx="2504212" cy="461665"/>
            </a:xfrm>
            <a:prstGeom prst="rect">
              <a:avLst/>
            </a:prstGeom>
          </p:spPr>
          <p:txBody>
            <a:bodyPr wrap="none" anchor="t">
              <a:spAutoFit/>
            </a:bodyPr>
            <a:lstStyle/>
            <a:p>
              <a:pPr algn="ctr"/>
              <a:r>
                <a:rPr lang="en-US" sz="2400" b="1" dirty="0" smtClean="0">
                  <a:solidFill>
                    <a:srgbClr val="0070C0"/>
                  </a:solidFill>
                  <a:latin typeface="Leelawadee UI" panose="020B0502040204020203" pitchFamily="34" charset="-34"/>
                  <a:cs typeface="Leelawadee UI" panose="020B0502040204020203" pitchFamily="34" charset="-34"/>
                </a:rPr>
                <a:t>Why Visualize ?</a:t>
              </a:r>
              <a:r>
                <a:rPr lang="en-IN" sz="2400" b="1" dirty="0" smtClean="0">
                  <a:solidFill>
                    <a:srgbClr val="0070C0"/>
                  </a:solidFill>
                  <a:latin typeface="Leelawadee UI" panose="020B0502040204020203" pitchFamily="34" charset="-34"/>
                  <a:cs typeface="Leelawadee UI" panose="020B0502040204020203" pitchFamily="34" charset="-34"/>
                </a:rPr>
                <a:t> </a:t>
              </a:r>
              <a:endParaRPr lang="en-IN" sz="2400" b="1" dirty="0">
                <a:solidFill>
                  <a:srgbClr val="0070C0"/>
                </a:solidFill>
                <a:latin typeface="Leelawadee UI" panose="020B0502040204020203" pitchFamily="34" charset="-34"/>
                <a:cs typeface="Leelawadee UI" panose="020B0502040204020203" pitchFamily="34" charset="-34"/>
              </a:endParaRPr>
            </a:p>
          </p:txBody>
        </p:sp>
        <p:grpSp>
          <p:nvGrpSpPr>
            <p:cNvPr id="31" name="Group 30"/>
            <p:cNvGrpSpPr/>
            <p:nvPr/>
          </p:nvGrpSpPr>
          <p:grpSpPr>
            <a:xfrm>
              <a:off x="1" y="155960"/>
              <a:ext cx="12192000" cy="1131320"/>
              <a:chOff x="2424113" y="242463"/>
              <a:chExt cx="7343775" cy="1189679"/>
            </a:xfrm>
          </p:grpSpPr>
          <p:cxnSp>
            <p:nvCxnSpPr>
              <p:cNvPr id="32" name="Straight Connector 31"/>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5214360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252284" y="6437924"/>
            <a:ext cx="2743200" cy="365125"/>
          </a:xfrm>
        </p:spPr>
        <p:txBody>
          <a:bodyPr/>
          <a:lstStyle/>
          <a:p>
            <a:fld id="{D57F1E4F-1CFF-5643-939E-217C01CDF565}" type="slidenum">
              <a:rPr lang="en-US" smtClean="0">
                <a:solidFill>
                  <a:prstClr val="black">
                    <a:tint val="75000"/>
                  </a:prstClr>
                </a:solidFill>
              </a:rPr>
              <a:pPr/>
              <a:t>5</a:t>
            </a:fld>
            <a:endParaRPr lang="en-US" dirty="0">
              <a:solidFill>
                <a:prstClr val="black">
                  <a:tint val="75000"/>
                </a:prstClr>
              </a:solidFill>
            </a:endParaRPr>
          </a:p>
        </p:txBody>
      </p:sp>
      <p:graphicFrame>
        <p:nvGraphicFramePr>
          <p:cNvPr id="19" name="Table 18"/>
          <p:cNvGraphicFramePr>
            <a:graphicFrameLocks noGrp="1"/>
          </p:cNvGraphicFramePr>
          <p:nvPr>
            <p:extLst/>
          </p:nvPr>
        </p:nvGraphicFramePr>
        <p:xfrm>
          <a:off x="586741" y="1519703"/>
          <a:ext cx="11059158" cy="4646991"/>
        </p:xfrm>
        <a:graphic>
          <a:graphicData uri="http://schemas.openxmlformats.org/drawingml/2006/table">
            <a:tbl>
              <a:tblPr firstRow="1" bandRow="1">
                <a:tableStyleId>{00A15C55-8517-42AA-B614-E9B94910E393}</a:tableStyleId>
              </a:tblPr>
              <a:tblGrid>
                <a:gridCol w="1175017"/>
                <a:gridCol w="1998667"/>
                <a:gridCol w="1380086"/>
                <a:gridCol w="1658985"/>
                <a:gridCol w="1451087"/>
                <a:gridCol w="1682071"/>
                <a:gridCol w="1713245"/>
              </a:tblGrid>
              <a:tr h="319964">
                <a:tc gridSpan="2">
                  <a:txBody>
                    <a:bodyPr/>
                    <a:lstStyle/>
                    <a:p>
                      <a:pPr algn="ctr"/>
                      <a:r>
                        <a:rPr lang="en-US" sz="1200" i="0" dirty="0" smtClean="0">
                          <a:solidFill>
                            <a:schemeClr val="tx1"/>
                          </a:solidFill>
                          <a:latin typeface="Leelawadee UI" panose="020B0502040204020203" pitchFamily="34" charset="-34"/>
                          <a:cs typeface="Leelawadee UI" panose="020B0502040204020203" pitchFamily="34" charset="-34"/>
                        </a:rPr>
                        <a:t>  Review  </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19050"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400" dirty="0"/>
                    </a:p>
                  </a:txBody>
                  <a:tcPr>
                    <a:lnB w="12700" cap="flat" cmpd="sng" algn="ctr">
                      <a:solidFill>
                        <a:schemeClr val="tx1"/>
                      </a:solidFill>
                      <a:prstDash val="solid"/>
                      <a:round/>
                      <a:headEnd type="none" w="med" len="med"/>
                      <a:tailEnd type="none" w="med" len="med"/>
                    </a:lnB>
                  </a:tcPr>
                </a:tc>
                <a:tc>
                  <a:txBody>
                    <a:bodyPr/>
                    <a:lstStyle/>
                    <a:p>
                      <a:pPr algn="ctr"/>
                      <a:r>
                        <a:rPr lang="en-US" sz="1200" i="0" dirty="0" smtClean="0">
                          <a:solidFill>
                            <a:schemeClr val="tx1"/>
                          </a:solidFill>
                          <a:latin typeface="Leelawadee UI" panose="020B0502040204020203" pitchFamily="34" charset="-34"/>
                          <a:cs typeface="Leelawadee UI" panose="020B0502040204020203" pitchFamily="34" charset="-34"/>
                        </a:rPr>
                        <a:t>Tableau</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solidFill>
                            <a:schemeClr val="tx1"/>
                          </a:solidFill>
                          <a:latin typeface="Leelawadee UI" panose="020B0502040204020203" pitchFamily="34" charset="-34"/>
                          <a:cs typeface="Leelawadee UI" panose="020B0502040204020203" pitchFamily="34" charset="-34"/>
                        </a:rPr>
                        <a:t>  </a:t>
                      </a:r>
                      <a:r>
                        <a:rPr lang="en-US" sz="1200" i="0" dirty="0" err="1" smtClean="0">
                          <a:solidFill>
                            <a:schemeClr val="tx1"/>
                          </a:solidFill>
                          <a:latin typeface="Leelawadee UI" panose="020B0502040204020203" pitchFamily="34" charset="-34"/>
                          <a:cs typeface="Leelawadee UI" panose="020B0502040204020203" pitchFamily="34" charset="-34"/>
                        </a:rPr>
                        <a:t>Qlikview</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err="1" smtClean="0">
                          <a:solidFill>
                            <a:schemeClr val="tx1"/>
                          </a:solidFill>
                          <a:latin typeface="Leelawadee UI" panose="020B0502040204020203" pitchFamily="34" charset="-34"/>
                          <a:cs typeface="Leelawadee UI" panose="020B0502040204020203" pitchFamily="34" charset="-34"/>
                        </a:rPr>
                        <a:t>Microstrategy</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solidFill>
                            <a:schemeClr val="tx1"/>
                          </a:solidFill>
                          <a:latin typeface="Leelawadee UI" panose="020B0502040204020203" pitchFamily="34" charset="-34"/>
                          <a:cs typeface="Leelawadee UI" panose="020B0502040204020203" pitchFamily="34" charset="-34"/>
                        </a:rPr>
                        <a:t> Oracle</a:t>
                      </a:r>
                      <a:r>
                        <a:rPr lang="en-US" sz="1200" i="0" baseline="0" dirty="0" smtClean="0">
                          <a:solidFill>
                            <a:schemeClr val="tx1"/>
                          </a:solidFill>
                          <a:latin typeface="Leelawadee UI" panose="020B0502040204020203" pitchFamily="34" charset="-34"/>
                          <a:cs typeface="Leelawadee UI" panose="020B0502040204020203" pitchFamily="34" charset="-34"/>
                        </a:rPr>
                        <a:t> BI</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solidFill>
                            <a:schemeClr val="tx1"/>
                          </a:solidFill>
                          <a:latin typeface="Leelawadee UI" panose="020B0502040204020203" pitchFamily="34" charset="-34"/>
                          <a:cs typeface="Leelawadee UI" panose="020B0502040204020203" pitchFamily="34" charset="-34"/>
                        </a:rPr>
                        <a:t>SAP</a:t>
                      </a:r>
                      <a:r>
                        <a:rPr lang="en-US" sz="1200" i="0" baseline="0" dirty="0" smtClean="0">
                          <a:solidFill>
                            <a:schemeClr val="tx1"/>
                          </a:solidFill>
                          <a:latin typeface="Leelawadee UI" panose="020B0502040204020203" pitchFamily="34" charset="-34"/>
                          <a:cs typeface="Leelawadee UI" panose="020B0502040204020203" pitchFamily="34" charset="-34"/>
                        </a:rPr>
                        <a:t> BI</a:t>
                      </a:r>
                      <a:endParaRPr lang="en-US" sz="1200"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7967">
                <a:tc rowSpan="3">
                  <a:txBody>
                    <a:bodyPr/>
                    <a:lstStyle/>
                    <a:p>
                      <a:pPr algn="ctr"/>
                      <a:endParaRPr lang="en-US" sz="1200" b="1" i="0" dirty="0" smtClean="0">
                        <a:solidFill>
                          <a:schemeClr val="tx1"/>
                        </a:solidFill>
                        <a:latin typeface="Leelawadee UI" panose="020B0502040204020203" pitchFamily="34" charset="-34"/>
                        <a:cs typeface="Leelawadee UI" panose="020B0502040204020203" pitchFamily="34" charset="-34"/>
                      </a:endParaRPr>
                    </a:p>
                    <a:p>
                      <a:pPr algn="ctr"/>
                      <a:r>
                        <a:rPr lang="en-US" sz="1200" b="1" i="0" dirty="0" smtClean="0">
                          <a:solidFill>
                            <a:schemeClr val="tx1"/>
                          </a:solidFill>
                          <a:latin typeface="Leelawadee UI" panose="020B0502040204020203" pitchFamily="34" charset="-34"/>
                          <a:cs typeface="Leelawadee UI" panose="020B0502040204020203" pitchFamily="34" charset="-34"/>
                        </a:rPr>
                        <a:t>Business criteria</a:t>
                      </a:r>
                      <a:endParaRPr lang="en-US" sz="1200" b="1"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smtClean="0">
                          <a:latin typeface="Leelawadee UI" panose="020B0502040204020203" pitchFamily="34" charset="-34"/>
                          <a:cs typeface="Leelawadee UI" panose="020B0502040204020203" pitchFamily="34" charset="-34"/>
                        </a:rPr>
                        <a:t>Enterprise ready</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vMerge="1">
                  <a:txBody>
                    <a:bodyPr/>
                    <a:lstStyle/>
                    <a:p>
                      <a:pPr algn="ctr"/>
                      <a:endParaRPr lang="en-US" sz="1050" b="1" i="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dirty="0" smtClean="0">
                          <a:latin typeface="Leelawadee UI" panose="020B0502040204020203" pitchFamily="34" charset="-34"/>
                          <a:cs typeface="Leelawadee UI" panose="020B0502040204020203" pitchFamily="34" charset="-34"/>
                        </a:rPr>
                        <a:t>Usability</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vMerge="1">
                  <a:txBody>
                    <a:bodyPr/>
                    <a:lstStyle/>
                    <a:p>
                      <a:pPr algn="ctr"/>
                      <a:endParaRPr lang="en-US" sz="1050" b="1" i="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dirty="0" smtClean="0">
                          <a:latin typeface="Leelawadee UI" panose="020B0502040204020203" pitchFamily="34" charset="-34"/>
                          <a:cs typeface="Leelawadee UI" panose="020B0502040204020203" pitchFamily="34" charset="-34"/>
                        </a:rPr>
                        <a:t>Community</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i="0" dirty="0" smtClean="0">
                          <a:latin typeface="Leelawadee UI" panose="020B0502040204020203" pitchFamily="34" charset="-34"/>
                          <a:cs typeface="Leelawadee UI" panose="020B0502040204020203" pitchFamily="34" charset="-34"/>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i="0" dirty="0" smtClean="0">
                          <a:latin typeface="Leelawadee UI" panose="020B0502040204020203" pitchFamily="34" charset="-34"/>
                          <a:cs typeface="Leelawadee UI" panose="020B0502040204020203" pitchFamily="34" charset="-34"/>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i="0" dirty="0" smtClean="0">
                          <a:latin typeface="Leelawadee UI" panose="020B0502040204020203" pitchFamily="34" charset="-34"/>
                          <a:cs typeface="Leelawadee UI" panose="020B0502040204020203" pitchFamily="34" charset="-34"/>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rowSpan="3">
                  <a:txBody>
                    <a:bodyPr/>
                    <a:lstStyle/>
                    <a:p>
                      <a:pPr algn="ctr"/>
                      <a:r>
                        <a:rPr lang="en-US" sz="1200" b="1" i="0" dirty="0" smtClean="0">
                          <a:solidFill>
                            <a:schemeClr val="tx1"/>
                          </a:solidFill>
                          <a:latin typeface="Leelawadee UI" panose="020B0502040204020203" pitchFamily="34" charset="-34"/>
                          <a:cs typeface="Leelawadee UI" panose="020B0502040204020203" pitchFamily="34" charset="-34"/>
                        </a:rPr>
                        <a:t>Visualization criteria</a:t>
                      </a:r>
                      <a:endParaRPr lang="en-US" sz="1200" b="1"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smtClean="0">
                          <a:latin typeface="Leelawadee UI" panose="020B0502040204020203" pitchFamily="34" charset="-34"/>
                          <a:cs typeface="Leelawadee UI" panose="020B0502040204020203" pitchFamily="34" charset="-34"/>
                        </a:rPr>
                        <a:t>Data</a:t>
                      </a:r>
                      <a:r>
                        <a:rPr lang="en-US" sz="1200" b="1" i="0" baseline="0" dirty="0" smtClean="0">
                          <a:latin typeface="Leelawadee UI" panose="020B0502040204020203" pitchFamily="34" charset="-34"/>
                          <a:cs typeface="Leelawadee UI" panose="020B0502040204020203" pitchFamily="34" charset="-34"/>
                        </a:rPr>
                        <a:t> interactivity</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vMerge="1">
                  <a:txBody>
                    <a:bodyPr/>
                    <a:lstStyle/>
                    <a:p>
                      <a:pPr algn="ctr"/>
                      <a:endParaRPr lang="en-US" sz="1050" b="1" i="0" dirty="0">
                        <a:solidFill>
                          <a:schemeClr val="bg1"/>
                        </a:solidFill>
                      </a:endParaRPr>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dirty="0" smtClean="0">
                          <a:latin typeface="Leelawadee UI" panose="020B0502040204020203" pitchFamily="34" charset="-34"/>
                          <a:cs typeface="Leelawadee UI" panose="020B0502040204020203" pitchFamily="34" charset="-34"/>
                        </a:rPr>
                        <a:t>Visual drilldown</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vMerge="1">
                  <a:txBody>
                    <a:bodyPr/>
                    <a:lstStyle/>
                    <a:p>
                      <a:pPr algn="ctr"/>
                      <a:endParaRPr lang="en-US" sz="1050" b="1" i="0" dirty="0">
                        <a:solidFill>
                          <a:schemeClr val="bg1"/>
                        </a:solidFill>
                      </a:endParaRPr>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dirty="0" smtClean="0">
                          <a:latin typeface="Leelawadee UI" panose="020B0502040204020203" pitchFamily="34" charset="-34"/>
                          <a:cs typeface="Leelawadee UI" panose="020B0502040204020203" pitchFamily="34" charset="-34"/>
                        </a:rPr>
                        <a:t>Dashboard</a:t>
                      </a:r>
                      <a:r>
                        <a:rPr lang="en-US" sz="1200" b="1" i="0" baseline="0" dirty="0" smtClean="0">
                          <a:latin typeface="Leelawadee UI" panose="020B0502040204020203" pitchFamily="34" charset="-34"/>
                          <a:cs typeface="Leelawadee UI" panose="020B0502040204020203" pitchFamily="34" charset="-34"/>
                        </a:rPr>
                        <a:t> </a:t>
                      </a:r>
                      <a:r>
                        <a:rPr lang="en-US" sz="1200" b="1" i="0" dirty="0" smtClean="0">
                          <a:latin typeface="Leelawadee UI" panose="020B0502040204020203" pitchFamily="34" charset="-34"/>
                          <a:cs typeface="Leelawadee UI" panose="020B0502040204020203" pitchFamily="34" charset="-34"/>
                        </a:rPr>
                        <a:t>support</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2</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87967">
                <a:tc rowSpan="2">
                  <a:txBody>
                    <a:bodyPr/>
                    <a:lstStyle/>
                    <a:p>
                      <a:pPr algn="ctr"/>
                      <a:r>
                        <a:rPr lang="en-US" sz="1200" b="1" i="0" dirty="0" smtClean="0">
                          <a:solidFill>
                            <a:schemeClr val="tx1"/>
                          </a:solidFill>
                          <a:latin typeface="Leelawadee UI" panose="020B0502040204020203" pitchFamily="34" charset="-34"/>
                          <a:cs typeface="Leelawadee UI" panose="020B0502040204020203" pitchFamily="34" charset="-34"/>
                        </a:rPr>
                        <a:t>Technical  criteria</a:t>
                      </a:r>
                      <a:endParaRPr lang="en-US" sz="1200" b="1"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smtClean="0">
                          <a:latin typeface="Leelawadee UI" panose="020B0502040204020203" pitchFamily="34" charset="-34"/>
                          <a:cs typeface="Leelawadee UI" panose="020B0502040204020203" pitchFamily="34" charset="-34"/>
                        </a:rPr>
                        <a:t>Data</a:t>
                      </a:r>
                      <a:r>
                        <a:rPr lang="en-US" sz="1200" b="1" i="0" baseline="0" dirty="0" smtClean="0">
                          <a:latin typeface="Leelawadee UI" panose="020B0502040204020203" pitchFamily="34" charset="-34"/>
                          <a:cs typeface="Leelawadee UI" panose="020B0502040204020203" pitchFamily="34" charset="-34"/>
                        </a:rPr>
                        <a:t> </a:t>
                      </a:r>
                      <a:r>
                        <a:rPr lang="en-US" sz="1200" b="1" i="0" dirty="0" smtClean="0">
                          <a:latin typeface="Leelawadee UI" panose="020B0502040204020203" pitchFamily="34" charset="-34"/>
                          <a:cs typeface="Leelawadee UI" panose="020B0502040204020203" pitchFamily="34" charset="-34"/>
                        </a:rPr>
                        <a:t>integration</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noFill/>
                  </a:tcPr>
                </a:tc>
              </a:tr>
              <a:tr h="287967">
                <a:tc vMerge="1">
                  <a:txBody>
                    <a:bodyPr/>
                    <a:lstStyle/>
                    <a:p>
                      <a:pPr algn="ctr"/>
                      <a:endParaRPr lang="en-US" sz="1050" b="1" i="0" dirty="0">
                        <a:solidFill>
                          <a:schemeClr val="bg1"/>
                        </a:solidFill>
                      </a:endParaRPr>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1200" b="1" i="0" dirty="0" smtClean="0">
                          <a:latin typeface="Leelawadee UI" panose="020B0502040204020203" pitchFamily="34" charset="-34"/>
                          <a:cs typeface="Leelawadee UI" panose="020B0502040204020203" pitchFamily="34" charset="-34"/>
                        </a:rPr>
                        <a:t>Reporting</a:t>
                      </a:r>
                      <a:r>
                        <a:rPr lang="en-US" sz="1200" b="1" i="0" baseline="0" dirty="0" smtClean="0">
                          <a:latin typeface="Leelawadee UI" panose="020B0502040204020203" pitchFamily="34" charset="-34"/>
                          <a:cs typeface="Leelawadee UI" panose="020B0502040204020203" pitchFamily="34" charset="-34"/>
                        </a:rPr>
                        <a:t> capability</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3</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bg2">
                          <a:lumMod val="75000"/>
                        </a:schemeClr>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79945">
                <a:tc>
                  <a:txBody>
                    <a:bodyPr/>
                    <a:lstStyle/>
                    <a:p>
                      <a:pPr algn="ctr"/>
                      <a:r>
                        <a:rPr lang="en-US" sz="1200" b="1" i="0" dirty="0" smtClean="0">
                          <a:solidFill>
                            <a:schemeClr val="tx1"/>
                          </a:solidFill>
                          <a:latin typeface="Leelawadee UI" panose="020B0502040204020203" pitchFamily="34" charset="-34"/>
                          <a:cs typeface="Leelawadee UI" panose="020B0502040204020203" pitchFamily="34" charset="-34"/>
                        </a:rPr>
                        <a:t>Resources available</a:t>
                      </a:r>
                      <a:endParaRPr lang="en-US" sz="1200" b="1"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smtClean="0">
                          <a:latin typeface="Leelawadee UI" panose="020B0502040204020203" pitchFamily="34" charset="-34"/>
                          <a:cs typeface="Leelawadee UI" panose="020B0502040204020203" pitchFamily="34" charset="-34"/>
                        </a:rPr>
                        <a:t>Talent and Training</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4</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i="0" dirty="0" smtClean="0">
                          <a:latin typeface="Leelawadee UI" panose="020B0502040204020203" pitchFamily="34" charset="-34"/>
                          <a:cs typeface="Leelawadee UI" panose="020B0502040204020203" pitchFamily="34" charset="-34"/>
                        </a:rPr>
                        <a:t>5</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151869">
                <a:tc rowSpan="2">
                  <a:txBody>
                    <a:bodyPr/>
                    <a:lstStyle/>
                    <a:p>
                      <a:pPr algn="ctr"/>
                      <a:endParaRPr lang="en-US" sz="1200" b="1" i="0" dirty="0" smtClean="0">
                        <a:solidFill>
                          <a:schemeClr val="tx1"/>
                        </a:solidFill>
                        <a:latin typeface="Leelawadee UI" panose="020B0502040204020203" pitchFamily="34" charset="-34"/>
                        <a:cs typeface="Leelawadee UI" panose="020B0502040204020203" pitchFamily="34" charset="-34"/>
                      </a:endParaRPr>
                    </a:p>
                    <a:p>
                      <a:pPr algn="ctr"/>
                      <a:endParaRPr lang="en-US" sz="1200" b="1" i="0" dirty="0" smtClean="0">
                        <a:solidFill>
                          <a:schemeClr val="tx1"/>
                        </a:solidFill>
                        <a:latin typeface="Leelawadee UI" panose="020B0502040204020203" pitchFamily="34" charset="-34"/>
                        <a:cs typeface="Leelawadee UI" panose="020B0502040204020203" pitchFamily="34" charset="-34"/>
                      </a:endParaRPr>
                    </a:p>
                    <a:p>
                      <a:pPr algn="ctr"/>
                      <a:r>
                        <a:rPr lang="en-US" sz="1200" b="1" i="0" dirty="0" smtClean="0">
                          <a:solidFill>
                            <a:schemeClr val="tx1"/>
                          </a:solidFill>
                          <a:latin typeface="Leelawadee UI" panose="020B0502040204020203" pitchFamily="34" charset="-34"/>
                          <a:cs typeface="Leelawadee UI" panose="020B0502040204020203" pitchFamily="34" charset="-34"/>
                        </a:rPr>
                        <a:t>Analysts’ Review</a:t>
                      </a:r>
                      <a:endParaRPr lang="en-US" sz="1200" b="1" i="0" dirty="0">
                        <a:solidFill>
                          <a:schemeClr val="tx1"/>
                        </a:solidFill>
                        <a:latin typeface="Leelawadee UI" panose="020B0502040204020203" pitchFamily="34" charset="-34"/>
                        <a:cs typeface="Leelawadee UI" panose="020B0502040204020203" pitchFamily="34" charset="-34"/>
                      </a:endParaRPr>
                    </a:p>
                  </a:txBody>
                  <a:tcPr anchor="ct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baseline="0" dirty="0" smtClean="0">
                          <a:latin typeface="Leelawadee UI" panose="020B0502040204020203" pitchFamily="34" charset="-34"/>
                          <a:cs typeface="Leelawadee UI" panose="020B0502040204020203" pitchFamily="34" charset="-34"/>
                        </a:rPr>
                        <a:t> Pros and cons                      </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l"/>
                      <a:r>
                        <a:rPr lang="en-US" sz="1200" i="0" dirty="0" smtClean="0">
                          <a:latin typeface="Leelawadee UI" panose="020B0502040204020203" pitchFamily="34" charset="-34"/>
                          <a:cs typeface="Leelawadee UI" panose="020B0502040204020203" pitchFamily="34" charset="-34"/>
                        </a:rPr>
                        <a:t>Easy</a:t>
                      </a:r>
                      <a:r>
                        <a:rPr lang="en-US" sz="1200" i="0" baseline="0" dirty="0" smtClean="0">
                          <a:latin typeface="Leelawadee UI" panose="020B0502040204020203" pitchFamily="34" charset="-34"/>
                          <a:cs typeface="Leelawadee UI" panose="020B0502040204020203" pitchFamily="34" charset="-34"/>
                        </a:rPr>
                        <a:t> to learn and use with large community but performance is poor with large datasets</a:t>
                      </a:r>
                      <a:endParaRPr lang="en-US" sz="1200"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i="0" dirty="0" err="1" smtClean="0">
                          <a:latin typeface="Leelawadee UI" panose="020B0502040204020203" pitchFamily="34" charset="-34"/>
                          <a:cs typeface="Leelawadee UI" panose="020B0502040204020203" pitchFamily="34" charset="-34"/>
                        </a:rPr>
                        <a:t>Qlikview</a:t>
                      </a:r>
                      <a:r>
                        <a:rPr lang="en-US" sz="1200" i="0" baseline="0" dirty="0" smtClean="0">
                          <a:latin typeface="Leelawadee UI" panose="020B0502040204020203" pitchFamily="34" charset="-34"/>
                          <a:cs typeface="Leelawadee UI" panose="020B0502040204020203" pitchFamily="34" charset="-34"/>
                        </a:rPr>
                        <a:t> has the best advanced reporting capabilities but the support community is not as good as Tableau</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i="0" dirty="0" smtClean="0">
                          <a:latin typeface="Leelawadee UI" panose="020B0502040204020203" pitchFamily="34" charset="-34"/>
                          <a:cs typeface="Leelawadee UI" panose="020B0502040204020203" pitchFamily="34" charset="-34"/>
                        </a:rPr>
                        <a:t>Longest presence</a:t>
                      </a:r>
                      <a:r>
                        <a:rPr lang="en-US" sz="1200" i="0" baseline="0" dirty="0" smtClean="0">
                          <a:latin typeface="Leelawadee UI" panose="020B0502040204020203" pitchFamily="34" charset="-34"/>
                          <a:cs typeface="Leelawadee UI" panose="020B0502040204020203" pitchFamily="34" charset="-34"/>
                        </a:rPr>
                        <a:t> in the market but difficult to learn and implement</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i="0" dirty="0" smtClean="0">
                          <a:latin typeface="Leelawadee UI" panose="020B0502040204020203" pitchFamily="34" charset="-34"/>
                          <a:cs typeface="Leelawadee UI" panose="020B0502040204020203" pitchFamily="34" charset="-34"/>
                        </a:rPr>
                        <a:t>Rated at the bottom for nearly all customer user experience measures</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i="0" dirty="0" smtClean="0">
                          <a:latin typeface="Leelawadee UI" panose="020B0502040204020203" pitchFamily="34" charset="-34"/>
                          <a:cs typeface="Leelawadee UI" panose="020B0502040204020203" pitchFamily="34" charset="-34"/>
                        </a:rPr>
                        <a:t>Powerful</a:t>
                      </a:r>
                      <a:r>
                        <a:rPr lang="en-US" sz="1200" i="0" baseline="0" dirty="0" smtClean="0">
                          <a:latin typeface="Leelawadee UI" panose="020B0502040204020203" pitchFamily="34" charset="-34"/>
                          <a:cs typeface="Leelawadee UI" panose="020B0502040204020203" pitchFamily="34" charset="-34"/>
                        </a:rPr>
                        <a:t> parent company backing but visualization quality is not up to the mark</a:t>
                      </a:r>
                      <a:endParaRPr lang="en-US" sz="1200" i="0" dirty="0">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54626">
                <a:tc vMerge="1">
                  <a:txBody>
                    <a:bodyPr/>
                    <a:lstStyle/>
                    <a:p>
                      <a:pPr algn="ctr"/>
                      <a:endParaRPr lang="en-US" sz="1300" b="1" i="0" dirty="0">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i="0" dirty="0" smtClean="0">
                          <a:latin typeface="Leelawadee UI" panose="020B0502040204020203" pitchFamily="34" charset="-34"/>
                          <a:cs typeface="Leelawadee UI" panose="020B0502040204020203" pitchFamily="34" charset="-34"/>
                        </a:rPr>
                        <a:t>Final</a:t>
                      </a:r>
                      <a:r>
                        <a:rPr lang="en-US" sz="1200" b="1" i="0" baseline="0" dirty="0" smtClean="0">
                          <a:latin typeface="Leelawadee UI" panose="020B0502040204020203" pitchFamily="34" charset="-34"/>
                          <a:cs typeface="Leelawadee UI" panose="020B0502040204020203" pitchFamily="34" charset="-34"/>
                        </a:rPr>
                        <a:t> Review</a:t>
                      </a:r>
                      <a:endParaRPr lang="en-US" sz="1200" b="1" i="0" dirty="0">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b="0" i="0" dirty="0" smtClean="0">
                          <a:solidFill>
                            <a:schemeClr val="tx1"/>
                          </a:solidFill>
                          <a:latin typeface="Leelawadee UI" panose="020B0502040204020203" pitchFamily="34" charset="-34"/>
                          <a:cs typeface="Leelawadee UI" panose="020B0502040204020203" pitchFamily="34" charset="-34"/>
                        </a:rPr>
                        <a:t>Recommended</a:t>
                      </a:r>
                      <a:endParaRPr lang="en-US" sz="1200" b="0" i="0" dirty="0">
                        <a:solidFill>
                          <a:schemeClr val="tx1"/>
                        </a:solidFill>
                        <a:latin typeface="Leelawadee UI" panose="020B0502040204020203" pitchFamily="34" charset="-34"/>
                        <a:cs typeface="Leelawadee UI" panose="020B0502040204020203" pitchFamily="34" charset="-34"/>
                      </a:endParaRPr>
                    </a:p>
                  </a:txBody>
                  <a:tcPr anchor="ctr">
                    <a:lnL w="63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sz="1200" b="0" i="0" dirty="0" smtClean="0">
                          <a:solidFill>
                            <a:schemeClr val="tx1"/>
                          </a:solidFill>
                          <a:latin typeface="Leelawadee UI" panose="020B0502040204020203" pitchFamily="34" charset="-34"/>
                          <a:cs typeface="Leelawadee UI" panose="020B0502040204020203" pitchFamily="34" charset="-34"/>
                        </a:rPr>
                        <a:t>Recommended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tcPr>
                </a:tc>
                <a:tc>
                  <a:txBody>
                    <a:bodyPr/>
                    <a:lstStyle/>
                    <a:p>
                      <a:pPr algn="ctr"/>
                      <a:r>
                        <a:rPr lang="en-US" sz="1200" b="0" i="0" dirty="0" smtClean="0">
                          <a:solidFill>
                            <a:schemeClr val="tx1"/>
                          </a:solidFill>
                          <a:latin typeface="Leelawadee UI" panose="020B0502040204020203" pitchFamily="34" charset="-34"/>
                          <a:cs typeface="Leelawadee UI" panose="020B0502040204020203" pitchFamily="34" charset="-34"/>
                        </a:rPr>
                        <a:t>Recommended</a:t>
                      </a:r>
                      <a:endParaRPr lang="en-US" sz="1200" b="0" i="0" dirty="0">
                        <a:solidFill>
                          <a:schemeClr val="tx1"/>
                        </a:solidFill>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2700000" scaled="1"/>
                      <a:tileRect/>
                    </a:gradFill>
                  </a:tcPr>
                </a:tc>
                <a:tc>
                  <a:txBody>
                    <a:bodyPr/>
                    <a:lstStyle/>
                    <a:p>
                      <a:pPr algn="ctr"/>
                      <a:r>
                        <a:rPr lang="en-US" sz="1200" b="0" i="0" dirty="0" smtClean="0">
                          <a:solidFill>
                            <a:schemeClr val="tx1"/>
                          </a:solidFill>
                          <a:latin typeface="Leelawadee UI" panose="020B0502040204020203" pitchFamily="34" charset="-34"/>
                          <a:cs typeface="Leelawadee UI" panose="020B0502040204020203" pitchFamily="34" charset="-34"/>
                        </a:rPr>
                        <a:t>Not Recommended</a:t>
                      </a:r>
                      <a:endParaRPr lang="en-US" sz="1200" b="0" i="0" dirty="0">
                        <a:solidFill>
                          <a:schemeClr val="tx1"/>
                        </a:solidFill>
                        <a:latin typeface="Leelawadee UI" panose="020B0502040204020203" pitchFamily="34" charset="-34"/>
                        <a:cs typeface="Leelawadee UI" panose="020B0502040204020203" pitchFamily="34" charset="-34"/>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3">
                            <a:lumMod val="60000"/>
                            <a:lumOff val="40000"/>
                            <a:tint val="66000"/>
                            <a:satMod val="160000"/>
                          </a:schemeClr>
                        </a:gs>
                        <a:gs pos="50000">
                          <a:schemeClr val="accent3">
                            <a:lumMod val="60000"/>
                            <a:lumOff val="40000"/>
                            <a:tint val="44500"/>
                            <a:satMod val="160000"/>
                          </a:schemeClr>
                        </a:gs>
                        <a:gs pos="100000">
                          <a:schemeClr val="accent3">
                            <a:lumMod val="60000"/>
                            <a:lumOff val="40000"/>
                            <a:tint val="23500"/>
                            <a:satMod val="160000"/>
                          </a:schemeClr>
                        </a:gs>
                      </a:gsLst>
                      <a:path path="circle">
                        <a:fillToRect l="100000" t="100000"/>
                      </a:path>
                      <a:tileRect r="-100000" b="-100000"/>
                    </a:gradFill>
                  </a:tcPr>
                </a:tc>
                <a:tc>
                  <a:txBody>
                    <a:bodyPr/>
                    <a:lstStyle/>
                    <a:p>
                      <a:pPr algn="ctr"/>
                      <a:r>
                        <a:rPr lang="en-US" sz="1200" b="0" i="0" dirty="0" smtClean="0">
                          <a:solidFill>
                            <a:schemeClr val="tx1"/>
                          </a:solidFill>
                          <a:latin typeface="Leelawadee UI" panose="020B0502040204020203" pitchFamily="34" charset="-34"/>
                          <a:cs typeface="Leelawadee UI" panose="020B0502040204020203" pitchFamily="34" charset="-34"/>
                        </a:rPr>
                        <a:t>Not</a:t>
                      </a:r>
                      <a:r>
                        <a:rPr lang="en-US" sz="1200" b="0" i="0" baseline="0" dirty="0" smtClean="0">
                          <a:solidFill>
                            <a:schemeClr val="tx1"/>
                          </a:solidFill>
                          <a:latin typeface="Leelawadee UI" panose="020B0502040204020203" pitchFamily="34" charset="-34"/>
                          <a:cs typeface="Leelawadee UI" panose="020B0502040204020203" pitchFamily="34" charset="-34"/>
                        </a:rPr>
                        <a:t> </a:t>
                      </a:r>
                      <a:r>
                        <a:rPr lang="en-US" sz="1200" b="0" i="0" dirty="0" smtClean="0">
                          <a:solidFill>
                            <a:schemeClr val="tx1"/>
                          </a:solidFill>
                          <a:latin typeface="Leelawadee UI" panose="020B0502040204020203" pitchFamily="34" charset="-34"/>
                          <a:cs typeface="Leelawadee UI" panose="020B0502040204020203" pitchFamily="34" charset="-34"/>
                        </a:rPr>
                        <a:t>Recommended</a:t>
                      </a:r>
                    </a:p>
                  </a:txBody>
                  <a:tcPr anchor="ctr">
                    <a:lnL w="1270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gradFill flip="none" rotWithShape="1">
                      <a:gsLst>
                        <a:gs pos="0">
                          <a:schemeClr val="accent3">
                            <a:lumMod val="60000"/>
                            <a:lumOff val="40000"/>
                            <a:tint val="66000"/>
                            <a:satMod val="160000"/>
                          </a:schemeClr>
                        </a:gs>
                        <a:gs pos="50000">
                          <a:schemeClr val="accent3">
                            <a:lumMod val="60000"/>
                            <a:lumOff val="40000"/>
                            <a:tint val="44500"/>
                            <a:satMod val="160000"/>
                          </a:schemeClr>
                        </a:gs>
                        <a:gs pos="100000">
                          <a:schemeClr val="accent3">
                            <a:lumMod val="60000"/>
                            <a:lumOff val="40000"/>
                            <a:tint val="23500"/>
                            <a:satMod val="160000"/>
                          </a:schemeClr>
                        </a:gs>
                      </a:gsLst>
                      <a:path path="circle">
                        <a:fillToRect l="100000" t="100000"/>
                      </a:path>
                      <a:tileRect r="-100000" b="-100000"/>
                    </a:gradFill>
                  </a:tcPr>
                </a:tc>
              </a:tr>
            </a:tbl>
          </a:graphicData>
        </a:graphic>
      </p:graphicFrame>
      <p:graphicFrame>
        <p:nvGraphicFramePr>
          <p:cNvPr id="12" name="Table 11"/>
          <p:cNvGraphicFramePr>
            <a:graphicFrameLocks noGrp="1"/>
          </p:cNvGraphicFramePr>
          <p:nvPr>
            <p:extLst/>
          </p:nvPr>
        </p:nvGraphicFramePr>
        <p:xfrm>
          <a:off x="4743804" y="6437924"/>
          <a:ext cx="5880080" cy="298024"/>
        </p:xfrm>
        <a:graphic>
          <a:graphicData uri="http://schemas.openxmlformats.org/drawingml/2006/table">
            <a:tbl>
              <a:tblPr firstRow="1" bandRow="1">
                <a:tableStyleId>{8799B23B-EC83-4686-B30A-512413B5E67A}</a:tableStyleId>
              </a:tblPr>
              <a:tblGrid>
                <a:gridCol w="1176016"/>
                <a:gridCol w="1176016"/>
                <a:gridCol w="1176016"/>
                <a:gridCol w="1176016"/>
                <a:gridCol w="1176016"/>
              </a:tblGrid>
              <a:tr h="298024">
                <a:tc>
                  <a:txBody>
                    <a:bodyPr/>
                    <a:lstStyle/>
                    <a:p>
                      <a:pPr algn="ctr"/>
                      <a:r>
                        <a:rPr lang="en-US" sz="1000" dirty="0" smtClean="0">
                          <a:latin typeface="Leelawadee UI" panose="020B0502040204020203" pitchFamily="34" charset="-34"/>
                          <a:cs typeface="Leelawadee UI" panose="020B0502040204020203" pitchFamily="34" charset="-34"/>
                        </a:rPr>
                        <a:t>1:  Poor</a:t>
                      </a:r>
                      <a:endParaRPr lang="en-US" sz="1000" b="1" dirty="0">
                        <a:latin typeface="Leelawadee UI" panose="020B0502040204020203" pitchFamily="34" charset="-34"/>
                        <a:cs typeface="Leelawadee UI" panose="020B0502040204020203" pitchFamily="34" charset="-34"/>
                      </a:endParaRPr>
                    </a:p>
                  </a:txBody>
                  <a:tcPr/>
                </a:tc>
                <a:tc>
                  <a:txBody>
                    <a:bodyPr/>
                    <a:lstStyle/>
                    <a:p>
                      <a:pPr algn="ctr"/>
                      <a:r>
                        <a:rPr lang="en-US" sz="1000" dirty="0" smtClean="0">
                          <a:latin typeface="Leelawadee UI" panose="020B0502040204020203" pitchFamily="34" charset="-34"/>
                          <a:cs typeface="Leelawadee UI" panose="020B0502040204020203" pitchFamily="34" charset="-34"/>
                        </a:rPr>
                        <a:t>2 : Average</a:t>
                      </a:r>
                      <a:endParaRPr lang="en-US" sz="1000" b="1" dirty="0">
                        <a:latin typeface="Leelawadee UI" panose="020B0502040204020203" pitchFamily="34" charset="-34"/>
                        <a:cs typeface="Leelawadee UI" panose="020B0502040204020203" pitchFamily="34" charset="-34"/>
                      </a:endParaRPr>
                    </a:p>
                  </a:txBody>
                  <a:tcPr/>
                </a:tc>
                <a:tc>
                  <a:txBody>
                    <a:bodyPr/>
                    <a:lstStyle/>
                    <a:p>
                      <a:pPr algn="ctr"/>
                      <a:r>
                        <a:rPr lang="en-US" sz="1000" dirty="0" smtClean="0">
                          <a:latin typeface="Leelawadee UI" panose="020B0502040204020203" pitchFamily="34" charset="-34"/>
                          <a:cs typeface="Leelawadee UI" panose="020B0502040204020203" pitchFamily="34" charset="-34"/>
                        </a:rPr>
                        <a:t>3 : Satisfactory</a:t>
                      </a:r>
                      <a:endParaRPr lang="en-US" sz="1000" b="1" dirty="0">
                        <a:latin typeface="Leelawadee UI" panose="020B0502040204020203" pitchFamily="34" charset="-34"/>
                        <a:cs typeface="Leelawadee UI" panose="020B0502040204020203" pitchFamily="34" charset="-34"/>
                      </a:endParaRPr>
                    </a:p>
                  </a:txBody>
                  <a:tcPr/>
                </a:tc>
                <a:tc>
                  <a:txBody>
                    <a:bodyPr/>
                    <a:lstStyle/>
                    <a:p>
                      <a:pPr algn="ctr"/>
                      <a:r>
                        <a:rPr lang="en-US" sz="1000" dirty="0" smtClean="0">
                          <a:latin typeface="Leelawadee UI" panose="020B0502040204020203" pitchFamily="34" charset="-34"/>
                          <a:cs typeface="Leelawadee UI" panose="020B0502040204020203" pitchFamily="34" charset="-34"/>
                        </a:rPr>
                        <a:t>4 : Good</a:t>
                      </a:r>
                      <a:endParaRPr lang="en-US" sz="1000" b="1" dirty="0">
                        <a:latin typeface="Leelawadee UI" panose="020B0502040204020203" pitchFamily="34" charset="-34"/>
                        <a:cs typeface="Leelawadee UI" panose="020B0502040204020203" pitchFamily="34" charset="-34"/>
                      </a:endParaRPr>
                    </a:p>
                  </a:txBody>
                  <a:tcPr/>
                </a:tc>
                <a:tc>
                  <a:txBody>
                    <a:bodyPr/>
                    <a:lstStyle/>
                    <a:p>
                      <a:pPr algn="ctr"/>
                      <a:r>
                        <a:rPr lang="en-US" sz="1000" dirty="0" smtClean="0">
                          <a:latin typeface="Leelawadee UI" panose="020B0502040204020203" pitchFamily="34" charset="-34"/>
                          <a:cs typeface="Leelawadee UI" panose="020B0502040204020203" pitchFamily="34" charset="-34"/>
                        </a:rPr>
                        <a:t>5 : Very good</a:t>
                      </a:r>
                      <a:endParaRPr lang="en-US" sz="1000" b="1" dirty="0">
                        <a:latin typeface="Leelawadee UI" panose="020B0502040204020203" pitchFamily="34" charset="-34"/>
                        <a:cs typeface="Leelawadee UI" panose="020B0502040204020203" pitchFamily="34" charset="-34"/>
                      </a:endParaRPr>
                    </a:p>
                  </a:txBody>
                  <a:tcPr/>
                </a:tc>
              </a:tr>
            </a:tbl>
          </a:graphicData>
        </a:graphic>
      </p:graphicFrame>
      <p:grpSp>
        <p:nvGrpSpPr>
          <p:cNvPr id="8" name="Group 7"/>
          <p:cNvGrpSpPr/>
          <p:nvPr/>
        </p:nvGrpSpPr>
        <p:grpSpPr>
          <a:xfrm>
            <a:off x="1" y="187929"/>
            <a:ext cx="12192000" cy="1131320"/>
            <a:chOff x="1" y="155960"/>
            <a:chExt cx="12192000" cy="1131320"/>
          </a:xfrm>
        </p:grpSpPr>
        <p:sp>
          <p:nvSpPr>
            <p:cNvPr id="9" name="Rectangle 8"/>
            <p:cNvSpPr/>
            <p:nvPr/>
          </p:nvSpPr>
          <p:spPr>
            <a:xfrm>
              <a:off x="874059" y="639010"/>
              <a:ext cx="10717305" cy="369332"/>
            </a:xfrm>
            <a:prstGeom prst="rect">
              <a:avLst/>
            </a:prstGeom>
          </p:spPr>
          <p:txBody>
            <a:bodyPr wrap="square" anchor="t">
              <a:spAutoFit/>
            </a:bodyPr>
            <a:lstStyle/>
            <a:p>
              <a:endParaRPr lang="en-IN" dirty="0">
                <a:solidFill>
                  <a:prstClr val="black"/>
                </a:solidFill>
                <a:latin typeface="Leelawadee UI" panose="020B0502040204020203" pitchFamily="34" charset="-34"/>
                <a:cs typeface="Leelawadee UI" panose="020B0502040204020203" pitchFamily="34" charset="-34"/>
              </a:endParaRPr>
            </a:p>
          </p:txBody>
        </p:sp>
        <p:sp>
          <p:nvSpPr>
            <p:cNvPr id="10" name="Rectangle 9"/>
            <p:cNvSpPr/>
            <p:nvPr/>
          </p:nvSpPr>
          <p:spPr>
            <a:xfrm>
              <a:off x="3574961" y="216207"/>
              <a:ext cx="5042086" cy="461665"/>
            </a:xfrm>
            <a:prstGeom prst="rect">
              <a:avLst/>
            </a:prstGeom>
          </p:spPr>
          <p:txBody>
            <a:bodyPr wrap="none" anchor="t">
              <a:spAutoFit/>
            </a:bodyPr>
            <a:lstStyle/>
            <a:p>
              <a:pPr algn="ctr"/>
              <a:r>
                <a:rPr lang="en-US" sz="2400" b="1" dirty="0">
                  <a:solidFill>
                    <a:srgbClr val="0070C0"/>
                  </a:solidFill>
                  <a:latin typeface="Leelawadee UI" panose="020B0502040204020203" pitchFamily="34" charset="-34"/>
                  <a:cs typeface="Leelawadee UI" panose="020B0502040204020203" pitchFamily="34" charset="-34"/>
                </a:rPr>
                <a:t>Comparison of Visualization </a:t>
              </a:r>
              <a:r>
                <a:rPr lang="en-US" sz="2400" b="1" dirty="0" smtClean="0">
                  <a:solidFill>
                    <a:srgbClr val="0070C0"/>
                  </a:solidFill>
                  <a:latin typeface="Leelawadee UI" panose="020B0502040204020203" pitchFamily="34" charset="-34"/>
                  <a:cs typeface="Leelawadee UI" panose="020B0502040204020203" pitchFamily="34" charset="-34"/>
                </a:rPr>
                <a:t>tools</a:t>
              </a:r>
              <a:endParaRPr lang="en-IN" sz="2400" b="1" dirty="0">
                <a:solidFill>
                  <a:srgbClr val="0070C0"/>
                </a:solidFill>
                <a:latin typeface="Leelawadee UI" panose="020B0502040204020203" pitchFamily="34" charset="-34"/>
                <a:cs typeface="Leelawadee UI" panose="020B0502040204020203" pitchFamily="34" charset="-34"/>
              </a:endParaRPr>
            </a:p>
          </p:txBody>
        </p:sp>
        <p:grpSp>
          <p:nvGrpSpPr>
            <p:cNvPr id="11" name="Group 10"/>
            <p:cNvGrpSpPr/>
            <p:nvPr/>
          </p:nvGrpSpPr>
          <p:grpSpPr>
            <a:xfrm>
              <a:off x="1" y="155960"/>
              <a:ext cx="12192000" cy="1131320"/>
              <a:chOff x="2424113" y="242463"/>
              <a:chExt cx="7343775" cy="1189679"/>
            </a:xfrm>
          </p:grpSpPr>
          <p:cxnSp>
            <p:nvCxnSpPr>
              <p:cNvPr id="13" name="Straight Connector 12"/>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15" name="Rectangle 14"/>
          <p:cNvSpPr/>
          <p:nvPr/>
        </p:nvSpPr>
        <p:spPr>
          <a:xfrm>
            <a:off x="307975" y="749465"/>
            <a:ext cx="12136088" cy="369332"/>
          </a:xfrm>
          <a:prstGeom prst="rect">
            <a:avLst/>
          </a:prstGeom>
        </p:spPr>
        <p:txBody>
          <a:bodyPr wrap="square" anchor="t">
            <a:spAutoFit/>
          </a:bodyPr>
          <a:lstStyle/>
          <a:p>
            <a:r>
              <a:rPr lang="en-IN" dirty="0">
                <a:solidFill>
                  <a:prstClr val="black"/>
                </a:solidFill>
                <a:latin typeface="Leelawadee UI" panose="020B0502040204020203" pitchFamily="34" charset="-34"/>
                <a:cs typeface="Leelawadee UI" panose="020B0502040204020203" pitchFamily="34" charset="-34"/>
              </a:rPr>
              <a:t>Tableau has the best rating due to its advanced visualizations capabilities, but something not solving for all BI needs. </a:t>
            </a:r>
          </a:p>
        </p:txBody>
      </p:sp>
    </p:spTree>
    <p:extLst>
      <p:ext uri="{BB962C8B-B14F-4D97-AF65-F5344CB8AC3E}">
        <p14:creationId xmlns:p14="http://schemas.microsoft.com/office/powerpoint/2010/main" val="863139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extLst>
              <p:ext uri="{D42A27DB-BD31-4B8C-83A1-F6EECF244321}">
                <p14:modId xmlns:p14="http://schemas.microsoft.com/office/powerpoint/2010/main" val="165032617"/>
              </p:ext>
            </p:extLst>
          </p:nvPr>
        </p:nvGraphicFramePr>
        <p:xfrm>
          <a:off x="587665" y="1679527"/>
          <a:ext cx="5813136" cy="4818256"/>
        </p:xfrm>
        <a:graphic>
          <a:graphicData uri="http://schemas.openxmlformats.org/drawingml/2006/table">
            <a:tbl>
              <a:tblPr firstRow="1" bandRow="1">
                <a:tableStyleId>{F2DE63D5-997A-4646-A377-4702673A728D}</a:tableStyleId>
              </a:tblPr>
              <a:tblGrid>
                <a:gridCol w="3151181"/>
                <a:gridCol w="2661955"/>
              </a:tblGrid>
              <a:tr h="426814">
                <a:tc>
                  <a:txBody>
                    <a:bodyPr/>
                    <a:lstStyle/>
                    <a:p>
                      <a:pPr algn="ctr"/>
                      <a:r>
                        <a:rPr lang="en-US" sz="1600" dirty="0" smtClean="0">
                          <a:latin typeface="Leelawadee UI" panose="020B0502040204020203" pitchFamily="34" charset="-34"/>
                          <a:cs typeface="Leelawadee UI" panose="020B0502040204020203" pitchFamily="34" charset="-34"/>
                        </a:rPr>
                        <a:t>Strengths</a:t>
                      </a:r>
                      <a:endParaRPr lang="en-IN" sz="1600" dirty="0">
                        <a:latin typeface="Leelawadee UI" panose="020B0502040204020203" pitchFamily="34" charset="-34"/>
                        <a:cs typeface="Leelawadee UI" panose="020B0502040204020203" pitchFamily="34" charset="-34"/>
                      </a:endParaRPr>
                    </a:p>
                  </a:txBody>
                  <a:tcPr anchor="ctr"/>
                </a:tc>
                <a:tc>
                  <a:txBody>
                    <a:bodyPr/>
                    <a:lstStyle/>
                    <a:p>
                      <a:pPr algn="ctr"/>
                      <a:r>
                        <a:rPr lang="en-US" sz="1600" dirty="0" smtClean="0">
                          <a:latin typeface="Leelawadee UI" panose="020B0502040204020203" pitchFamily="34" charset="-34"/>
                          <a:cs typeface="Leelawadee UI" panose="020B0502040204020203" pitchFamily="34" charset="-34"/>
                        </a:rPr>
                        <a:t>Cautions</a:t>
                      </a:r>
                      <a:endParaRPr lang="en-IN" sz="1600" dirty="0">
                        <a:latin typeface="Leelawadee UI" panose="020B0502040204020203" pitchFamily="34" charset="-34"/>
                        <a:cs typeface="Leelawadee UI" panose="020B0502040204020203" pitchFamily="34" charset="-34"/>
                      </a:endParaRPr>
                    </a:p>
                  </a:txBody>
                  <a:tcPr anchor="ctr"/>
                </a:tc>
              </a:tr>
              <a:tr h="4391442">
                <a:tc>
                  <a:txBody>
                    <a:bodyPr/>
                    <a:lstStyle/>
                    <a:p>
                      <a:pPr marL="228600" indent="-228600">
                        <a:buFont typeface="Arial" pitchFamily="34" charset="0"/>
                        <a:buChar char="•"/>
                      </a:pPr>
                      <a:endParaRPr lang="en-IN"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r>
                        <a:rPr lang="en-IN" sz="1400" kern="1200" dirty="0" smtClean="0">
                          <a:latin typeface="Leelawadee UI" panose="020B0502040204020203" pitchFamily="34" charset="-34"/>
                          <a:cs typeface="Leelawadee UI" panose="020B0502040204020203" pitchFamily="34" charset="-34"/>
                        </a:rPr>
                        <a:t>Platform strength</a:t>
                      </a:r>
                      <a:r>
                        <a:rPr lang="en-IN" sz="1400" kern="1200" baseline="0" dirty="0" smtClean="0">
                          <a:latin typeface="Leelawadee UI" panose="020B0502040204020203" pitchFamily="34" charset="-34"/>
                          <a:cs typeface="Leelawadee UI" panose="020B0502040204020203" pitchFamily="34" charset="-34"/>
                        </a:rPr>
                        <a:t>:</a:t>
                      </a:r>
                    </a:p>
                    <a:p>
                      <a:pPr marL="685800" lvl="1" indent="-228600">
                        <a:buFont typeface="Wingdings" pitchFamily="2" charset="2"/>
                        <a:buChar char="q"/>
                      </a:pPr>
                      <a:r>
                        <a:rPr lang="en-IN" sz="1400" kern="1200" dirty="0" smtClean="0">
                          <a:latin typeface="Leelawadee UI" panose="020B0502040204020203" pitchFamily="34" charset="-34"/>
                          <a:cs typeface="Leelawadee UI" panose="020B0502040204020203" pitchFamily="34" charset="-34"/>
                        </a:rPr>
                        <a:t>Analytic dashboards, </a:t>
                      </a:r>
                    </a:p>
                    <a:p>
                      <a:pPr marL="685800" lvl="1" indent="-228600">
                        <a:buFont typeface="Wingdings" pitchFamily="2" charset="2"/>
                        <a:buChar char="q"/>
                      </a:pPr>
                      <a:r>
                        <a:rPr lang="en-IN" sz="1400" kern="1200" dirty="0" smtClean="0">
                          <a:latin typeface="Leelawadee UI" panose="020B0502040204020203" pitchFamily="34" charset="-34"/>
                          <a:cs typeface="Leelawadee UI" panose="020B0502040204020203" pitchFamily="34" charset="-34"/>
                        </a:rPr>
                        <a:t>Easy to Use</a:t>
                      </a:r>
                    </a:p>
                    <a:p>
                      <a:pPr marL="685800" lvl="1" indent="-228600">
                        <a:buFont typeface="Wingdings" pitchFamily="2" charset="2"/>
                        <a:buChar char="q"/>
                      </a:pPr>
                      <a:r>
                        <a:rPr lang="en-IN" sz="1400" kern="1200" dirty="0" smtClean="0">
                          <a:latin typeface="Leelawadee UI" panose="020B0502040204020203" pitchFamily="34" charset="-34"/>
                          <a:cs typeface="Leelawadee UI" panose="020B0502040204020203" pitchFamily="34" charset="-34"/>
                        </a:rPr>
                        <a:t>Fast</a:t>
                      </a:r>
                      <a:r>
                        <a:rPr lang="en-IN" sz="1400" kern="1200" baseline="0" dirty="0" smtClean="0">
                          <a:latin typeface="Leelawadee UI" panose="020B0502040204020203" pitchFamily="34" charset="-34"/>
                          <a:cs typeface="Leelawadee UI" panose="020B0502040204020203" pitchFamily="34" charset="-34"/>
                        </a:rPr>
                        <a:t> Data Engine</a:t>
                      </a:r>
                      <a:endParaRPr lang="en-IN" sz="1400" kern="1200" dirty="0" smtClean="0">
                        <a:latin typeface="Leelawadee UI" panose="020B0502040204020203" pitchFamily="34" charset="-34"/>
                        <a:cs typeface="Leelawadee UI" panose="020B0502040204020203" pitchFamily="34" charset="-34"/>
                      </a:endParaRPr>
                    </a:p>
                    <a:p>
                      <a:pPr marL="685800" lvl="1" indent="-228600">
                        <a:buFont typeface="Wingdings" pitchFamily="2" charset="2"/>
                        <a:buChar char="q"/>
                      </a:pPr>
                      <a:r>
                        <a:rPr lang="en-IN" sz="1400" kern="1200" dirty="0" smtClean="0">
                          <a:latin typeface="Leelawadee UI" panose="020B0502040204020203" pitchFamily="34" charset="-34"/>
                          <a:cs typeface="Leelawadee UI" panose="020B0502040204020203" pitchFamily="34" charset="-34"/>
                        </a:rPr>
                        <a:t>Cloud deployment</a:t>
                      </a:r>
                    </a:p>
                    <a:p>
                      <a:pPr marL="685800" lvl="1" indent="-228600">
                        <a:buFont typeface="Wingdings" pitchFamily="2" charset="2"/>
                        <a:buChar char="q"/>
                      </a:pPr>
                      <a:r>
                        <a:rPr lang="en-US" sz="1400" kern="1200" dirty="0" smtClean="0">
                          <a:latin typeface="Leelawadee UI" panose="020B0502040204020203" pitchFamily="34" charset="-34"/>
                          <a:cs typeface="Leelawadee UI" panose="020B0502040204020203" pitchFamily="34" charset="-34"/>
                        </a:rPr>
                        <a:t>Compatibility across multiple devices</a:t>
                      </a:r>
                    </a:p>
                    <a:p>
                      <a:pPr marL="685800" lvl="1" indent="-228600">
                        <a:buFont typeface="Wingdings" pitchFamily="2" charset="2"/>
                        <a:buNone/>
                      </a:pPr>
                      <a:endParaRPr lang="en-IN"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r>
                        <a:rPr lang="en-IN" sz="1400" kern="1200" dirty="0" smtClean="0">
                          <a:latin typeface="Leelawadee UI" panose="020B0502040204020203" pitchFamily="34" charset="-34"/>
                          <a:cs typeface="Leelawadee UI" panose="020B0502040204020203" pitchFamily="34" charset="-34"/>
                        </a:rPr>
                        <a:t>Market leader - Tableau customers report among the highest scores in terms of breadth and ease of use</a:t>
                      </a:r>
                    </a:p>
                    <a:p>
                      <a:pPr marL="228600" indent="-228600">
                        <a:buFont typeface="Arial" pitchFamily="34" charset="0"/>
                        <a:buChar char="•"/>
                      </a:pPr>
                      <a:endParaRPr lang="en-US"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r>
                        <a:rPr lang="en-US" sz="1400" kern="1200" dirty="0" smtClean="0">
                          <a:latin typeface="Leelawadee UI" panose="020B0502040204020203" pitchFamily="34" charset="-34"/>
                          <a:cs typeface="Leelawadee UI" panose="020B0502040204020203" pitchFamily="34" charset="-34"/>
                        </a:rPr>
                        <a:t>Very good support community</a:t>
                      </a:r>
                      <a:endParaRPr lang="en-IN"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endParaRPr lang="en-IN"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r>
                        <a:rPr lang="en-IN" sz="1400" kern="1200" dirty="0" smtClean="0">
                          <a:latin typeface="Leelawadee UI" panose="020B0502040204020203" pitchFamily="34" charset="-34"/>
                          <a:cs typeface="Leelawadee UI" panose="020B0502040204020203" pitchFamily="34" charset="-34"/>
                        </a:rPr>
                        <a:t>R&amp;D-driven company( % revenue</a:t>
                      </a:r>
                      <a:r>
                        <a:rPr lang="en-IN" sz="1400" kern="1200" baseline="0" dirty="0" smtClean="0">
                          <a:latin typeface="Leelawadee UI" panose="020B0502040204020203" pitchFamily="34" charset="-34"/>
                          <a:cs typeface="Leelawadee UI" panose="020B0502040204020203" pitchFamily="34" charset="-34"/>
                        </a:rPr>
                        <a:t> -</a:t>
                      </a:r>
                      <a:r>
                        <a:rPr lang="en-IN" sz="1400" kern="1200" dirty="0" smtClean="0">
                          <a:latin typeface="Leelawadee UI" panose="020B0502040204020203" pitchFamily="34" charset="-34"/>
                          <a:cs typeface="Leelawadee UI" panose="020B0502040204020203" pitchFamily="34" charset="-34"/>
                        </a:rPr>
                        <a:t>29% in 2014 )</a:t>
                      </a:r>
                      <a:endParaRPr lang="en-IN" sz="1400" dirty="0">
                        <a:latin typeface="Leelawadee UI" panose="020B0502040204020203" pitchFamily="34" charset="-34"/>
                        <a:cs typeface="Leelawadee UI" panose="020B0502040204020203" pitchFamily="34" charset="-34"/>
                      </a:endParaRPr>
                    </a:p>
                  </a:txBody>
                  <a:tcPr/>
                </a:tc>
                <a:tc>
                  <a:txBody>
                    <a:bodyPr/>
                    <a:lstStyle/>
                    <a:p>
                      <a:pPr marL="228600" indent="-228600">
                        <a:buFont typeface="Arial" pitchFamily="34" charset="0"/>
                        <a:buNone/>
                      </a:pPr>
                      <a:endParaRPr lang="en-US" sz="1400" kern="1200" dirty="0" smtClean="0">
                        <a:latin typeface="Leelawadee UI" panose="020B0502040204020203" pitchFamily="34" charset="-34"/>
                        <a:cs typeface="Leelawadee UI" panose="020B0502040204020203" pitchFamily="34" charset="-34"/>
                      </a:endParaRPr>
                    </a:p>
                    <a:p>
                      <a:pPr marL="228600" indent="-228600">
                        <a:buFont typeface="Arial" pitchFamily="34" charset="0"/>
                        <a:buChar char="•"/>
                      </a:pPr>
                      <a:r>
                        <a:rPr lang="en-IN" sz="1400" kern="1200" dirty="0" smtClean="0">
                          <a:latin typeface="Leelawadee UI" panose="020B0502040204020203" pitchFamily="34" charset="-34"/>
                          <a:cs typeface="Leelawadee UI" panose="020B0502040204020203" pitchFamily="34" charset="-34"/>
                        </a:rPr>
                        <a:t>Limited data preparation and advanced Analytics capabilities. Third-party products and partner capabilities  are generally required</a:t>
                      </a:r>
                    </a:p>
                    <a:p>
                      <a:pPr marL="228600" indent="-228600">
                        <a:buFont typeface="Arial" pitchFamily="34" charset="0"/>
                        <a:buChar char="•"/>
                      </a:pPr>
                      <a:endParaRPr lang="en-US" sz="1400" kern="1200" dirty="0" smtClean="0">
                        <a:latin typeface="Leelawadee UI" panose="020B0502040204020203" pitchFamily="34" charset="-34"/>
                        <a:cs typeface="Leelawadee UI" panose="020B0502040204020203" pitchFamily="34" charset="-34"/>
                      </a:endParaRP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r>
                        <a:rPr lang="en-IN" sz="1400" b="0" i="0" kern="1200" dirty="0" smtClean="0">
                          <a:solidFill>
                            <a:schemeClr val="tx1"/>
                          </a:solidFill>
                          <a:latin typeface="Leelawadee UI" panose="020B0502040204020203" pitchFamily="34" charset="-34"/>
                          <a:ea typeface="+mn-ea"/>
                          <a:cs typeface="Leelawadee UI" panose="020B0502040204020203" pitchFamily="34" charset="-34"/>
                        </a:rPr>
                        <a:t>Being</a:t>
                      </a:r>
                      <a:r>
                        <a:rPr lang="en-IN" sz="1400" b="0" i="0" kern="1200" baseline="0" dirty="0" smtClean="0">
                          <a:solidFill>
                            <a:schemeClr val="tx1"/>
                          </a:solidFill>
                          <a:latin typeface="Leelawadee UI" panose="020B0502040204020203" pitchFamily="34" charset="-34"/>
                          <a:ea typeface="+mn-ea"/>
                          <a:cs typeface="Leelawadee UI" panose="020B0502040204020203" pitchFamily="34" charset="-34"/>
                        </a:rPr>
                        <a:t> a high level software, limited functionalities are present.</a:t>
                      </a:r>
                    </a:p>
                    <a:p>
                      <a:pPr marL="228600" marR="0" indent="-228600" algn="l" defTabSz="457200" rtl="0" eaLnBrk="1" fontAlgn="auto" latinLnBrk="0" hangingPunct="1">
                        <a:lnSpc>
                          <a:spcPct val="100000"/>
                        </a:lnSpc>
                        <a:spcBef>
                          <a:spcPts val="0"/>
                        </a:spcBef>
                        <a:spcAft>
                          <a:spcPts val="0"/>
                        </a:spcAft>
                        <a:buClrTx/>
                        <a:buSzTx/>
                        <a:buFont typeface="Arial" pitchFamily="34" charset="0"/>
                        <a:buChar char="•"/>
                        <a:tabLst/>
                        <a:defRPr/>
                      </a:pPr>
                      <a:endParaRPr lang="en-IN" sz="1400" b="0" i="0" kern="1200" baseline="0" dirty="0" smtClean="0">
                        <a:solidFill>
                          <a:schemeClr val="tx1"/>
                        </a:solidFill>
                        <a:latin typeface="Leelawadee UI" panose="020B0502040204020203" pitchFamily="34" charset="-34"/>
                        <a:ea typeface="+mn-ea"/>
                        <a:cs typeface="Leelawadee UI" panose="020B0502040204020203" pitchFamily="34" charset="-34"/>
                      </a:endParaRPr>
                    </a:p>
                  </a:txBody>
                  <a:tcPr/>
                </a:tc>
              </a:tr>
            </a:tbl>
          </a:graphicData>
        </a:graphic>
      </p:graphicFrame>
      <p:sp>
        <p:nvSpPr>
          <p:cNvPr id="3" name="Slide Number Placeholder 2"/>
          <p:cNvSpPr>
            <a:spLocks noGrp="1"/>
          </p:cNvSpPr>
          <p:nvPr>
            <p:ph type="sldNum" sz="quarter" idx="12"/>
          </p:nvPr>
        </p:nvSpPr>
        <p:spPr>
          <a:xfrm>
            <a:off x="9204158" y="6397267"/>
            <a:ext cx="2743200" cy="365125"/>
          </a:xfrm>
        </p:spPr>
        <p:txBody>
          <a:bodyPr/>
          <a:lstStyle/>
          <a:p>
            <a:fld id="{D57F1E4F-1CFF-5643-939E-217C01CDF565}" type="slidenum">
              <a:rPr lang="en-US" smtClean="0">
                <a:solidFill>
                  <a:srgbClr val="0E5580"/>
                </a:solidFill>
              </a:rPr>
              <a:pPr/>
              <a:t>6</a:t>
            </a:fld>
            <a:endParaRPr lang="en-US" dirty="0">
              <a:solidFill>
                <a:srgbClr val="0E5580"/>
              </a:solidFill>
            </a:endParaRPr>
          </a:p>
        </p:txBody>
      </p:sp>
      <p:pic>
        <p:nvPicPr>
          <p:cNvPr id="9" name="Picture 2"/>
          <p:cNvPicPr>
            <a:picLocks noChangeAspect="1" noChangeArrowheads="1"/>
          </p:cNvPicPr>
          <p:nvPr/>
        </p:nvPicPr>
        <p:blipFill>
          <a:blip r:embed="rId3"/>
          <a:srcRect/>
          <a:stretch>
            <a:fillRect/>
          </a:stretch>
        </p:blipFill>
        <p:spPr bwMode="auto">
          <a:xfrm>
            <a:off x="6902518" y="2171630"/>
            <a:ext cx="4603277" cy="4541797"/>
          </a:xfrm>
          <a:prstGeom prst="rect">
            <a:avLst/>
          </a:prstGeom>
          <a:noFill/>
          <a:ln w="9525">
            <a:noFill/>
            <a:miter lim="800000"/>
            <a:headEnd/>
            <a:tailEnd/>
          </a:ln>
          <a:effectLst/>
        </p:spPr>
      </p:pic>
      <p:sp>
        <p:nvSpPr>
          <p:cNvPr id="10" name="Oval 9"/>
          <p:cNvSpPr/>
          <p:nvPr/>
        </p:nvSpPr>
        <p:spPr>
          <a:xfrm>
            <a:off x="9421090" y="3449781"/>
            <a:ext cx="152401" cy="180110"/>
          </a:xfrm>
          <a:prstGeom prst="ellipse">
            <a:avLst/>
          </a:prstGeom>
          <a:noFill/>
        </p:spPr>
        <p:style>
          <a:lnRef idx="2">
            <a:schemeClr val="accent3"/>
          </a:lnRef>
          <a:fillRef idx="1">
            <a:schemeClr val="lt1"/>
          </a:fillRef>
          <a:effectRef idx="0">
            <a:schemeClr val="accent3"/>
          </a:effectRef>
          <a:fontRef idx="minor">
            <a:schemeClr val="dk1"/>
          </a:fontRef>
        </p:style>
        <p:txBody>
          <a:bodyPr rtlCol="0" anchor="ctr"/>
          <a:lstStyle/>
          <a:p>
            <a:pPr algn="ctr"/>
            <a:endParaRPr lang="en-IN">
              <a:solidFill>
                <a:prstClr val="black"/>
              </a:solidFill>
            </a:endParaRPr>
          </a:p>
        </p:txBody>
      </p:sp>
      <p:sp>
        <p:nvSpPr>
          <p:cNvPr id="11" name="TextBox 10"/>
          <p:cNvSpPr txBox="1"/>
          <p:nvPr/>
        </p:nvSpPr>
        <p:spPr bwMode="gray">
          <a:xfrm>
            <a:off x="7063630" y="1657164"/>
            <a:ext cx="4281055" cy="235527"/>
          </a:xfrm>
          <a:prstGeom prst="rect">
            <a:avLst/>
          </a:prstGeom>
        </p:spPr>
        <p:txBody>
          <a:bodyPr vert="horz" wrap="square" lIns="91440" tIns="45720" rIns="91440" bIns="45720" rtlCol="0" anchor="ctr">
            <a:noAutofit/>
          </a:bodyPr>
          <a:lstStyle/>
          <a:p>
            <a:pPr algn="ctr"/>
            <a:r>
              <a:rPr lang="en-IN" sz="1400" dirty="0" smtClean="0">
                <a:solidFill>
                  <a:prstClr val="black"/>
                </a:solidFill>
                <a:latin typeface="Leelawadee UI" panose="020B0502040204020203" pitchFamily="34" charset="-34"/>
                <a:cs typeface="Leelawadee UI" panose="020B0502040204020203" pitchFamily="34" charset="-34"/>
              </a:rPr>
              <a:t>Magic Quadrant for Business Intelligence and Analytics Platforms – </a:t>
            </a:r>
            <a:r>
              <a:rPr lang="en-IN" sz="1400" b="1" dirty="0" smtClean="0">
                <a:solidFill>
                  <a:prstClr val="black"/>
                </a:solidFill>
                <a:latin typeface="Leelawadee UI" panose="020B0502040204020203" pitchFamily="34" charset="-34"/>
                <a:cs typeface="Leelawadee UI" panose="020B0502040204020203" pitchFamily="34" charset="-34"/>
              </a:rPr>
              <a:t>Gartner 2015</a:t>
            </a:r>
          </a:p>
        </p:txBody>
      </p:sp>
      <p:grpSp>
        <p:nvGrpSpPr>
          <p:cNvPr id="13" name="Group 12"/>
          <p:cNvGrpSpPr/>
          <p:nvPr/>
        </p:nvGrpSpPr>
        <p:grpSpPr>
          <a:xfrm>
            <a:off x="1" y="187929"/>
            <a:ext cx="12192000" cy="1131320"/>
            <a:chOff x="1" y="155960"/>
            <a:chExt cx="12192000" cy="1131320"/>
          </a:xfrm>
        </p:grpSpPr>
        <p:sp>
          <p:nvSpPr>
            <p:cNvPr id="14" name="Rectangle 13"/>
            <p:cNvSpPr/>
            <p:nvPr/>
          </p:nvSpPr>
          <p:spPr>
            <a:xfrm>
              <a:off x="874059" y="639010"/>
              <a:ext cx="10717305" cy="369332"/>
            </a:xfrm>
            <a:prstGeom prst="rect">
              <a:avLst/>
            </a:prstGeom>
          </p:spPr>
          <p:txBody>
            <a:bodyPr wrap="square" anchor="t">
              <a:spAutoFit/>
            </a:bodyPr>
            <a:lstStyle/>
            <a:p>
              <a:endParaRPr lang="en-IN" dirty="0">
                <a:solidFill>
                  <a:prstClr val="black"/>
                </a:solidFill>
                <a:latin typeface="Leelawadee UI" panose="020B0502040204020203" pitchFamily="34" charset="-34"/>
                <a:cs typeface="Leelawadee UI" panose="020B0502040204020203" pitchFamily="34" charset="-34"/>
              </a:endParaRPr>
            </a:p>
          </p:txBody>
        </p:sp>
        <p:sp>
          <p:nvSpPr>
            <p:cNvPr id="15" name="Rectangle 14"/>
            <p:cNvSpPr/>
            <p:nvPr/>
          </p:nvSpPr>
          <p:spPr>
            <a:xfrm>
              <a:off x="4962777" y="216207"/>
              <a:ext cx="2266454" cy="461665"/>
            </a:xfrm>
            <a:prstGeom prst="rect">
              <a:avLst/>
            </a:prstGeom>
          </p:spPr>
          <p:txBody>
            <a:bodyPr wrap="none" anchor="t">
              <a:spAutoFit/>
            </a:bodyPr>
            <a:lstStyle/>
            <a:p>
              <a:pPr algn="ctr"/>
              <a:r>
                <a:rPr lang="en-US" sz="2400" b="1" dirty="0">
                  <a:solidFill>
                    <a:srgbClr val="0070C0"/>
                  </a:solidFill>
                  <a:latin typeface="Leelawadee UI" panose="020B0502040204020203" pitchFamily="34" charset="-34"/>
                  <a:cs typeface="Leelawadee UI" panose="020B0502040204020203" pitchFamily="34" charset="-34"/>
                </a:rPr>
                <a:t>Why Tableau </a:t>
              </a:r>
              <a:r>
                <a:rPr lang="en-US" sz="2400" b="1" dirty="0" smtClean="0">
                  <a:solidFill>
                    <a:srgbClr val="0070C0"/>
                  </a:solidFill>
                  <a:latin typeface="Leelawadee UI" panose="020B0502040204020203" pitchFamily="34" charset="-34"/>
                  <a:cs typeface="Leelawadee UI" panose="020B0502040204020203" pitchFamily="34" charset="-34"/>
                </a:rPr>
                <a:t>?</a:t>
              </a:r>
              <a:endParaRPr lang="en-IN" sz="2400" b="1" dirty="0">
                <a:solidFill>
                  <a:srgbClr val="0070C0"/>
                </a:solidFill>
                <a:latin typeface="Leelawadee UI" panose="020B0502040204020203" pitchFamily="34" charset="-34"/>
                <a:cs typeface="Leelawadee UI" panose="020B0502040204020203" pitchFamily="34" charset="-34"/>
              </a:endParaRPr>
            </a:p>
          </p:txBody>
        </p:sp>
        <p:grpSp>
          <p:nvGrpSpPr>
            <p:cNvPr id="16" name="Group 15"/>
            <p:cNvGrpSpPr/>
            <p:nvPr/>
          </p:nvGrpSpPr>
          <p:grpSpPr>
            <a:xfrm>
              <a:off x="1" y="155960"/>
              <a:ext cx="12192000" cy="1131320"/>
              <a:chOff x="2424113" y="242463"/>
              <a:chExt cx="7343775" cy="1189679"/>
            </a:xfrm>
          </p:grpSpPr>
          <p:cxnSp>
            <p:nvCxnSpPr>
              <p:cNvPr id="17" name="Straight Connector 16"/>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2" name="Rectangle 1"/>
          <p:cNvSpPr/>
          <p:nvPr/>
        </p:nvSpPr>
        <p:spPr>
          <a:xfrm>
            <a:off x="587664" y="640686"/>
            <a:ext cx="11155157" cy="646331"/>
          </a:xfrm>
          <a:prstGeom prst="rect">
            <a:avLst/>
          </a:prstGeom>
        </p:spPr>
        <p:txBody>
          <a:bodyPr wrap="square">
            <a:spAutoFit/>
          </a:bodyPr>
          <a:lstStyle/>
          <a:p>
            <a:pPr algn="ctr"/>
            <a:r>
              <a:rPr lang="en-US" dirty="0">
                <a:solidFill>
                  <a:prstClr val="black"/>
                </a:solidFill>
                <a:latin typeface="Leelawadee UI" panose="020B0502040204020203" pitchFamily="34" charset="-34"/>
                <a:cs typeface="Leelawadee UI" panose="020B0502040204020203" pitchFamily="34" charset="-34"/>
              </a:rPr>
              <a:t>Tableau is </a:t>
            </a:r>
            <a:r>
              <a:rPr lang="en-US" dirty="0" smtClean="0">
                <a:solidFill>
                  <a:prstClr val="black"/>
                </a:solidFill>
                <a:latin typeface="Leelawadee UI" panose="020B0502040204020203" pitchFamily="34" charset="-34"/>
                <a:cs typeface="Leelawadee UI" panose="020B0502040204020203" pitchFamily="34" charset="-34"/>
              </a:rPr>
              <a:t>identified </a:t>
            </a:r>
            <a:r>
              <a:rPr lang="en-US" dirty="0">
                <a:solidFill>
                  <a:prstClr val="black"/>
                </a:solidFill>
                <a:latin typeface="Leelawadee UI" panose="020B0502040204020203" pitchFamily="34" charset="-34"/>
                <a:cs typeface="Leelawadee UI" panose="020B0502040204020203" pitchFamily="34" charset="-34"/>
              </a:rPr>
              <a:t>as optimal product in initial phase considering  visual </a:t>
            </a:r>
            <a:r>
              <a:rPr lang="en-US" dirty="0" smtClean="0">
                <a:solidFill>
                  <a:prstClr val="black"/>
                </a:solidFill>
                <a:latin typeface="Leelawadee UI" panose="020B0502040204020203" pitchFamily="34" charset="-34"/>
                <a:cs typeface="Leelawadee UI" panose="020B0502040204020203" pitchFamily="34" charset="-34"/>
              </a:rPr>
              <a:t>capabilities, </a:t>
            </a:r>
            <a:r>
              <a:rPr lang="en-US" dirty="0">
                <a:solidFill>
                  <a:prstClr val="black"/>
                </a:solidFill>
                <a:latin typeface="Leelawadee UI" panose="020B0502040204020203" pitchFamily="34" charset="-34"/>
                <a:cs typeface="Leelawadee UI" panose="020B0502040204020203" pitchFamily="34" charset="-34"/>
              </a:rPr>
              <a:t>client </a:t>
            </a:r>
            <a:r>
              <a:rPr lang="en-US" dirty="0" smtClean="0">
                <a:solidFill>
                  <a:prstClr val="black"/>
                </a:solidFill>
                <a:latin typeface="Leelawadee UI" panose="020B0502040204020203" pitchFamily="34" charset="-34"/>
                <a:cs typeface="Leelawadee UI" panose="020B0502040204020203" pitchFamily="34" charset="-34"/>
              </a:rPr>
              <a:t>requirement, </a:t>
            </a:r>
            <a:r>
              <a:rPr lang="en-US" dirty="0">
                <a:solidFill>
                  <a:prstClr val="black"/>
                </a:solidFill>
                <a:latin typeface="Leelawadee UI" panose="020B0502040204020203" pitchFamily="34" charset="-34"/>
                <a:cs typeface="Leelawadee UI" panose="020B0502040204020203" pitchFamily="34" charset="-34"/>
              </a:rPr>
              <a:t>time to delivery and ease of use </a:t>
            </a:r>
            <a:endParaRPr lang="en-IN" dirty="0">
              <a:solidFill>
                <a:prstClr val="black"/>
              </a:solidFill>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9310031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fi-FI"/>
              <a:t>Venkata Reddy Konasani </a:t>
            </a:r>
            <a:endParaRPr lang="en-IN" sz="1633"/>
          </a:p>
        </p:txBody>
      </p:sp>
      <p:pic>
        <p:nvPicPr>
          <p:cNvPr id="11" name="Picture 10"/>
          <p:cNvPicPr>
            <a:picLocks noChangeAspect="1"/>
          </p:cNvPicPr>
          <p:nvPr/>
        </p:nvPicPr>
        <p:blipFill>
          <a:blip r:embed="rId2"/>
          <a:stretch>
            <a:fillRect/>
          </a:stretch>
        </p:blipFill>
        <p:spPr>
          <a:xfrm>
            <a:off x="7723682" y="721238"/>
            <a:ext cx="3374275" cy="4707855"/>
          </a:xfrm>
          <a:prstGeom prst="rect">
            <a:avLst/>
          </a:prstGeom>
          <a:ln>
            <a:noFill/>
          </a:ln>
          <a:effectLst>
            <a:outerShdw blurRad="292100" dist="139700" dir="2700000" algn="tl" rotWithShape="0">
              <a:srgbClr val="333333">
                <a:alpha val="65000"/>
              </a:srgbClr>
            </a:outerShdw>
          </a:effectLst>
        </p:spPr>
      </p:pic>
      <p:sp>
        <p:nvSpPr>
          <p:cNvPr id="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Sample Tableau dashboards</a:t>
            </a:r>
          </a:p>
        </p:txBody>
      </p:sp>
      <p:pic>
        <p:nvPicPr>
          <p:cNvPr id="8" name="Content Placeholder 8"/>
          <p:cNvPicPr>
            <a:picLocks noChangeAspect="1"/>
          </p:cNvPicPr>
          <p:nvPr/>
        </p:nvPicPr>
        <p:blipFill>
          <a:blip r:embed="rId3"/>
          <a:stretch>
            <a:fillRect/>
          </a:stretch>
        </p:blipFill>
        <p:spPr bwMode="auto">
          <a:xfrm>
            <a:off x="913022" y="721238"/>
            <a:ext cx="6107228" cy="4494706"/>
          </a:xfrm>
          <a:prstGeom prst="rect">
            <a:avLst/>
          </a:prstGeo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412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Box 7"/>
          <p:cNvSpPr txBox="1">
            <a:spLocks noChangeArrowheads="1"/>
          </p:cNvSpPr>
          <p:nvPr/>
        </p:nvSpPr>
        <p:spPr bwMode="auto">
          <a:xfrm>
            <a:off x="1866277"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dirty="0">
                <a:solidFill>
                  <a:srgbClr val="1F497D"/>
                </a:solidFill>
                <a:latin typeface="+mn-lt"/>
              </a:rPr>
              <a:t>Tableau Desktop</a:t>
            </a:r>
          </a:p>
          <a:p>
            <a:pPr algn="ctr" eaLnBrk="1" hangingPunct="1">
              <a:spcBef>
                <a:spcPct val="50000"/>
              </a:spcBef>
              <a:defRPr/>
            </a:pPr>
            <a:r>
              <a:rPr lang="en-US" sz="1633" b="1" dirty="0">
                <a:solidFill>
                  <a:srgbClr val="E46C0A"/>
                </a:solidFill>
                <a:latin typeface="+mn-lt"/>
              </a:rPr>
              <a:t>Create</a:t>
            </a:r>
          </a:p>
        </p:txBody>
      </p:sp>
      <p:sp>
        <p:nvSpPr>
          <p:cNvPr id="19" name="Text Box 8"/>
          <p:cNvSpPr txBox="1">
            <a:spLocks noChangeArrowheads="1"/>
          </p:cNvSpPr>
          <p:nvPr/>
        </p:nvSpPr>
        <p:spPr bwMode="auto">
          <a:xfrm>
            <a:off x="4126998"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dirty="0">
                <a:solidFill>
                  <a:srgbClr val="1F497D"/>
                </a:solidFill>
                <a:latin typeface="+mn-lt"/>
              </a:rPr>
              <a:t>Tableau Server</a:t>
            </a:r>
          </a:p>
          <a:p>
            <a:pPr algn="ctr" eaLnBrk="1" hangingPunct="1">
              <a:spcBef>
                <a:spcPct val="50000"/>
              </a:spcBef>
              <a:defRPr/>
            </a:pPr>
            <a:r>
              <a:rPr lang="en-US" sz="1633" b="1" dirty="0">
                <a:solidFill>
                  <a:srgbClr val="E46C0A"/>
                </a:solidFill>
                <a:latin typeface="+mn-lt"/>
              </a:rPr>
              <a:t>Share - Web</a:t>
            </a:r>
          </a:p>
        </p:txBody>
      </p:sp>
      <p:sp>
        <p:nvSpPr>
          <p:cNvPr id="20" name="Text Box 8"/>
          <p:cNvSpPr txBox="1">
            <a:spLocks noChangeArrowheads="1"/>
          </p:cNvSpPr>
          <p:nvPr/>
        </p:nvSpPr>
        <p:spPr bwMode="auto">
          <a:xfrm>
            <a:off x="6582142" y="818910"/>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a:solidFill>
                  <a:srgbClr val="1F497D"/>
                </a:solidFill>
                <a:latin typeface="+mn-lt"/>
              </a:rPr>
              <a:t>Tableau Reader</a:t>
            </a:r>
          </a:p>
          <a:p>
            <a:pPr algn="ctr" eaLnBrk="1" hangingPunct="1">
              <a:spcBef>
                <a:spcPct val="50000"/>
              </a:spcBef>
              <a:defRPr/>
            </a:pPr>
            <a:r>
              <a:rPr lang="en-US" sz="1633" b="1">
                <a:solidFill>
                  <a:srgbClr val="E46C0A"/>
                </a:solidFill>
                <a:latin typeface="+mn-lt"/>
              </a:rPr>
              <a:t>Share - Local</a:t>
            </a:r>
          </a:p>
        </p:txBody>
      </p:sp>
      <p:sp>
        <p:nvSpPr>
          <p:cNvPr id="21" name="Content Placeholder 151"/>
          <p:cNvSpPr>
            <a:spLocks noGrp="1"/>
          </p:cNvSpPr>
          <p:nvPr>
            <p:ph idx="4294967295"/>
          </p:nvPr>
        </p:nvSpPr>
        <p:spPr>
          <a:xfrm>
            <a:off x="4078195" y="3439335"/>
            <a:ext cx="2327014" cy="3000101"/>
          </a:xfrm>
        </p:spPr>
        <p:txBody>
          <a:bodyPr>
            <a:normAutofit/>
          </a:bodyPr>
          <a:lstStyle/>
          <a:p>
            <a:pPr marL="321229" indent="-171450">
              <a:buClr>
                <a:schemeClr val="tx2"/>
              </a:buClr>
              <a:defRPr/>
            </a:pPr>
            <a:r>
              <a:rPr lang="en-US" sz="1400" dirty="0"/>
              <a:t>business intelligence solution scales to organizations of all sizes</a:t>
            </a:r>
          </a:p>
          <a:p>
            <a:pPr marL="321229" indent="-171450">
              <a:buClr>
                <a:schemeClr val="tx2"/>
              </a:buClr>
              <a:defRPr/>
            </a:pPr>
            <a:r>
              <a:rPr lang="en-US" sz="1400" dirty="0"/>
              <a:t>share visual analytics with anyone with a web browser</a:t>
            </a:r>
          </a:p>
          <a:p>
            <a:pPr marL="321229" indent="-171450">
              <a:buClr>
                <a:schemeClr val="tx2"/>
              </a:buClr>
              <a:defRPr/>
            </a:pPr>
            <a:r>
              <a:rPr lang="en-US" sz="1400" dirty="0"/>
              <a:t>publish interactive analytics or dashboards</a:t>
            </a:r>
          </a:p>
          <a:p>
            <a:pPr marL="321229" indent="-171450">
              <a:buClr>
                <a:schemeClr val="tx2"/>
              </a:buClr>
              <a:defRPr/>
            </a:pPr>
            <a:r>
              <a:rPr lang="en-US" sz="1400" dirty="0"/>
              <a:t>secure information and manage metadata</a:t>
            </a:r>
          </a:p>
          <a:p>
            <a:pPr marL="321229" indent="-171450">
              <a:buClr>
                <a:schemeClr val="tx2"/>
              </a:buClr>
              <a:defRPr/>
            </a:pPr>
            <a:r>
              <a:rPr lang="en-US" sz="1400" dirty="0"/>
              <a:t>collaborate with others</a:t>
            </a:r>
          </a:p>
          <a:p>
            <a:pPr>
              <a:defRPr/>
            </a:pPr>
            <a:endParaRPr lang="en-US" sz="1400" dirty="0"/>
          </a:p>
        </p:txBody>
      </p:sp>
      <p:sp>
        <p:nvSpPr>
          <p:cNvPr id="20488" name="Content Placeholder 151"/>
          <p:cNvSpPr>
            <a:spLocks noGrp="1"/>
          </p:cNvSpPr>
          <p:nvPr>
            <p:ph idx="4294967295"/>
          </p:nvPr>
        </p:nvSpPr>
        <p:spPr>
          <a:xfrm>
            <a:off x="6493014" y="3494621"/>
            <a:ext cx="2410191" cy="3000101"/>
          </a:xfrm>
        </p:spPr>
        <p:txBody>
          <a:bodyPr>
            <a:normAutofit/>
          </a:bodyPr>
          <a:lstStyle/>
          <a:p>
            <a:pPr marL="321229" indent="-171450">
              <a:buClr>
                <a:schemeClr val="tx2"/>
              </a:buClr>
            </a:pPr>
            <a:r>
              <a:rPr lang="en-US" altLang="en-US" sz="1400" dirty="0"/>
              <a:t>share visualizations &amp; dashboards on the desktop </a:t>
            </a:r>
          </a:p>
          <a:p>
            <a:pPr marL="321229" indent="-171450">
              <a:buClr>
                <a:schemeClr val="tx2"/>
              </a:buClr>
            </a:pPr>
            <a:r>
              <a:rPr lang="en-US" altLang="en-US" sz="1400" dirty="0"/>
              <a:t>filter, sort, and page through the views</a:t>
            </a:r>
          </a:p>
          <a:p>
            <a:pPr marL="321229" indent="-171450">
              <a:buClr>
                <a:schemeClr val="tx2"/>
              </a:buClr>
            </a:pPr>
            <a:r>
              <a:rPr lang="en-US" altLang="en-US" sz="1400" dirty="0"/>
              <a:t>“Acrobat for Data”</a:t>
            </a:r>
          </a:p>
          <a:p>
            <a:pPr marL="321229" indent="-171450">
              <a:buClr>
                <a:schemeClr val="tx2"/>
              </a:buClr>
            </a:pPr>
            <a:r>
              <a:rPr lang="en-US" altLang="en-US" sz="1400" dirty="0"/>
              <a:t>free download</a:t>
            </a:r>
          </a:p>
        </p:txBody>
      </p:sp>
      <p:sp>
        <p:nvSpPr>
          <p:cNvPr id="23" name="Content Placeholder 151"/>
          <p:cNvSpPr>
            <a:spLocks noGrp="1"/>
          </p:cNvSpPr>
          <p:nvPr>
            <p:ph idx="4294967295"/>
          </p:nvPr>
        </p:nvSpPr>
        <p:spPr>
          <a:xfrm>
            <a:off x="1777150" y="3439334"/>
            <a:ext cx="2349848" cy="2472067"/>
          </a:xfrm>
        </p:spPr>
        <p:txBody>
          <a:bodyPr>
            <a:normAutofit/>
          </a:bodyPr>
          <a:lstStyle/>
          <a:p>
            <a:pPr marL="321229" indent="-171450">
              <a:buClr>
                <a:schemeClr val="tx2"/>
              </a:buClr>
              <a:defRPr/>
            </a:pPr>
            <a:r>
              <a:rPr lang="en-US" sz="1400" dirty="0"/>
              <a:t>ad hoc analytics, dashboards, reports, graphs</a:t>
            </a:r>
          </a:p>
          <a:p>
            <a:pPr marL="321229" indent="-171450">
              <a:buClr>
                <a:schemeClr val="tx2"/>
              </a:buClr>
              <a:defRPr/>
            </a:pPr>
            <a:r>
              <a:rPr lang="en-US" sz="1400" dirty="0"/>
              <a:t>explore, visualize, and analyze your data</a:t>
            </a:r>
          </a:p>
          <a:p>
            <a:pPr marL="321229" indent="-171450">
              <a:buClr>
                <a:schemeClr val="tx2"/>
              </a:buClr>
              <a:defRPr/>
            </a:pPr>
            <a:r>
              <a:rPr lang="en-US" sz="1400" dirty="0"/>
              <a:t>create dashboards to consolidate multiple views</a:t>
            </a:r>
          </a:p>
          <a:p>
            <a:pPr marL="321229" indent="-171450">
              <a:buClr>
                <a:schemeClr val="tx2"/>
              </a:buClr>
              <a:defRPr/>
            </a:pPr>
            <a:r>
              <a:rPr lang="en-US" sz="1400" dirty="0"/>
              <a:t>deliver interactive data experiences</a:t>
            </a:r>
          </a:p>
          <a:p>
            <a:pPr>
              <a:defRPr/>
            </a:pPr>
            <a:endParaRPr lang="en-US" sz="1400" dirty="0"/>
          </a:p>
        </p:txBody>
      </p:sp>
      <p:pic>
        <p:nvPicPr>
          <p:cNvPr id="24" name="Picture 2"/>
          <p:cNvPicPr>
            <a:picLocks noChangeAspect="1" noChangeArrowheads="1"/>
          </p:cNvPicPr>
          <p:nvPr/>
        </p:nvPicPr>
        <p:blipFill>
          <a:blip r:embed="rId3" cstate="print"/>
          <a:srcRect/>
          <a:stretch>
            <a:fillRect/>
          </a:stretch>
        </p:blipFill>
        <p:spPr bwMode="auto">
          <a:xfrm>
            <a:off x="2109599" y="1662998"/>
            <a:ext cx="2021818"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5" name="Picture 3"/>
          <p:cNvPicPr>
            <a:picLocks noChangeAspect="1" noChangeArrowheads="1"/>
          </p:cNvPicPr>
          <p:nvPr/>
        </p:nvPicPr>
        <p:blipFill>
          <a:blip r:embed="rId4" cstate="print"/>
          <a:srcRect/>
          <a:stretch>
            <a:fillRect/>
          </a:stretch>
        </p:blipFill>
        <p:spPr bwMode="auto">
          <a:xfrm>
            <a:off x="6806534" y="1718284"/>
            <a:ext cx="2074665"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6" name="Picture 2"/>
          <p:cNvPicPr>
            <a:picLocks noChangeAspect="1" noChangeArrowheads="1"/>
          </p:cNvPicPr>
          <p:nvPr/>
        </p:nvPicPr>
        <p:blipFill>
          <a:blip r:embed="rId5" cstate="print"/>
          <a:srcRect/>
          <a:stretch>
            <a:fillRect/>
          </a:stretch>
        </p:blipFill>
        <p:spPr bwMode="auto">
          <a:xfrm>
            <a:off x="4365315" y="1662998"/>
            <a:ext cx="2188568" cy="154384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Text Box 8"/>
          <p:cNvSpPr txBox="1">
            <a:spLocks noChangeArrowheads="1"/>
          </p:cNvSpPr>
          <p:nvPr/>
        </p:nvSpPr>
        <p:spPr bwMode="auto">
          <a:xfrm>
            <a:off x="9213304" y="763624"/>
            <a:ext cx="2004690" cy="72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33" b="1">
                <a:solidFill>
                  <a:srgbClr val="1F497D"/>
                </a:solidFill>
                <a:latin typeface="+mn-lt"/>
              </a:rPr>
              <a:t>Tableau Public</a:t>
            </a:r>
          </a:p>
          <a:p>
            <a:pPr algn="ctr" eaLnBrk="1" hangingPunct="1">
              <a:spcBef>
                <a:spcPct val="50000"/>
              </a:spcBef>
              <a:defRPr/>
            </a:pPr>
            <a:r>
              <a:rPr lang="en-US" sz="1633" b="1">
                <a:solidFill>
                  <a:srgbClr val="E46C0A"/>
                </a:solidFill>
                <a:latin typeface="+mn-lt"/>
              </a:rPr>
              <a:t>Share - Everyone</a:t>
            </a:r>
          </a:p>
        </p:txBody>
      </p:sp>
      <p:sp>
        <p:nvSpPr>
          <p:cNvPr id="28" name="Content Placeholder 151"/>
          <p:cNvSpPr>
            <a:spLocks noGrp="1"/>
          </p:cNvSpPr>
          <p:nvPr>
            <p:ph idx="4294967295"/>
          </p:nvPr>
        </p:nvSpPr>
        <p:spPr>
          <a:xfrm>
            <a:off x="9193305" y="3439401"/>
            <a:ext cx="2073818" cy="1589927"/>
          </a:xfrm>
        </p:spPr>
        <p:txBody>
          <a:bodyPr>
            <a:noAutofit/>
          </a:bodyPr>
          <a:lstStyle/>
          <a:p>
            <a:pPr marL="321229" indent="-171450">
              <a:buClr>
                <a:schemeClr val="tx2"/>
              </a:buClr>
              <a:defRPr/>
            </a:pPr>
            <a:r>
              <a:rPr lang="en-US" sz="1400" dirty="0"/>
              <a:t>create and publish interactive visualizations and dashboards </a:t>
            </a:r>
          </a:p>
          <a:p>
            <a:pPr marL="321229" indent="-171450">
              <a:buClr>
                <a:schemeClr val="tx2"/>
              </a:buClr>
              <a:defRPr/>
            </a:pPr>
            <a:r>
              <a:rPr lang="en-US" sz="1400" dirty="0"/>
              <a:t>embed in websites and blogs</a:t>
            </a:r>
          </a:p>
          <a:p>
            <a:pPr marL="321229" indent="-171450">
              <a:buClr>
                <a:schemeClr val="tx2"/>
              </a:buClr>
              <a:defRPr/>
            </a:pPr>
            <a:r>
              <a:rPr lang="en-US" sz="1400" dirty="0"/>
              <a:t>free download and free hosting service </a:t>
            </a:r>
          </a:p>
          <a:p>
            <a:pPr>
              <a:defRPr/>
            </a:pPr>
            <a:endParaRPr lang="en-US" sz="1400" dirty="0"/>
          </a:p>
        </p:txBody>
      </p:sp>
      <p:pic>
        <p:nvPicPr>
          <p:cNvPr id="29" name="Picture 2"/>
          <p:cNvPicPr>
            <a:picLocks noChangeAspect="1" noChangeArrowheads="1"/>
          </p:cNvPicPr>
          <p:nvPr/>
        </p:nvPicPr>
        <p:blipFill>
          <a:blip r:embed="rId6" cstate="print"/>
          <a:srcRect/>
          <a:stretch>
            <a:fillRect/>
          </a:stretch>
        </p:blipFill>
        <p:spPr bwMode="auto">
          <a:xfrm>
            <a:off x="9394537" y="1662997"/>
            <a:ext cx="2002171" cy="15639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Tableau </a:t>
            </a:r>
            <a:r>
              <a:rPr lang="en-IN" dirty="0" smtClean="0"/>
              <a:t>Products</a:t>
            </a:r>
            <a:endParaRPr lang="en-IN" dirty="0"/>
          </a:p>
        </p:txBody>
      </p:sp>
    </p:spTree>
    <p:extLst>
      <p:ext uri="{BB962C8B-B14F-4D97-AF65-F5344CB8AC3E}">
        <p14:creationId xmlns:p14="http://schemas.microsoft.com/office/powerpoint/2010/main" val="40346793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Steps to create the Tableau Dashboard</a:t>
            </a:r>
            <a:endParaRPr lang="en-IN" dirty="0"/>
          </a:p>
        </p:txBody>
      </p:sp>
      <p:graphicFrame>
        <p:nvGraphicFramePr>
          <p:cNvPr id="3" name="Diagram 2"/>
          <p:cNvGraphicFramePr/>
          <p:nvPr>
            <p:extLst>
              <p:ext uri="{D42A27DB-BD31-4B8C-83A1-F6EECF244321}">
                <p14:modId xmlns:p14="http://schemas.microsoft.com/office/powerpoint/2010/main" val="4104193757"/>
              </p:ext>
            </p:extLst>
          </p:nvPr>
        </p:nvGraphicFramePr>
        <p:xfrm>
          <a:off x="576686" y="732545"/>
          <a:ext cx="11399003"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19638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Connections</a:t>
            </a:r>
          </a:p>
        </p:txBody>
      </p:sp>
      <p:sp>
        <p:nvSpPr>
          <p:cNvPr id="2" name="Rectangle 1"/>
          <p:cNvSpPr/>
          <p:nvPr/>
        </p:nvSpPr>
        <p:spPr>
          <a:xfrm>
            <a:off x="485104" y="787225"/>
            <a:ext cx="11518006" cy="2862322"/>
          </a:xfrm>
          <a:prstGeom prst="rect">
            <a:avLst/>
          </a:prstGeom>
        </p:spPr>
        <p:txBody>
          <a:bodyPr wrap="square">
            <a:spAutoFit/>
          </a:bodyPr>
          <a:lstStyle/>
          <a:p>
            <a:pPr marL="342900" indent="-342900" fontAlgn="base">
              <a:buFont typeface="Arial" panose="020B0604020202020204" pitchFamily="34" charset="0"/>
              <a:buChar char="•"/>
            </a:pPr>
            <a:endParaRPr lang="en-IN" sz="3600" dirty="0" smtClean="0"/>
          </a:p>
          <a:p>
            <a:pPr marL="342900" indent="-342900" fontAlgn="base">
              <a:buFont typeface="Arial" panose="020B0604020202020204" pitchFamily="34" charset="0"/>
              <a:buChar char="•"/>
            </a:pPr>
            <a:endParaRPr lang="en-IN" sz="3600" dirty="0"/>
          </a:p>
          <a:p>
            <a:pPr marL="342900" indent="-342900" fontAlgn="base">
              <a:buFont typeface="Arial" panose="020B0604020202020204" pitchFamily="34" charset="0"/>
              <a:buChar char="•"/>
            </a:pPr>
            <a:r>
              <a:rPr lang="en-IN" sz="3600" dirty="0" smtClean="0"/>
              <a:t>Extract Connection</a:t>
            </a:r>
          </a:p>
          <a:p>
            <a:pPr marL="342900" indent="-342900" fontAlgn="base">
              <a:buFont typeface="Arial" panose="020B0604020202020204" pitchFamily="34" charset="0"/>
              <a:buChar char="•"/>
            </a:pPr>
            <a:endParaRPr lang="en-IN" sz="3600" dirty="0"/>
          </a:p>
          <a:p>
            <a:pPr marL="342900" indent="-342900" fontAlgn="base">
              <a:buFont typeface="Arial" panose="020B0604020202020204" pitchFamily="34" charset="0"/>
              <a:buChar char="•"/>
            </a:pPr>
            <a:r>
              <a:rPr lang="en-IN" sz="3600" dirty="0" smtClean="0"/>
              <a:t>Live Connection</a:t>
            </a:r>
            <a:endParaRPr lang="en-IN" sz="3600" b="0" i="0" dirty="0">
              <a:effectLst/>
            </a:endParaRPr>
          </a:p>
        </p:txBody>
      </p:sp>
    </p:spTree>
    <p:extLst>
      <p:ext uri="{BB962C8B-B14F-4D97-AF65-F5344CB8AC3E}">
        <p14:creationId xmlns:p14="http://schemas.microsoft.com/office/powerpoint/2010/main" val="40491613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Use Cases </a:t>
            </a:r>
            <a:r>
              <a:rPr lang="en-IN" dirty="0"/>
              <a:t>of </a:t>
            </a:r>
            <a:r>
              <a:rPr lang="en-IN" dirty="0" smtClean="0"/>
              <a:t>Connections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fontAlgn="base"/>
            <a:endParaRPr lang="en-IN" sz="2400" dirty="0"/>
          </a:p>
        </p:txBody>
      </p:sp>
      <p:graphicFrame>
        <p:nvGraphicFramePr>
          <p:cNvPr id="3" name="Table 2"/>
          <p:cNvGraphicFramePr>
            <a:graphicFrameLocks noGrp="1"/>
          </p:cNvGraphicFramePr>
          <p:nvPr>
            <p:extLst>
              <p:ext uri="{D42A27DB-BD31-4B8C-83A1-F6EECF244321}">
                <p14:modId xmlns:p14="http://schemas.microsoft.com/office/powerpoint/2010/main" val="1748266192"/>
              </p:ext>
            </p:extLst>
          </p:nvPr>
        </p:nvGraphicFramePr>
        <p:xfrm>
          <a:off x="1441116" y="719666"/>
          <a:ext cx="9309768" cy="4991322"/>
        </p:xfrm>
        <a:graphic>
          <a:graphicData uri="http://schemas.openxmlformats.org/drawingml/2006/table">
            <a:tbl>
              <a:tblPr firstRow="1" bandRow="1">
                <a:tableStyleId>{5C22544A-7EE6-4342-B048-85BDC9FD1C3A}</a:tableStyleId>
              </a:tblPr>
              <a:tblGrid>
                <a:gridCol w="4654884"/>
                <a:gridCol w="4654884"/>
              </a:tblGrid>
              <a:tr h="668130">
                <a:tc>
                  <a:txBody>
                    <a:bodyPr/>
                    <a:lstStyle/>
                    <a:p>
                      <a:pPr algn="ctr"/>
                      <a:r>
                        <a:rPr lang="en-IN" sz="2800" dirty="0" smtClean="0"/>
                        <a:t>Live Connection</a:t>
                      </a:r>
                      <a:endParaRPr lang="en-IN" sz="2800" dirty="0"/>
                    </a:p>
                  </a:txBody>
                  <a:tcPr/>
                </a:tc>
                <a:tc>
                  <a:txBody>
                    <a:bodyPr/>
                    <a:lstStyle/>
                    <a:p>
                      <a:pPr algn="ctr"/>
                      <a:r>
                        <a:rPr lang="en-IN" sz="2800" dirty="0" smtClean="0"/>
                        <a:t>Extract Connection</a:t>
                      </a:r>
                      <a:endParaRPr lang="en-IN" sz="2800" dirty="0"/>
                    </a:p>
                  </a:txBody>
                  <a:tcPr/>
                </a:tc>
              </a:tr>
              <a:tr h="1218354">
                <a:tc>
                  <a:txBody>
                    <a:bodyPr/>
                    <a:lstStyle/>
                    <a:p>
                      <a:pPr algn="ctr"/>
                      <a:r>
                        <a:rPr lang="en-IN" sz="2800" dirty="0" smtClean="0"/>
                        <a:t>Fast Database</a:t>
                      </a:r>
                      <a:endParaRPr lang="en-IN" sz="2800" dirty="0"/>
                    </a:p>
                  </a:txBody>
                  <a:tcPr/>
                </a:tc>
                <a:tc>
                  <a:txBody>
                    <a:bodyPr/>
                    <a:lstStyle/>
                    <a:p>
                      <a:pPr marL="0" indent="0" algn="ctr" fontAlgn="base">
                        <a:buFont typeface="Arial" panose="020B0604020202020204" pitchFamily="34" charset="0"/>
                        <a:buNone/>
                      </a:pPr>
                      <a:r>
                        <a:rPr lang="en-IN" sz="2800" dirty="0" smtClean="0"/>
                        <a:t>Underlying data source is unacceptably slow.</a:t>
                      </a:r>
                    </a:p>
                  </a:txBody>
                  <a:tcPr/>
                </a:tc>
              </a:tr>
              <a:tr h="1218354">
                <a:tc>
                  <a:txBody>
                    <a:bodyPr/>
                    <a:lstStyle/>
                    <a:p>
                      <a:pPr marL="0" indent="0" algn="ctr" fontAlgn="base">
                        <a:buFont typeface="Arial" panose="020B0604020202020204" pitchFamily="34" charset="0"/>
                        <a:buNone/>
                      </a:pPr>
                      <a:r>
                        <a:rPr lang="en-IN" sz="2800" dirty="0" smtClean="0"/>
                        <a:t>Need up-to-the minute data(Real Time Updates)</a:t>
                      </a:r>
                    </a:p>
                  </a:txBody>
                  <a:tcPr/>
                </a:tc>
                <a:tc>
                  <a:txBody>
                    <a:bodyPr/>
                    <a:lstStyle/>
                    <a:p>
                      <a:pPr algn="ctr"/>
                      <a:r>
                        <a:rPr lang="en-IN" sz="2800" dirty="0" smtClean="0"/>
                        <a:t>Optimization</a:t>
                      </a:r>
                      <a:r>
                        <a:rPr lang="en-IN" sz="2800" baseline="0" dirty="0" smtClean="0"/>
                        <a:t> of </a:t>
                      </a:r>
                      <a:r>
                        <a:rPr lang="en-IN" sz="2800" dirty="0" smtClean="0"/>
                        <a:t>calculations and features</a:t>
                      </a:r>
                    </a:p>
                  </a:txBody>
                  <a:tcPr anchor="ctr"/>
                </a:tc>
              </a:tr>
              <a:tr h="1218354">
                <a:tc>
                  <a:txBody>
                    <a:bodyPr/>
                    <a:lstStyle/>
                    <a:p>
                      <a:pPr algn="ctr"/>
                      <a:r>
                        <a:rPr lang="en-IN" sz="2800" dirty="0" smtClean="0"/>
                        <a:t>Data Size Huge</a:t>
                      </a:r>
                      <a:endParaRPr lang="en-IN" sz="2800" dirty="0"/>
                    </a:p>
                  </a:txBody>
                  <a:tcPr/>
                </a:tc>
                <a:tc>
                  <a:txBody>
                    <a:bodyPr/>
                    <a:lstStyle/>
                    <a:p>
                      <a:pPr algn="ctr"/>
                      <a:r>
                        <a:rPr lang="en-IN" sz="2800" dirty="0" smtClean="0"/>
                        <a:t>Access</a:t>
                      </a:r>
                      <a:r>
                        <a:rPr lang="en-IN" sz="2800" baseline="0" dirty="0" smtClean="0"/>
                        <a:t> Offline</a:t>
                      </a:r>
                      <a:endParaRPr lang="en-IN" sz="2800" dirty="0" smtClean="0"/>
                    </a:p>
                    <a:p>
                      <a:pPr algn="ctr"/>
                      <a:endParaRPr lang="en-IN" sz="2800" dirty="0"/>
                    </a:p>
                  </a:txBody>
                  <a:tcPr/>
                </a:tc>
              </a:tr>
              <a:tr h="668130">
                <a:tc>
                  <a:txBody>
                    <a:bodyPr/>
                    <a:lstStyle/>
                    <a:p>
                      <a:pPr algn="ctr"/>
                      <a:endParaRPr lang="en-IN" sz="2800" dirty="0"/>
                    </a:p>
                  </a:txBody>
                  <a:tcPr/>
                </a:tc>
                <a:tc>
                  <a:txBody>
                    <a:bodyPr/>
                    <a:lstStyle/>
                    <a:p>
                      <a:pPr algn="ctr"/>
                      <a:r>
                        <a:rPr lang="en-IN" sz="2800" dirty="0" smtClean="0"/>
                        <a:t>Portable</a:t>
                      </a:r>
                      <a:r>
                        <a:rPr lang="en-IN" sz="2800" baseline="0" dirty="0" smtClean="0"/>
                        <a:t> Dashboard</a:t>
                      </a:r>
                      <a:endParaRPr lang="en-IN" sz="2800" dirty="0"/>
                    </a:p>
                  </a:txBody>
                  <a:tcPr/>
                </a:tc>
              </a:tr>
            </a:tbl>
          </a:graphicData>
        </a:graphic>
      </p:graphicFrame>
    </p:spTree>
    <p:extLst>
      <p:ext uri="{BB962C8B-B14F-4D97-AF65-F5344CB8AC3E}">
        <p14:creationId xmlns:p14="http://schemas.microsoft.com/office/powerpoint/2010/main" val="41788497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a:t>
            </a:r>
            <a:r>
              <a:rPr lang="en-IN" dirty="0" smtClean="0"/>
              <a:t>Connections – Business Scenarios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fontAlgn="base"/>
            <a:endParaRPr lang="en-IN" sz="2400" dirty="0"/>
          </a:p>
        </p:txBody>
      </p:sp>
      <p:graphicFrame>
        <p:nvGraphicFramePr>
          <p:cNvPr id="3" name="Table 2"/>
          <p:cNvGraphicFramePr>
            <a:graphicFrameLocks noGrp="1"/>
          </p:cNvGraphicFramePr>
          <p:nvPr>
            <p:extLst>
              <p:ext uri="{D42A27DB-BD31-4B8C-83A1-F6EECF244321}">
                <p14:modId xmlns:p14="http://schemas.microsoft.com/office/powerpoint/2010/main" val="1218029952"/>
              </p:ext>
            </p:extLst>
          </p:nvPr>
        </p:nvGraphicFramePr>
        <p:xfrm>
          <a:off x="1336842" y="719666"/>
          <a:ext cx="9518316" cy="5360291"/>
        </p:xfrm>
        <a:graphic>
          <a:graphicData uri="http://schemas.openxmlformats.org/drawingml/2006/table">
            <a:tbl>
              <a:tblPr firstRow="1" bandRow="1">
                <a:tableStyleId>{5C22544A-7EE6-4342-B048-85BDC9FD1C3A}</a:tableStyleId>
              </a:tblPr>
              <a:tblGrid>
                <a:gridCol w="4759158"/>
                <a:gridCol w="4759158"/>
              </a:tblGrid>
              <a:tr h="587903">
                <a:tc>
                  <a:txBody>
                    <a:bodyPr/>
                    <a:lstStyle/>
                    <a:p>
                      <a:pPr algn="ctr"/>
                      <a:r>
                        <a:rPr lang="en-IN" sz="2800" dirty="0" smtClean="0"/>
                        <a:t>Use Case</a:t>
                      </a:r>
                      <a:endParaRPr lang="en-IN" sz="2800" dirty="0"/>
                    </a:p>
                  </a:txBody>
                  <a:tcPr anchor="ctr"/>
                </a:tc>
                <a:tc>
                  <a:txBody>
                    <a:bodyPr/>
                    <a:lstStyle/>
                    <a:p>
                      <a:pPr algn="ctr"/>
                      <a:r>
                        <a:rPr lang="en-IN" sz="2800" dirty="0" smtClean="0"/>
                        <a:t>Connections</a:t>
                      </a:r>
                      <a:endParaRPr lang="en-IN" sz="2800" dirty="0"/>
                    </a:p>
                  </a:txBody>
                  <a:tcPr anchor="ctr"/>
                </a:tc>
              </a:tr>
              <a:tr h="1072058">
                <a:tc>
                  <a:txBody>
                    <a:bodyPr/>
                    <a:lstStyle/>
                    <a:p>
                      <a:pPr algn="ctr"/>
                      <a:r>
                        <a:rPr lang="en-IN" sz="2800" dirty="0" smtClean="0"/>
                        <a:t>Stock</a:t>
                      </a:r>
                      <a:r>
                        <a:rPr lang="en-IN" sz="2800" baseline="0" dirty="0" smtClean="0"/>
                        <a:t> Data Analysis (Real Time)</a:t>
                      </a:r>
                      <a:endParaRPr lang="en-IN" sz="2800" dirty="0"/>
                    </a:p>
                  </a:txBody>
                  <a:tcPr anchor="ctr"/>
                </a:tc>
                <a:tc>
                  <a:txBody>
                    <a:bodyPr/>
                    <a:lstStyle/>
                    <a:p>
                      <a:pPr algn="ctr"/>
                      <a:r>
                        <a:rPr lang="en-IN" sz="2800" dirty="0" smtClean="0"/>
                        <a:t>Live</a:t>
                      </a:r>
                      <a:endParaRPr lang="en-IN" sz="2800" dirty="0"/>
                    </a:p>
                  </a:txBody>
                  <a:tcPr anchor="ctr"/>
                </a:tc>
              </a:tr>
              <a:tr h="1072058">
                <a:tc>
                  <a:txBody>
                    <a:bodyPr/>
                    <a:lstStyle/>
                    <a:p>
                      <a:pPr algn="ctr"/>
                      <a:r>
                        <a:rPr lang="en-IN" sz="2800" dirty="0" smtClean="0"/>
                        <a:t>Seller</a:t>
                      </a:r>
                      <a:r>
                        <a:rPr lang="en-IN" sz="2800" baseline="0" dirty="0" smtClean="0"/>
                        <a:t> Dashboard (Refresh at EOD) Flipkart</a:t>
                      </a:r>
                      <a:endParaRPr lang="en-IN" sz="2800" dirty="0"/>
                    </a:p>
                  </a:txBody>
                  <a:tcPr anchor="ctr"/>
                </a:tc>
                <a:tc>
                  <a:txBody>
                    <a:bodyPr/>
                    <a:lstStyle/>
                    <a:p>
                      <a:pPr algn="ctr"/>
                      <a:r>
                        <a:rPr lang="en-IN" sz="2800" dirty="0" smtClean="0"/>
                        <a:t>Extract (Refresh)</a:t>
                      </a:r>
                      <a:endParaRPr lang="en-IN" sz="2800" dirty="0"/>
                    </a:p>
                  </a:txBody>
                  <a:tcPr anchor="ctr"/>
                </a:tc>
              </a:tr>
              <a:tr h="1072058">
                <a:tc>
                  <a:txBody>
                    <a:bodyPr/>
                    <a:lstStyle/>
                    <a:p>
                      <a:pPr algn="ctr"/>
                      <a:r>
                        <a:rPr lang="en-IN" sz="2800" dirty="0" smtClean="0"/>
                        <a:t>Digital</a:t>
                      </a:r>
                      <a:r>
                        <a:rPr lang="en-IN" sz="2800" baseline="0" dirty="0" smtClean="0"/>
                        <a:t> Data (File/Data Source Size Huge)</a:t>
                      </a:r>
                      <a:endParaRPr lang="en-IN" sz="2800" dirty="0"/>
                    </a:p>
                  </a:txBody>
                  <a:tcPr anchor="ctr"/>
                </a:tc>
                <a:tc>
                  <a:txBody>
                    <a:bodyPr/>
                    <a:lstStyle/>
                    <a:p>
                      <a:pPr algn="ctr"/>
                      <a:r>
                        <a:rPr lang="en-IN" sz="2800" dirty="0" smtClean="0"/>
                        <a:t>Live</a:t>
                      </a:r>
                    </a:p>
                    <a:p>
                      <a:pPr algn="ctr"/>
                      <a:endParaRPr lang="en-IN" sz="2800" dirty="0"/>
                    </a:p>
                  </a:txBody>
                  <a:tcPr anchor="ctr"/>
                </a:tc>
              </a:tr>
              <a:tr h="1556214">
                <a:tc>
                  <a:txBody>
                    <a:bodyPr/>
                    <a:lstStyle/>
                    <a:p>
                      <a:pPr algn="ctr"/>
                      <a:r>
                        <a:rPr lang="en-IN" sz="2800" dirty="0" smtClean="0"/>
                        <a:t>Campaign Results (Static Data Source – Refresh quarterly)</a:t>
                      </a:r>
                      <a:endParaRPr lang="en-IN" sz="2800" dirty="0"/>
                    </a:p>
                  </a:txBody>
                  <a:tcPr anchor="ctr"/>
                </a:tc>
                <a:tc>
                  <a:txBody>
                    <a:bodyPr/>
                    <a:lstStyle/>
                    <a:p>
                      <a:pPr algn="ctr"/>
                      <a:r>
                        <a:rPr lang="en-IN" sz="2800" dirty="0" smtClean="0"/>
                        <a:t>Extract</a:t>
                      </a:r>
                      <a:endParaRPr lang="en-IN" sz="2800" dirty="0"/>
                    </a:p>
                  </a:txBody>
                  <a:tcPr anchor="ctr"/>
                </a:tc>
              </a:tr>
            </a:tbl>
          </a:graphicData>
        </a:graphic>
      </p:graphicFrame>
    </p:spTree>
    <p:extLst>
      <p:ext uri="{BB962C8B-B14F-4D97-AF65-F5344CB8AC3E}">
        <p14:creationId xmlns:p14="http://schemas.microsoft.com/office/powerpoint/2010/main" val="8522625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Types of </a:t>
            </a:r>
            <a:r>
              <a:rPr lang="en-IN" dirty="0" smtClean="0"/>
              <a:t>Connections</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3454760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Dimensions vs Measures</a:t>
            </a:r>
            <a:endParaRPr lang="en-IN" dirty="0"/>
          </a:p>
        </p:txBody>
      </p:sp>
      <p:sp>
        <p:nvSpPr>
          <p:cNvPr id="2" name="Rectangle 1"/>
          <p:cNvSpPr/>
          <p:nvPr/>
        </p:nvSpPr>
        <p:spPr>
          <a:xfrm>
            <a:off x="485104" y="787225"/>
            <a:ext cx="11518006" cy="4524315"/>
          </a:xfrm>
          <a:prstGeom prst="rect">
            <a:avLst/>
          </a:prstGeom>
        </p:spPr>
        <p:txBody>
          <a:bodyPr wrap="square">
            <a:spAutoFit/>
          </a:bodyPr>
          <a:lstStyle/>
          <a:p>
            <a:pPr fontAlgn="base"/>
            <a:endParaRPr lang="en-IN" sz="3200" b="0" i="0" dirty="0" smtClean="0">
              <a:effectLst/>
            </a:endParaRPr>
          </a:p>
          <a:p>
            <a:pPr fontAlgn="base"/>
            <a:r>
              <a:rPr lang="en-IN" sz="3200" b="1" i="0" dirty="0" smtClean="0">
                <a:effectLst/>
              </a:rPr>
              <a:t>Dimensions</a:t>
            </a:r>
            <a:r>
              <a:rPr lang="en-IN" sz="3200" b="0" i="0" dirty="0" smtClean="0">
                <a:effectLst/>
              </a:rPr>
              <a:t> are those columns in the data source which </a:t>
            </a:r>
            <a:r>
              <a:rPr lang="en-IN" sz="3200" dirty="0"/>
              <a:t>contain discrete categorical information </a:t>
            </a:r>
            <a:r>
              <a:rPr lang="en-IN" sz="3200" b="0" i="0" dirty="0" smtClean="0">
                <a:effectLst/>
              </a:rPr>
              <a:t>.</a:t>
            </a:r>
          </a:p>
          <a:p>
            <a:pPr fontAlgn="base"/>
            <a:endParaRPr lang="en-IN" sz="3200" dirty="0"/>
          </a:p>
          <a:p>
            <a:pPr fontAlgn="base"/>
            <a:r>
              <a:rPr lang="en-IN" sz="3200" b="1" dirty="0" smtClean="0"/>
              <a:t>Measures</a:t>
            </a:r>
            <a:r>
              <a:rPr lang="en-IN" sz="3200" dirty="0" smtClean="0"/>
              <a:t> are those columns in the data source which </a:t>
            </a:r>
            <a:r>
              <a:rPr lang="en-IN" sz="3200" dirty="0"/>
              <a:t>contain quantitative, numerical </a:t>
            </a:r>
            <a:r>
              <a:rPr lang="en-IN" sz="3200" dirty="0" smtClean="0"/>
              <a:t>information </a:t>
            </a:r>
            <a:r>
              <a:rPr lang="en-IN" sz="3200" dirty="0"/>
              <a:t>(that is, fields where the values are numbers)</a:t>
            </a:r>
            <a:r>
              <a:rPr lang="en-IN" sz="3200" dirty="0" smtClean="0"/>
              <a:t>.</a:t>
            </a:r>
          </a:p>
          <a:p>
            <a:pPr marL="342900" indent="-342900" fontAlgn="base">
              <a:buFont typeface="Arial" panose="020B0604020202020204" pitchFamily="34" charset="0"/>
              <a:buChar char="•"/>
            </a:pPr>
            <a:endParaRPr lang="en-IN" sz="3200" dirty="0" smtClean="0"/>
          </a:p>
          <a:p>
            <a:pPr fontAlgn="base"/>
            <a:endParaRPr lang="en-IN" sz="3200" dirty="0"/>
          </a:p>
        </p:txBody>
      </p:sp>
    </p:spTree>
    <p:extLst>
      <p:ext uri="{BB962C8B-B14F-4D97-AF65-F5344CB8AC3E}">
        <p14:creationId xmlns:p14="http://schemas.microsoft.com/office/powerpoint/2010/main" val="5614772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754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Dimensions vs Measures - Example</a:t>
            </a:r>
            <a:endParaRPr lang="en-IN" dirty="0"/>
          </a:p>
        </p:txBody>
      </p:sp>
      <p:sp>
        <p:nvSpPr>
          <p:cNvPr id="2" name="Rectangle 1"/>
          <p:cNvSpPr/>
          <p:nvPr/>
        </p:nvSpPr>
        <p:spPr>
          <a:xfrm>
            <a:off x="485104" y="787225"/>
            <a:ext cx="11518006" cy="1569660"/>
          </a:xfrm>
          <a:prstGeom prst="rect">
            <a:avLst/>
          </a:prstGeom>
        </p:spPr>
        <p:txBody>
          <a:bodyPr wrap="square">
            <a:spAutoFit/>
          </a:bodyPr>
          <a:lstStyle/>
          <a:p>
            <a:pPr fontAlgn="base"/>
            <a:endParaRPr lang="en-IN" sz="3200" b="0" i="0" dirty="0" smtClean="0">
              <a:effectLst/>
            </a:endParaRPr>
          </a:p>
          <a:p>
            <a:pPr marL="342900" indent="-342900" fontAlgn="base">
              <a:buFont typeface="Arial" panose="020B0604020202020204" pitchFamily="34" charset="0"/>
              <a:buChar char="•"/>
            </a:pPr>
            <a:endParaRPr lang="en-IN" sz="3200" dirty="0" smtClean="0"/>
          </a:p>
          <a:p>
            <a:pPr fontAlgn="base"/>
            <a:endParaRPr lang="en-IN" sz="3200" dirty="0"/>
          </a:p>
        </p:txBody>
      </p:sp>
      <p:graphicFrame>
        <p:nvGraphicFramePr>
          <p:cNvPr id="3" name="Table 2"/>
          <p:cNvGraphicFramePr>
            <a:graphicFrameLocks noGrp="1"/>
          </p:cNvGraphicFramePr>
          <p:nvPr>
            <p:extLst>
              <p:ext uri="{D42A27DB-BD31-4B8C-83A1-F6EECF244321}">
                <p14:modId xmlns:p14="http://schemas.microsoft.com/office/powerpoint/2010/main" val="823234931"/>
              </p:ext>
            </p:extLst>
          </p:nvPr>
        </p:nvGraphicFramePr>
        <p:xfrm>
          <a:off x="3853834" y="2356885"/>
          <a:ext cx="4780547" cy="3129516"/>
        </p:xfrm>
        <a:graphic>
          <a:graphicData uri="http://schemas.openxmlformats.org/drawingml/2006/table">
            <a:tbl>
              <a:tblPr>
                <a:tableStyleId>{5C22544A-7EE6-4342-B048-85BDC9FD1C3A}</a:tableStyleId>
              </a:tblPr>
              <a:tblGrid>
                <a:gridCol w="2633595"/>
                <a:gridCol w="2146952"/>
              </a:tblGrid>
              <a:tr h="782379">
                <a:tc>
                  <a:txBody>
                    <a:bodyPr/>
                    <a:lstStyle/>
                    <a:p>
                      <a:pPr algn="ctr" fontAlgn="b"/>
                      <a:r>
                        <a:rPr lang="en-IN" sz="2800" b="1" u="none" strike="noStrike" dirty="0" smtClean="0">
                          <a:effectLst/>
                        </a:rPr>
                        <a:t>State</a:t>
                      </a:r>
                      <a:endParaRPr lang="en-IN"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IN" sz="2800" b="1" u="none" strike="noStrike" dirty="0">
                          <a:effectLst/>
                        </a:rPr>
                        <a:t>Population</a:t>
                      </a:r>
                      <a:endParaRPr lang="en-IN"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2379">
                <a:tc>
                  <a:txBody>
                    <a:bodyPr/>
                    <a:lstStyle/>
                    <a:p>
                      <a:pPr algn="ctr" fontAlgn="b"/>
                      <a:r>
                        <a:rPr lang="en-IN" sz="2800" u="none" strike="noStrike">
                          <a:effectLst/>
                        </a:rPr>
                        <a:t>Jharkhand</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dirty="0">
                          <a:effectLst/>
                        </a:rPr>
                        <a:t>1000000</a:t>
                      </a:r>
                      <a:endParaRPr lang="en-IN" sz="2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2379">
                <a:tc>
                  <a:txBody>
                    <a:bodyPr/>
                    <a:lstStyle/>
                    <a:p>
                      <a:pPr algn="ctr" fontAlgn="b"/>
                      <a:r>
                        <a:rPr lang="en-IN" sz="2800" u="none" strike="noStrike">
                          <a:effectLst/>
                        </a:rPr>
                        <a:t>Bihar</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a:effectLst/>
                        </a:rPr>
                        <a:t>2000000</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82379">
                <a:tc>
                  <a:txBody>
                    <a:bodyPr/>
                    <a:lstStyle/>
                    <a:p>
                      <a:pPr algn="ctr" fontAlgn="b"/>
                      <a:r>
                        <a:rPr lang="en-IN" sz="2800" u="none" strike="noStrike">
                          <a:effectLst/>
                        </a:rPr>
                        <a:t>Uttar Pradesh</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dirty="0">
                          <a:effectLst/>
                        </a:rPr>
                        <a:t>3000000</a:t>
                      </a:r>
                      <a:endParaRPr lang="en-IN" sz="2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TextBox 3"/>
          <p:cNvSpPr txBox="1"/>
          <p:nvPr/>
        </p:nvSpPr>
        <p:spPr>
          <a:xfrm>
            <a:off x="1599918" y="930442"/>
            <a:ext cx="9288379" cy="584775"/>
          </a:xfrm>
          <a:prstGeom prst="rect">
            <a:avLst/>
          </a:prstGeom>
          <a:noFill/>
        </p:spPr>
        <p:txBody>
          <a:bodyPr wrap="square" rtlCol="0">
            <a:spAutoFit/>
          </a:bodyPr>
          <a:lstStyle/>
          <a:p>
            <a:pPr algn="ctr"/>
            <a:r>
              <a:rPr lang="en-IN" sz="3200" b="1" dirty="0" smtClean="0"/>
              <a:t>Identify Dimension and Measure here.</a:t>
            </a:r>
            <a:endParaRPr lang="en-IN" sz="3200" b="1" dirty="0"/>
          </a:p>
        </p:txBody>
      </p:sp>
    </p:spTree>
    <p:extLst>
      <p:ext uri="{BB962C8B-B14F-4D97-AF65-F5344CB8AC3E}">
        <p14:creationId xmlns:p14="http://schemas.microsoft.com/office/powerpoint/2010/main" val="20477495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Calculated Fields</a:t>
            </a:r>
          </a:p>
        </p:txBody>
      </p:sp>
      <p:sp>
        <p:nvSpPr>
          <p:cNvPr id="2" name="Rectangle 1"/>
          <p:cNvSpPr/>
          <p:nvPr/>
        </p:nvSpPr>
        <p:spPr>
          <a:xfrm>
            <a:off x="485104" y="787225"/>
            <a:ext cx="11518006" cy="6186309"/>
          </a:xfrm>
          <a:prstGeom prst="rect">
            <a:avLst/>
          </a:prstGeom>
        </p:spPr>
        <p:txBody>
          <a:bodyPr wrap="square">
            <a:spAutoFit/>
          </a:bodyPr>
          <a:lstStyle/>
          <a:p>
            <a:pPr fontAlgn="base"/>
            <a:endParaRPr lang="en-IN" sz="3600" dirty="0" smtClean="0"/>
          </a:p>
          <a:p>
            <a:pPr fontAlgn="base"/>
            <a:r>
              <a:rPr lang="en-IN" sz="3600" dirty="0" smtClean="0"/>
              <a:t>Dimensions/Measures  which are based on a formulae.</a:t>
            </a:r>
          </a:p>
          <a:p>
            <a:pPr fontAlgn="base"/>
            <a:endParaRPr lang="en-IN" sz="3600" dirty="0"/>
          </a:p>
          <a:p>
            <a:pPr fontAlgn="base"/>
            <a:endParaRPr lang="en-IN" sz="3600" dirty="0" smtClean="0"/>
          </a:p>
          <a:p>
            <a:pPr fontAlgn="base"/>
            <a:endParaRPr lang="en-IN" sz="3600" dirty="0"/>
          </a:p>
          <a:p>
            <a:pPr fontAlgn="base"/>
            <a:endParaRPr lang="en-IN" sz="3600" dirty="0" smtClean="0"/>
          </a:p>
          <a:p>
            <a:pPr fontAlgn="base"/>
            <a:endParaRPr lang="en-IN" sz="3600" dirty="0" smtClean="0"/>
          </a:p>
          <a:p>
            <a:pPr fontAlgn="base"/>
            <a:r>
              <a:rPr lang="en-IN" sz="3600" dirty="0" smtClean="0"/>
              <a:t>If our data source has Revenue and Cost, we can create a separate measure in Tableau for Profit = Revenue - Cost</a:t>
            </a:r>
          </a:p>
          <a:p>
            <a:pPr marL="342900" indent="-342900" fontAlgn="base">
              <a:buFont typeface="Arial" panose="020B0604020202020204" pitchFamily="34" charset="0"/>
              <a:buChar char="•"/>
            </a:pPr>
            <a:endParaRPr lang="en-IN" sz="3600" dirty="0" smtClean="0"/>
          </a:p>
          <a:p>
            <a:pPr marL="342900" indent="-342900" fontAlgn="base">
              <a:buFont typeface="Arial" panose="020B0604020202020204" pitchFamily="34" charset="0"/>
              <a:buChar char="•"/>
            </a:pPr>
            <a:endParaRPr lang="en-IN" sz="3600" dirty="0"/>
          </a:p>
        </p:txBody>
      </p:sp>
      <p:graphicFrame>
        <p:nvGraphicFramePr>
          <p:cNvPr id="4" name="Table 3"/>
          <p:cNvGraphicFramePr>
            <a:graphicFrameLocks noGrp="1"/>
          </p:cNvGraphicFramePr>
          <p:nvPr>
            <p:extLst>
              <p:ext uri="{D42A27DB-BD31-4B8C-83A1-F6EECF244321}">
                <p14:modId xmlns:p14="http://schemas.microsoft.com/office/powerpoint/2010/main" val="1001208334"/>
              </p:ext>
            </p:extLst>
          </p:nvPr>
        </p:nvGraphicFramePr>
        <p:xfrm>
          <a:off x="3689683" y="2241652"/>
          <a:ext cx="4443663" cy="1966650"/>
        </p:xfrm>
        <a:graphic>
          <a:graphicData uri="http://schemas.openxmlformats.org/drawingml/2006/table">
            <a:tbl>
              <a:tblPr>
                <a:tableStyleId>{5C22544A-7EE6-4342-B048-85BDC9FD1C3A}</a:tableStyleId>
              </a:tblPr>
              <a:tblGrid>
                <a:gridCol w="1481221"/>
                <a:gridCol w="1481221"/>
                <a:gridCol w="1481221"/>
              </a:tblGrid>
              <a:tr h="655550">
                <a:tc>
                  <a:txBody>
                    <a:bodyPr/>
                    <a:lstStyle/>
                    <a:p>
                      <a:pPr algn="ctr" fontAlgn="b"/>
                      <a:r>
                        <a:rPr lang="en-IN" sz="2800" b="1" u="none" strike="noStrike" dirty="0">
                          <a:effectLst/>
                        </a:rPr>
                        <a:t>Revenue</a:t>
                      </a:r>
                      <a:endParaRPr lang="en-IN"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b="1" u="none" strike="noStrike" dirty="0">
                          <a:effectLst/>
                        </a:rPr>
                        <a:t>Cost</a:t>
                      </a:r>
                      <a:endParaRPr lang="en-IN"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b="1" u="none" strike="noStrike" dirty="0">
                          <a:effectLst/>
                        </a:rPr>
                        <a:t>Profit</a:t>
                      </a:r>
                      <a:endParaRPr lang="en-IN" sz="28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550">
                <a:tc>
                  <a:txBody>
                    <a:bodyPr/>
                    <a:lstStyle/>
                    <a:p>
                      <a:pPr algn="ctr" fontAlgn="b"/>
                      <a:r>
                        <a:rPr lang="en-IN" sz="2800" u="none" strike="noStrike">
                          <a:effectLst/>
                        </a:rPr>
                        <a:t>1000</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dirty="0">
                          <a:effectLst/>
                        </a:rPr>
                        <a:t>800</a:t>
                      </a:r>
                      <a:endParaRPr lang="en-IN" sz="2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dirty="0">
                          <a:effectLst/>
                        </a:rPr>
                        <a:t>200</a:t>
                      </a:r>
                      <a:endParaRPr lang="en-IN" sz="2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55550">
                <a:tc>
                  <a:txBody>
                    <a:bodyPr/>
                    <a:lstStyle/>
                    <a:p>
                      <a:pPr algn="ctr" fontAlgn="b"/>
                      <a:r>
                        <a:rPr lang="en-IN" sz="2800" u="none" strike="noStrike">
                          <a:effectLst/>
                        </a:rPr>
                        <a:t>1200</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a:effectLst/>
                        </a:rPr>
                        <a:t>400</a:t>
                      </a:r>
                      <a:endParaRPr lang="en-IN" sz="28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800" u="none" strike="noStrike" dirty="0">
                          <a:effectLst/>
                        </a:rPr>
                        <a:t>800</a:t>
                      </a:r>
                      <a:endParaRPr lang="en-IN" sz="28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8286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Calculated </a:t>
            </a:r>
            <a:r>
              <a:rPr lang="en-IN" dirty="0" smtClean="0"/>
              <a:t>Fields</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6751309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a:t>
            </a:r>
            <a:endParaRPr lang="en-IN" dirty="0"/>
          </a:p>
        </p:txBody>
      </p:sp>
      <p:sp>
        <p:nvSpPr>
          <p:cNvPr id="2" name="Rectangle 1"/>
          <p:cNvSpPr/>
          <p:nvPr/>
        </p:nvSpPr>
        <p:spPr>
          <a:xfrm>
            <a:off x="485104" y="787225"/>
            <a:ext cx="11518006" cy="5509200"/>
          </a:xfrm>
          <a:prstGeom prst="rect">
            <a:avLst/>
          </a:prstGeom>
        </p:spPr>
        <p:txBody>
          <a:bodyPr wrap="square">
            <a:spAutoFit/>
          </a:bodyPr>
          <a:lstStyle/>
          <a:p>
            <a:pPr fontAlgn="base"/>
            <a:endParaRPr lang="en-IN" sz="3200" b="0" i="0" dirty="0" smtClean="0">
              <a:effectLst/>
            </a:endParaRPr>
          </a:p>
          <a:p>
            <a:pPr fontAlgn="base"/>
            <a:r>
              <a:rPr lang="en-IN" sz="3200" b="0" i="0" dirty="0" smtClean="0">
                <a:effectLst/>
              </a:rPr>
              <a:t>There are </a:t>
            </a:r>
            <a:r>
              <a:rPr lang="en-IN" sz="3200" dirty="0"/>
              <a:t>3</a:t>
            </a:r>
            <a:r>
              <a:rPr lang="en-IN" sz="3200" b="0" i="0" dirty="0" smtClean="0">
                <a:effectLst/>
              </a:rPr>
              <a:t> filters – </a:t>
            </a:r>
          </a:p>
          <a:p>
            <a:pPr fontAlgn="base"/>
            <a:endParaRPr lang="en-IN" sz="3200" dirty="0"/>
          </a:p>
          <a:p>
            <a:pPr marL="457200" indent="-457200" fontAlgn="base">
              <a:buAutoNum type="arabicPeriod"/>
            </a:pPr>
            <a:r>
              <a:rPr lang="en-IN" sz="3200" dirty="0" smtClean="0"/>
              <a:t>Normal Filters</a:t>
            </a:r>
          </a:p>
          <a:p>
            <a:pPr marL="457200" indent="-457200" fontAlgn="base">
              <a:buAutoNum type="arabicPeriod"/>
            </a:pPr>
            <a:endParaRPr lang="en-IN" sz="3200" dirty="0" smtClean="0"/>
          </a:p>
          <a:p>
            <a:pPr marL="457200" indent="-457200" fontAlgn="base">
              <a:buFontTx/>
              <a:buAutoNum type="arabicPeriod"/>
            </a:pPr>
            <a:r>
              <a:rPr lang="en-IN" sz="3200" dirty="0"/>
              <a:t>Action </a:t>
            </a:r>
            <a:r>
              <a:rPr lang="en-IN" sz="3200" dirty="0" smtClean="0"/>
              <a:t>Filters</a:t>
            </a:r>
          </a:p>
          <a:p>
            <a:pPr marL="914400" lvl="1" indent="-457200" fontAlgn="base">
              <a:buFontTx/>
              <a:buAutoNum type="arabicPeriod"/>
            </a:pPr>
            <a:r>
              <a:rPr lang="en-IN" sz="3200" dirty="0" smtClean="0"/>
              <a:t>Action Filters</a:t>
            </a:r>
          </a:p>
          <a:p>
            <a:pPr marL="914400" lvl="1" indent="-457200" fontAlgn="base">
              <a:buFontTx/>
              <a:buAutoNum type="arabicPeriod"/>
            </a:pPr>
            <a:r>
              <a:rPr lang="en-IN" sz="3200" dirty="0" smtClean="0"/>
              <a:t>URL Filters</a:t>
            </a:r>
          </a:p>
          <a:p>
            <a:pPr marL="914400" lvl="1" indent="-457200" fontAlgn="base">
              <a:buFontTx/>
              <a:buAutoNum type="arabicPeriod"/>
            </a:pPr>
            <a:endParaRPr lang="en-IN" sz="3200" dirty="0" smtClean="0"/>
          </a:p>
          <a:p>
            <a:pPr marL="457200" indent="-457200" fontAlgn="base">
              <a:buAutoNum type="arabicPeriod"/>
            </a:pPr>
            <a:r>
              <a:rPr lang="en-IN" sz="3200" dirty="0" smtClean="0"/>
              <a:t>Context Filters</a:t>
            </a:r>
          </a:p>
          <a:p>
            <a:pPr marL="342900" indent="-342900" fontAlgn="base">
              <a:buFont typeface="Arial" panose="020B0604020202020204" pitchFamily="34" charset="0"/>
              <a:buChar char="•"/>
            </a:pPr>
            <a:endParaRPr lang="en-IN" sz="3200" dirty="0"/>
          </a:p>
        </p:txBody>
      </p:sp>
    </p:spTree>
    <p:extLst>
      <p:ext uri="{BB962C8B-B14F-4D97-AF65-F5344CB8AC3E}">
        <p14:creationId xmlns:p14="http://schemas.microsoft.com/office/powerpoint/2010/main" val="21094897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Normal Filters</a:t>
            </a:r>
            <a:endParaRPr lang="en-IN" dirty="0"/>
          </a:p>
        </p:txBody>
      </p:sp>
      <p:sp>
        <p:nvSpPr>
          <p:cNvPr id="2" name="Rectangle 1"/>
          <p:cNvSpPr/>
          <p:nvPr/>
        </p:nvSpPr>
        <p:spPr>
          <a:xfrm>
            <a:off x="485104" y="787225"/>
            <a:ext cx="11518006" cy="1077218"/>
          </a:xfrm>
          <a:prstGeom prst="rect">
            <a:avLst/>
          </a:prstGeom>
        </p:spPr>
        <p:txBody>
          <a:bodyPr wrap="square">
            <a:spAutoFit/>
          </a:bodyPr>
          <a:lstStyle/>
          <a:p>
            <a:pPr fontAlgn="base"/>
            <a:r>
              <a:rPr lang="en-IN" sz="3200" dirty="0" smtClean="0"/>
              <a:t>Use for filtering data by using measure/dimension. This is a sheet level filter.</a:t>
            </a:r>
            <a:endParaRPr lang="en-IN" sz="3200" dirty="0"/>
          </a:p>
        </p:txBody>
      </p:sp>
      <p:pic>
        <p:nvPicPr>
          <p:cNvPr id="3" name="Picture 2"/>
          <p:cNvPicPr>
            <a:picLocks noChangeAspect="1"/>
          </p:cNvPicPr>
          <p:nvPr/>
        </p:nvPicPr>
        <p:blipFill>
          <a:blip r:embed="rId2"/>
          <a:stretch>
            <a:fillRect/>
          </a:stretch>
        </p:blipFill>
        <p:spPr>
          <a:xfrm>
            <a:off x="1174913" y="1732731"/>
            <a:ext cx="8053589" cy="4490849"/>
          </a:xfrm>
          <a:prstGeom prst="rect">
            <a:avLst/>
          </a:prstGeom>
        </p:spPr>
      </p:pic>
    </p:spTree>
    <p:extLst>
      <p:ext uri="{BB962C8B-B14F-4D97-AF65-F5344CB8AC3E}">
        <p14:creationId xmlns:p14="http://schemas.microsoft.com/office/powerpoint/2010/main" val="16051527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Normal Filters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6759180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Action Filters</a:t>
            </a:r>
            <a:endParaRPr lang="en-IN" dirty="0"/>
          </a:p>
        </p:txBody>
      </p:sp>
      <p:sp>
        <p:nvSpPr>
          <p:cNvPr id="2" name="Rectangle 1"/>
          <p:cNvSpPr/>
          <p:nvPr/>
        </p:nvSpPr>
        <p:spPr>
          <a:xfrm>
            <a:off x="485104" y="787225"/>
            <a:ext cx="11518006" cy="646331"/>
          </a:xfrm>
          <a:prstGeom prst="rect">
            <a:avLst/>
          </a:prstGeom>
        </p:spPr>
        <p:txBody>
          <a:bodyPr wrap="square">
            <a:spAutoFit/>
          </a:bodyPr>
          <a:lstStyle/>
          <a:p>
            <a:pPr fontAlgn="base"/>
            <a:r>
              <a:rPr lang="en-IN" sz="3600" dirty="0" smtClean="0"/>
              <a:t>Use for drill-down filtering across sheets.</a:t>
            </a:r>
          </a:p>
        </p:txBody>
      </p:sp>
      <p:pic>
        <p:nvPicPr>
          <p:cNvPr id="3" name="Picture 2"/>
          <p:cNvPicPr>
            <a:picLocks noChangeAspect="1"/>
          </p:cNvPicPr>
          <p:nvPr/>
        </p:nvPicPr>
        <p:blipFill>
          <a:blip r:embed="rId2"/>
          <a:stretch>
            <a:fillRect/>
          </a:stretch>
        </p:blipFill>
        <p:spPr>
          <a:xfrm>
            <a:off x="485104" y="1555984"/>
            <a:ext cx="10127088" cy="4617789"/>
          </a:xfrm>
          <a:prstGeom prst="rect">
            <a:avLst/>
          </a:prstGeom>
        </p:spPr>
      </p:pic>
    </p:spTree>
    <p:extLst>
      <p:ext uri="{BB962C8B-B14F-4D97-AF65-F5344CB8AC3E}">
        <p14:creationId xmlns:p14="http://schemas.microsoft.com/office/powerpoint/2010/main" val="37095690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Action Filters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14514568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URL Filters</a:t>
            </a:r>
            <a:endParaRPr lang="en-IN" dirty="0"/>
          </a:p>
        </p:txBody>
      </p:sp>
      <p:sp>
        <p:nvSpPr>
          <p:cNvPr id="2" name="Rectangle 1"/>
          <p:cNvSpPr/>
          <p:nvPr/>
        </p:nvSpPr>
        <p:spPr>
          <a:xfrm>
            <a:off x="485104" y="787225"/>
            <a:ext cx="11518006" cy="1077218"/>
          </a:xfrm>
          <a:prstGeom prst="rect">
            <a:avLst/>
          </a:prstGeom>
        </p:spPr>
        <p:txBody>
          <a:bodyPr wrap="square">
            <a:spAutoFit/>
          </a:bodyPr>
          <a:lstStyle/>
          <a:p>
            <a:pPr fontAlgn="base"/>
            <a:r>
              <a:rPr lang="en-IN" sz="3200" dirty="0" smtClean="0"/>
              <a:t>A </a:t>
            </a:r>
            <a:r>
              <a:rPr lang="en-IN" sz="3200" dirty="0"/>
              <a:t>URL action is a hyperlink that points to a Web page, file, or other web-based resource outside of Tableau. </a:t>
            </a:r>
            <a:endParaRPr lang="en-IN" sz="3200" dirty="0" smtClean="0"/>
          </a:p>
        </p:txBody>
      </p:sp>
      <p:pic>
        <p:nvPicPr>
          <p:cNvPr id="4" name="Picture 3"/>
          <p:cNvPicPr>
            <a:picLocks noChangeAspect="1"/>
          </p:cNvPicPr>
          <p:nvPr/>
        </p:nvPicPr>
        <p:blipFill>
          <a:blip r:embed="rId2"/>
          <a:stretch>
            <a:fillRect/>
          </a:stretch>
        </p:blipFill>
        <p:spPr>
          <a:xfrm>
            <a:off x="2960666" y="2356885"/>
            <a:ext cx="6917430" cy="3895146"/>
          </a:xfrm>
          <a:prstGeom prst="rect">
            <a:avLst/>
          </a:prstGeom>
        </p:spPr>
      </p:pic>
    </p:spTree>
    <p:extLst>
      <p:ext uri="{BB962C8B-B14F-4D97-AF65-F5344CB8AC3E}">
        <p14:creationId xmlns:p14="http://schemas.microsoft.com/office/powerpoint/2010/main" val="20654644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URL Filters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1028952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Context Filters</a:t>
            </a:r>
            <a:endParaRPr lang="en-IN" dirty="0"/>
          </a:p>
        </p:txBody>
      </p:sp>
      <p:sp>
        <p:nvSpPr>
          <p:cNvPr id="2" name="Rectangle 1"/>
          <p:cNvSpPr/>
          <p:nvPr/>
        </p:nvSpPr>
        <p:spPr>
          <a:xfrm>
            <a:off x="485104" y="787225"/>
            <a:ext cx="11518006" cy="4031873"/>
          </a:xfrm>
          <a:prstGeom prst="rect">
            <a:avLst/>
          </a:prstGeom>
        </p:spPr>
        <p:txBody>
          <a:bodyPr wrap="square">
            <a:spAutoFit/>
          </a:bodyPr>
          <a:lstStyle/>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r>
              <a:rPr lang="en-IN" sz="3200" dirty="0" smtClean="0"/>
              <a:t>By </a:t>
            </a:r>
            <a:r>
              <a:rPr lang="en-IN" sz="3200" dirty="0"/>
              <a:t>default, all filters that you set in Tableau are computed independently. </a:t>
            </a:r>
            <a:endParaRPr lang="en-IN" sz="3200" dirty="0" smtClean="0"/>
          </a:p>
          <a:p>
            <a:pPr fontAlgn="base"/>
            <a:endParaRPr lang="en-IN" sz="3200" dirty="0"/>
          </a:p>
          <a:p>
            <a:pPr marL="342900" indent="-342900" fontAlgn="base">
              <a:buFont typeface="Arial" panose="020B0604020202020204" pitchFamily="34" charset="0"/>
              <a:buChar char="•"/>
            </a:pPr>
            <a:r>
              <a:rPr lang="en-IN" sz="3200" dirty="0" smtClean="0"/>
              <a:t>A </a:t>
            </a:r>
            <a:r>
              <a:rPr lang="en-IN" sz="3200" dirty="0"/>
              <a:t>context filter </a:t>
            </a:r>
            <a:r>
              <a:rPr lang="en-IN" sz="3200" dirty="0" smtClean="0"/>
              <a:t>is treated as </a:t>
            </a:r>
            <a:r>
              <a:rPr lang="en-IN" sz="3200" dirty="0"/>
              <a:t>independent filter. </a:t>
            </a:r>
            <a:r>
              <a:rPr lang="en-IN" sz="3200" dirty="0" smtClean="0"/>
              <a:t>But, any </a:t>
            </a:r>
            <a:r>
              <a:rPr lang="en-IN" sz="3200" dirty="0"/>
              <a:t>other filters that you set are defined as dependent filters because they process only the data that passes through the context filter</a:t>
            </a:r>
            <a:r>
              <a:rPr lang="en-IN" sz="3200" dirty="0" smtClean="0"/>
              <a:t>.</a:t>
            </a:r>
          </a:p>
        </p:txBody>
      </p:sp>
    </p:spTree>
    <p:extLst>
      <p:ext uri="{BB962C8B-B14F-4D97-AF65-F5344CB8AC3E}">
        <p14:creationId xmlns:p14="http://schemas.microsoft.com/office/powerpoint/2010/main" val="15164932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Filters – Context Filters Demo</a:t>
            </a:r>
            <a:endParaRPr lang="en-IN" dirty="0"/>
          </a:p>
        </p:txBody>
      </p:sp>
      <p:sp>
        <p:nvSpPr>
          <p:cNvPr id="4" name="Rectangle 3"/>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9217299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Sets</a:t>
            </a:r>
            <a:endParaRPr lang="en-IN" dirty="0"/>
          </a:p>
        </p:txBody>
      </p:sp>
      <p:sp>
        <p:nvSpPr>
          <p:cNvPr id="2" name="Rectangle 1"/>
          <p:cNvSpPr/>
          <p:nvPr/>
        </p:nvSpPr>
        <p:spPr>
          <a:xfrm>
            <a:off x="485104" y="787225"/>
            <a:ext cx="11518006" cy="4893647"/>
          </a:xfrm>
          <a:prstGeom prst="rect">
            <a:avLst/>
          </a:prstGeom>
        </p:spPr>
        <p:txBody>
          <a:bodyPr wrap="square">
            <a:spAutoFit/>
          </a:bodyPr>
          <a:lstStyle/>
          <a:p>
            <a:pPr fontAlgn="base"/>
            <a:r>
              <a:rPr lang="en-IN" sz="2400" dirty="0"/>
              <a:t>Sets are custom fields that define a subset of data based on some conditions. A set can be based on a computed condition, for example, a set may contain customers with sales over a certain threshold</a:t>
            </a:r>
            <a:r>
              <a:rPr lang="en-IN" sz="2400" dirty="0" smtClean="0"/>
              <a:t>.</a:t>
            </a:r>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r>
              <a:rPr lang="en-IN" sz="2400" dirty="0" smtClean="0"/>
              <a:t>Find the “set”(list) of batsmen who have scored at least 15000 runs.</a:t>
            </a:r>
          </a:p>
        </p:txBody>
      </p:sp>
      <p:graphicFrame>
        <p:nvGraphicFramePr>
          <p:cNvPr id="3" name="Table 2"/>
          <p:cNvGraphicFramePr>
            <a:graphicFrameLocks noGrp="1"/>
          </p:cNvGraphicFramePr>
          <p:nvPr>
            <p:extLst>
              <p:ext uri="{D42A27DB-BD31-4B8C-83A1-F6EECF244321}">
                <p14:modId xmlns:p14="http://schemas.microsoft.com/office/powerpoint/2010/main" val="3081946179"/>
              </p:ext>
            </p:extLst>
          </p:nvPr>
        </p:nvGraphicFramePr>
        <p:xfrm>
          <a:off x="2333458" y="1987554"/>
          <a:ext cx="7035131" cy="3002280"/>
        </p:xfrm>
        <a:graphic>
          <a:graphicData uri="http://schemas.openxmlformats.org/drawingml/2006/table">
            <a:tbl>
              <a:tblPr>
                <a:tableStyleId>{5C22544A-7EE6-4342-B048-85BDC9FD1C3A}</a:tableStyleId>
              </a:tblPr>
              <a:tblGrid>
                <a:gridCol w="5110993"/>
                <a:gridCol w="1924138"/>
              </a:tblGrid>
              <a:tr h="316753">
                <a:tc>
                  <a:txBody>
                    <a:bodyPr/>
                    <a:lstStyle/>
                    <a:p>
                      <a:pPr algn="ctr" fontAlgn="b"/>
                      <a:r>
                        <a:rPr lang="en-IN" sz="2400" b="1" u="none" strike="noStrike" dirty="0">
                          <a:effectLst/>
                        </a:rPr>
                        <a:t>Batsmen</a:t>
                      </a:r>
                      <a:endParaRPr lang="en-IN" sz="24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b="1" u="none" strike="noStrike" dirty="0">
                          <a:effectLst/>
                        </a:rPr>
                        <a:t>Runs</a:t>
                      </a:r>
                      <a:endParaRPr lang="en-IN" sz="24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dirty="0">
                          <a:effectLst/>
                        </a:rPr>
                        <a:t>Sachin Tendulkar</a:t>
                      </a:r>
                      <a:endParaRPr lang="en-IN"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21700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a:effectLst/>
                        </a:rPr>
                        <a:t>Rahul Dravid</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15000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dirty="0">
                          <a:effectLst/>
                        </a:rPr>
                        <a:t>AB de </a:t>
                      </a:r>
                      <a:r>
                        <a:rPr lang="en-IN" sz="2400" u="none" strike="noStrike" dirty="0" smtClean="0">
                          <a:effectLst/>
                        </a:rPr>
                        <a:t>Villiers</a:t>
                      </a:r>
                      <a:endParaRPr lang="en-IN"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8500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a:effectLst/>
                        </a:rPr>
                        <a:t>Chris Gayle</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7500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dirty="0" err="1">
                          <a:effectLst/>
                        </a:rPr>
                        <a:t>Alaistar</a:t>
                      </a:r>
                      <a:r>
                        <a:rPr lang="en-IN" sz="2400" u="none" strike="noStrike" dirty="0">
                          <a:effectLst/>
                        </a:rPr>
                        <a:t> Cook</a:t>
                      </a:r>
                      <a:endParaRPr lang="en-IN"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10200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a:effectLst/>
                        </a:rPr>
                        <a:t>Virat Kohli</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a:effectLst/>
                        </a:rPr>
                        <a:t>12000</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16753">
                <a:tc>
                  <a:txBody>
                    <a:bodyPr/>
                    <a:lstStyle/>
                    <a:p>
                      <a:pPr algn="ctr" fontAlgn="b"/>
                      <a:r>
                        <a:rPr lang="en-IN" sz="2400" u="none" strike="noStrike">
                          <a:effectLst/>
                        </a:rPr>
                        <a:t>Faf Du Plessis</a:t>
                      </a:r>
                      <a:endParaRPr lang="en-IN" sz="24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400" u="none" strike="noStrike" dirty="0">
                          <a:effectLst/>
                        </a:rPr>
                        <a:t>7000</a:t>
                      </a:r>
                      <a:endParaRPr lang="en-IN" sz="2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862229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Sets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6775420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Grouping/Hierarchy</a:t>
            </a:r>
            <a:endParaRPr lang="en-IN" dirty="0"/>
          </a:p>
        </p:txBody>
      </p:sp>
      <p:sp>
        <p:nvSpPr>
          <p:cNvPr id="2" name="Rectangle 1"/>
          <p:cNvSpPr/>
          <p:nvPr/>
        </p:nvSpPr>
        <p:spPr>
          <a:xfrm>
            <a:off x="485104" y="787225"/>
            <a:ext cx="11518006" cy="4524315"/>
          </a:xfrm>
          <a:prstGeom prst="rect">
            <a:avLst/>
          </a:prstGeom>
        </p:spPr>
        <p:txBody>
          <a:bodyPr wrap="square">
            <a:spAutoFit/>
          </a:bodyPr>
          <a:lstStyle/>
          <a:p>
            <a:pPr fontAlgn="base"/>
            <a:endParaRPr lang="en-IN" sz="3200" dirty="0" smtClean="0"/>
          </a:p>
          <a:p>
            <a:pPr fontAlgn="base"/>
            <a:r>
              <a:rPr lang="en-IN" sz="3200" dirty="0" smtClean="0"/>
              <a:t>A </a:t>
            </a:r>
            <a:r>
              <a:rPr lang="en-IN" sz="3200" dirty="0"/>
              <a:t>group is a combination of dimension members that make higher level categories. </a:t>
            </a:r>
            <a:endParaRPr lang="en-IN" sz="3200" dirty="0" smtClean="0"/>
          </a:p>
          <a:p>
            <a:pPr fontAlgn="base"/>
            <a:endParaRPr lang="en-IN" sz="3200" dirty="0"/>
          </a:p>
          <a:p>
            <a:pPr fontAlgn="base"/>
            <a:r>
              <a:rPr lang="en-IN" sz="3200" dirty="0" smtClean="0"/>
              <a:t>For </a:t>
            </a:r>
            <a:r>
              <a:rPr lang="en-IN" sz="3200" dirty="0"/>
              <a:t>example, if you are working with a view that shows average test scores by major, you may want to group certain majors together to create major categories. English and History may be combined into a group called Liberal Arts while Biology and Physics may be grouped as Science Majors.</a:t>
            </a:r>
          </a:p>
        </p:txBody>
      </p:sp>
    </p:spTree>
    <p:extLst>
      <p:ext uri="{BB962C8B-B14F-4D97-AF65-F5344CB8AC3E}">
        <p14:creationId xmlns:p14="http://schemas.microsoft.com/office/powerpoint/2010/main" val="14588892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Grouping/Hierarchy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7508635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Parameters</a:t>
            </a:r>
            <a:endParaRPr lang="en-IN" dirty="0"/>
          </a:p>
        </p:txBody>
      </p:sp>
      <p:sp>
        <p:nvSpPr>
          <p:cNvPr id="2" name="Rectangle 1"/>
          <p:cNvSpPr/>
          <p:nvPr/>
        </p:nvSpPr>
        <p:spPr>
          <a:xfrm>
            <a:off x="485104" y="787225"/>
            <a:ext cx="11518006" cy="4339650"/>
          </a:xfrm>
          <a:prstGeom prst="rect">
            <a:avLst/>
          </a:prstGeom>
        </p:spPr>
        <p:txBody>
          <a:bodyPr wrap="square">
            <a:spAutoFit/>
          </a:bodyPr>
          <a:lstStyle/>
          <a:p>
            <a:pPr fontAlgn="base"/>
            <a:endParaRPr lang="en-IN" sz="3600" dirty="0" smtClean="0"/>
          </a:p>
          <a:p>
            <a:pPr fontAlgn="base"/>
            <a:endParaRPr lang="en-IN" sz="3600" dirty="0"/>
          </a:p>
          <a:p>
            <a:pPr fontAlgn="base"/>
            <a:endParaRPr lang="en-IN" sz="3600" dirty="0"/>
          </a:p>
          <a:p>
            <a:pPr fontAlgn="base"/>
            <a:r>
              <a:rPr lang="en-IN" sz="3600" dirty="0" smtClean="0"/>
              <a:t>Parameters </a:t>
            </a:r>
            <a:r>
              <a:rPr lang="en-IN" sz="3600" dirty="0"/>
              <a:t>are dynamic values that can replace constant values in calculations, filters, and reference lines</a:t>
            </a:r>
            <a:r>
              <a:rPr lang="en-IN" sz="3600" dirty="0" smtClean="0"/>
              <a:t>.</a:t>
            </a:r>
          </a:p>
          <a:p>
            <a:pPr fontAlgn="base"/>
            <a:endParaRPr lang="en-IN" sz="3200" dirty="0"/>
          </a:p>
          <a:p>
            <a:pPr fontAlgn="base"/>
            <a:endParaRPr lang="en-IN" sz="3200" dirty="0" smtClean="0"/>
          </a:p>
          <a:p>
            <a:pPr fontAlgn="base"/>
            <a:r>
              <a:rPr lang="en-IN" sz="3200" dirty="0" smtClean="0"/>
              <a:t> </a:t>
            </a:r>
          </a:p>
        </p:txBody>
      </p:sp>
    </p:spTree>
    <p:extLst>
      <p:ext uri="{BB962C8B-B14F-4D97-AF65-F5344CB8AC3E}">
        <p14:creationId xmlns:p14="http://schemas.microsoft.com/office/powerpoint/2010/main" val="42542496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Parameters</a:t>
            </a:r>
            <a:endParaRPr lang="en-IN" dirty="0"/>
          </a:p>
        </p:txBody>
      </p:sp>
      <p:sp>
        <p:nvSpPr>
          <p:cNvPr id="2" name="Rectangle 1"/>
          <p:cNvSpPr/>
          <p:nvPr/>
        </p:nvSpPr>
        <p:spPr>
          <a:xfrm>
            <a:off x="485104" y="787225"/>
            <a:ext cx="11518006" cy="461665"/>
          </a:xfrm>
          <a:prstGeom prst="rect">
            <a:avLst/>
          </a:prstGeom>
        </p:spPr>
        <p:txBody>
          <a:bodyPr wrap="square">
            <a:spAutoFit/>
          </a:bodyPr>
          <a:lstStyle/>
          <a:p>
            <a:pPr algn="ctr" fontAlgn="base"/>
            <a:r>
              <a:rPr lang="en-IN" sz="2400" dirty="0" smtClean="0"/>
              <a:t>What if we need to dynamically change Reference Line?</a:t>
            </a:r>
          </a:p>
        </p:txBody>
      </p:sp>
      <p:graphicFrame>
        <p:nvGraphicFramePr>
          <p:cNvPr id="4" name="Table 3"/>
          <p:cNvGraphicFramePr>
            <a:graphicFrameLocks noGrp="1"/>
          </p:cNvGraphicFramePr>
          <p:nvPr>
            <p:extLst>
              <p:ext uri="{D42A27DB-BD31-4B8C-83A1-F6EECF244321}">
                <p14:modId xmlns:p14="http://schemas.microsoft.com/office/powerpoint/2010/main" val="154370308"/>
              </p:ext>
            </p:extLst>
          </p:nvPr>
        </p:nvGraphicFramePr>
        <p:xfrm>
          <a:off x="485102" y="1555981"/>
          <a:ext cx="5129634" cy="3701799"/>
        </p:xfrm>
        <a:graphic>
          <a:graphicData uri="http://schemas.openxmlformats.org/drawingml/2006/table">
            <a:tbl>
              <a:tblPr>
                <a:tableStyleId>{5C22544A-7EE6-4342-B048-85BDC9FD1C3A}</a:tableStyleId>
              </a:tblPr>
              <a:tblGrid>
                <a:gridCol w="2348947"/>
                <a:gridCol w="1375709"/>
                <a:gridCol w="1404978"/>
              </a:tblGrid>
              <a:tr h="822622">
                <a:tc>
                  <a:txBody>
                    <a:bodyPr/>
                    <a:lstStyle/>
                    <a:p>
                      <a:pPr algn="ctr" fontAlgn="b"/>
                      <a:r>
                        <a:rPr lang="en-IN" sz="2000" b="1" u="none" strike="noStrike" dirty="0">
                          <a:effectLst/>
                        </a:rPr>
                        <a:t>Customer</a:t>
                      </a:r>
                      <a:endParaRPr lang="en-IN" sz="2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u="none" strike="noStrike" dirty="0">
                          <a:effectLst/>
                        </a:rPr>
                        <a:t>Revenue</a:t>
                      </a:r>
                      <a:endParaRPr lang="en-IN" sz="2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u="none" strike="noStrike" dirty="0" smtClean="0">
                          <a:effectLst/>
                        </a:rPr>
                        <a:t>Reference Revenue</a:t>
                      </a:r>
                      <a:endParaRPr lang="en-IN" sz="2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Gandalf</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400000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Dumberdore</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200000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Tyrion Lannister</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1000000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500000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Voldemort</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300000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Sauron</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a:effectLst/>
                        </a:rPr>
                        <a:t>George RR Martin</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1500000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500000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11311">
                <a:tc>
                  <a:txBody>
                    <a:bodyPr/>
                    <a:lstStyle/>
                    <a:p>
                      <a:pPr algn="ctr" fontAlgn="b"/>
                      <a:r>
                        <a:rPr lang="en-IN" sz="2000" u="none" strike="noStrike" dirty="0">
                          <a:effectLst/>
                        </a:rPr>
                        <a:t>Mother of Dragons</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800000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500000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5" name="Picture 4"/>
          <p:cNvPicPr>
            <a:picLocks noChangeAspect="1"/>
          </p:cNvPicPr>
          <p:nvPr/>
        </p:nvPicPr>
        <p:blipFill>
          <a:blip r:embed="rId2"/>
          <a:stretch>
            <a:fillRect/>
          </a:stretch>
        </p:blipFill>
        <p:spPr>
          <a:xfrm>
            <a:off x="5823687" y="1543553"/>
            <a:ext cx="6179423" cy="3714228"/>
          </a:xfrm>
          <a:prstGeom prst="rect">
            <a:avLst/>
          </a:prstGeom>
        </p:spPr>
      </p:pic>
    </p:spTree>
    <p:extLst>
      <p:ext uri="{BB962C8B-B14F-4D97-AF65-F5344CB8AC3E}">
        <p14:creationId xmlns:p14="http://schemas.microsoft.com/office/powerpoint/2010/main" val="974963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Parameters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4535319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Dual Axis</a:t>
            </a:r>
            <a:endParaRPr lang="en-IN" dirty="0"/>
          </a:p>
        </p:txBody>
      </p:sp>
      <p:sp>
        <p:nvSpPr>
          <p:cNvPr id="2" name="Rectangle 1"/>
          <p:cNvSpPr/>
          <p:nvPr/>
        </p:nvSpPr>
        <p:spPr>
          <a:xfrm>
            <a:off x="485104" y="787225"/>
            <a:ext cx="11518006" cy="4031873"/>
          </a:xfrm>
          <a:prstGeom prst="rect">
            <a:avLst/>
          </a:prstGeom>
        </p:spPr>
        <p:txBody>
          <a:bodyPr wrap="square">
            <a:spAutoFit/>
          </a:bodyPr>
          <a:lstStyle/>
          <a:p>
            <a:pPr fontAlgn="base"/>
            <a:endParaRPr lang="en-IN" sz="3200" dirty="0" smtClean="0"/>
          </a:p>
          <a:p>
            <a:pPr fontAlgn="base"/>
            <a:r>
              <a:rPr lang="en-IN" sz="3200" dirty="0" smtClean="0"/>
              <a:t>To visualize 2 independent values having different scales simultaneously in a graph.</a:t>
            </a:r>
          </a:p>
          <a:p>
            <a:pPr fontAlgn="base"/>
            <a:endParaRPr lang="en-IN" sz="3200" dirty="0"/>
          </a:p>
          <a:p>
            <a:pPr fontAlgn="base"/>
            <a:r>
              <a:rPr lang="en-IN" sz="3200" dirty="0"/>
              <a:t>The </a:t>
            </a:r>
            <a:r>
              <a:rPr lang="en-IN" sz="3200" b="1" dirty="0"/>
              <a:t>Synchronize Axis</a:t>
            </a:r>
            <a:r>
              <a:rPr lang="en-IN" sz="3200" dirty="0"/>
              <a:t> option ensures that you make a scaled and correct comparison. However, sometimes this option may not be available (</a:t>
            </a:r>
            <a:r>
              <a:rPr lang="en-IN" sz="3200" dirty="0" err="1"/>
              <a:t>grayed</a:t>
            </a:r>
            <a:r>
              <a:rPr lang="en-IN" sz="3200" dirty="0"/>
              <a:t> out). This is because the data type of one of the axes is different from the other.</a:t>
            </a:r>
          </a:p>
        </p:txBody>
      </p:sp>
    </p:spTree>
    <p:extLst>
      <p:ext uri="{BB962C8B-B14F-4D97-AF65-F5344CB8AC3E}">
        <p14:creationId xmlns:p14="http://schemas.microsoft.com/office/powerpoint/2010/main" val="35638177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Dual Axis</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415961094"/>
              </p:ext>
            </p:extLst>
          </p:nvPr>
        </p:nvGraphicFramePr>
        <p:xfrm>
          <a:off x="129676" y="1177175"/>
          <a:ext cx="5950282" cy="3025856"/>
        </p:xfrm>
        <a:graphic>
          <a:graphicData uri="http://schemas.openxmlformats.org/drawingml/2006/table">
            <a:tbl>
              <a:tblPr>
                <a:tableStyleId>{5C22544A-7EE6-4342-B048-85BDC9FD1C3A}</a:tableStyleId>
              </a:tblPr>
              <a:tblGrid>
                <a:gridCol w="1620502"/>
                <a:gridCol w="1620502"/>
                <a:gridCol w="2709278"/>
              </a:tblGrid>
              <a:tr h="378232">
                <a:tc>
                  <a:txBody>
                    <a:bodyPr/>
                    <a:lstStyle/>
                    <a:p>
                      <a:pPr algn="ctr" fontAlgn="b"/>
                      <a:r>
                        <a:rPr lang="en-IN" sz="2000" b="1" u="none" strike="noStrike" dirty="0" smtClean="0">
                          <a:effectLst/>
                        </a:rPr>
                        <a:t>Year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u="none" strike="noStrike" dirty="0">
                          <a:effectLst/>
                        </a:rPr>
                        <a:t>Revenue</a:t>
                      </a:r>
                      <a:endParaRPr lang="en-IN" sz="2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u="none" strike="noStrike" dirty="0">
                          <a:effectLst/>
                        </a:rPr>
                        <a:t>YOY Growth</a:t>
                      </a:r>
                      <a:endParaRPr lang="en-IN" sz="2000" b="1"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dirty="0" err="1">
                          <a:effectLst/>
                        </a:rPr>
                        <a:t>Yr</a:t>
                      </a:r>
                      <a:r>
                        <a:rPr lang="en-IN" sz="2000" u="none" strike="noStrike" dirty="0">
                          <a:effectLst/>
                        </a:rPr>
                        <a:t> 2008</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100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dirty="0" err="1">
                          <a:effectLst/>
                        </a:rPr>
                        <a:t>Yr</a:t>
                      </a:r>
                      <a:r>
                        <a:rPr lang="en-IN" sz="2000" u="none" strike="noStrike" dirty="0">
                          <a:effectLst/>
                        </a:rPr>
                        <a:t> 2009</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50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5%</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a:effectLst/>
                        </a:rPr>
                        <a:t>Yr 2010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150</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7%</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a:effectLst/>
                        </a:rPr>
                        <a:t>Yr 2011</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400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2%</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a:effectLst/>
                        </a:rPr>
                        <a:t>Yr 2012</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300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1%</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a:effectLst/>
                        </a:rPr>
                        <a:t>Yr 2013</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250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4%</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8232">
                <a:tc>
                  <a:txBody>
                    <a:bodyPr/>
                    <a:lstStyle/>
                    <a:p>
                      <a:pPr algn="ctr" fontAlgn="b"/>
                      <a:r>
                        <a:rPr lang="en-IN" sz="2000" u="none" strike="noStrike">
                          <a:effectLst/>
                        </a:rPr>
                        <a:t>Yr 2014</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u="none" strike="noStrike" dirty="0">
                          <a:effectLst/>
                        </a:rPr>
                        <a:t>2%</a:t>
                      </a:r>
                      <a:endParaRPr lang="en-IN" sz="20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1717" y="894675"/>
            <a:ext cx="5809992" cy="3590855"/>
          </a:xfrm>
          <a:prstGeom prst="rect">
            <a:avLst/>
          </a:prstGeom>
        </p:spPr>
      </p:pic>
      <p:sp>
        <p:nvSpPr>
          <p:cNvPr id="18" name="TextBox 17"/>
          <p:cNvSpPr txBox="1"/>
          <p:nvPr/>
        </p:nvSpPr>
        <p:spPr>
          <a:xfrm>
            <a:off x="1315453" y="4844716"/>
            <a:ext cx="10170694" cy="584775"/>
          </a:xfrm>
          <a:prstGeom prst="rect">
            <a:avLst/>
          </a:prstGeom>
          <a:noFill/>
        </p:spPr>
        <p:txBody>
          <a:bodyPr wrap="square" rtlCol="0">
            <a:spAutoFit/>
          </a:bodyPr>
          <a:lstStyle/>
          <a:p>
            <a:pPr algn="ctr"/>
            <a:r>
              <a:rPr lang="en-IN" sz="3200" dirty="0" smtClean="0"/>
              <a:t>How to recreate this in tableau?</a:t>
            </a:r>
            <a:endParaRPr lang="en-IN" dirty="0"/>
          </a:p>
        </p:txBody>
      </p:sp>
    </p:spTree>
    <p:extLst>
      <p:ext uri="{BB962C8B-B14F-4D97-AF65-F5344CB8AC3E}">
        <p14:creationId xmlns:p14="http://schemas.microsoft.com/office/powerpoint/2010/main" val="24815562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Dual Axis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15944795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Windows Functions/Table Calculations</a:t>
            </a:r>
            <a:endParaRPr lang="en-IN" dirty="0"/>
          </a:p>
        </p:txBody>
      </p:sp>
      <p:sp>
        <p:nvSpPr>
          <p:cNvPr id="2" name="Rectangle 1"/>
          <p:cNvSpPr/>
          <p:nvPr/>
        </p:nvSpPr>
        <p:spPr>
          <a:xfrm>
            <a:off x="485104" y="787225"/>
            <a:ext cx="11518006" cy="4031873"/>
          </a:xfrm>
          <a:prstGeom prst="rect">
            <a:avLst/>
          </a:prstGeom>
        </p:spPr>
        <p:txBody>
          <a:bodyPr wrap="square">
            <a:spAutoFit/>
          </a:bodyPr>
          <a:lstStyle/>
          <a:p>
            <a:pPr fontAlgn="base"/>
            <a:endParaRPr lang="en-IN" sz="3200" b="0" i="0" dirty="0" smtClean="0">
              <a:effectLst/>
            </a:endParaRPr>
          </a:p>
          <a:p>
            <a:pPr fontAlgn="base"/>
            <a:endParaRPr lang="en-IN" sz="3200" dirty="0"/>
          </a:p>
          <a:p>
            <a:pPr fontAlgn="base"/>
            <a:r>
              <a:rPr lang="en-IN" sz="3200" b="0" i="0" dirty="0" smtClean="0">
                <a:effectLst/>
              </a:rPr>
              <a:t>This functions operate on the window as a whole rather than row level calculation which tableau generally does.</a:t>
            </a:r>
          </a:p>
          <a:p>
            <a:pPr fontAlgn="base"/>
            <a:endParaRPr lang="en-IN" sz="3200" dirty="0"/>
          </a:p>
          <a:p>
            <a:pPr fontAlgn="base"/>
            <a:r>
              <a:rPr lang="en-IN" sz="3200" b="0" i="0" dirty="0" smtClean="0">
                <a:effectLst/>
              </a:rPr>
              <a:t>Important thing to understand first– </a:t>
            </a:r>
          </a:p>
          <a:p>
            <a:pPr fontAlgn="base"/>
            <a:endParaRPr lang="en-IN" sz="3200" dirty="0"/>
          </a:p>
          <a:p>
            <a:pPr marL="342900" indent="-342900" fontAlgn="base">
              <a:buFont typeface="Arial" panose="020B0604020202020204" pitchFamily="34" charset="0"/>
              <a:buChar char="•"/>
            </a:pPr>
            <a:r>
              <a:rPr lang="en-IN" sz="3200" dirty="0" smtClean="0"/>
              <a:t>Addressing and Partitioning</a:t>
            </a:r>
          </a:p>
        </p:txBody>
      </p:sp>
    </p:spTree>
    <p:extLst>
      <p:ext uri="{BB962C8B-B14F-4D97-AF65-F5344CB8AC3E}">
        <p14:creationId xmlns:p14="http://schemas.microsoft.com/office/powerpoint/2010/main" val="137551653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Addressing and Partitioning</a:t>
            </a:r>
            <a:endParaRPr lang="en-IN" dirty="0"/>
          </a:p>
        </p:txBody>
      </p:sp>
      <p:sp>
        <p:nvSpPr>
          <p:cNvPr id="2" name="Rectangle 1"/>
          <p:cNvSpPr/>
          <p:nvPr/>
        </p:nvSpPr>
        <p:spPr>
          <a:xfrm>
            <a:off x="485104" y="787225"/>
            <a:ext cx="11518006" cy="4524315"/>
          </a:xfrm>
          <a:prstGeom prst="rect">
            <a:avLst/>
          </a:prstGeom>
        </p:spPr>
        <p:txBody>
          <a:bodyPr wrap="square">
            <a:spAutoFit/>
          </a:bodyPr>
          <a:lstStyle/>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r>
              <a:rPr lang="en-IN" sz="3200" dirty="0" smtClean="0"/>
              <a:t>Table </a:t>
            </a:r>
            <a:r>
              <a:rPr lang="en-IN" sz="3200" dirty="0"/>
              <a:t>calculations are performed on a single measure in the view. </a:t>
            </a:r>
          </a:p>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r>
              <a:rPr lang="en-IN" sz="3200" dirty="0" smtClean="0"/>
              <a:t>The </a:t>
            </a:r>
            <a:r>
              <a:rPr lang="en-IN" sz="3200" dirty="0"/>
              <a:t>dimensions that define the part of the table you are applying the calculation to (computing along) are called addressing </a:t>
            </a:r>
            <a:r>
              <a:rPr lang="en-IN" sz="3200" dirty="0" smtClean="0"/>
              <a:t>fields. It defines the “direction of calculation”.</a:t>
            </a:r>
          </a:p>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r>
              <a:rPr lang="en-IN" sz="3200" dirty="0" smtClean="0"/>
              <a:t>The </a:t>
            </a:r>
            <a:r>
              <a:rPr lang="en-IN" sz="3200" dirty="0"/>
              <a:t>dimensions that define how to group the calculation are called partitioning fields. </a:t>
            </a:r>
            <a:r>
              <a:rPr lang="en-IN" sz="3200" dirty="0" smtClean="0"/>
              <a:t>It defines “scope of calculation”</a:t>
            </a:r>
            <a:endParaRPr lang="en-IN" sz="3200" dirty="0"/>
          </a:p>
        </p:txBody>
      </p:sp>
    </p:spTree>
    <p:extLst>
      <p:ext uri="{BB962C8B-B14F-4D97-AF65-F5344CB8AC3E}">
        <p14:creationId xmlns:p14="http://schemas.microsoft.com/office/powerpoint/2010/main" val="19318578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Addressing and Partitioning</a:t>
            </a:r>
            <a:endParaRPr lang="en-IN" dirty="0"/>
          </a:p>
        </p:txBody>
      </p:sp>
      <p:sp>
        <p:nvSpPr>
          <p:cNvPr id="2" name="Rectangle 1"/>
          <p:cNvSpPr/>
          <p:nvPr/>
        </p:nvSpPr>
        <p:spPr>
          <a:xfrm>
            <a:off x="485104" y="787225"/>
            <a:ext cx="11518006" cy="3785652"/>
          </a:xfrm>
          <a:prstGeom prst="rect">
            <a:avLst/>
          </a:prstGeom>
        </p:spPr>
        <p:txBody>
          <a:bodyPr wrap="square">
            <a:spAutoFit/>
          </a:bodyPr>
          <a:lstStyle/>
          <a:p>
            <a:pPr fontAlgn="base"/>
            <a:r>
              <a:rPr lang="en-IN" sz="2400" dirty="0"/>
              <a:t>Table (Across</a:t>
            </a:r>
            <a:r>
              <a:rPr lang="en-IN" sz="2400" dirty="0" smtClean="0"/>
              <a:t>) –</a:t>
            </a:r>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r>
              <a:rPr lang="en-IN" sz="2400" dirty="0" smtClean="0"/>
              <a:t>Table (Down) - </a:t>
            </a:r>
            <a:endParaRPr lang="en-IN" sz="2400" dirty="0"/>
          </a:p>
          <a:p>
            <a:pPr fontAlgn="base"/>
            <a:endParaRPr lang="en-IN" sz="2400" dirty="0" smtClean="0"/>
          </a:p>
          <a:p>
            <a:pPr fontAlgn="base"/>
            <a:r>
              <a:rPr lang="en-IN" sz="2400" dirty="0" smtClean="0"/>
              <a:t> </a:t>
            </a:r>
            <a:endParaRPr lang="en-IN" sz="2400" dirty="0"/>
          </a:p>
        </p:txBody>
      </p:sp>
      <p:pic>
        <p:nvPicPr>
          <p:cNvPr id="3" name="Picture 2"/>
          <p:cNvPicPr>
            <a:picLocks noChangeAspect="1"/>
          </p:cNvPicPr>
          <p:nvPr/>
        </p:nvPicPr>
        <p:blipFill>
          <a:blip r:embed="rId2"/>
          <a:stretch>
            <a:fillRect/>
          </a:stretch>
        </p:blipFill>
        <p:spPr>
          <a:xfrm>
            <a:off x="2693764" y="787225"/>
            <a:ext cx="6315075" cy="2333625"/>
          </a:xfrm>
          <a:prstGeom prst="rect">
            <a:avLst/>
          </a:prstGeom>
        </p:spPr>
      </p:pic>
      <p:pic>
        <p:nvPicPr>
          <p:cNvPr id="6" name="Picture 5"/>
          <p:cNvPicPr>
            <a:picLocks noChangeAspect="1"/>
          </p:cNvPicPr>
          <p:nvPr/>
        </p:nvPicPr>
        <p:blipFill>
          <a:blip r:embed="rId3"/>
          <a:stretch>
            <a:fillRect/>
          </a:stretch>
        </p:blipFill>
        <p:spPr>
          <a:xfrm>
            <a:off x="2655664" y="3430108"/>
            <a:ext cx="6353175" cy="2400300"/>
          </a:xfrm>
          <a:prstGeom prst="rect">
            <a:avLst/>
          </a:prstGeom>
        </p:spPr>
      </p:pic>
      <p:sp>
        <p:nvSpPr>
          <p:cNvPr id="4" name="Oval 3"/>
          <p:cNvSpPr/>
          <p:nvPr/>
        </p:nvSpPr>
        <p:spPr>
          <a:xfrm>
            <a:off x="9560043" y="1749249"/>
            <a:ext cx="338489" cy="35292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9560043" y="3545465"/>
            <a:ext cx="335279" cy="344245"/>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9877802" y="1267326"/>
            <a:ext cx="2125308" cy="3046988"/>
          </a:xfrm>
          <a:prstGeom prst="rect">
            <a:avLst/>
          </a:prstGeom>
          <a:noFill/>
        </p:spPr>
        <p:txBody>
          <a:bodyPr wrap="square" rtlCol="0">
            <a:spAutoFit/>
          </a:bodyPr>
          <a:lstStyle/>
          <a:p>
            <a:endParaRPr lang="en-IN" sz="2400" dirty="0" smtClean="0"/>
          </a:p>
          <a:p>
            <a:r>
              <a:rPr lang="en-IN" sz="2400" dirty="0" smtClean="0"/>
              <a:t>Addressing Field</a:t>
            </a:r>
          </a:p>
          <a:p>
            <a:endParaRPr lang="en-IN" sz="2400" dirty="0"/>
          </a:p>
          <a:p>
            <a:endParaRPr lang="en-IN" sz="2400" dirty="0" smtClean="0"/>
          </a:p>
          <a:p>
            <a:endParaRPr lang="en-IN" sz="2400" dirty="0"/>
          </a:p>
          <a:p>
            <a:r>
              <a:rPr lang="en-IN" sz="2400" dirty="0" smtClean="0"/>
              <a:t>Partitioning Fields</a:t>
            </a:r>
          </a:p>
        </p:txBody>
      </p:sp>
    </p:spTree>
    <p:extLst>
      <p:ext uri="{BB962C8B-B14F-4D97-AF65-F5344CB8AC3E}">
        <p14:creationId xmlns:p14="http://schemas.microsoft.com/office/powerpoint/2010/main" val="6017632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Addressing and Partitioning</a:t>
            </a:r>
            <a:endParaRPr lang="en-IN" dirty="0"/>
          </a:p>
        </p:txBody>
      </p:sp>
      <p:sp>
        <p:nvSpPr>
          <p:cNvPr id="2" name="Rectangle 1"/>
          <p:cNvSpPr/>
          <p:nvPr/>
        </p:nvSpPr>
        <p:spPr>
          <a:xfrm>
            <a:off x="485104" y="787225"/>
            <a:ext cx="11518006" cy="3416320"/>
          </a:xfrm>
          <a:prstGeom prst="rect">
            <a:avLst/>
          </a:prstGeom>
        </p:spPr>
        <p:txBody>
          <a:bodyPr wrap="square">
            <a:spAutoFit/>
          </a:bodyPr>
          <a:lstStyle/>
          <a:p>
            <a:pPr fontAlgn="base"/>
            <a:r>
              <a:rPr lang="en-IN" sz="2400" dirty="0"/>
              <a:t>Pane (Across</a:t>
            </a:r>
            <a:r>
              <a:rPr lang="en-IN" sz="2400" dirty="0" smtClean="0"/>
              <a:t>) -</a:t>
            </a:r>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r>
              <a:rPr lang="en-IN" sz="2400" dirty="0" smtClean="0"/>
              <a:t>Pane (Down) - </a:t>
            </a:r>
            <a:endParaRPr lang="en-IN" sz="2400" dirty="0"/>
          </a:p>
          <a:p>
            <a:pPr fontAlgn="base"/>
            <a:endParaRPr lang="en-IN" sz="2400" dirty="0" smtClean="0"/>
          </a:p>
          <a:p>
            <a:pPr fontAlgn="base"/>
            <a:r>
              <a:rPr lang="en-IN" sz="2400" dirty="0" smtClean="0"/>
              <a:t> </a:t>
            </a:r>
            <a:endParaRPr lang="en-IN" sz="2400" dirty="0"/>
          </a:p>
        </p:txBody>
      </p:sp>
      <p:pic>
        <p:nvPicPr>
          <p:cNvPr id="4" name="Picture 3"/>
          <p:cNvPicPr>
            <a:picLocks noChangeAspect="1"/>
          </p:cNvPicPr>
          <p:nvPr/>
        </p:nvPicPr>
        <p:blipFill>
          <a:blip r:embed="rId2"/>
          <a:stretch>
            <a:fillRect/>
          </a:stretch>
        </p:blipFill>
        <p:spPr>
          <a:xfrm>
            <a:off x="2542571" y="751289"/>
            <a:ext cx="6334125" cy="2371725"/>
          </a:xfrm>
          <a:prstGeom prst="rect">
            <a:avLst/>
          </a:prstGeom>
        </p:spPr>
      </p:pic>
      <p:pic>
        <p:nvPicPr>
          <p:cNvPr id="5" name="Picture 4"/>
          <p:cNvPicPr>
            <a:picLocks noChangeAspect="1"/>
          </p:cNvPicPr>
          <p:nvPr/>
        </p:nvPicPr>
        <p:blipFill>
          <a:blip r:embed="rId3"/>
          <a:stretch>
            <a:fillRect/>
          </a:stretch>
        </p:blipFill>
        <p:spPr>
          <a:xfrm>
            <a:off x="2552096" y="3430108"/>
            <a:ext cx="6324600" cy="2362200"/>
          </a:xfrm>
          <a:prstGeom prst="rect">
            <a:avLst/>
          </a:prstGeom>
        </p:spPr>
      </p:pic>
      <p:sp>
        <p:nvSpPr>
          <p:cNvPr id="6" name="Oval 5"/>
          <p:cNvSpPr/>
          <p:nvPr/>
        </p:nvSpPr>
        <p:spPr>
          <a:xfrm>
            <a:off x="9560043" y="1749249"/>
            <a:ext cx="338489" cy="35292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9560043" y="3545465"/>
            <a:ext cx="335279" cy="344245"/>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9877802" y="1267326"/>
            <a:ext cx="2125308" cy="3046988"/>
          </a:xfrm>
          <a:prstGeom prst="rect">
            <a:avLst/>
          </a:prstGeom>
          <a:noFill/>
        </p:spPr>
        <p:txBody>
          <a:bodyPr wrap="square" rtlCol="0">
            <a:spAutoFit/>
          </a:bodyPr>
          <a:lstStyle/>
          <a:p>
            <a:endParaRPr lang="en-IN" sz="2400" dirty="0" smtClean="0"/>
          </a:p>
          <a:p>
            <a:r>
              <a:rPr lang="en-IN" sz="2400" dirty="0" smtClean="0"/>
              <a:t>Addressing Field</a:t>
            </a:r>
          </a:p>
          <a:p>
            <a:endParaRPr lang="en-IN" sz="2400" dirty="0"/>
          </a:p>
          <a:p>
            <a:endParaRPr lang="en-IN" sz="2400" dirty="0" smtClean="0"/>
          </a:p>
          <a:p>
            <a:endParaRPr lang="en-IN" sz="2400" dirty="0"/>
          </a:p>
          <a:p>
            <a:r>
              <a:rPr lang="en-IN" sz="2400" dirty="0" smtClean="0"/>
              <a:t>Partitioning Fields</a:t>
            </a:r>
          </a:p>
        </p:txBody>
      </p:sp>
    </p:spTree>
    <p:extLst>
      <p:ext uri="{BB962C8B-B14F-4D97-AF65-F5344CB8AC3E}">
        <p14:creationId xmlns:p14="http://schemas.microsoft.com/office/powerpoint/2010/main" val="194585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1815882"/>
          </a:xfrm>
          <a:prstGeom prst="rect">
            <a:avLst/>
          </a:prstGeom>
        </p:spPr>
        <p:txBody>
          <a:bodyPr wrap="square">
            <a:spAutoFit/>
          </a:bodyPr>
          <a:lstStyle/>
          <a:p>
            <a:pPr marL="342900" indent="-342900" fontAlgn="base">
              <a:buFont typeface="Arial" panose="020B0604020202020204" pitchFamily="34" charset="0"/>
              <a:buChar char="•"/>
            </a:pPr>
            <a:r>
              <a:rPr lang="en-IN" sz="2800" dirty="0" smtClean="0"/>
              <a:t>Difference From - </a:t>
            </a:r>
            <a:r>
              <a:rPr lang="en-IN" sz="2800" dirty="0"/>
              <a:t>Use this type of calculation to compute the difference between two specified values in the table along a certain dimension</a:t>
            </a:r>
            <a:r>
              <a:rPr lang="en-IN" sz="2800" dirty="0" smtClean="0"/>
              <a:t>. </a:t>
            </a:r>
            <a:r>
              <a:rPr lang="en-IN" sz="2800" dirty="0"/>
              <a:t> </a:t>
            </a:r>
            <a:endParaRPr lang="en-IN" sz="2800" dirty="0" smtClean="0"/>
          </a:p>
          <a:p>
            <a:pPr marL="342900" indent="-342900" fontAlgn="base">
              <a:buFont typeface="Arial" panose="020B0604020202020204" pitchFamily="34" charset="0"/>
              <a:buChar char="•"/>
            </a:pPr>
            <a:endParaRPr lang="en-IN" sz="2800" dirty="0"/>
          </a:p>
          <a:p>
            <a:pPr marL="342900" indent="-342900" fontAlgn="base">
              <a:buFont typeface="Arial" panose="020B0604020202020204" pitchFamily="34" charset="0"/>
              <a:buChar char="•"/>
            </a:pPr>
            <a:r>
              <a:rPr lang="en-IN" sz="2800" dirty="0" smtClean="0"/>
              <a:t>For example, computing YOY difference in sales for a store.</a:t>
            </a:r>
          </a:p>
        </p:txBody>
      </p:sp>
      <p:graphicFrame>
        <p:nvGraphicFramePr>
          <p:cNvPr id="4" name="Table 3"/>
          <p:cNvGraphicFramePr>
            <a:graphicFrameLocks noGrp="1"/>
          </p:cNvGraphicFramePr>
          <p:nvPr>
            <p:extLst>
              <p:ext uri="{D42A27DB-BD31-4B8C-83A1-F6EECF244321}">
                <p14:modId xmlns:p14="http://schemas.microsoft.com/office/powerpoint/2010/main" val="1452965684"/>
              </p:ext>
            </p:extLst>
          </p:nvPr>
        </p:nvGraphicFramePr>
        <p:xfrm>
          <a:off x="3803317" y="2910201"/>
          <a:ext cx="4876800" cy="2966720"/>
        </p:xfrm>
        <a:graphic>
          <a:graphicData uri="http://schemas.openxmlformats.org/drawingml/2006/table">
            <a:tbl>
              <a:tblPr firstRow="1" bandRow="1">
                <a:tableStyleId>{5C22544A-7EE6-4342-B048-85BDC9FD1C3A}</a:tableStyleId>
              </a:tblPr>
              <a:tblGrid>
                <a:gridCol w="1625600"/>
                <a:gridCol w="1625600"/>
                <a:gridCol w="1625600"/>
              </a:tblGrid>
              <a:tr h="370840">
                <a:tc>
                  <a:txBody>
                    <a:bodyPr/>
                    <a:lstStyle/>
                    <a:p>
                      <a:pPr algn="ctr" fontAlgn="b"/>
                      <a:r>
                        <a:rPr lang="en-IN" sz="2000" b="1" i="0" u="none" strike="noStrike" dirty="0">
                          <a:solidFill>
                            <a:srgbClr val="000000"/>
                          </a:solidFill>
                          <a:effectLst/>
                          <a:latin typeface="Calibri" panose="020F0502020204030204" pitchFamily="34" charset="0"/>
                        </a:rPr>
                        <a:t>Country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smtClean="0">
                          <a:solidFill>
                            <a:srgbClr val="000000"/>
                          </a:solidFill>
                          <a:effectLst/>
                          <a:latin typeface="Calibri" panose="020F0502020204030204" pitchFamily="34" charset="0"/>
                        </a:rPr>
                        <a:t>YOY Difference</a:t>
                      </a:r>
                      <a:endParaRPr lang="en-IN" sz="20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522351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12930328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2246769"/>
          </a:xfrm>
          <a:prstGeom prst="rect">
            <a:avLst/>
          </a:prstGeom>
        </p:spPr>
        <p:txBody>
          <a:bodyPr wrap="square">
            <a:spAutoFit/>
          </a:bodyPr>
          <a:lstStyle/>
          <a:p>
            <a:pPr marL="342900" indent="-342900" fontAlgn="base">
              <a:buFont typeface="Arial" panose="020B0604020202020204" pitchFamily="34" charset="0"/>
              <a:buChar char="•"/>
            </a:pPr>
            <a:r>
              <a:rPr lang="en-IN" sz="2800" dirty="0"/>
              <a:t>Percent </a:t>
            </a:r>
            <a:r>
              <a:rPr lang="en-IN" sz="2800" dirty="0" smtClean="0"/>
              <a:t>Difference </a:t>
            </a:r>
            <a:r>
              <a:rPr lang="en-IN" sz="2800" dirty="0"/>
              <a:t>- Use this type of calculation to display the rate of change between two specified values in the table by computing the difference as a percentage. </a:t>
            </a:r>
            <a:endParaRPr lang="en-IN" sz="2800" dirty="0" smtClean="0"/>
          </a:p>
          <a:p>
            <a:pPr marL="342900" indent="-342900" fontAlgn="base">
              <a:buFont typeface="Arial" panose="020B0604020202020204" pitchFamily="34" charset="0"/>
              <a:buChar char="•"/>
            </a:pPr>
            <a:endParaRPr lang="en-IN" sz="2800" dirty="0"/>
          </a:p>
          <a:p>
            <a:pPr marL="342900" indent="-342900" fontAlgn="base">
              <a:buFont typeface="Arial" panose="020B0604020202020204" pitchFamily="34" charset="0"/>
              <a:buChar char="•"/>
            </a:pPr>
            <a:r>
              <a:rPr lang="en-IN" sz="2800" dirty="0"/>
              <a:t>For example, computing YOY </a:t>
            </a:r>
            <a:r>
              <a:rPr lang="en-IN" sz="2800" dirty="0" smtClean="0"/>
              <a:t>% Change </a:t>
            </a:r>
            <a:r>
              <a:rPr lang="en-IN" sz="2800" dirty="0"/>
              <a:t>in sales for a store.</a:t>
            </a:r>
          </a:p>
        </p:txBody>
      </p:sp>
      <p:graphicFrame>
        <p:nvGraphicFramePr>
          <p:cNvPr id="5" name="Table 4"/>
          <p:cNvGraphicFramePr>
            <a:graphicFrameLocks noGrp="1"/>
          </p:cNvGraphicFramePr>
          <p:nvPr>
            <p:extLst>
              <p:ext uri="{D42A27DB-BD31-4B8C-83A1-F6EECF244321}">
                <p14:modId xmlns:p14="http://schemas.microsoft.com/office/powerpoint/2010/main" val="3996363237"/>
              </p:ext>
            </p:extLst>
          </p:nvPr>
        </p:nvGraphicFramePr>
        <p:xfrm>
          <a:off x="3803317" y="3132283"/>
          <a:ext cx="4876800" cy="2966720"/>
        </p:xfrm>
        <a:graphic>
          <a:graphicData uri="http://schemas.openxmlformats.org/drawingml/2006/table">
            <a:tbl>
              <a:tblPr firstRow="1" bandRow="1">
                <a:tableStyleId>{5C22544A-7EE6-4342-B048-85BDC9FD1C3A}</a:tableStyleId>
              </a:tblPr>
              <a:tblGrid>
                <a:gridCol w="1625600"/>
                <a:gridCol w="1625600"/>
                <a:gridCol w="1625600"/>
              </a:tblGrid>
              <a:tr h="370840">
                <a:tc>
                  <a:txBody>
                    <a:bodyPr/>
                    <a:lstStyle/>
                    <a:p>
                      <a:pPr algn="ctr" fontAlgn="b"/>
                      <a:r>
                        <a:rPr lang="en-IN" sz="2000" b="1" i="0" u="none" strike="noStrike" dirty="0">
                          <a:solidFill>
                            <a:srgbClr val="000000"/>
                          </a:solidFill>
                          <a:effectLst/>
                          <a:latin typeface="Calibri" panose="020F0502020204030204" pitchFamily="34" charset="0"/>
                        </a:rPr>
                        <a:t>Country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smtClean="0">
                          <a:solidFill>
                            <a:srgbClr val="000000"/>
                          </a:solidFill>
                          <a:effectLst/>
                          <a:latin typeface="Calibri" panose="020F0502020204030204" pitchFamily="34" charset="0"/>
                        </a:rPr>
                        <a:t>YOY % </a:t>
                      </a:r>
                      <a:r>
                        <a:rPr lang="en-IN" sz="2000" b="1" i="0" u="none" strike="noStrike" dirty="0" err="1" smtClean="0">
                          <a:solidFill>
                            <a:srgbClr val="000000"/>
                          </a:solidFill>
                          <a:effectLst/>
                          <a:latin typeface="Calibri" panose="020F0502020204030204" pitchFamily="34" charset="0"/>
                        </a:rPr>
                        <a:t>Chng</a:t>
                      </a:r>
                      <a:r>
                        <a:rPr lang="en-IN" sz="2000" b="1" i="0" u="none" strike="noStrike" dirty="0" smtClean="0">
                          <a:solidFill>
                            <a:srgbClr val="000000"/>
                          </a:solidFill>
                          <a:effectLst/>
                          <a:latin typeface="Calibri" panose="020F0502020204030204" pitchFamily="34" charset="0"/>
                        </a:rPr>
                        <a:t>.</a:t>
                      </a:r>
                      <a:endParaRPr lang="en-IN" sz="2000" b="1"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20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a:solidFill>
                            <a:srgbClr val="000000"/>
                          </a:solidFill>
                          <a:effectLst/>
                          <a:latin typeface="Calibri" panose="020F0502020204030204" pitchFamily="34" charset="0"/>
                        </a:rPr>
                        <a:t>-17%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IN" sz="2000" b="0" i="0" u="none" strike="noStrike" dirty="0">
                          <a:solidFill>
                            <a:srgbClr val="000000"/>
                          </a:solidFill>
                          <a:effectLst/>
                          <a:latin typeface="Calibri" panose="020F0502020204030204" pitchFamily="34" charset="0"/>
                        </a:rPr>
                        <a:t>-52%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6904769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0291315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1631216"/>
          </a:xfrm>
          <a:prstGeom prst="rect">
            <a:avLst/>
          </a:prstGeom>
        </p:spPr>
        <p:txBody>
          <a:bodyPr wrap="square">
            <a:spAutoFit/>
          </a:bodyPr>
          <a:lstStyle/>
          <a:p>
            <a:pPr marL="342900" indent="-342900" fontAlgn="base">
              <a:buFont typeface="Arial" panose="020B0604020202020204" pitchFamily="34" charset="0"/>
              <a:buChar char="•"/>
            </a:pPr>
            <a:r>
              <a:rPr lang="en-IN" sz="2400" dirty="0"/>
              <a:t>Percent of </a:t>
            </a:r>
            <a:r>
              <a:rPr lang="en-IN" sz="2400" dirty="0" smtClean="0"/>
              <a:t>Total </a:t>
            </a:r>
            <a:r>
              <a:rPr lang="en-IN" sz="2400" dirty="0"/>
              <a:t>- When you select Percentage of Table, each measure on the worksheet is expressed as a percentage of the total for the entire worksheet (table). </a:t>
            </a:r>
            <a:endParaRPr lang="en-IN" sz="2400" dirty="0" smtClean="0"/>
          </a:p>
          <a:p>
            <a:pPr marL="342900" indent="-342900" fontAlgn="base">
              <a:buFont typeface="Arial" panose="020B0604020202020204" pitchFamily="34" charset="0"/>
              <a:buChar char="•"/>
            </a:pPr>
            <a:endParaRPr lang="en-IN" sz="2400" dirty="0"/>
          </a:p>
          <a:p>
            <a:pPr marL="342900" indent="-342900" fontAlgn="base">
              <a:buFont typeface="Arial" panose="020B0604020202020204" pitchFamily="34" charset="0"/>
              <a:buChar char="•"/>
            </a:pPr>
            <a:r>
              <a:rPr lang="en-IN" sz="2400" dirty="0"/>
              <a:t>For example, computing </a:t>
            </a:r>
            <a:r>
              <a:rPr lang="en-IN" sz="2400" dirty="0" smtClean="0"/>
              <a:t>% of Total Revenue for each year.</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1463285114"/>
              </p:ext>
            </p:extLst>
          </p:nvPr>
        </p:nvGraphicFramePr>
        <p:xfrm>
          <a:off x="3803317" y="2573317"/>
          <a:ext cx="4876800" cy="3585845"/>
        </p:xfrm>
        <a:graphic>
          <a:graphicData uri="http://schemas.openxmlformats.org/drawingml/2006/table">
            <a:tbl>
              <a:tblPr firstRow="1" bandRow="1">
                <a:tableStyleId>{5C22544A-7EE6-4342-B048-85BDC9FD1C3A}</a:tableStyleId>
              </a:tblPr>
              <a:tblGrid>
                <a:gridCol w="1625600"/>
                <a:gridCol w="1625600"/>
                <a:gridCol w="1625600"/>
              </a:tblGrid>
              <a:tr h="370840">
                <a:tc>
                  <a:txBody>
                    <a:bodyPr/>
                    <a:lstStyle/>
                    <a:p>
                      <a:pPr algn="ctr" fontAlgn="b"/>
                      <a:r>
                        <a:rPr lang="en-IN" sz="2000" b="1" i="0" u="none" strike="noStrike" dirty="0">
                          <a:solidFill>
                            <a:srgbClr val="000000"/>
                          </a:solidFill>
                          <a:effectLst/>
                          <a:latin typeface="Calibri" panose="020F0502020204030204" pitchFamily="34" charset="0"/>
                        </a:rPr>
                        <a:t>Country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 of Total 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400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300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1" i="0" u="none" strike="noStrike" dirty="0">
                          <a:solidFill>
                            <a:srgbClr val="000000"/>
                          </a:solidFill>
                          <a:effectLst/>
                          <a:latin typeface="Calibri" panose="020F0502020204030204" pitchFamily="34" charset="0"/>
                        </a:rPr>
                        <a:t>Total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a:solidFill>
                            <a:srgbClr val="000000"/>
                          </a:solidFill>
                          <a:effectLst/>
                          <a:latin typeface="Calibri" panose="020F0502020204030204" pitchFamily="34" charset="0"/>
                        </a:rPr>
                        <a:t>1370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9901945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2709471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a:t>
            </a:r>
            <a:endParaRPr lang="en-IN" dirty="0"/>
          </a:p>
        </p:txBody>
      </p:sp>
      <p:sp>
        <p:nvSpPr>
          <p:cNvPr id="2" name="Rectangle 1"/>
          <p:cNvSpPr/>
          <p:nvPr/>
        </p:nvSpPr>
        <p:spPr>
          <a:xfrm>
            <a:off x="485104" y="787225"/>
            <a:ext cx="11518006" cy="2062103"/>
          </a:xfrm>
          <a:prstGeom prst="rect">
            <a:avLst/>
          </a:prstGeom>
        </p:spPr>
        <p:txBody>
          <a:bodyPr wrap="square">
            <a:spAutoFit/>
          </a:bodyPr>
          <a:lstStyle/>
          <a:p>
            <a:pPr marL="342900" indent="-342900" fontAlgn="base">
              <a:buFont typeface="Arial" panose="020B0604020202020204" pitchFamily="34" charset="0"/>
              <a:buChar char="•"/>
            </a:pPr>
            <a:r>
              <a:rPr lang="en-IN" sz="3200" dirty="0" smtClean="0"/>
              <a:t>Running Total - </a:t>
            </a:r>
            <a:r>
              <a:rPr lang="en-IN" sz="3200" dirty="0"/>
              <a:t>Use the Running Total calculation to compute a cumulative total across a dimension or table structure. </a:t>
            </a:r>
            <a:endParaRPr lang="en-IN" sz="3200" dirty="0" smtClean="0"/>
          </a:p>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r>
              <a:rPr lang="en-IN" sz="3200" dirty="0" smtClean="0"/>
              <a:t>For </a:t>
            </a:r>
            <a:r>
              <a:rPr lang="en-IN" sz="3200" dirty="0" err="1"/>
              <a:t>e</a:t>
            </a:r>
            <a:r>
              <a:rPr lang="en-IN" sz="3200" dirty="0" err="1" smtClean="0"/>
              <a:t>g</a:t>
            </a:r>
            <a:r>
              <a:rPr lang="en-IN" sz="3200" dirty="0" smtClean="0"/>
              <a:t>. Cumulative sale of Revenue of a store.</a:t>
            </a:r>
          </a:p>
        </p:txBody>
      </p:sp>
      <p:graphicFrame>
        <p:nvGraphicFramePr>
          <p:cNvPr id="3" name="Table 2"/>
          <p:cNvGraphicFramePr>
            <a:graphicFrameLocks noGrp="1"/>
          </p:cNvGraphicFramePr>
          <p:nvPr>
            <p:extLst>
              <p:ext uri="{D42A27DB-BD31-4B8C-83A1-F6EECF244321}">
                <p14:modId xmlns:p14="http://schemas.microsoft.com/office/powerpoint/2010/main" val="2562922497"/>
              </p:ext>
            </p:extLst>
          </p:nvPr>
        </p:nvGraphicFramePr>
        <p:xfrm>
          <a:off x="3058695" y="2877390"/>
          <a:ext cx="6096000" cy="3215005"/>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fontAlgn="b"/>
                      <a:r>
                        <a:rPr lang="en-IN" sz="2000" b="1" i="0" u="none" strike="noStrike" dirty="0">
                          <a:solidFill>
                            <a:srgbClr val="000000"/>
                          </a:solidFill>
                          <a:effectLst/>
                          <a:latin typeface="Calibri" panose="020F0502020204030204" pitchFamily="34" charset="0"/>
                        </a:rPr>
                        <a:t>Country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2000" b="1" i="0" u="none" strike="noStrike" dirty="0">
                          <a:solidFill>
                            <a:srgbClr val="000000"/>
                          </a:solidFill>
                          <a:effectLst/>
                          <a:latin typeface="Calibri" panose="020F0502020204030204" pitchFamily="34" charset="0"/>
                        </a:rPr>
                        <a:t>Cumulative Revenue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fontAlgn="b"/>
                      <a:r>
                        <a:rPr lang="en-IN" sz="2000" b="0" i="0" u="none" strike="noStrike">
                          <a:solidFill>
                            <a:srgbClr val="000000"/>
                          </a:solidFill>
                          <a:effectLst/>
                          <a:latin typeface="Calibri" panose="020F0502020204030204" pitchFamily="34" charset="0"/>
                        </a:rPr>
                        <a:t>Yr 2008</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IN" sz="2000" b="0" i="0" u="none" strike="noStrike" dirty="0">
                          <a:solidFill>
                            <a:srgbClr val="000000"/>
                          </a:solidFill>
                          <a:effectLst/>
                          <a:latin typeface="Calibri" panose="020F0502020204030204" pitchFamily="34" charset="0"/>
                        </a:rPr>
                        <a:t>100</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b"/>
                      <a:r>
                        <a:rPr lang="en-IN" sz="2000" b="0" i="0" u="none" strike="noStrike">
                          <a:solidFill>
                            <a:srgbClr val="000000"/>
                          </a:solidFill>
                          <a:effectLst/>
                          <a:latin typeface="Calibri" panose="020F0502020204030204" pitchFamily="34" charset="0"/>
                        </a:rPr>
                        <a:t>100</a:t>
                      </a:r>
                    </a:p>
                  </a:txBody>
                  <a:tcPr marL="9525" marR="9525" marT="9525" marB="0" anchor="ctr">
                    <a:lnT w="12700" cap="flat" cmpd="sng" algn="ctr">
                      <a:solidFill>
                        <a:schemeClr val="tx1"/>
                      </a:solidFill>
                      <a:prstDash val="solid"/>
                      <a:round/>
                      <a:headEnd type="none" w="med" len="med"/>
                      <a:tailEnd type="none" w="med" len="med"/>
                    </a:lnT>
                  </a:tcPr>
                </a:tc>
              </a:tr>
              <a:tr h="370840">
                <a:tc>
                  <a:txBody>
                    <a:bodyPr/>
                    <a:lstStyle/>
                    <a:p>
                      <a:pPr algn="ctr" fontAlgn="b"/>
                      <a:r>
                        <a:rPr lang="en-IN" sz="2000" b="0" i="0" u="none" strike="noStrike">
                          <a:solidFill>
                            <a:srgbClr val="000000"/>
                          </a:solidFill>
                          <a:effectLst/>
                          <a:latin typeface="Calibri" panose="020F0502020204030204" pitchFamily="34" charset="0"/>
                        </a:rPr>
                        <a:t>Yr 2009</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50</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150</a:t>
                      </a:r>
                    </a:p>
                  </a:txBody>
                  <a:tcPr marL="9525" marR="9525" marT="9525" marB="0" anchor="ctr"/>
                </a:tc>
              </a:tr>
              <a:tr h="370840">
                <a:tc>
                  <a:txBody>
                    <a:bodyPr/>
                    <a:lstStyle/>
                    <a:p>
                      <a:pPr algn="ctr" fontAlgn="b"/>
                      <a:r>
                        <a:rPr lang="en-IN" sz="2000" b="0" i="0" u="none" strike="noStrike">
                          <a:solidFill>
                            <a:srgbClr val="000000"/>
                          </a:solidFill>
                          <a:effectLst/>
                          <a:latin typeface="Calibri" panose="020F0502020204030204" pitchFamily="34" charset="0"/>
                        </a:rPr>
                        <a:t>Yr 2010</a:t>
                      </a:r>
                    </a:p>
                  </a:txBody>
                  <a:tcPr marL="9525" marR="9525" marT="9525" marB="0" anchor="ctr"/>
                </a:tc>
                <a:tc>
                  <a:txBody>
                    <a:bodyPr/>
                    <a:lstStyle/>
                    <a:p>
                      <a:pPr algn="ctr" fontAlgn="b"/>
                      <a:r>
                        <a:rPr lang="en-IN" sz="2000" b="0" i="0" u="none" strike="noStrike" dirty="0">
                          <a:solidFill>
                            <a:srgbClr val="000000"/>
                          </a:solidFill>
                          <a:effectLst/>
                          <a:latin typeface="Calibri" panose="020F0502020204030204" pitchFamily="34" charset="0"/>
                        </a:rPr>
                        <a:t>150</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300</a:t>
                      </a:r>
                    </a:p>
                  </a:txBody>
                  <a:tcPr marL="9525" marR="9525" marT="9525" marB="0" anchor="ctr"/>
                </a:tc>
              </a:tr>
              <a:tr h="370840">
                <a:tc>
                  <a:txBody>
                    <a:bodyPr/>
                    <a:lstStyle/>
                    <a:p>
                      <a:pPr algn="ctr" fontAlgn="b"/>
                      <a:r>
                        <a:rPr lang="en-IN" sz="2000" b="0" i="0" u="none" strike="noStrike">
                          <a:solidFill>
                            <a:srgbClr val="000000"/>
                          </a:solidFill>
                          <a:effectLst/>
                          <a:latin typeface="Calibri" panose="020F0502020204030204" pitchFamily="34" charset="0"/>
                        </a:rPr>
                        <a:t>Yr 2011</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400</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700</a:t>
                      </a:r>
                    </a:p>
                  </a:txBody>
                  <a:tcPr marL="9525" marR="9525" marT="9525" marB="0" anchor="ctr"/>
                </a:tc>
              </a:tr>
              <a:tr h="370840">
                <a:tc>
                  <a:txBody>
                    <a:bodyPr/>
                    <a:lstStyle/>
                    <a:p>
                      <a:pPr algn="ctr" fontAlgn="b"/>
                      <a:r>
                        <a:rPr lang="en-IN" sz="2000" b="0" i="0" u="none" strike="noStrike">
                          <a:solidFill>
                            <a:srgbClr val="000000"/>
                          </a:solidFill>
                          <a:effectLst/>
                          <a:latin typeface="Calibri" panose="020F0502020204030204" pitchFamily="34" charset="0"/>
                        </a:rPr>
                        <a:t>Yr 2012</a:t>
                      </a:r>
                    </a:p>
                  </a:txBody>
                  <a:tcPr marL="9525" marR="9525" marT="9525" marB="0" anchor="ctr"/>
                </a:tc>
                <a:tc>
                  <a:txBody>
                    <a:bodyPr/>
                    <a:lstStyle/>
                    <a:p>
                      <a:pPr algn="ctr" fontAlgn="b"/>
                      <a:r>
                        <a:rPr lang="en-IN" sz="2000" b="0" i="0" u="none" strike="noStrike" dirty="0">
                          <a:solidFill>
                            <a:srgbClr val="000000"/>
                          </a:solidFill>
                          <a:effectLst/>
                          <a:latin typeface="Calibri" panose="020F0502020204030204" pitchFamily="34" charset="0"/>
                        </a:rPr>
                        <a:t>300</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1000</a:t>
                      </a:r>
                    </a:p>
                  </a:txBody>
                  <a:tcPr marL="9525" marR="9525" marT="9525" marB="0" anchor="ctr"/>
                </a:tc>
              </a:tr>
              <a:tr h="370840">
                <a:tc>
                  <a:txBody>
                    <a:bodyPr/>
                    <a:lstStyle/>
                    <a:p>
                      <a:pPr algn="ctr" fontAlgn="b"/>
                      <a:r>
                        <a:rPr lang="en-IN" sz="2000" b="0" i="0" u="none" strike="noStrike">
                          <a:solidFill>
                            <a:srgbClr val="000000"/>
                          </a:solidFill>
                          <a:effectLst/>
                          <a:latin typeface="Calibri" panose="020F0502020204030204" pitchFamily="34" charset="0"/>
                        </a:rPr>
                        <a:t>Yr 2013</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250</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1250</a:t>
                      </a:r>
                    </a:p>
                  </a:txBody>
                  <a:tcPr marL="9525" marR="9525" marT="9525" marB="0" anchor="ctr"/>
                </a:tc>
              </a:tr>
              <a:tr h="370840">
                <a:tc>
                  <a:txBody>
                    <a:bodyPr/>
                    <a:lstStyle/>
                    <a:p>
                      <a:pPr algn="ctr" fontAlgn="b"/>
                      <a:r>
                        <a:rPr lang="en-IN" sz="2000" b="0" i="0" u="none" strike="noStrike">
                          <a:solidFill>
                            <a:srgbClr val="000000"/>
                          </a:solidFill>
                          <a:effectLst/>
                          <a:latin typeface="Calibri" panose="020F0502020204030204" pitchFamily="34" charset="0"/>
                        </a:rPr>
                        <a:t>Yr 2014</a:t>
                      </a:r>
                    </a:p>
                  </a:txBody>
                  <a:tcPr marL="9525" marR="9525" marT="9525" marB="0" anchor="ctr"/>
                </a:tc>
                <a:tc>
                  <a:txBody>
                    <a:bodyPr/>
                    <a:lstStyle/>
                    <a:p>
                      <a:pPr algn="ctr" fontAlgn="b"/>
                      <a:r>
                        <a:rPr lang="en-IN" sz="2000" b="0" i="0" u="none" strike="noStrike">
                          <a:solidFill>
                            <a:srgbClr val="000000"/>
                          </a:solidFill>
                          <a:effectLst/>
                          <a:latin typeface="Calibri" panose="020F0502020204030204" pitchFamily="34" charset="0"/>
                        </a:rPr>
                        <a:t>120</a:t>
                      </a:r>
                    </a:p>
                  </a:txBody>
                  <a:tcPr marL="9525" marR="9525" marT="9525" marB="0" anchor="ctr"/>
                </a:tc>
                <a:tc>
                  <a:txBody>
                    <a:bodyPr/>
                    <a:lstStyle/>
                    <a:p>
                      <a:pPr algn="ctr" fontAlgn="b"/>
                      <a:r>
                        <a:rPr lang="en-IN" sz="2000" b="0" i="0" u="none" strike="noStrike" dirty="0">
                          <a:solidFill>
                            <a:srgbClr val="000000"/>
                          </a:solidFill>
                          <a:effectLst/>
                          <a:latin typeface="Calibri" panose="020F0502020204030204" pitchFamily="34" charset="0"/>
                        </a:rPr>
                        <a:t>1370</a:t>
                      </a:r>
                    </a:p>
                  </a:txBody>
                  <a:tcPr marL="9525" marR="9525" marT="9525" marB="0" anchor="ctr"/>
                </a:tc>
              </a:tr>
            </a:tbl>
          </a:graphicData>
        </a:graphic>
      </p:graphicFrame>
    </p:spTree>
    <p:extLst>
      <p:ext uri="{BB962C8B-B14F-4D97-AF65-F5344CB8AC3E}">
        <p14:creationId xmlns:p14="http://schemas.microsoft.com/office/powerpoint/2010/main" val="332990444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Table Calculations - Demo</a:t>
            </a:r>
            <a:endParaRPr lang="en-IN" dirty="0"/>
          </a:p>
        </p:txBody>
      </p:sp>
      <p:sp>
        <p:nvSpPr>
          <p:cNvPr id="6" name="Rectangle 5"/>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3573200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Common Windows Functions</a:t>
            </a:r>
            <a:endParaRPr lang="en-IN" dirty="0"/>
          </a:p>
        </p:txBody>
      </p:sp>
      <p:sp>
        <p:nvSpPr>
          <p:cNvPr id="2" name="Rectangle 1"/>
          <p:cNvSpPr/>
          <p:nvPr/>
        </p:nvSpPr>
        <p:spPr>
          <a:xfrm>
            <a:off x="485104" y="787225"/>
            <a:ext cx="11518006" cy="4524315"/>
          </a:xfrm>
          <a:prstGeom prst="rect">
            <a:avLst/>
          </a:prstGeom>
        </p:spPr>
        <p:txBody>
          <a:bodyPr wrap="square">
            <a:spAutoFit/>
          </a:bodyPr>
          <a:lstStyle/>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r>
              <a:rPr lang="en-IN" sz="3200" dirty="0" err="1" smtClean="0"/>
              <a:t>Windows_Sum</a:t>
            </a:r>
            <a:r>
              <a:rPr lang="en-IN" sz="3200" dirty="0" smtClean="0"/>
              <a:t>() </a:t>
            </a:r>
            <a:r>
              <a:rPr lang="en-IN" sz="3200" dirty="0"/>
              <a:t>- Returns the sum of the expression within the window. The window is defined by means of offsets from the current row.</a:t>
            </a:r>
            <a:endParaRPr lang="en-IN" sz="3200" dirty="0" smtClean="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r>
              <a:rPr lang="en-IN" sz="3200" dirty="0" err="1" smtClean="0"/>
              <a:t>Windows_Max</a:t>
            </a:r>
            <a:r>
              <a:rPr lang="en-IN" sz="3200" dirty="0"/>
              <a:t>() - Returns the maximum of the expression within the window. The window is defined by means of offsets from the current row.</a:t>
            </a:r>
            <a:endParaRPr lang="en-IN" sz="3200" dirty="0" smtClean="0"/>
          </a:p>
        </p:txBody>
      </p:sp>
    </p:spTree>
    <p:extLst>
      <p:ext uri="{BB962C8B-B14F-4D97-AF65-F5344CB8AC3E}">
        <p14:creationId xmlns:p14="http://schemas.microsoft.com/office/powerpoint/2010/main" val="6490469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Common Windows </a:t>
            </a:r>
            <a:r>
              <a:rPr lang="en-IN" dirty="0" smtClean="0"/>
              <a:t>Functions - Demo</a:t>
            </a:r>
            <a:endParaRPr lang="en-IN" dirty="0"/>
          </a:p>
        </p:txBody>
      </p:sp>
      <p:sp>
        <p:nvSpPr>
          <p:cNvPr id="6" name="Rectangle 5"/>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5654388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Data Blending</a:t>
            </a:r>
            <a:endParaRPr lang="en-IN" dirty="0"/>
          </a:p>
        </p:txBody>
      </p:sp>
      <p:sp>
        <p:nvSpPr>
          <p:cNvPr id="2" name="Rectangle 1"/>
          <p:cNvSpPr/>
          <p:nvPr/>
        </p:nvSpPr>
        <p:spPr>
          <a:xfrm>
            <a:off x="485104" y="787225"/>
            <a:ext cx="11518006" cy="5016758"/>
          </a:xfrm>
          <a:prstGeom prst="rect">
            <a:avLst/>
          </a:prstGeom>
        </p:spPr>
        <p:txBody>
          <a:bodyPr wrap="square">
            <a:spAutoFit/>
          </a:bodyPr>
          <a:lstStyle/>
          <a:p>
            <a:pPr marL="342900" indent="-342900" fontAlgn="base">
              <a:buFont typeface="Arial" panose="020B0604020202020204" pitchFamily="34" charset="0"/>
              <a:buChar char="•"/>
            </a:pPr>
            <a:endParaRPr lang="en-IN" sz="3200" dirty="0" smtClean="0"/>
          </a:p>
          <a:p>
            <a:pPr marL="342900" indent="-342900" fontAlgn="base">
              <a:buFont typeface="Arial" panose="020B0604020202020204" pitchFamily="34" charset="0"/>
              <a:buChar char="•"/>
            </a:pPr>
            <a:r>
              <a:rPr lang="en-IN" sz="3200" dirty="0" smtClean="0"/>
              <a:t>Data </a:t>
            </a:r>
            <a:r>
              <a:rPr lang="en-IN" sz="3200" dirty="0"/>
              <a:t>blending is when you combine data from multiple data source types in a single worksheet. The data is joined on common dimensions. </a:t>
            </a:r>
            <a:endParaRPr lang="en-IN" sz="3200" dirty="0" smtClean="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r>
              <a:rPr lang="en-IN" sz="3200" dirty="0" smtClean="0"/>
              <a:t>Data </a:t>
            </a:r>
            <a:r>
              <a:rPr lang="en-IN" sz="3200" dirty="0"/>
              <a:t>Blending does not create row level joins and is not a way to add new dimensions or rows to your data</a:t>
            </a:r>
            <a:r>
              <a:rPr lang="en-IN" sz="3200" dirty="0" smtClean="0"/>
              <a:t>.</a:t>
            </a:r>
            <a:endParaRPr lang="en-IN" sz="3200" dirty="0"/>
          </a:p>
          <a:p>
            <a:pPr marL="342900" indent="-342900" fontAlgn="base">
              <a:buFont typeface="Arial" panose="020B0604020202020204" pitchFamily="34" charset="0"/>
              <a:buChar char="•"/>
            </a:pPr>
            <a:endParaRPr lang="en-IN" sz="3200" dirty="0"/>
          </a:p>
          <a:p>
            <a:pPr marL="342900" indent="-342900" fontAlgn="base">
              <a:buFont typeface="Arial" panose="020B0604020202020204" pitchFamily="34" charset="0"/>
              <a:buChar char="•"/>
            </a:pPr>
            <a:endParaRPr lang="en-IN" sz="3200" dirty="0"/>
          </a:p>
        </p:txBody>
      </p:sp>
    </p:spTree>
    <p:extLst>
      <p:ext uri="{BB962C8B-B14F-4D97-AF65-F5344CB8AC3E}">
        <p14:creationId xmlns:p14="http://schemas.microsoft.com/office/powerpoint/2010/main" val="150345455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p:cNvSpPr txBox="1">
            <a:spLocks/>
          </p:cNvSpPr>
          <p:nvPr/>
        </p:nvSpPr>
        <p:spPr>
          <a:xfrm>
            <a:off x="2075159" y="0"/>
            <a:ext cx="8333117" cy="480131"/>
          </a:xfrm>
          <a:prstGeom prst="rect">
            <a:avLst/>
          </a:prstGeom>
          <a:solidFill>
            <a:schemeClr val="bg1"/>
          </a:solidFill>
        </p:spPr>
        <p:txBody>
          <a:bodyPr wrap="square">
            <a:sp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rgbClr val="0070C0"/>
                </a:solidFill>
                <a:latin typeface="Leelawadee UI" panose="020B0502040204020203" pitchFamily="34" charset="-34"/>
                <a:ea typeface="+mn-ea"/>
                <a:cs typeface="Leelawadee UI" panose="020B0502040204020203" pitchFamily="34" charset="-3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Data Blending - Demo</a:t>
            </a:r>
            <a:endParaRPr lang="en-IN" dirty="0"/>
          </a:p>
        </p:txBody>
      </p:sp>
      <p:sp>
        <p:nvSpPr>
          <p:cNvPr id="5" name="Rectangle 4"/>
          <p:cNvSpPr/>
          <p:nvPr/>
        </p:nvSpPr>
        <p:spPr>
          <a:xfrm>
            <a:off x="1466517" y="787225"/>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IN" sz="3200" b="1" dirty="0" smtClean="0">
                <a:solidFill>
                  <a:prstClr val="white"/>
                </a:solidFill>
                <a:latin typeface="Century Gothic"/>
              </a:rPr>
              <a:t>Demo</a:t>
            </a:r>
            <a:endParaRPr lang="en-IN" sz="3200" b="1" dirty="0">
              <a:solidFill>
                <a:prstClr val="white"/>
              </a:solidFill>
              <a:latin typeface="Century Gothic"/>
            </a:endParaRPr>
          </a:p>
          <a:p>
            <a:pPr algn="ctr"/>
            <a:endParaRPr lang="en-IN" sz="3200" b="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24806768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a:solidFill>
                    <a:prstClr val="white"/>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560063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10409</TotalTime>
  <Words>2188</Words>
  <Application>Microsoft Office PowerPoint</Application>
  <PresentationFormat>Widescreen</PresentationFormat>
  <Paragraphs>709</Paragraphs>
  <Slides>53</Slides>
  <Notes>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53</vt:i4>
      </vt:variant>
    </vt:vector>
  </HeadingPairs>
  <TitlesOfParts>
    <vt:vector size="62" baseType="lpstr">
      <vt:lpstr>Arial</vt:lpstr>
      <vt:lpstr>Calibri</vt:lpstr>
      <vt:lpstr>Calibri Light</vt:lpstr>
      <vt:lpstr>Century Gothic</vt:lpstr>
      <vt:lpstr>Leelawadee UI</vt:lpstr>
      <vt:lpstr>Wingdings</vt:lpstr>
      <vt:lpstr>1_Office Theme</vt:lpstr>
      <vt:lpstr>3_Office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Sanket Verma</dc:creator>
  <cp:lastModifiedBy>Sanket Verma</cp:lastModifiedBy>
  <cp:revision>261</cp:revision>
  <dcterms:created xsi:type="dcterms:W3CDTF">2016-06-07T05:43:05Z</dcterms:created>
  <dcterms:modified xsi:type="dcterms:W3CDTF">2016-07-27T11:39:50Z</dcterms:modified>
</cp:coreProperties>
</file>
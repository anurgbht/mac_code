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392" r:id="rId3"/>
    <p:sldId id="390" r:id="rId4"/>
    <p:sldId id="385" r:id="rId5"/>
    <p:sldId id="387" r:id="rId6"/>
    <p:sldId id="386" r:id="rId7"/>
    <p:sldId id="389" r:id="rId8"/>
    <p:sldId id="391" r:id="rId9"/>
    <p:sldId id="38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1A3"/>
    <a:srgbClr val="4A4A67"/>
    <a:srgbClr val="949494"/>
    <a:srgbClr val="D9E1F2"/>
    <a:srgbClr val="993300"/>
    <a:srgbClr val="DEECFD"/>
    <a:srgbClr val="CC6600"/>
    <a:srgbClr val="803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76" autoAdjust="0"/>
    <p:restoredTop sz="91921" autoAdjust="0"/>
  </p:normalViewPr>
  <p:slideViewPr>
    <p:cSldViewPr snapToGrid="0">
      <p:cViewPr varScale="1">
        <p:scale>
          <a:sx n="107" d="100"/>
          <a:sy n="107" d="100"/>
        </p:scale>
        <p:origin x="11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47282-5322-4920-A04A-F88BF4A9D3DE}" type="datetimeFigureOut">
              <a:rPr lang="en-IN" smtClean="0"/>
              <a:t>19-08-2016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D4397-2931-438B-B195-D24BFA6F0B7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0107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C80FA6-BA02-4C3D-AB3D-7F99A89BBA54}" type="slidenum">
              <a:rPr lang="en-IN" smtClean="0">
                <a:solidFill>
                  <a:prstClr val="black"/>
                </a:solidFill>
              </a:rPr>
              <a:pPr/>
              <a:t>1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555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1B97-C155-4CFC-AA97-CF72E949F1D8}" type="datetime1">
              <a:rPr lang="en-US" smtClean="0">
                <a:solidFill>
                  <a:srgbClr val="ACD433"/>
                </a:solidFill>
              </a:rPr>
              <a:pPr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832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5522-3AA0-4A80-92C7-2AC281EBADF4}" type="datetime1">
              <a:rPr lang="en-US" smtClean="0">
                <a:solidFill>
                  <a:srgbClr val="ACD433"/>
                </a:solidFill>
              </a:rPr>
              <a:pPr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79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34B9-F39B-4A6F-8022-0CCE308A2419}" type="datetime1">
              <a:rPr lang="en-US" smtClean="0">
                <a:solidFill>
                  <a:srgbClr val="ACD433"/>
                </a:solidFill>
              </a:rPr>
              <a:pPr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11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1948E-581D-4169-8736-D78C52183DC6}" type="datetime1">
              <a:rPr lang="en-US" smtClean="0">
                <a:solidFill>
                  <a:srgbClr val="ACD433"/>
                </a:solidFill>
              </a:rPr>
              <a:pPr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sz="1800" b="0" i="0" kern="1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6032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0C7-AADD-421B-8FBC-91AD055047E0}" type="datetime1">
              <a:rPr lang="en-US" smtClean="0">
                <a:solidFill>
                  <a:srgbClr val="ACD433"/>
                </a:solidFill>
              </a:rPr>
              <a:pPr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8864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E4F3-E305-4ED2-971B-C2A5123F3D9C}" type="datetime1">
              <a:rPr lang="en-US" smtClean="0">
                <a:solidFill>
                  <a:srgbClr val="ACD433"/>
                </a:solidFill>
              </a:rPr>
              <a:pPr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47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C74D-C361-4376-8174-AE28B7E8A445}" type="datetime1">
              <a:rPr lang="en-US" smtClean="0">
                <a:solidFill>
                  <a:srgbClr val="ACD433"/>
                </a:solidFill>
              </a:rPr>
              <a:pPr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809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ABCB-FCE6-4FC8-9691-E916C6279CCA}" type="datetime1">
              <a:rPr lang="en-US" smtClean="0">
                <a:solidFill>
                  <a:srgbClr val="ACD433"/>
                </a:solidFill>
              </a:rPr>
              <a:pPr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22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E84-D85D-497A-9A5B-2C115F808617}" type="datetime1">
              <a:rPr lang="en-US" smtClean="0">
                <a:solidFill>
                  <a:srgbClr val="ACD433"/>
                </a:solidFill>
              </a:rPr>
              <a:pPr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472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FD7DB-F981-46C5-8A0D-B8D1888769EB}" type="datetime1">
              <a:rPr lang="en-US" smtClean="0">
                <a:solidFill>
                  <a:srgbClr val="ACD433"/>
                </a:solidFill>
              </a:rPr>
              <a:pPr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51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sz="9600" dirty="0">
                <a:solidFill>
                  <a:srgbClr val="ACD433"/>
                </a:solidFill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en-US" sz="9600" dirty="0">
                <a:solidFill>
                  <a:srgbClr val="ACD433"/>
                </a:solidFill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D92A-5A66-48EC-BB04-2DB931A39FAD}" type="datetime1">
              <a:rPr lang="en-US" smtClean="0">
                <a:solidFill>
                  <a:srgbClr val="ACD433"/>
                </a:solidFill>
              </a:rPr>
              <a:pPr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39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0C19-0998-4D52-8DDD-94BF7F80CAE5}" type="datetime1">
              <a:rPr lang="en-US" smtClean="0">
                <a:solidFill>
                  <a:srgbClr val="ACD433"/>
                </a:solidFill>
              </a:rPr>
              <a:pPr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212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07827-9700-4CDC-9E1D-449DE82DEC8D}" type="datetime1">
              <a:rPr lang="en-US" smtClean="0">
                <a:solidFill>
                  <a:srgbClr val="ACD433"/>
                </a:solidFill>
              </a:rPr>
              <a:pPr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7249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0FD-A1FC-4920-A3C2-085B8E2F9EFA}" type="datetime1">
              <a:rPr lang="en-US" smtClean="0">
                <a:solidFill>
                  <a:srgbClr val="ACD433"/>
                </a:solidFill>
              </a:rPr>
              <a:pPr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83225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D277-BE34-4141-BD49-E063BB7174E9}" type="datetime1">
              <a:rPr lang="en-US" smtClean="0">
                <a:solidFill>
                  <a:srgbClr val="ACD433"/>
                </a:solidFill>
              </a:rPr>
              <a:pPr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2266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B2973-F785-4CAE-8F28-6C5AAE1DB252}" type="datetime1">
              <a:rPr lang="en-US" smtClean="0">
                <a:solidFill>
                  <a:srgbClr val="ACD433"/>
                </a:solidFill>
              </a:rPr>
              <a:pPr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0E5580"/>
                </a:solidFill>
              </a:rPr>
              <a:pPr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1367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FFF5-06C3-4731-9F12-C14547B929B0}" type="datetime1">
              <a:rPr lang="en-IN" smtClean="0">
                <a:solidFill>
                  <a:srgbClr val="ACD433"/>
                </a:solidFill>
              </a:rPr>
              <a:pPr/>
              <a:t>19-08-2016</a:t>
            </a:fld>
            <a:endParaRPr lang="en-IN" dirty="0">
              <a:solidFill>
                <a:srgbClr val="ACD43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>
              <a:solidFill>
                <a:srgbClr val="ACD433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0EC35-7F37-490F-B231-6B92D181A0EA}" type="slidenum">
              <a:rPr lang="en-IN" smtClean="0">
                <a:solidFill>
                  <a:srgbClr val="0E5580"/>
                </a:solidFill>
              </a:rPr>
              <a:pPr/>
              <a:t>‹#›</a:t>
            </a:fld>
            <a:endParaRPr lang="en-IN" dirty="0">
              <a:solidFill>
                <a:srgbClr val="0E5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12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29984" y="542362"/>
            <a:ext cx="978568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pPr defTabSz="457200"/>
            <a:fld id="{40642DC7-B585-4536-91D5-231B0D5F1DDB}" type="datetime1">
              <a:rPr lang="en-US" smtClean="0">
                <a:solidFill>
                  <a:srgbClr val="ACD433"/>
                </a:solidFill>
              </a:rPr>
              <a:pPr defTabSz="457200"/>
              <a:t>8/19/2016</a:t>
            </a:fld>
            <a:endParaRPr lang="en-US" dirty="0">
              <a:solidFill>
                <a:srgbClr val="ACD43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pPr defTabSz="457200"/>
            <a:r>
              <a:rPr lang="en-US" dirty="0">
                <a:solidFill>
                  <a:srgbClr val="ACD433"/>
                </a:solidFill>
              </a:rPr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061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2"/>
                </a:solidFill>
                <a:latin typeface="+mn-lt"/>
              </a:defRPr>
            </a:lvl1pPr>
          </a:lstStyle>
          <a:p>
            <a:pPr defTabSz="457200"/>
            <a:fld id="{D57F1E4F-1CFF-5643-939E-217C01CDF565}" type="slidenum">
              <a:rPr lang="en-US" smtClean="0">
                <a:solidFill>
                  <a:srgbClr val="0E5580"/>
                </a:solidFill>
              </a:rPr>
              <a:pPr defTabSz="457200"/>
              <a:t>‹#›</a:t>
            </a:fld>
            <a:endParaRPr lang="en-US" dirty="0">
              <a:solidFill>
                <a:srgbClr val="0E5580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962" y="0"/>
            <a:ext cx="477038" cy="450761"/>
          </a:xfrm>
          <a:prstGeom prst="rect">
            <a:avLst/>
          </a:prstGeom>
        </p:spPr>
      </p:pic>
      <p:sp>
        <p:nvSpPr>
          <p:cNvPr id="31" name="Rectangle 30"/>
          <p:cNvSpPr/>
          <p:nvPr userDrawn="1"/>
        </p:nvSpPr>
        <p:spPr>
          <a:xfrm>
            <a:off x="444500" y="1151908"/>
            <a:ext cx="11270462" cy="104348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484906" y="1893122"/>
            <a:ext cx="11230056" cy="4122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925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www.python.org/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54954" y="1481547"/>
            <a:ext cx="9989861" cy="2677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solidFill>
                  <a:prstClr val="black"/>
                </a:solidFill>
              </a:rPr>
              <a:t>TATA </a:t>
            </a:r>
            <a:r>
              <a:rPr lang="en-US" sz="4000" b="1" dirty="0" err="1">
                <a:solidFill>
                  <a:prstClr val="black"/>
                </a:solidFill>
              </a:rPr>
              <a:t>iQ</a:t>
            </a:r>
            <a:endParaRPr lang="en-US" sz="4000" b="1" dirty="0">
              <a:solidFill>
                <a:prstClr val="black"/>
              </a:solidFill>
            </a:endParaRPr>
          </a:p>
          <a:p>
            <a:pPr algn="l"/>
            <a:r>
              <a:rPr lang="en-US" sz="3500" dirty="0" smtClean="0">
                <a:solidFill>
                  <a:prstClr val="black"/>
                </a:solidFill>
              </a:rPr>
              <a:t>Python Training</a:t>
            </a:r>
            <a:r>
              <a:rPr lang="en-US" sz="4000" b="1" dirty="0">
                <a:solidFill>
                  <a:prstClr val="black"/>
                </a:solidFill>
              </a:rPr>
              <a:t/>
            </a:r>
            <a:br>
              <a:rPr lang="en-US" sz="4000" b="1" dirty="0">
                <a:solidFill>
                  <a:prstClr val="black"/>
                </a:solidFill>
              </a:rPr>
            </a:br>
            <a:endParaRPr lang="en-IN" sz="3600" dirty="0">
              <a:solidFill>
                <a:prstClr val="black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1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818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2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4457" y="295729"/>
            <a:ext cx="9550400" cy="516164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smtClean="0"/>
              <a:t>What is Programming Language</a:t>
            </a:r>
            <a:endParaRPr lang="en-IN" sz="3200" dirty="0"/>
          </a:p>
        </p:txBody>
      </p:sp>
      <p:pic>
        <p:nvPicPr>
          <p:cNvPr id="3076" name="Picture 4" descr="http://www.sciencefocus.com/sites/default/files/blog/2014/06/16443129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787" y="483988"/>
            <a:ext cx="2071300" cy="1972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702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</a:t>
            </a:r>
            <a:r>
              <a:rPr lang="en-IN" dirty="0" smtClean="0"/>
              <a:t>Programming Language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3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510427" y="1575673"/>
            <a:ext cx="11113180" cy="5040279"/>
          </a:xfrm>
        </p:spPr>
        <p:txBody>
          <a:bodyPr>
            <a:normAutofit/>
          </a:bodyPr>
          <a:lstStyle/>
          <a:p>
            <a:r>
              <a:rPr lang="en-IN" dirty="0"/>
              <a:t>A programming language is a formal computer language or constructed language designed to communicate instructions to a machine, particularly a computer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r>
              <a:rPr lang="en-IN" dirty="0" smtClean="0"/>
              <a:t>Programming </a:t>
            </a:r>
            <a:r>
              <a:rPr lang="en-IN" dirty="0"/>
              <a:t>languages can be used to create programs to control the </a:t>
            </a:r>
            <a:r>
              <a:rPr lang="en-IN" dirty="0" smtClean="0"/>
              <a:t>behaviour </a:t>
            </a:r>
            <a:r>
              <a:rPr lang="en-IN" dirty="0"/>
              <a:t>of a machine or to express algorithms.</a:t>
            </a:r>
          </a:p>
          <a:p>
            <a:endParaRPr lang="en-IN" dirty="0"/>
          </a:p>
        </p:txBody>
      </p:sp>
      <p:sp>
        <p:nvSpPr>
          <p:cNvPr id="5" name="AutoShape 4" descr="Image result for python founder"/>
          <p:cNvSpPr>
            <a:spLocks noChangeAspect="1" noChangeArrowheads="1"/>
          </p:cNvSpPr>
          <p:nvPr/>
        </p:nvSpPr>
        <p:spPr bwMode="auto">
          <a:xfrm>
            <a:off x="2925669" y="514471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6" name="Picture 2" descr="http://www.glsuniversity.ac.in/images/mc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939" y="3877032"/>
            <a:ext cx="4065650" cy="2174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ttps://www.python.org/static/opengraph-icon-200x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67151">
            <a:off x="5516697" y="3228426"/>
            <a:ext cx="998655" cy="99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8" descr="https://zeroc.com/images/logos/languages/java-b48c6193e3.svg"/>
          <p:cNvSpPr>
            <a:spLocks noChangeAspect="1" noChangeArrowheads="1"/>
          </p:cNvSpPr>
          <p:nvPr/>
        </p:nvSpPr>
        <p:spPr bwMode="auto">
          <a:xfrm>
            <a:off x="155575" y="-137160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6" name="Picture 12" descr="http://d3gnp09177mxuh.cloudfront.net/tech-page-images/jav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760115">
            <a:off x="6430870" y="3951154"/>
            <a:ext cx="1345959" cy="1345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://3.bp.blogspot.com/-B1H926EpmBY/VTNhaHOhFRI/AAAAAAAAAf8/0gHGKsLYPPE/s1600/C-programmin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025" y="4437254"/>
            <a:ext cx="912999" cy="912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://static.tpsort.com/media/uploads/images/3/2/32teh4khndwldxzzpdvz5fgjmxslud3jhepbkaswjxu41ngh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331775">
            <a:off x="7889004" y="3455974"/>
            <a:ext cx="872323" cy="87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https://developer.r-project.org/Logo/Rlogo-1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799" y="4831774"/>
            <a:ext cx="929835" cy="70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http://tapoueh.org/images/sql-logo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27915">
            <a:off x="6612418" y="5285590"/>
            <a:ext cx="982865" cy="98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http://dev-random.net/wp-content/uploads/2014/04/bin-bash-extended.sh-600x600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009700">
            <a:off x="9116280" y="4093756"/>
            <a:ext cx="2321094" cy="632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90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4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4457" y="295729"/>
            <a:ext cx="9550400" cy="516164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smtClean="0"/>
              <a:t>Python Introduction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7382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Python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5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510427" y="1575673"/>
            <a:ext cx="11113180" cy="5040279"/>
          </a:xfrm>
        </p:spPr>
        <p:txBody>
          <a:bodyPr>
            <a:normAutofit/>
          </a:bodyPr>
          <a:lstStyle/>
          <a:p>
            <a:r>
              <a:rPr lang="en-IN" dirty="0"/>
              <a:t>Python is an interpreted, object-oriented, high-level programming language with dynamic semantics. </a:t>
            </a:r>
            <a:endParaRPr lang="en-IN" dirty="0" smtClean="0"/>
          </a:p>
          <a:p>
            <a:endParaRPr lang="en-IN" dirty="0"/>
          </a:p>
          <a:p>
            <a:r>
              <a:rPr lang="en-IN" dirty="0"/>
              <a:t>Its high-level built in data structures, combined with dynamic typing and dynamic binding, make it very attractive for Rapid Application Development, as well as for use as a scripting or glue language to connect existing components together. </a:t>
            </a:r>
          </a:p>
        </p:txBody>
      </p:sp>
      <p:pic>
        <p:nvPicPr>
          <p:cNvPr id="2050" name="Picture 2" descr="https://www.python.org/static/opengraph-icon-200x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228" y="4075369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Image result for python founder"/>
          <p:cNvSpPr>
            <a:spLocks noChangeAspect="1" noChangeArrowheads="1"/>
          </p:cNvSpPr>
          <p:nvPr/>
        </p:nvSpPr>
        <p:spPr bwMode="auto">
          <a:xfrm>
            <a:off x="2925669" y="514471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4" name="Picture 6" descr="https://pbs.twimg.com/profile_images/424495004/GuidoAvatar_400x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427" y="3792071"/>
            <a:ext cx="2092714" cy="2092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8463167" y="5884785"/>
            <a:ext cx="22452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Guido</a:t>
            </a:r>
            <a:r>
              <a:rPr lang="en-IN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van</a:t>
            </a:r>
            <a:r>
              <a:rPr lang="en-IN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Rossum</a:t>
            </a:r>
          </a:p>
        </p:txBody>
      </p:sp>
    </p:spTree>
    <p:extLst>
      <p:ext uri="{BB962C8B-B14F-4D97-AF65-F5344CB8AC3E}">
        <p14:creationId xmlns:p14="http://schemas.microsoft.com/office/powerpoint/2010/main" val="3966312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6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4457" y="295729"/>
            <a:ext cx="9550400" cy="516164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smtClean="0"/>
              <a:t>Why Python?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9241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Python ?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7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510427" y="1575673"/>
            <a:ext cx="11113180" cy="504027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Easy-to-learn and easy-to-maintain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Huge collection of library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Data management(upload, extract)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Versatile Application ( GUI, Web, OS, Data Science, Apps, Mobile)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Faster Development/productivity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Interpreted and scripting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/>
          </a:p>
          <a:p>
            <a:endParaRPr lang="en-IN" i="1" dirty="0"/>
          </a:p>
          <a:p>
            <a:endParaRPr lang="en-IN" i="1" dirty="0"/>
          </a:p>
        </p:txBody>
      </p:sp>
      <p:grpSp>
        <p:nvGrpSpPr>
          <p:cNvPr id="7" name="Group 6"/>
          <p:cNvGrpSpPr/>
          <p:nvPr/>
        </p:nvGrpSpPr>
        <p:grpSpPr>
          <a:xfrm>
            <a:off x="7314293" y="3245224"/>
            <a:ext cx="4563942" cy="4876798"/>
            <a:chOff x="6928811" y="2751757"/>
            <a:chExt cx="5065642" cy="4993748"/>
          </a:xfrm>
        </p:grpSpPr>
        <p:sp>
          <p:nvSpPr>
            <p:cNvPr id="6" name="Arc 5"/>
            <p:cNvSpPr/>
            <p:nvPr/>
          </p:nvSpPr>
          <p:spPr>
            <a:xfrm>
              <a:off x="7259239" y="3155576"/>
              <a:ext cx="4364368" cy="4589929"/>
            </a:xfrm>
            <a:prstGeom prst="arc">
              <a:avLst>
                <a:gd name="adj1" fmla="val 10044154"/>
                <a:gd name="adj2" fmla="val 994357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052" name="Picture 4" descr="http://www.freeiconspng.com/uploads/computer-user-icon-15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7027" y="4095812"/>
              <a:ext cx="1780801" cy="1780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2" name="Picture 14" descr="https://image.freepik.com/free-icon/tools-cross-settings-symbol-for-interface_318-48264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8674" y="3785780"/>
              <a:ext cx="704129" cy="704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https://cdn3.iconfinder.com/data/icons/shopping-solid-icons-vol-2/64/061-512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4093" y="3565265"/>
              <a:ext cx="764895" cy="764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http://www.freeiconspng.com/uploads/easy-icon-13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9571" y="2751757"/>
              <a:ext cx="775445" cy="7754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https://encrypted-tbn1.gstatic.com/images?q=tbn:ANd9GcTZDaqdlr0cpR_JFHVeNb-0cSY1y2XevAo9IQsrHzNznlGKs_p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8811" y="5120112"/>
              <a:ext cx="660855" cy="6608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0" name="Picture 12" descr="http://strategictransactions.com.au/wp-content/uploads/2015/11/forexperts_15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52760" y="5120112"/>
              <a:ext cx="741693" cy="7416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1265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</a:t>
            </a:r>
            <a:r>
              <a:rPr lang="en-IN" dirty="0" smtClean="0"/>
              <a:t>do we use Python?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8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510427" y="1575673"/>
            <a:ext cx="11113180" cy="504027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Mine/Extract data from various different formats(web, excel, text, logs, xml, csv, html etc..)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Data munging/cleaning/preparation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Data management(upload, extract)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Automation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Scripting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Data </a:t>
            </a:r>
            <a:r>
              <a:rPr lang="en-IN" dirty="0" smtClean="0"/>
              <a:t>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/>
          </a:p>
          <a:p>
            <a:r>
              <a:rPr lang="en-IN" b="1" dirty="0" smtClean="0"/>
              <a:t>pandas</a:t>
            </a:r>
            <a:r>
              <a:rPr lang="en-IN" dirty="0"/>
              <a:t> is a </a:t>
            </a:r>
            <a:r>
              <a:rPr lang="en-IN" dirty="0">
                <a:hlinkClick r:id="rId2"/>
              </a:rPr>
              <a:t>Python</a:t>
            </a:r>
            <a:r>
              <a:rPr lang="en-IN" dirty="0"/>
              <a:t> package providing fast, flexible, and expressive data structures designed to make working with “relational” or “labeled” data both easy and intuitive</a:t>
            </a:r>
            <a:r>
              <a:rPr lang="en-IN" dirty="0" smtClean="0"/>
              <a:t>. 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122" name="Picture 2" descr="http://www.madmaximshen.com/wp-content/uploads/2016/06/panda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233" y="5076571"/>
            <a:ext cx="3433767" cy="1781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2128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9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4457" y="295729"/>
            <a:ext cx="9550400" cy="516164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smtClean="0"/>
              <a:t>Python History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2722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Custom 2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0A3F60"/>
      </a:hlink>
      <a:folHlink>
        <a:srgbClr val="062A40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>
    <a:txDef>
      <a:spPr bwMode="gray"/>
      <a:bodyPr vert="horz" lIns="91440" tIns="45720" rIns="91440" bIns="45720" rtlCol="0" anchor="ctr">
        <a:no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6080</TotalTime>
  <Words>209</Words>
  <Application>Microsoft Office PowerPoint</Application>
  <PresentationFormat>Widescreen</PresentationFormat>
  <Paragraphs>43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</vt:lpstr>
      <vt:lpstr>Calibri</vt:lpstr>
      <vt:lpstr>Century Gothic</vt:lpstr>
      <vt:lpstr>Wingdings 3</vt:lpstr>
      <vt:lpstr>Ion Boardroom</vt:lpstr>
      <vt:lpstr> </vt:lpstr>
      <vt:lpstr>PowerPoint Presentation</vt:lpstr>
      <vt:lpstr>What is Programming Language</vt:lpstr>
      <vt:lpstr>PowerPoint Presentation</vt:lpstr>
      <vt:lpstr>What is Python</vt:lpstr>
      <vt:lpstr>PowerPoint Presentation</vt:lpstr>
      <vt:lpstr>Why Python ?</vt:lpstr>
      <vt:lpstr>Why do we use Python?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Tata AIA Analytics Deliverables and Timelines</dc:title>
  <dc:creator>Chitra Chatterjee</dc:creator>
  <cp:lastModifiedBy>Jeewan Kumar</cp:lastModifiedBy>
  <cp:revision>535</cp:revision>
  <dcterms:created xsi:type="dcterms:W3CDTF">2015-08-17T07:42:22Z</dcterms:created>
  <dcterms:modified xsi:type="dcterms:W3CDTF">2016-08-19T06:23:02Z</dcterms:modified>
</cp:coreProperties>
</file>
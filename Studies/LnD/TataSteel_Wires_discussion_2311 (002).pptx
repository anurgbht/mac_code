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3.xml" ContentType="application/vnd.openxmlformats-officedocument.presentationml.notesSlid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notesSlides/notesSlide4.xml" ContentType="application/vnd.openxmlformats-officedocument.presentationml.notesSlid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theme/themeOverride1.xml" ContentType="application/vnd.openxmlformats-officedocument.themeOverr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25.xml" ContentType="application/vnd.openxmlformats-officedocument.drawingml.chart+xml"/>
  <Override PartName="/ppt/charts/style25.xml" ContentType="application/vnd.ms-office.chartstyle+xml"/>
  <Override PartName="/ppt/charts/colors25.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84" r:id="rId3"/>
    <p:sldId id="285" r:id="rId4"/>
    <p:sldId id="287" r:id="rId5"/>
    <p:sldId id="296" r:id="rId6"/>
    <p:sldId id="286" r:id="rId7"/>
    <p:sldId id="266" r:id="rId8"/>
    <p:sldId id="271" r:id="rId9"/>
    <p:sldId id="272" r:id="rId10"/>
    <p:sldId id="273" r:id="rId11"/>
    <p:sldId id="274" r:id="rId12"/>
    <p:sldId id="279" r:id="rId13"/>
    <p:sldId id="280" r:id="rId14"/>
    <p:sldId id="276" r:id="rId15"/>
    <p:sldId id="288" r:id="rId16"/>
    <p:sldId id="297" r:id="rId17"/>
    <p:sldId id="298" r:id="rId18"/>
    <p:sldId id="299" r:id="rId19"/>
    <p:sldId id="295" r:id="rId20"/>
    <p:sldId id="264" r:id="rId21"/>
    <p:sldId id="277" r:id="rId22"/>
    <p:sldId id="282" r:id="rId23"/>
    <p:sldId id="283" r:id="rId24"/>
    <p:sldId id="29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168" userDrawn="1">
          <p15:clr>
            <a:srgbClr val="A4A3A4"/>
          </p15:clr>
        </p15:guide>
        <p15:guide id="4" pos="7512" userDrawn="1">
          <p15:clr>
            <a:srgbClr val="A4A3A4"/>
          </p15:clr>
        </p15:guide>
        <p15:guide id="5" orient="horz" pos="144" userDrawn="1">
          <p15:clr>
            <a:srgbClr val="A4A3A4"/>
          </p15:clr>
        </p15:guide>
        <p15:guide id="6" orient="horz" pos="41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1DDF5"/>
    <a:srgbClr val="7030A0"/>
    <a:srgbClr val="38A6E9"/>
    <a:srgbClr val="B8040A"/>
    <a:srgbClr val="5E75CD"/>
    <a:srgbClr val="CBE1AD"/>
    <a:srgbClr val="A94948"/>
    <a:srgbClr val="3F51B5"/>
    <a:srgbClr val="F8C79C"/>
    <a:srgbClr val="F8B1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062" autoAdjust="0"/>
    <p:restoredTop sz="94660"/>
  </p:normalViewPr>
  <p:slideViewPr>
    <p:cSldViewPr snapToGrid="0" showGuides="1">
      <p:cViewPr varScale="1">
        <p:scale>
          <a:sx n="74" d="100"/>
          <a:sy n="74" d="100"/>
        </p:scale>
        <p:origin x="696" y="72"/>
      </p:cViewPr>
      <p:guideLst>
        <p:guide orient="horz" pos="2160"/>
        <p:guide pos="3840"/>
        <p:guide pos="168"/>
        <p:guide pos="7512"/>
        <p:guide orient="horz" pos="144"/>
        <p:guide orient="horz" pos="4176"/>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Chart%20in%20Microsoft%20PowerPoint"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4.xml"/><Relationship Id="rId1" Type="http://schemas.microsoft.com/office/2011/relationships/chartStyle" Target="style14.xml"/><Relationship Id="rId4" Type="http://schemas.openxmlformats.org/officeDocument/2006/relationships/package" Target="../embeddings/Microsoft_Excel_Worksheet15.xlsx"/></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20.xlsx"/><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4.xlsx"/><Relationship Id="rId2" Type="http://schemas.microsoft.com/office/2011/relationships/chartColorStyle" Target="colors23.xml"/><Relationship Id="rId1" Type="http://schemas.microsoft.com/office/2011/relationships/chartStyle" Target="style23.xml"/></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5.xlsx"/><Relationship Id="rId2" Type="http://schemas.microsoft.com/office/2011/relationships/chartColorStyle" Target="colors24.xml"/><Relationship Id="rId1" Type="http://schemas.microsoft.com/office/2011/relationships/chartStyle" Target="style24.xml"/></Relationships>
</file>

<file path=ppt/charts/_rels/chart25.xml.rels><?xml version="1.0" encoding="UTF-8" standalone="yes"?>
<Relationships xmlns="http://schemas.openxmlformats.org/package/2006/relationships"><Relationship Id="rId3" Type="http://schemas.openxmlformats.org/officeDocument/2006/relationships/package" Target="../embeddings/Microsoft_Excel_Worksheet26.xlsx"/><Relationship Id="rId2" Type="http://schemas.microsoft.com/office/2011/relationships/chartColorStyle" Target="colors25.xml"/><Relationship Id="rId1" Type="http://schemas.microsoft.com/office/2011/relationships/chartStyle" Target="style25.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chemeClr val="accent2"/>
              </a:solidFill>
              <a:ln>
                <a:noFill/>
              </a:ln>
              <a:effectLst/>
            </c:spPr>
          </c:dPt>
          <c:dPt>
            <c:idx val="2"/>
            <c:invertIfNegative val="0"/>
            <c:bubble3D val="0"/>
            <c:spPr>
              <a:solidFill>
                <a:schemeClr val="accent1">
                  <a:lumMod val="40000"/>
                  <a:lumOff val="60000"/>
                </a:schemeClr>
              </a:solidFill>
              <a:ln>
                <a:noFill/>
              </a:ln>
              <a:effectLst/>
            </c:spPr>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GADAG</c:v>
                </c:pt>
                <c:pt idx="1">
                  <c:v>KOPPAL</c:v>
                </c:pt>
                <c:pt idx="2">
                  <c:v>RAICHUR</c:v>
                </c:pt>
              </c:strCache>
            </c:strRef>
          </c:cat>
          <c:val>
            <c:numRef>
              <c:f>Sheet1!$B$2:$B$4</c:f>
              <c:numCache>
                <c:formatCode>General</c:formatCode>
                <c:ptCount val="3"/>
                <c:pt idx="0">
                  <c:v>774.2</c:v>
                </c:pt>
                <c:pt idx="1">
                  <c:v>756</c:v>
                </c:pt>
                <c:pt idx="2">
                  <c:v>651.5</c:v>
                </c:pt>
              </c:numCache>
            </c:numRef>
          </c:val>
        </c:ser>
        <c:dLbls>
          <c:showLegendKey val="0"/>
          <c:showVal val="0"/>
          <c:showCatName val="0"/>
          <c:showSerName val="0"/>
          <c:showPercent val="0"/>
          <c:showBubbleSize val="0"/>
        </c:dLbls>
        <c:gapWidth val="219"/>
        <c:overlap val="-27"/>
        <c:axId val="-1023115776"/>
        <c:axId val="-1023110336"/>
      </c:barChart>
      <c:catAx>
        <c:axId val="-10231157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023110336"/>
        <c:crosses val="autoZero"/>
        <c:auto val="1"/>
        <c:lblAlgn val="ctr"/>
        <c:lblOffset val="100"/>
        <c:noMultiLvlLbl val="0"/>
      </c:catAx>
      <c:valAx>
        <c:axId val="-1023110336"/>
        <c:scaling>
          <c:orientation val="minMax"/>
        </c:scaling>
        <c:delete val="1"/>
        <c:axPos val="l"/>
        <c:numFmt formatCode="General" sourceLinked="1"/>
        <c:majorTickMark val="none"/>
        <c:minorTickMark val="none"/>
        <c:tickLblPos val="nextTo"/>
        <c:crossAx val="-1023115776"/>
        <c:crosses val="autoZero"/>
        <c:crossBetween val="between"/>
      </c:valAx>
      <c:spPr>
        <a:noFill/>
        <a:ln>
          <a:noFill/>
        </a:ln>
        <a:effectLst/>
      </c:spPr>
    </c:plotArea>
    <c:plotVisOnly val="1"/>
    <c:dispBlanksAs val="gap"/>
    <c:showDLblsOverMax val="0"/>
  </c:chart>
  <c:spPr>
    <a:noFill/>
    <a:ln>
      <a:solidFill>
        <a:schemeClr val="bg1">
          <a:lumMod val="85000"/>
        </a:schemeClr>
      </a:solid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chemeClr val="accent2"/>
              </a:solidFill>
              <a:ln>
                <a:noFill/>
              </a:ln>
              <a:effectLst/>
            </c:spPr>
          </c:dPt>
          <c:dPt>
            <c:idx val="2"/>
            <c:invertIfNegative val="0"/>
            <c:bubble3D val="0"/>
            <c:spPr>
              <a:solidFill>
                <a:schemeClr val="accent1">
                  <a:lumMod val="40000"/>
                  <a:lumOff val="60000"/>
                </a:schemeClr>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GADAG</c:v>
                </c:pt>
                <c:pt idx="1">
                  <c:v>KOPPAL</c:v>
                </c:pt>
                <c:pt idx="2">
                  <c:v>RAICHUR</c:v>
                </c:pt>
              </c:strCache>
            </c:strRef>
          </c:cat>
          <c:val>
            <c:numRef>
              <c:f>Sheet1!$B$2:$B$4</c:f>
              <c:numCache>
                <c:formatCode>#,##0</c:formatCode>
                <c:ptCount val="3"/>
                <c:pt idx="0">
                  <c:v>3066</c:v>
                </c:pt>
                <c:pt idx="1">
                  <c:v>3993</c:v>
                </c:pt>
                <c:pt idx="2">
                  <c:v>4535</c:v>
                </c:pt>
              </c:numCache>
            </c:numRef>
          </c:val>
        </c:ser>
        <c:dLbls>
          <c:showLegendKey val="0"/>
          <c:showVal val="0"/>
          <c:showCatName val="0"/>
          <c:showSerName val="0"/>
          <c:showPercent val="0"/>
          <c:showBubbleSize val="0"/>
        </c:dLbls>
        <c:gapWidth val="219"/>
        <c:overlap val="-27"/>
        <c:axId val="-1023113600"/>
        <c:axId val="-1023112512"/>
      </c:barChart>
      <c:catAx>
        <c:axId val="-10231136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023112512"/>
        <c:crosses val="autoZero"/>
        <c:auto val="1"/>
        <c:lblAlgn val="ctr"/>
        <c:lblOffset val="100"/>
        <c:noMultiLvlLbl val="0"/>
      </c:catAx>
      <c:valAx>
        <c:axId val="-1023112512"/>
        <c:scaling>
          <c:orientation val="minMax"/>
        </c:scaling>
        <c:delete val="1"/>
        <c:axPos val="l"/>
        <c:numFmt formatCode="#,##0" sourceLinked="1"/>
        <c:majorTickMark val="none"/>
        <c:minorTickMark val="none"/>
        <c:tickLblPos val="nextTo"/>
        <c:crossAx val="-1023113600"/>
        <c:crosses val="autoZero"/>
        <c:crossBetween val="between"/>
      </c:valAx>
      <c:spPr>
        <a:noFill/>
        <a:ln>
          <a:noFill/>
        </a:ln>
        <a:effectLst/>
      </c:spPr>
    </c:plotArea>
    <c:plotVisOnly val="1"/>
    <c:dispBlanksAs val="gap"/>
    <c:showDLblsOverMax val="0"/>
  </c:chart>
  <c:spPr>
    <a:noFill/>
    <a:ln>
      <a:solidFill>
        <a:schemeClr val="bg1">
          <a:lumMod val="85000"/>
        </a:schemeClr>
      </a:solid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chemeClr val="accent2"/>
              </a:solidFill>
              <a:ln>
                <a:noFill/>
              </a:ln>
              <a:effectLst/>
            </c:spPr>
          </c:dPt>
          <c:dPt>
            <c:idx val="2"/>
            <c:invertIfNegative val="0"/>
            <c:bubble3D val="0"/>
            <c:spPr>
              <a:solidFill>
                <a:schemeClr val="accent1">
                  <a:lumMod val="40000"/>
                  <a:lumOff val="60000"/>
                </a:schemeClr>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GADAG</c:v>
                </c:pt>
                <c:pt idx="1">
                  <c:v>KOPPAL</c:v>
                </c:pt>
                <c:pt idx="2">
                  <c:v>RAICHUR</c:v>
                </c:pt>
              </c:strCache>
            </c:strRef>
          </c:cat>
          <c:val>
            <c:numRef>
              <c:f>Sheet1!$B$2:$B$4</c:f>
              <c:numCache>
                <c:formatCode>#,##0</c:formatCode>
                <c:ptCount val="3"/>
                <c:pt idx="0">
                  <c:v>4283</c:v>
                </c:pt>
                <c:pt idx="1">
                  <c:v>3553</c:v>
                </c:pt>
                <c:pt idx="2">
                  <c:v>9714</c:v>
                </c:pt>
              </c:numCache>
            </c:numRef>
          </c:val>
        </c:ser>
        <c:dLbls>
          <c:showLegendKey val="0"/>
          <c:showVal val="0"/>
          <c:showCatName val="0"/>
          <c:showSerName val="0"/>
          <c:showPercent val="0"/>
          <c:showBubbleSize val="0"/>
        </c:dLbls>
        <c:gapWidth val="219"/>
        <c:overlap val="-27"/>
        <c:axId val="-1023108160"/>
        <c:axId val="-1023110880"/>
      </c:barChart>
      <c:catAx>
        <c:axId val="-10231081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023110880"/>
        <c:crosses val="autoZero"/>
        <c:auto val="1"/>
        <c:lblAlgn val="ctr"/>
        <c:lblOffset val="100"/>
        <c:noMultiLvlLbl val="0"/>
      </c:catAx>
      <c:valAx>
        <c:axId val="-1023110880"/>
        <c:scaling>
          <c:orientation val="minMax"/>
        </c:scaling>
        <c:delete val="1"/>
        <c:axPos val="l"/>
        <c:numFmt formatCode="#,##0" sourceLinked="1"/>
        <c:majorTickMark val="none"/>
        <c:minorTickMark val="none"/>
        <c:tickLblPos val="nextTo"/>
        <c:crossAx val="-1023108160"/>
        <c:crosses val="autoZero"/>
        <c:crossBetween val="between"/>
      </c:valAx>
      <c:spPr>
        <a:noFill/>
        <a:ln>
          <a:noFill/>
        </a:ln>
        <a:effectLst/>
      </c:spPr>
    </c:plotArea>
    <c:plotVisOnly val="1"/>
    <c:dispBlanksAs val="gap"/>
    <c:showDLblsOverMax val="0"/>
  </c:chart>
  <c:spPr>
    <a:noFill/>
    <a:ln>
      <a:solidFill>
        <a:schemeClr val="bg1">
          <a:lumMod val="85000"/>
        </a:schemeClr>
      </a:solid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chemeClr val="accent2"/>
              </a:solidFill>
              <a:ln>
                <a:noFill/>
              </a:ln>
              <a:effectLst/>
            </c:spPr>
          </c:dPt>
          <c:dPt>
            <c:idx val="2"/>
            <c:invertIfNegative val="0"/>
            <c:bubble3D val="0"/>
            <c:spPr>
              <a:solidFill>
                <a:schemeClr val="accent1">
                  <a:lumMod val="40000"/>
                  <a:lumOff val="60000"/>
                </a:schemeClr>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GADAG</c:v>
                </c:pt>
                <c:pt idx="1">
                  <c:v>KOPPAL</c:v>
                </c:pt>
                <c:pt idx="2">
                  <c:v>RAICHUR</c:v>
                </c:pt>
              </c:strCache>
            </c:strRef>
          </c:cat>
          <c:val>
            <c:numRef>
              <c:f>Sheet1!$B$2:$B$4</c:f>
              <c:numCache>
                <c:formatCode>0%</c:formatCode>
                <c:ptCount val="3"/>
                <c:pt idx="0">
                  <c:v>0.75</c:v>
                </c:pt>
                <c:pt idx="1">
                  <c:v>0.71</c:v>
                </c:pt>
                <c:pt idx="2">
                  <c:v>0.63</c:v>
                </c:pt>
              </c:numCache>
            </c:numRef>
          </c:val>
        </c:ser>
        <c:dLbls>
          <c:showLegendKey val="0"/>
          <c:showVal val="0"/>
          <c:showCatName val="0"/>
          <c:showSerName val="0"/>
          <c:showPercent val="0"/>
          <c:showBubbleSize val="0"/>
        </c:dLbls>
        <c:gapWidth val="219"/>
        <c:overlap val="-27"/>
        <c:axId val="-1023108704"/>
        <c:axId val="-1167371184"/>
      </c:barChart>
      <c:catAx>
        <c:axId val="-10231087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167371184"/>
        <c:crosses val="autoZero"/>
        <c:auto val="1"/>
        <c:lblAlgn val="ctr"/>
        <c:lblOffset val="100"/>
        <c:noMultiLvlLbl val="0"/>
      </c:catAx>
      <c:valAx>
        <c:axId val="-1167371184"/>
        <c:scaling>
          <c:orientation val="minMax"/>
        </c:scaling>
        <c:delete val="1"/>
        <c:axPos val="l"/>
        <c:numFmt formatCode="0%" sourceLinked="1"/>
        <c:majorTickMark val="none"/>
        <c:minorTickMark val="none"/>
        <c:tickLblPos val="nextTo"/>
        <c:crossAx val="-1023108704"/>
        <c:crosses val="autoZero"/>
        <c:crossBetween val="between"/>
      </c:valAx>
      <c:spPr>
        <a:noFill/>
        <a:ln>
          <a:noFill/>
        </a:ln>
        <a:effectLst/>
      </c:spPr>
    </c:plotArea>
    <c:plotVisOnly val="1"/>
    <c:dispBlanksAs val="gap"/>
    <c:showDLblsOverMax val="0"/>
  </c:chart>
  <c:spPr>
    <a:noFill/>
    <a:ln>
      <a:solidFill>
        <a:schemeClr val="bg1">
          <a:lumMod val="85000"/>
        </a:schemeClr>
      </a:solid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chemeClr val="accent2"/>
              </a:solidFill>
              <a:ln>
                <a:noFill/>
              </a:ln>
              <a:effectLst/>
            </c:spPr>
          </c:dPt>
          <c:dPt>
            <c:idx val="2"/>
            <c:invertIfNegative val="0"/>
            <c:bubble3D val="0"/>
            <c:spPr>
              <a:solidFill>
                <a:schemeClr val="accent1">
                  <a:lumMod val="40000"/>
                  <a:lumOff val="60000"/>
                </a:schemeClr>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GADAG</c:v>
                </c:pt>
                <c:pt idx="1">
                  <c:v>KOPPAL</c:v>
                </c:pt>
                <c:pt idx="2">
                  <c:v>RAICHUR</c:v>
                </c:pt>
              </c:strCache>
            </c:strRef>
          </c:cat>
          <c:val>
            <c:numRef>
              <c:f>Sheet1!$B$2:$B$4</c:f>
              <c:numCache>
                <c:formatCode>0.00%</c:formatCode>
                <c:ptCount val="3"/>
                <c:pt idx="0">
                  <c:v>5.0000000000000001E-4</c:v>
                </c:pt>
                <c:pt idx="1">
                  <c:v>3.0000000000000001E-3</c:v>
                </c:pt>
                <c:pt idx="2">
                  <c:v>2.0000000000000001E-4</c:v>
                </c:pt>
              </c:numCache>
            </c:numRef>
          </c:val>
        </c:ser>
        <c:dLbls>
          <c:showLegendKey val="0"/>
          <c:showVal val="0"/>
          <c:showCatName val="0"/>
          <c:showSerName val="0"/>
          <c:showPercent val="0"/>
          <c:showBubbleSize val="0"/>
        </c:dLbls>
        <c:gapWidth val="219"/>
        <c:overlap val="-27"/>
        <c:axId val="-1167384240"/>
        <c:axId val="-1167382064"/>
      </c:barChart>
      <c:catAx>
        <c:axId val="-11673842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167382064"/>
        <c:crosses val="autoZero"/>
        <c:auto val="1"/>
        <c:lblAlgn val="ctr"/>
        <c:lblOffset val="100"/>
        <c:noMultiLvlLbl val="0"/>
      </c:catAx>
      <c:valAx>
        <c:axId val="-1167382064"/>
        <c:scaling>
          <c:orientation val="minMax"/>
        </c:scaling>
        <c:delete val="1"/>
        <c:axPos val="l"/>
        <c:numFmt formatCode="0.00%" sourceLinked="1"/>
        <c:majorTickMark val="none"/>
        <c:minorTickMark val="none"/>
        <c:tickLblPos val="nextTo"/>
        <c:crossAx val="-1167384240"/>
        <c:crosses val="autoZero"/>
        <c:crossBetween val="between"/>
      </c:valAx>
      <c:spPr>
        <a:noFill/>
        <a:ln>
          <a:noFill/>
        </a:ln>
        <a:effectLst/>
      </c:spPr>
    </c:plotArea>
    <c:plotVisOnly val="1"/>
    <c:dispBlanksAs val="gap"/>
    <c:showDLblsOverMax val="0"/>
  </c:chart>
  <c:spPr>
    <a:noFill/>
    <a:ln>
      <a:solidFill>
        <a:schemeClr val="bg1">
          <a:lumMod val="85000"/>
        </a:schemeClr>
      </a:solid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chemeClr val="accent2"/>
              </a:solidFill>
              <a:ln>
                <a:noFill/>
              </a:ln>
              <a:effectLst/>
            </c:spPr>
          </c:dPt>
          <c:dPt>
            <c:idx val="2"/>
            <c:invertIfNegative val="0"/>
            <c:bubble3D val="0"/>
            <c:spPr>
              <a:solidFill>
                <a:schemeClr val="accent1">
                  <a:lumMod val="40000"/>
                  <a:lumOff val="60000"/>
                </a:schemeClr>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GADAG</c:v>
                </c:pt>
                <c:pt idx="1">
                  <c:v>KOPPAL</c:v>
                </c:pt>
                <c:pt idx="2">
                  <c:v>RAICHUR</c:v>
                </c:pt>
              </c:strCache>
            </c:strRef>
          </c:cat>
          <c:val>
            <c:numRef>
              <c:f>Sheet1!$B$2:$B$4</c:f>
              <c:numCache>
                <c:formatCode>0%</c:formatCode>
                <c:ptCount val="3"/>
                <c:pt idx="0">
                  <c:v>7.9000000000000001E-2</c:v>
                </c:pt>
                <c:pt idx="1">
                  <c:v>0.19600000000000001</c:v>
                </c:pt>
                <c:pt idx="2">
                  <c:v>0.02</c:v>
                </c:pt>
              </c:numCache>
            </c:numRef>
          </c:val>
        </c:ser>
        <c:dLbls>
          <c:showLegendKey val="0"/>
          <c:showVal val="0"/>
          <c:showCatName val="0"/>
          <c:showSerName val="0"/>
          <c:showPercent val="0"/>
          <c:showBubbleSize val="0"/>
        </c:dLbls>
        <c:gapWidth val="219"/>
        <c:overlap val="-27"/>
        <c:axId val="-1167378256"/>
        <c:axId val="-1213909840"/>
      </c:barChart>
      <c:catAx>
        <c:axId val="-11673782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213909840"/>
        <c:crosses val="autoZero"/>
        <c:auto val="1"/>
        <c:lblAlgn val="ctr"/>
        <c:lblOffset val="100"/>
        <c:noMultiLvlLbl val="0"/>
      </c:catAx>
      <c:valAx>
        <c:axId val="-1213909840"/>
        <c:scaling>
          <c:orientation val="minMax"/>
        </c:scaling>
        <c:delete val="1"/>
        <c:axPos val="l"/>
        <c:numFmt formatCode="0%" sourceLinked="1"/>
        <c:majorTickMark val="none"/>
        <c:minorTickMark val="none"/>
        <c:tickLblPos val="nextTo"/>
        <c:crossAx val="-1167378256"/>
        <c:crosses val="autoZero"/>
        <c:crossBetween val="between"/>
      </c:valAx>
      <c:spPr>
        <a:noFill/>
        <a:ln>
          <a:noFill/>
        </a:ln>
        <a:effectLst/>
      </c:spPr>
    </c:plotArea>
    <c:plotVisOnly val="1"/>
    <c:dispBlanksAs val="gap"/>
    <c:showDLblsOverMax val="0"/>
  </c:chart>
  <c:spPr>
    <a:noFill/>
    <a:ln>
      <a:solidFill>
        <a:schemeClr val="bg1">
          <a:lumMod val="85000"/>
        </a:schemeClr>
      </a:solid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chemeClr val="accent2"/>
              </a:solidFill>
              <a:ln>
                <a:noFill/>
              </a:ln>
              <a:effectLst/>
            </c:spPr>
          </c:dPt>
          <c:dPt>
            <c:idx val="2"/>
            <c:invertIfNegative val="0"/>
            <c:bubble3D val="0"/>
            <c:spPr>
              <a:solidFill>
                <a:schemeClr val="accent1">
                  <a:lumMod val="40000"/>
                  <a:lumOff val="60000"/>
                </a:schemeClr>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GADAG</c:v>
                </c:pt>
                <c:pt idx="1">
                  <c:v>KOPPAL</c:v>
                </c:pt>
                <c:pt idx="2">
                  <c:v>RAICHUR</c:v>
                </c:pt>
              </c:strCache>
            </c:strRef>
          </c:cat>
          <c:val>
            <c:numRef>
              <c:f>Sheet1!$B$2:$B$4</c:f>
              <c:numCache>
                <c:formatCode>0%</c:formatCode>
                <c:ptCount val="3"/>
                <c:pt idx="0">
                  <c:v>0.64</c:v>
                </c:pt>
                <c:pt idx="1">
                  <c:v>0.82</c:v>
                </c:pt>
                <c:pt idx="2">
                  <c:v>0.74</c:v>
                </c:pt>
              </c:numCache>
            </c:numRef>
          </c:val>
        </c:ser>
        <c:dLbls>
          <c:showLegendKey val="0"/>
          <c:showVal val="0"/>
          <c:showCatName val="0"/>
          <c:showSerName val="0"/>
          <c:showPercent val="0"/>
          <c:showBubbleSize val="0"/>
        </c:dLbls>
        <c:gapWidth val="219"/>
        <c:overlap val="-27"/>
        <c:axId val="-1213906576"/>
        <c:axId val="-1213902768"/>
      </c:barChart>
      <c:catAx>
        <c:axId val="-12139065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213902768"/>
        <c:crosses val="autoZero"/>
        <c:auto val="1"/>
        <c:lblAlgn val="ctr"/>
        <c:lblOffset val="100"/>
        <c:noMultiLvlLbl val="0"/>
      </c:catAx>
      <c:valAx>
        <c:axId val="-1213902768"/>
        <c:scaling>
          <c:orientation val="minMax"/>
        </c:scaling>
        <c:delete val="1"/>
        <c:axPos val="l"/>
        <c:numFmt formatCode="0%" sourceLinked="1"/>
        <c:majorTickMark val="none"/>
        <c:minorTickMark val="none"/>
        <c:tickLblPos val="nextTo"/>
        <c:crossAx val="-1213906576"/>
        <c:crosses val="autoZero"/>
        <c:crossBetween val="between"/>
      </c:valAx>
      <c:spPr>
        <a:noFill/>
        <a:ln>
          <a:noFill/>
        </a:ln>
        <a:effectLst/>
      </c:spPr>
    </c:plotArea>
    <c:plotVisOnly val="1"/>
    <c:dispBlanksAs val="gap"/>
    <c:showDLblsOverMax val="0"/>
  </c:chart>
  <c:spPr>
    <a:noFill/>
    <a:ln>
      <a:solidFill>
        <a:schemeClr val="bg1">
          <a:lumMod val="85000"/>
        </a:schemeClr>
      </a:solid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chemeClr val="accent2"/>
              </a:solidFill>
              <a:ln>
                <a:noFill/>
              </a:ln>
              <a:effectLst/>
            </c:spPr>
          </c:dPt>
          <c:dPt>
            <c:idx val="2"/>
            <c:invertIfNegative val="0"/>
            <c:bubble3D val="0"/>
            <c:spPr>
              <a:solidFill>
                <a:schemeClr val="accent1">
                  <a:lumMod val="40000"/>
                  <a:lumOff val="60000"/>
                </a:schemeClr>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GADAG</c:v>
                </c:pt>
                <c:pt idx="1">
                  <c:v>KOPPAL</c:v>
                </c:pt>
                <c:pt idx="2">
                  <c:v>RAICHUR</c:v>
                </c:pt>
              </c:strCache>
            </c:strRef>
          </c:cat>
          <c:val>
            <c:numRef>
              <c:f>Sheet1!$B$2:$B$4</c:f>
              <c:numCache>
                <c:formatCode>#,##0</c:formatCode>
                <c:ptCount val="3"/>
                <c:pt idx="0">
                  <c:v>107442</c:v>
                </c:pt>
                <c:pt idx="1">
                  <c:v>149510</c:v>
                </c:pt>
                <c:pt idx="2">
                  <c:v>225881</c:v>
                </c:pt>
              </c:numCache>
            </c:numRef>
          </c:val>
        </c:ser>
        <c:dLbls>
          <c:showLegendKey val="0"/>
          <c:showVal val="0"/>
          <c:showCatName val="0"/>
          <c:showSerName val="0"/>
          <c:showPercent val="0"/>
          <c:showBubbleSize val="0"/>
        </c:dLbls>
        <c:gapWidth val="219"/>
        <c:overlap val="-27"/>
        <c:axId val="-1367730288"/>
        <c:axId val="-1367729744"/>
      </c:barChart>
      <c:catAx>
        <c:axId val="-13677302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367729744"/>
        <c:crosses val="autoZero"/>
        <c:auto val="1"/>
        <c:lblAlgn val="ctr"/>
        <c:lblOffset val="100"/>
        <c:noMultiLvlLbl val="0"/>
      </c:catAx>
      <c:valAx>
        <c:axId val="-1367729744"/>
        <c:scaling>
          <c:orientation val="minMax"/>
        </c:scaling>
        <c:delete val="1"/>
        <c:axPos val="l"/>
        <c:numFmt formatCode="#,##0" sourceLinked="1"/>
        <c:majorTickMark val="none"/>
        <c:minorTickMark val="none"/>
        <c:tickLblPos val="nextTo"/>
        <c:crossAx val="-1367730288"/>
        <c:crosses val="autoZero"/>
        <c:crossBetween val="between"/>
      </c:valAx>
      <c:spPr>
        <a:noFill/>
        <a:ln>
          <a:noFill/>
        </a:ln>
        <a:effectLst/>
      </c:spPr>
    </c:plotArea>
    <c:plotVisOnly val="1"/>
    <c:dispBlanksAs val="gap"/>
    <c:showDLblsOverMax val="0"/>
  </c:chart>
  <c:spPr>
    <a:noFill/>
    <a:ln>
      <a:solidFill>
        <a:schemeClr val="bg1">
          <a:lumMod val="85000"/>
        </a:schemeClr>
      </a:solid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ubbleChart>
        <c:varyColors val="0"/>
        <c:ser>
          <c:idx val="0"/>
          <c:order val="0"/>
          <c:tx>
            <c:v>Geo Profiling Segments</c:v>
          </c:tx>
          <c:spPr>
            <a:solidFill>
              <a:schemeClr val="accent1">
                <a:alpha val="75000"/>
              </a:schemeClr>
            </a:solidFill>
            <a:ln w="25400">
              <a:noFill/>
            </a:ln>
            <a:effectLst/>
          </c:spPr>
          <c:invertIfNegative val="0"/>
          <c:xVal>
            <c:numRef>
              <c:f>'[Chart in Microsoft PowerPoint]Clusters'!$D$89:$H$89</c:f>
              <c:numCache>
                <c:formatCode>0.00</c:formatCode>
                <c:ptCount val="5"/>
                <c:pt idx="0">
                  <c:v>-0.69256167800000001</c:v>
                </c:pt>
                <c:pt idx="1">
                  <c:v>1.9227142898</c:v>
                </c:pt>
                <c:pt idx="2">
                  <c:v>0.1192901576</c:v>
                </c:pt>
                <c:pt idx="3">
                  <c:v>8.1366423100000002E-2</c:v>
                </c:pt>
                <c:pt idx="4">
                  <c:v>-0.29066584200000001</c:v>
                </c:pt>
              </c:numCache>
            </c:numRef>
          </c:xVal>
          <c:yVal>
            <c:numRef>
              <c:f>'[Chart in Microsoft PowerPoint]Clusters'!$D$38:$H$38</c:f>
              <c:numCache>
                <c:formatCode>0.00</c:formatCode>
                <c:ptCount val="5"/>
                <c:pt idx="0">
                  <c:v>-0.73534669900000005</c:v>
                </c:pt>
                <c:pt idx="1">
                  <c:v>1.8117209609</c:v>
                </c:pt>
                <c:pt idx="2">
                  <c:v>0.35174557670000001</c:v>
                </c:pt>
                <c:pt idx="3">
                  <c:v>-2.2816645999999999E-2</c:v>
                </c:pt>
                <c:pt idx="4">
                  <c:v>-0.28452127399999999</c:v>
                </c:pt>
              </c:numCache>
            </c:numRef>
          </c:yVal>
          <c:bubbleSize>
            <c:numRef>
              <c:f>'[Chart in Microsoft PowerPoint]Clusters'!$D$4:$H$4</c:f>
              <c:numCache>
                <c:formatCode>General</c:formatCode>
                <c:ptCount val="5"/>
                <c:pt idx="0">
                  <c:v>7115198.9999999991</c:v>
                </c:pt>
                <c:pt idx="1">
                  <c:v>24312152</c:v>
                </c:pt>
                <c:pt idx="2">
                  <c:v>15734287</c:v>
                </c:pt>
                <c:pt idx="3">
                  <c:v>25302688</c:v>
                </c:pt>
                <c:pt idx="4">
                  <c:v>37918816</c:v>
                </c:pt>
              </c:numCache>
            </c:numRef>
          </c:bubbleSize>
          <c:bubble3D val="1"/>
        </c:ser>
        <c:ser>
          <c:idx val="1"/>
          <c:order val="1"/>
          <c:tx>
            <c:strRef>
              <c:f>'[Chart in Microsoft PowerPoint]Clusters'!$D$89:$H$89</c:f>
              <c:strCache>
                <c:ptCount val="5"/>
                <c:pt idx="0">
                  <c:v>-0.69</c:v>
                </c:pt>
                <c:pt idx="1">
                  <c:v>1.92</c:v>
                </c:pt>
                <c:pt idx="2">
                  <c:v>0.12</c:v>
                </c:pt>
                <c:pt idx="3">
                  <c:v>0.08</c:v>
                </c:pt>
                <c:pt idx="4">
                  <c:v>-0.29</c:v>
                </c:pt>
              </c:strCache>
            </c:strRef>
          </c:tx>
          <c:spPr>
            <a:solidFill>
              <a:schemeClr val="accent2">
                <a:alpha val="75000"/>
              </a:schemeClr>
            </a:solidFill>
            <a:ln w="25400">
              <a:noFill/>
            </a:ln>
            <a:effectLst/>
          </c:spPr>
          <c:invertIfNegative val="0"/>
          <c:xVal>
            <c:numRef>
              <c:f>'[Chart in Microsoft PowerPoint]Clusters'!$D$89:$H$89</c:f>
              <c:numCache>
                <c:formatCode>0.00</c:formatCode>
                <c:ptCount val="5"/>
                <c:pt idx="0">
                  <c:v>-0.69256167800000001</c:v>
                </c:pt>
                <c:pt idx="1">
                  <c:v>1.9227142898</c:v>
                </c:pt>
                <c:pt idx="2">
                  <c:v>0.1192901576</c:v>
                </c:pt>
                <c:pt idx="3">
                  <c:v>8.1366423100000002E-2</c:v>
                </c:pt>
                <c:pt idx="4">
                  <c:v>-0.29066584200000001</c:v>
                </c:pt>
              </c:numCache>
            </c:numRef>
          </c:xVal>
          <c:yVal>
            <c:numLit>
              <c:formatCode>General</c:formatCode>
              <c:ptCount val="1"/>
              <c:pt idx="0">
                <c:v>1</c:v>
              </c:pt>
            </c:numLit>
          </c:yVal>
          <c:bubbleSize>
            <c:numLit>
              <c:formatCode>General</c:formatCode>
              <c:ptCount val="1"/>
              <c:pt idx="0">
                <c:v>1</c:v>
              </c:pt>
            </c:numLit>
          </c:bubbleSize>
          <c:bubble3D val="1"/>
        </c:ser>
        <c:dLbls>
          <c:showLegendKey val="0"/>
          <c:showVal val="0"/>
          <c:showCatName val="0"/>
          <c:showSerName val="0"/>
          <c:showPercent val="0"/>
          <c:showBubbleSize val="0"/>
        </c:dLbls>
        <c:bubbleScale val="100"/>
        <c:showNegBubbles val="0"/>
        <c:axId val="-1023118496"/>
        <c:axId val="-1023117952"/>
      </c:bubbleChart>
      <c:valAx>
        <c:axId val="-1023118496"/>
        <c:scaling>
          <c:orientation val="minMax"/>
        </c:scaling>
        <c:delete val="1"/>
        <c:axPos val="b"/>
        <c:numFmt formatCode="0.00" sourceLinked="1"/>
        <c:majorTickMark val="none"/>
        <c:minorTickMark val="none"/>
        <c:tickLblPos val="none"/>
        <c:crossAx val="-1023117952"/>
        <c:crosses val="autoZero"/>
        <c:crossBetween val="midCat"/>
      </c:valAx>
      <c:valAx>
        <c:axId val="-1023117952"/>
        <c:scaling>
          <c:orientation val="minMax"/>
        </c:scaling>
        <c:delete val="1"/>
        <c:axPos val="l"/>
        <c:majorGridlines>
          <c:spPr>
            <a:ln w="9525" cap="flat" cmpd="sng" algn="ctr">
              <a:noFill/>
              <a:round/>
            </a:ln>
            <a:effectLst/>
          </c:spPr>
        </c:majorGridlines>
        <c:numFmt formatCode="0.00" sourceLinked="1"/>
        <c:majorTickMark val="none"/>
        <c:minorTickMark val="none"/>
        <c:tickLblPos val="none"/>
        <c:crossAx val="-1023118496"/>
        <c:crosses val="autoZero"/>
        <c:crossBetween val="midCat"/>
        <c:majorUnit val="0.8"/>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b="1" dirty="0" smtClean="0"/>
              <a:t>Geo Profiling</a:t>
            </a:r>
            <a:r>
              <a:rPr lang="en-IN" b="1" baseline="0" dirty="0" smtClean="0"/>
              <a:t> Segments - Properties</a:t>
            </a:r>
            <a:endParaRPr lang="en-IN" b="1" dirty="0" smtClean="0"/>
          </a:p>
          <a:p>
            <a:pPr>
              <a:defRPr/>
            </a:pPr>
            <a:r>
              <a:rPr lang="en-IN" dirty="0" smtClean="0"/>
              <a:t>Priority States - Districts</a:t>
            </a:r>
            <a:endParaRPr lang="en-IN" dirty="0"/>
          </a:p>
        </c:rich>
      </c:tx>
      <c:layout>
        <c:manualLayout>
          <c:xMode val="edge"/>
          <c:yMode val="edge"/>
          <c:x val="0.27922142483119228"/>
          <c:y val="1.9209951662517957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1.2025569959936861E-2"/>
          <c:y val="0.13680687242323203"/>
          <c:w val="0.77706702288292939"/>
          <c:h val="0.82797488286215171"/>
        </c:manualLayout>
      </c:layout>
      <c:barChart>
        <c:barDir val="col"/>
        <c:grouping val="clustered"/>
        <c:varyColors val="0"/>
        <c:ser>
          <c:idx val="0"/>
          <c:order val="0"/>
          <c:tx>
            <c:strRef>
              <c:f>Sheet1!$B$1</c:f>
              <c:strCache>
                <c:ptCount val="1"/>
                <c:pt idx="0">
                  <c:v>Activity hub</c:v>
                </c:pt>
              </c:strCache>
            </c:strRef>
          </c:tx>
          <c:spPr>
            <a:solidFill>
              <a:schemeClr val="accent1"/>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Sheet1!$B$2:$B$6</c:f>
              <c:numCache>
                <c:formatCode>General</c:formatCode>
                <c:ptCount val="5"/>
                <c:pt idx="0">
                  <c:v>-0.37833</c:v>
                </c:pt>
                <c:pt idx="1">
                  <c:v>-0.21403</c:v>
                </c:pt>
                <c:pt idx="2">
                  <c:v>0.19492599999999999</c:v>
                </c:pt>
                <c:pt idx="3">
                  <c:v>0.49029200000000001</c:v>
                </c:pt>
                <c:pt idx="4">
                  <c:v>0.977796</c:v>
                </c:pt>
              </c:numCache>
            </c:numRef>
          </c:val>
        </c:ser>
        <c:ser>
          <c:idx val="1"/>
          <c:order val="1"/>
          <c:tx>
            <c:strRef>
              <c:f>Sheet1!$C$1</c:f>
              <c:strCache>
                <c:ptCount val="1"/>
                <c:pt idx="0">
                  <c:v>Well Irrigated and Cropped</c:v>
                </c:pt>
              </c:strCache>
            </c:strRef>
          </c:tx>
          <c:spPr>
            <a:solidFill>
              <a:schemeClr val="accent2"/>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Sheet1!$C$2:$C$6</c:f>
              <c:numCache>
                <c:formatCode>General</c:formatCode>
                <c:ptCount val="5"/>
                <c:pt idx="0">
                  <c:v>0.41645500000000002</c:v>
                </c:pt>
                <c:pt idx="1">
                  <c:v>-0.19714000000000001</c:v>
                </c:pt>
                <c:pt idx="2">
                  <c:v>4.4803999999999997E-2</c:v>
                </c:pt>
                <c:pt idx="3">
                  <c:v>-0.52381999999999995</c:v>
                </c:pt>
                <c:pt idx="4">
                  <c:v>-0.78771999999999998</c:v>
                </c:pt>
              </c:numCache>
            </c:numRef>
          </c:val>
        </c:ser>
        <c:ser>
          <c:idx val="2"/>
          <c:order val="2"/>
          <c:tx>
            <c:strRef>
              <c:f>Sheet1!$D$1</c:f>
              <c:strCache>
                <c:ptCount val="1"/>
                <c:pt idx="0">
                  <c:v>Rural Cultivator population</c:v>
                </c:pt>
              </c:strCache>
            </c:strRef>
          </c:tx>
          <c:spPr>
            <a:solidFill>
              <a:schemeClr val="accent3"/>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Sheet1!$D$2:$D$6</c:f>
              <c:numCache>
                <c:formatCode>General</c:formatCode>
                <c:ptCount val="5"/>
                <c:pt idx="0">
                  <c:v>-0.28452</c:v>
                </c:pt>
                <c:pt idx="1">
                  <c:v>-2.282E-2</c:v>
                </c:pt>
                <c:pt idx="2">
                  <c:v>0.351746</c:v>
                </c:pt>
                <c:pt idx="3">
                  <c:v>1.8117209999999999</c:v>
                </c:pt>
                <c:pt idx="4">
                  <c:v>-0.73534999999999995</c:v>
                </c:pt>
              </c:numCache>
            </c:numRef>
          </c:val>
        </c:ser>
        <c:ser>
          <c:idx val="3"/>
          <c:order val="3"/>
          <c:tx>
            <c:strRef>
              <c:f>Sheet1!$E$1</c:f>
              <c:strCache>
                <c:ptCount val="1"/>
                <c:pt idx="0">
                  <c:v>Rainfall</c:v>
                </c:pt>
              </c:strCache>
            </c:strRef>
          </c:tx>
          <c:spPr>
            <a:solidFill>
              <a:schemeClr val="accent4"/>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Sheet1!$E$2:$E$6</c:f>
              <c:numCache>
                <c:formatCode>General</c:formatCode>
                <c:ptCount val="5"/>
                <c:pt idx="0">
                  <c:v>-0.39232</c:v>
                </c:pt>
                <c:pt idx="1">
                  <c:v>-0.46012999999999998</c:v>
                </c:pt>
                <c:pt idx="2">
                  <c:v>0.35480699999999998</c:v>
                </c:pt>
                <c:pt idx="3">
                  <c:v>-0.37974999999999998</c:v>
                </c:pt>
                <c:pt idx="4">
                  <c:v>1.830368</c:v>
                </c:pt>
              </c:numCache>
            </c:numRef>
          </c:val>
        </c:ser>
        <c:ser>
          <c:idx val="4"/>
          <c:order val="4"/>
          <c:tx>
            <c:strRef>
              <c:f>Sheet1!$F$1</c:f>
              <c:strCache>
                <c:ptCount val="1"/>
                <c:pt idx="0">
                  <c:v>High Non food crop irrigated area</c:v>
                </c:pt>
              </c:strCache>
            </c:strRef>
          </c:tx>
          <c:spPr>
            <a:solidFill>
              <a:schemeClr val="accent5"/>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Sheet1!$F$2:$F$6</c:f>
              <c:numCache>
                <c:formatCode>General</c:formatCode>
                <c:ptCount val="5"/>
                <c:pt idx="0">
                  <c:v>-0.62544</c:v>
                </c:pt>
                <c:pt idx="1">
                  <c:v>1.3058940000000001</c:v>
                </c:pt>
                <c:pt idx="2">
                  <c:v>-0.17963000000000001</c:v>
                </c:pt>
                <c:pt idx="3">
                  <c:v>0.13786200000000001</c:v>
                </c:pt>
                <c:pt idx="4">
                  <c:v>0.45117099999999999</c:v>
                </c:pt>
              </c:numCache>
            </c:numRef>
          </c:val>
        </c:ser>
        <c:ser>
          <c:idx val="5"/>
          <c:order val="5"/>
          <c:tx>
            <c:strRef>
              <c:f>Sheet1!$G$1</c:f>
              <c:strCache>
                <c:ptCount val="1"/>
                <c:pt idx="0">
                  <c:v>Tractor Buying Customers</c:v>
                </c:pt>
              </c:strCache>
            </c:strRef>
          </c:tx>
          <c:spPr>
            <a:solidFill>
              <a:schemeClr val="accent6"/>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Sheet1!$G$2:$G$6</c:f>
              <c:numCache>
                <c:formatCode>General</c:formatCode>
                <c:ptCount val="5"/>
                <c:pt idx="0">
                  <c:v>-0.29066999999999998</c:v>
                </c:pt>
                <c:pt idx="1">
                  <c:v>8.1365999999999994E-2</c:v>
                </c:pt>
                <c:pt idx="2">
                  <c:v>0.11928999999999999</c:v>
                </c:pt>
                <c:pt idx="3">
                  <c:v>1.922714</c:v>
                </c:pt>
                <c:pt idx="4">
                  <c:v>-0.69255999999999995</c:v>
                </c:pt>
              </c:numCache>
            </c:numRef>
          </c:val>
        </c:ser>
        <c:dLbls>
          <c:showLegendKey val="0"/>
          <c:showVal val="0"/>
          <c:showCatName val="0"/>
          <c:showSerName val="0"/>
          <c:showPercent val="0"/>
          <c:showBubbleSize val="0"/>
        </c:dLbls>
        <c:gapWidth val="150"/>
        <c:axId val="-1283492528"/>
        <c:axId val="-1283489264"/>
      </c:barChart>
      <c:catAx>
        <c:axId val="-1283492528"/>
        <c:scaling>
          <c:orientation val="minMax"/>
        </c:scaling>
        <c:delete val="1"/>
        <c:axPos val="b"/>
        <c:numFmt formatCode="General" sourceLinked="1"/>
        <c:majorTickMark val="none"/>
        <c:minorTickMark val="none"/>
        <c:tickLblPos val="nextTo"/>
        <c:crossAx val="-1283489264"/>
        <c:crosses val="autoZero"/>
        <c:auto val="1"/>
        <c:lblAlgn val="ctr"/>
        <c:lblOffset val="100"/>
        <c:noMultiLvlLbl val="0"/>
      </c:catAx>
      <c:valAx>
        <c:axId val="-1283489264"/>
        <c:scaling>
          <c:orientation val="minMax"/>
        </c:scaling>
        <c:delete val="1"/>
        <c:axPos val="l"/>
        <c:numFmt formatCode="General" sourceLinked="1"/>
        <c:majorTickMark val="none"/>
        <c:minorTickMark val="none"/>
        <c:tickLblPos val="nextTo"/>
        <c:crossAx val="-1283492528"/>
        <c:crosses val="autoZero"/>
        <c:crossBetween val="between"/>
      </c:valAx>
      <c:spPr>
        <a:noFill/>
        <a:ln>
          <a:noFill/>
        </a:ln>
        <a:effectLst/>
      </c:spPr>
    </c:plotArea>
    <c:legend>
      <c:legendPos val="r"/>
      <c:layout>
        <c:manualLayout>
          <c:xMode val="edge"/>
          <c:yMode val="edge"/>
          <c:x val="0.80316999877678352"/>
          <c:y val="0.19735729552115691"/>
          <c:w val="0.19573676759049499"/>
          <c:h val="0.80097632940680585"/>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2025569959936861E-2"/>
          <c:y val="0.13680687242323203"/>
          <c:w val="0.77706702288292939"/>
          <c:h val="0.82797488286215171"/>
        </c:manualLayout>
      </c:layout>
      <c:barChart>
        <c:barDir val="col"/>
        <c:grouping val="clustered"/>
        <c:varyColors val="0"/>
        <c:ser>
          <c:idx val="0"/>
          <c:order val="0"/>
          <c:tx>
            <c:strRef>
              <c:f>Sheet1!$B$1</c:f>
              <c:strCache>
                <c:ptCount val="1"/>
                <c:pt idx="0">
                  <c:v>Activity Hub</c:v>
                </c:pt>
              </c:strCache>
            </c:strRef>
          </c:tx>
          <c:spPr>
            <a:solidFill>
              <a:schemeClr val="accent1"/>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Sheet1!$B$2:$B$6</c:f>
              <c:numCache>
                <c:formatCode>General</c:formatCode>
                <c:ptCount val="5"/>
                <c:pt idx="0">
                  <c:v>-0.37833</c:v>
                </c:pt>
                <c:pt idx="1">
                  <c:v>-0.21403</c:v>
                </c:pt>
                <c:pt idx="2">
                  <c:v>0.19492599999999999</c:v>
                </c:pt>
                <c:pt idx="3">
                  <c:v>0.49029200000000001</c:v>
                </c:pt>
                <c:pt idx="4">
                  <c:v>0.977796</c:v>
                </c:pt>
              </c:numCache>
            </c:numRef>
          </c:val>
        </c:ser>
        <c:ser>
          <c:idx val="1"/>
          <c:order val="1"/>
          <c:tx>
            <c:strRef>
              <c:f>Sheet1!$C$1</c:f>
              <c:strCache>
                <c:ptCount val="1"/>
                <c:pt idx="0">
                  <c:v>Well Irrigated and Cropped</c:v>
                </c:pt>
              </c:strCache>
            </c:strRef>
          </c:tx>
          <c:spPr>
            <a:solidFill>
              <a:schemeClr val="accent2"/>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Sheet1!$C$2:$C$6</c:f>
              <c:numCache>
                <c:formatCode>General</c:formatCode>
                <c:ptCount val="5"/>
                <c:pt idx="0">
                  <c:v>0.41645500000000002</c:v>
                </c:pt>
                <c:pt idx="1">
                  <c:v>-0.19714000000000001</c:v>
                </c:pt>
                <c:pt idx="2">
                  <c:v>4.4803999999999997E-2</c:v>
                </c:pt>
                <c:pt idx="3">
                  <c:v>-0.52381999999999995</c:v>
                </c:pt>
                <c:pt idx="4">
                  <c:v>-0.78771999999999998</c:v>
                </c:pt>
              </c:numCache>
            </c:numRef>
          </c:val>
        </c:ser>
        <c:ser>
          <c:idx val="2"/>
          <c:order val="2"/>
          <c:tx>
            <c:strRef>
              <c:f>Sheet1!$D$1</c:f>
              <c:strCache>
                <c:ptCount val="1"/>
                <c:pt idx="0">
                  <c:v>Rural Cultivator population</c:v>
                </c:pt>
              </c:strCache>
            </c:strRef>
          </c:tx>
          <c:spPr>
            <a:solidFill>
              <a:schemeClr val="accent3"/>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Sheet1!$D$2:$D$6</c:f>
              <c:numCache>
                <c:formatCode>General</c:formatCode>
                <c:ptCount val="5"/>
                <c:pt idx="0">
                  <c:v>-0.28452</c:v>
                </c:pt>
                <c:pt idx="1">
                  <c:v>-2.282E-2</c:v>
                </c:pt>
                <c:pt idx="2">
                  <c:v>0.351746</c:v>
                </c:pt>
                <c:pt idx="3">
                  <c:v>1.8117209999999999</c:v>
                </c:pt>
                <c:pt idx="4">
                  <c:v>-0.73534999999999995</c:v>
                </c:pt>
              </c:numCache>
            </c:numRef>
          </c:val>
        </c:ser>
        <c:ser>
          <c:idx val="3"/>
          <c:order val="3"/>
          <c:tx>
            <c:strRef>
              <c:f>Sheet1!$E$1</c:f>
              <c:strCache>
                <c:ptCount val="1"/>
                <c:pt idx="0">
                  <c:v>Rainfall</c:v>
                </c:pt>
              </c:strCache>
            </c:strRef>
          </c:tx>
          <c:spPr>
            <a:solidFill>
              <a:schemeClr val="accent4"/>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Sheet1!$E$2:$E$6</c:f>
              <c:numCache>
                <c:formatCode>General</c:formatCode>
                <c:ptCount val="5"/>
                <c:pt idx="0">
                  <c:v>-0.39232</c:v>
                </c:pt>
                <c:pt idx="1">
                  <c:v>-0.46012999999999998</c:v>
                </c:pt>
                <c:pt idx="2">
                  <c:v>0.35480699999999998</c:v>
                </c:pt>
                <c:pt idx="3">
                  <c:v>-0.37974999999999998</c:v>
                </c:pt>
                <c:pt idx="4">
                  <c:v>1.830368</c:v>
                </c:pt>
              </c:numCache>
            </c:numRef>
          </c:val>
        </c:ser>
        <c:ser>
          <c:idx val="4"/>
          <c:order val="4"/>
          <c:tx>
            <c:strRef>
              <c:f>Sheet1!$F$1</c:f>
              <c:strCache>
                <c:ptCount val="1"/>
                <c:pt idx="0">
                  <c:v>High Non food crop irrigated area</c:v>
                </c:pt>
              </c:strCache>
            </c:strRef>
          </c:tx>
          <c:spPr>
            <a:solidFill>
              <a:schemeClr val="accent5"/>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Sheet1!$F$2:$F$6</c:f>
              <c:numCache>
                <c:formatCode>General</c:formatCode>
                <c:ptCount val="5"/>
                <c:pt idx="0">
                  <c:v>-0.62544</c:v>
                </c:pt>
                <c:pt idx="1">
                  <c:v>1.3058940000000001</c:v>
                </c:pt>
                <c:pt idx="2">
                  <c:v>-0.17963000000000001</c:v>
                </c:pt>
                <c:pt idx="3">
                  <c:v>0.13786200000000001</c:v>
                </c:pt>
                <c:pt idx="4">
                  <c:v>0.45117099999999999</c:v>
                </c:pt>
              </c:numCache>
            </c:numRef>
          </c:val>
        </c:ser>
        <c:ser>
          <c:idx val="5"/>
          <c:order val="5"/>
          <c:tx>
            <c:strRef>
              <c:f>Sheet1!$G$1</c:f>
              <c:strCache>
                <c:ptCount val="1"/>
                <c:pt idx="0">
                  <c:v>Tractor Buying Customers</c:v>
                </c:pt>
              </c:strCache>
            </c:strRef>
          </c:tx>
          <c:spPr>
            <a:solidFill>
              <a:schemeClr val="accent6"/>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Sheet1!$G$2:$G$6</c:f>
              <c:numCache>
                <c:formatCode>General</c:formatCode>
                <c:ptCount val="5"/>
                <c:pt idx="0">
                  <c:v>-0.29066999999999998</c:v>
                </c:pt>
                <c:pt idx="1">
                  <c:v>8.1365999999999994E-2</c:v>
                </c:pt>
                <c:pt idx="2">
                  <c:v>0.11928999999999999</c:v>
                </c:pt>
                <c:pt idx="3">
                  <c:v>1.922714</c:v>
                </c:pt>
                <c:pt idx="4">
                  <c:v>-0.69255999999999995</c:v>
                </c:pt>
              </c:numCache>
            </c:numRef>
          </c:val>
        </c:ser>
        <c:dLbls>
          <c:showLegendKey val="0"/>
          <c:showVal val="0"/>
          <c:showCatName val="0"/>
          <c:showSerName val="0"/>
          <c:showPercent val="0"/>
          <c:showBubbleSize val="0"/>
        </c:dLbls>
        <c:gapWidth val="150"/>
        <c:axId val="-1075098272"/>
        <c:axId val="-1040069808"/>
      </c:barChart>
      <c:catAx>
        <c:axId val="-1075098272"/>
        <c:scaling>
          <c:orientation val="minMax"/>
        </c:scaling>
        <c:delete val="1"/>
        <c:axPos val="b"/>
        <c:numFmt formatCode="General" sourceLinked="1"/>
        <c:majorTickMark val="none"/>
        <c:minorTickMark val="none"/>
        <c:tickLblPos val="nextTo"/>
        <c:crossAx val="-1040069808"/>
        <c:crosses val="autoZero"/>
        <c:auto val="1"/>
        <c:lblAlgn val="ctr"/>
        <c:lblOffset val="100"/>
        <c:noMultiLvlLbl val="0"/>
      </c:catAx>
      <c:valAx>
        <c:axId val="-1040069808"/>
        <c:scaling>
          <c:orientation val="minMax"/>
        </c:scaling>
        <c:delete val="1"/>
        <c:axPos val="l"/>
        <c:numFmt formatCode="General" sourceLinked="1"/>
        <c:majorTickMark val="none"/>
        <c:minorTickMark val="none"/>
        <c:tickLblPos val="nextTo"/>
        <c:crossAx val="-1075098272"/>
        <c:crosses val="autoZero"/>
        <c:crossBetween val="between"/>
      </c:valAx>
      <c:spPr>
        <a:noFill/>
        <a:ln>
          <a:noFill/>
        </a:ln>
        <a:effectLst/>
      </c:spPr>
    </c:plotArea>
    <c:legend>
      <c:legendPos val="r"/>
      <c:layout>
        <c:manualLayout>
          <c:xMode val="edge"/>
          <c:yMode val="edge"/>
          <c:x val="0.80316999877678352"/>
          <c:y val="0.19735729552115691"/>
          <c:w val="0.19573676759049499"/>
          <c:h val="0.80097632940680585"/>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2025569959936861E-2"/>
          <c:y val="0.13680687242323203"/>
          <c:w val="0.77706702288292939"/>
          <c:h val="0.82797488286215171"/>
        </c:manualLayout>
      </c:layout>
      <c:barChart>
        <c:barDir val="col"/>
        <c:grouping val="clustered"/>
        <c:varyColors val="0"/>
        <c:ser>
          <c:idx val="0"/>
          <c:order val="0"/>
          <c:tx>
            <c:strRef>
              <c:f>Sheet1!$B$1</c:f>
              <c:strCache>
                <c:ptCount val="1"/>
                <c:pt idx="0">
                  <c:v>Activity Hub</c:v>
                </c:pt>
              </c:strCache>
            </c:strRef>
          </c:tx>
          <c:spPr>
            <a:solidFill>
              <a:schemeClr val="accent1"/>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Sheet1!$B$2:$B$6</c:f>
              <c:numCache>
                <c:formatCode>General</c:formatCode>
                <c:ptCount val="5"/>
                <c:pt idx="0">
                  <c:v>-0.37833</c:v>
                </c:pt>
                <c:pt idx="1">
                  <c:v>-0.21403</c:v>
                </c:pt>
                <c:pt idx="2">
                  <c:v>0.19492599999999999</c:v>
                </c:pt>
                <c:pt idx="3">
                  <c:v>0.49029200000000001</c:v>
                </c:pt>
                <c:pt idx="4">
                  <c:v>0.977796</c:v>
                </c:pt>
              </c:numCache>
            </c:numRef>
          </c:val>
        </c:ser>
        <c:ser>
          <c:idx val="1"/>
          <c:order val="1"/>
          <c:tx>
            <c:strRef>
              <c:f>Sheet1!$C$1</c:f>
              <c:strCache>
                <c:ptCount val="1"/>
                <c:pt idx="0">
                  <c:v>Well Irrigated and Cropped</c:v>
                </c:pt>
              </c:strCache>
            </c:strRef>
          </c:tx>
          <c:spPr>
            <a:solidFill>
              <a:schemeClr val="accent2"/>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Sheet1!$C$2:$C$6</c:f>
              <c:numCache>
                <c:formatCode>General</c:formatCode>
                <c:ptCount val="5"/>
                <c:pt idx="0">
                  <c:v>0.41645500000000002</c:v>
                </c:pt>
                <c:pt idx="1">
                  <c:v>-0.19714000000000001</c:v>
                </c:pt>
                <c:pt idx="2">
                  <c:v>4.4803999999999997E-2</c:v>
                </c:pt>
                <c:pt idx="3">
                  <c:v>-0.52381999999999995</c:v>
                </c:pt>
                <c:pt idx="4">
                  <c:v>-0.78771999999999998</c:v>
                </c:pt>
              </c:numCache>
            </c:numRef>
          </c:val>
        </c:ser>
        <c:ser>
          <c:idx val="2"/>
          <c:order val="2"/>
          <c:tx>
            <c:strRef>
              <c:f>Sheet1!$D$1</c:f>
              <c:strCache>
                <c:ptCount val="1"/>
                <c:pt idx="0">
                  <c:v>Rural Cultivator population</c:v>
                </c:pt>
              </c:strCache>
            </c:strRef>
          </c:tx>
          <c:spPr>
            <a:solidFill>
              <a:schemeClr val="accent3"/>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Sheet1!$D$2:$D$6</c:f>
              <c:numCache>
                <c:formatCode>General</c:formatCode>
                <c:ptCount val="5"/>
                <c:pt idx="0">
                  <c:v>-0.28452</c:v>
                </c:pt>
                <c:pt idx="1">
                  <c:v>-2.282E-2</c:v>
                </c:pt>
                <c:pt idx="2">
                  <c:v>0.351746</c:v>
                </c:pt>
                <c:pt idx="3">
                  <c:v>1.8117209999999999</c:v>
                </c:pt>
                <c:pt idx="4">
                  <c:v>-0.73534999999999995</c:v>
                </c:pt>
              </c:numCache>
            </c:numRef>
          </c:val>
        </c:ser>
        <c:ser>
          <c:idx val="3"/>
          <c:order val="3"/>
          <c:tx>
            <c:strRef>
              <c:f>Sheet1!$E$1</c:f>
              <c:strCache>
                <c:ptCount val="1"/>
                <c:pt idx="0">
                  <c:v>Rainfall</c:v>
                </c:pt>
              </c:strCache>
            </c:strRef>
          </c:tx>
          <c:spPr>
            <a:solidFill>
              <a:schemeClr val="accent4"/>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Sheet1!$E$2:$E$6</c:f>
              <c:numCache>
                <c:formatCode>General</c:formatCode>
                <c:ptCount val="5"/>
                <c:pt idx="0">
                  <c:v>-0.39232</c:v>
                </c:pt>
                <c:pt idx="1">
                  <c:v>-0.46012999999999998</c:v>
                </c:pt>
                <c:pt idx="2">
                  <c:v>0.35480699999999998</c:v>
                </c:pt>
                <c:pt idx="3">
                  <c:v>-0.37974999999999998</c:v>
                </c:pt>
                <c:pt idx="4">
                  <c:v>1.830368</c:v>
                </c:pt>
              </c:numCache>
            </c:numRef>
          </c:val>
        </c:ser>
        <c:ser>
          <c:idx val="4"/>
          <c:order val="4"/>
          <c:tx>
            <c:strRef>
              <c:f>Sheet1!$F$1</c:f>
              <c:strCache>
                <c:ptCount val="1"/>
                <c:pt idx="0">
                  <c:v>High Non food crop irrigated area</c:v>
                </c:pt>
              </c:strCache>
            </c:strRef>
          </c:tx>
          <c:spPr>
            <a:solidFill>
              <a:schemeClr val="accent5"/>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Sheet1!$F$2:$F$6</c:f>
              <c:numCache>
                <c:formatCode>General</c:formatCode>
                <c:ptCount val="5"/>
                <c:pt idx="0">
                  <c:v>-0.62544</c:v>
                </c:pt>
                <c:pt idx="1">
                  <c:v>1.3058940000000001</c:v>
                </c:pt>
                <c:pt idx="2">
                  <c:v>-0.17963000000000001</c:v>
                </c:pt>
                <c:pt idx="3">
                  <c:v>0.13786200000000001</c:v>
                </c:pt>
                <c:pt idx="4">
                  <c:v>0.45117099999999999</c:v>
                </c:pt>
              </c:numCache>
            </c:numRef>
          </c:val>
        </c:ser>
        <c:ser>
          <c:idx val="5"/>
          <c:order val="5"/>
          <c:tx>
            <c:strRef>
              <c:f>Sheet1!$G$1</c:f>
              <c:strCache>
                <c:ptCount val="1"/>
                <c:pt idx="0">
                  <c:v>Tractor Buying Customers</c:v>
                </c:pt>
              </c:strCache>
            </c:strRef>
          </c:tx>
          <c:spPr>
            <a:solidFill>
              <a:schemeClr val="accent6"/>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Sheet1!$G$2:$G$6</c:f>
              <c:numCache>
                <c:formatCode>General</c:formatCode>
                <c:ptCount val="5"/>
                <c:pt idx="0">
                  <c:v>-0.29066999999999998</c:v>
                </c:pt>
                <c:pt idx="1">
                  <c:v>8.1365999999999994E-2</c:v>
                </c:pt>
                <c:pt idx="2">
                  <c:v>0.11928999999999999</c:v>
                </c:pt>
                <c:pt idx="3">
                  <c:v>1.922714</c:v>
                </c:pt>
                <c:pt idx="4">
                  <c:v>-0.69255999999999995</c:v>
                </c:pt>
              </c:numCache>
            </c:numRef>
          </c:val>
        </c:ser>
        <c:dLbls>
          <c:showLegendKey val="0"/>
          <c:showVal val="0"/>
          <c:showCatName val="0"/>
          <c:showSerName val="0"/>
          <c:showPercent val="0"/>
          <c:showBubbleSize val="0"/>
        </c:dLbls>
        <c:gapWidth val="150"/>
        <c:axId val="-1040070352"/>
        <c:axId val="-1040068720"/>
      </c:barChart>
      <c:catAx>
        <c:axId val="-1040070352"/>
        <c:scaling>
          <c:orientation val="minMax"/>
        </c:scaling>
        <c:delete val="1"/>
        <c:axPos val="b"/>
        <c:numFmt formatCode="General" sourceLinked="1"/>
        <c:majorTickMark val="none"/>
        <c:minorTickMark val="none"/>
        <c:tickLblPos val="nextTo"/>
        <c:crossAx val="-1040068720"/>
        <c:crosses val="autoZero"/>
        <c:auto val="1"/>
        <c:lblAlgn val="ctr"/>
        <c:lblOffset val="100"/>
        <c:noMultiLvlLbl val="0"/>
      </c:catAx>
      <c:valAx>
        <c:axId val="-1040068720"/>
        <c:scaling>
          <c:orientation val="minMax"/>
        </c:scaling>
        <c:delete val="1"/>
        <c:axPos val="l"/>
        <c:numFmt formatCode="General" sourceLinked="1"/>
        <c:majorTickMark val="none"/>
        <c:minorTickMark val="none"/>
        <c:tickLblPos val="nextTo"/>
        <c:crossAx val="-1040070352"/>
        <c:crosses val="autoZero"/>
        <c:crossBetween val="between"/>
      </c:valAx>
      <c:spPr>
        <a:noFill/>
        <a:ln>
          <a:noFill/>
        </a:ln>
        <a:effectLst/>
      </c:spPr>
    </c:plotArea>
    <c:legend>
      <c:legendPos val="r"/>
      <c:layout>
        <c:manualLayout>
          <c:xMode val="edge"/>
          <c:yMode val="edge"/>
          <c:x val="0.80316999877678352"/>
          <c:y val="0.19735729552115691"/>
          <c:w val="0.19573676759049499"/>
          <c:h val="0.80097632940680585"/>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dirty="0" smtClean="0"/>
              <a:t>Composite Score</a:t>
            </a:r>
            <a:r>
              <a:rPr lang="en-IN" baseline="0" dirty="0" smtClean="0"/>
              <a:t> – Sales Lift</a:t>
            </a:r>
            <a:endParaRPr lang="en-IN" dirty="0"/>
          </a:p>
        </c:rich>
      </c:tx>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Random Selection</c:v>
                </c:pt>
              </c:strCache>
            </c:strRef>
          </c:tx>
          <c:spPr>
            <a:ln w="28575" cap="rnd">
              <a:solidFill>
                <a:schemeClr val="accent1"/>
              </a:solidFill>
              <a:round/>
            </a:ln>
            <a:effectLst/>
          </c:spPr>
          <c:marker>
            <c:symbol val="none"/>
          </c:marker>
          <c:cat>
            <c:numRef>
              <c:f>Sheet1!$A$2:$A$7</c:f>
              <c:numCache>
                <c:formatCode>General</c:formatCode>
                <c:ptCount val="6"/>
                <c:pt idx="0">
                  <c:v>0</c:v>
                </c:pt>
                <c:pt idx="1">
                  <c:v>0.2</c:v>
                </c:pt>
                <c:pt idx="2">
                  <c:v>0.4</c:v>
                </c:pt>
                <c:pt idx="3">
                  <c:v>0.6</c:v>
                </c:pt>
                <c:pt idx="4">
                  <c:v>0.8</c:v>
                </c:pt>
                <c:pt idx="5">
                  <c:v>1</c:v>
                </c:pt>
              </c:numCache>
            </c:numRef>
          </c:cat>
          <c:val>
            <c:numRef>
              <c:f>Sheet1!$B$2:$B$7</c:f>
              <c:numCache>
                <c:formatCode>0%</c:formatCode>
                <c:ptCount val="6"/>
                <c:pt idx="0" formatCode="General">
                  <c:v>0</c:v>
                </c:pt>
                <c:pt idx="1">
                  <c:v>0.2</c:v>
                </c:pt>
                <c:pt idx="2">
                  <c:v>0.39</c:v>
                </c:pt>
                <c:pt idx="3">
                  <c:v>0.59</c:v>
                </c:pt>
                <c:pt idx="4">
                  <c:v>0.8</c:v>
                </c:pt>
                <c:pt idx="5">
                  <c:v>1</c:v>
                </c:pt>
              </c:numCache>
            </c:numRef>
          </c:val>
          <c:smooth val="0"/>
        </c:ser>
        <c:ser>
          <c:idx val="1"/>
          <c:order val="1"/>
          <c:tx>
            <c:strRef>
              <c:f>Sheet1!$C$1</c:f>
              <c:strCache>
                <c:ptCount val="1"/>
                <c:pt idx="0">
                  <c:v>Scored Selection</c:v>
                </c:pt>
              </c:strCache>
            </c:strRef>
          </c:tx>
          <c:spPr>
            <a:ln w="28575" cap="rnd">
              <a:solidFill>
                <a:schemeClr val="accent2"/>
              </a:solidFill>
              <a:round/>
            </a:ln>
            <a:effectLst/>
          </c:spPr>
          <c:marker>
            <c:symbol val="none"/>
          </c:marker>
          <c:cat>
            <c:numRef>
              <c:f>Sheet1!$A$2:$A$7</c:f>
              <c:numCache>
                <c:formatCode>General</c:formatCode>
                <c:ptCount val="6"/>
                <c:pt idx="0">
                  <c:v>0</c:v>
                </c:pt>
                <c:pt idx="1">
                  <c:v>0.2</c:v>
                </c:pt>
                <c:pt idx="2">
                  <c:v>0.4</c:v>
                </c:pt>
                <c:pt idx="3">
                  <c:v>0.6</c:v>
                </c:pt>
                <c:pt idx="4">
                  <c:v>0.8</c:v>
                </c:pt>
                <c:pt idx="5">
                  <c:v>1</c:v>
                </c:pt>
              </c:numCache>
            </c:numRef>
          </c:cat>
          <c:val>
            <c:numRef>
              <c:f>Sheet1!$C$2:$C$7</c:f>
              <c:numCache>
                <c:formatCode>0%</c:formatCode>
                <c:ptCount val="6"/>
                <c:pt idx="0" formatCode="General">
                  <c:v>0</c:v>
                </c:pt>
                <c:pt idx="1">
                  <c:v>0.51</c:v>
                </c:pt>
                <c:pt idx="2">
                  <c:v>0.76</c:v>
                </c:pt>
                <c:pt idx="3">
                  <c:v>0.88</c:v>
                </c:pt>
                <c:pt idx="4">
                  <c:v>0.97</c:v>
                </c:pt>
                <c:pt idx="5">
                  <c:v>1</c:v>
                </c:pt>
              </c:numCache>
            </c:numRef>
          </c:val>
          <c:smooth val="0"/>
        </c:ser>
        <c:dLbls>
          <c:showLegendKey val="0"/>
          <c:showVal val="0"/>
          <c:showCatName val="0"/>
          <c:showSerName val="0"/>
          <c:showPercent val="0"/>
          <c:showBubbleSize val="0"/>
        </c:dLbls>
        <c:smooth val="0"/>
        <c:axId val="-1040068176"/>
        <c:axId val="-1040077424"/>
      </c:lineChart>
      <c:catAx>
        <c:axId val="-1040068176"/>
        <c:scaling>
          <c:orientation val="minMax"/>
        </c:scaling>
        <c:delete val="0"/>
        <c:axPos val="b"/>
        <c:numFmt formatCode="0%"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40077424"/>
        <c:crosses val="autoZero"/>
        <c:auto val="1"/>
        <c:lblAlgn val="ctr"/>
        <c:lblOffset val="100"/>
        <c:noMultiLvlLbl val="0"/>
      </c:catAx>
      <c:valAx>
        <c:axId val="-1040077424"/>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solidFill>
              <a:schemeClr val="bg1">
                <a:lumMod val="85000"/>
              </a:schemeClr>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40068176"/>
        <c:crosses val="autoZero"/>
        <c:crossBetween val="midCat"/>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Month Level</a:t>
            </a:r>
            <a:r>
              <a:rPr lang="en-IN" baseline="0"/>
              <a:t> - Metrics</a:t>
            </a:r>
            <a:endParaRPr lang="en-IN"/>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1"/>
          <c:order val="0"/>
          <c:spPr>
            <a:ln w="28575" cap="rnd">
              <a:solidFill>
                <a:schemeClr val="accent2"/>
              </a:solidFill>
              <a:round/>
            </a:ln>
            <a:effectLst/>
          </c:spPr>
          <c:marker>
            <c:symbol val="none"/>
          </c:marker>
          <c:cat>
            <c:strRef>
              <c:f>Sheet3!$D$11:$BK$11</c:f>
              <c:strCache>
                <c:ptCount val="49"/>
                <c:pt idx="0">
                  <c:v>2010 Jan</c:v>
                </c:pt>
                <c:pt idx="12">
                  <c:v>2011 Jan</c:v>
                </c:pt>
                <c:pt idx="24">
                  <c:v>2012 Jan</c:v>
                </c:pt>
                <c:pt idx="36">
                  <c:v>2013 Jan</c:v>
                </c:pt>
                <c:pt idx="48">
                  <c:v>2014 Jan</c:v>
                </c:pt>
              </c:strCache>
            </c:strRef>
          </c:cat>
          <c:val>
            <c:numRef>
              <c:f>Sheet3!$D$12:$BK$12</c:f>
              <c:numCache>
                <c:formatCode>General</c:formatCode>
                <c:ptCount val="60"/>
                <c:pt idx="0">
                  <c:v>5.4</c:v>
                </c:pt>
                <c:pt idx="1">
                  <c:v>0</c:v>
                </c:pt>
                <c:pt idx="2">
                  <c:v>17.399999999999999</c:v>
                </c:pt>
                <c:pt idx="3">
                  <c:v>97.5</c:v>
                </c:pt>
                <c:pt idx="4">
                  <c:v>123.9</c:v>
                </c:pt>
                <c:pt idx="5">
                  <c:v>67.3</c:v>
                </c:pt>
                <c:pt idx="6">
                  <c:v>112.3</c:v>
                </c:pt>
                <c:pt idx="7">
                  <c:v>121.1</c:v>
                </c:pt>
                <c:pt idx="8">
                  <c:v>149.9</c:v>
                </c:pt>
                <c:pt idx="9">
                  <c:v>95.8</c:v>
                </c:pt>
                <c:pt idx="10">
                  <c:v>166.8</c:v>
                </c:pt>
                <c:pt idx="11">
                  <c:v>2.7</c:v>
                </c:pt>
                <c:pt idx="12">
                  <c:v>0</c:v>
                </c:pt>
                <c:pt idx="13">
                  <c:v>18.2</c:v>
                </c:pt>
                <c:pt idx="14">
                  <c:v>2</c:v>
                </c:pt>
                <c:pt idx="15">
                  <c:v>157.80000000000001</c:v>
                </c:pt>
                <c:pt idx="16">
                  <c:v>139.1</c:v>
                </c:pt>
                <c:pt idx="17">
                  <c:v>54.5</c:v>
                </c:pt>
                <c:pt idx="18">
                  <c:v>92.6</c:v>
                </c:pt>
                <c:pt idx="19">
                  <c:v>237.5</c:v>
                </c:pt>
                <c:pt idx="20">
                  <c:v>89.3</c:v>
                </c:pt>
                <c:pt idx="21">
                  <c:v>170.8</c:v>
                </c:pt>
                <c:pt idx="22">
                  <c:v>64.8</c:v>
                </c:pt>
                <c:pt idx="23">
                  <c:v>5.9</c:v>
                </c:pt>
                <c:pt idx="24">
                  <c:v>0.1</c:v>
                </c:pt>
                <c:pt idx="25">
                  <c:v>0</c:v>
                </c:pt>
                <c:pt idx="26">
                  <c:v>0.6</c:v>
                </c:pt>
                <c:pt idx="27">
                  <c:v>21.1</c:v>
                </c:pt>
                <c:pt idx="28">
                  <c:v>108.1</c:v>
                </c:pt>
                <c:pt idx="29">
                  <c:v>9.1999999999999993</c:v>
                </c:pt>
                <c:pt idx="30">
                  <c:v>63.7</c:v>
                </c:pt>
                <c:pt idx="31">
                  <c:v>130.5</c:v>
                </c:pt>
                <c:pt idx="32">
                  <c:v>41.3</c:v>
                </c:pt>
                <c:pt idx="33">
                  <c:v>60</c:v>
                </c:pt>
                <c:pt idx="34">
                  <c:v>100.6</c:v>
                </c:pt>
                <c:pt idx="35">
                  <c:v>17.2</c:v>
                </c:pt>
                <c:pt idx="36">
                  <c:v>0</c:v>
                </c:pt>
                <c:pt idx="37">
                  <c:v>4</c:v>
                </c:pt>
                <c:pt idx="38">
                  <c:v>2.6</c:v>
                </c:pt>
                <c:pt idx="39">
                  <c:v>28.9</c:v>
                </c:pt>
                <c:pt idx="40">
                  <c:v>110.1</c:v>
                </c:pt>
                <c:pt idx="41">
                  <c:v>93.1</c:v>
                </c:pt>
                <c:pt idx="42">
                  <c:v>76.2</c:v>
                </c:pt>
                <c:pt idx="43">
                  <c:v>72.599999999999994</c:v>
                </c:pt>
                <c:pt idx="44">
                  <c:v>249.3</c:v>
                </c:pt>
                <c:pt idx="45">
                  <c:v>95.5</c:v>
                </c:pt>
                <c:pt idx="46">
                  <c:v>63.3</c:v>
                </c:pt>
                <c:pt idx="47">
                  <c:v>1.4</c:v>
                </c:pt>
                <c:pt idx="48">
                  <c:v>0</c:v>
                </c:pt>
                <c:pt idx="49">
                  <c:v>0.1</c:v>
                </c:pt>
                <c:pt idx="50">
                  <c:v>12.9</c:v>
                </c:pt>
                <c:pt idx="51">
                  <c:v>7.2</c:v>
                </c:pt>
                <c:pt idx="52">
                  <c:v>83.2</c:v>
                </c:pt>
                <c:pt idx="53">
                  <c:v>93.7</c:v>
                </c:pt>
                <c:pt idx="54">
                  <c:v>80.599999999999994</c:v>
                </c:pt>
                <c:pt idx="55">
                  <c:v>118.1</c:v>
                </c:pt>
                <c:pt idx="56">
                  <c:v>181.8</c:v>
                </c:pt>
                <c:pt idx="57">
                  <c:v>247.3</c:v>
                </c:pt>
                <c:pt idx="58">
                  <c:v>27.8</c:v>
                </c:pt>
                <c:pt idx="59">
                  <c:v>2</c:v>
                </c:pt>
              </c:numCache>
            </c:numRef>
          </c:val>
          <c:smooth val="0"/>
        </c:ser>
        <c:dLbls>
          <c:showLegendKey val="0"/>
          <c:showVal val="0"/>
          <c:showCatName val="0"/>
          <c:showSerName val="0"/>
          <c:showPercent val="0"/>
          <c:showBubbleSize val="0"/>
        </c:dLbls>
        <c:smooth val="0"/>
        <c:axId val="-1040065456"/>
        <c:axId val="-1040064368"/>
      </c:lineChart>
      <c:catAx>
        <c:axId val="-10400654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0064368"/>
        <c:crosses val="autoZero"/>
        <c:auto val="1"/>
        <c:lblAlgn val="ctr"/>
        <c:lblOffset val="100"/>
        <c:noMultiLvlLbl val="0"/>
      </c:catAx>
      <c:valAx>
        <c:axId val="-1040064368"/>
        <c:scaling>
          <c:orientation val="minMax"/>
        </c:scaling>
        <c:delete val="1"/>
        <c:axPos val="l"/>
        <c:majorGridlines>
          <c:spPr>
            <a:ln w="9525" cap="flat" cmpd="sng" algn="ctr">
              <a:noFill/>
              <a:round/>
            </a:ln>
            <a:effectLst/>
          </c:spPr>
        </c:majorGridlines>
        <c:numFmt formatCode="General" sourceLinked="1"/>
        <c:majorTickMark val="none"/>
        <c:minorTickMark val="none"/>
        <c:tickLblPos val="nextTo"/>
        <c:crossAx val="-1040065456"/>
        <c:crosses val="autoZero"/>
        <c:crossBetween val="between"/>
      </c:valAx>
      <c:spPr>
        <a:noFill/>
        <a:ln>
          <a:noFill/>
        </a:ln>
        <a:effectLst/>
      </c:spPr>
    </c:plotArea>
    <c:plotVisOnly val="1"/>
    <c:dispBlanksAs val="gap"/>
    <c:showDLblsOverMax val="0"/>
  </c:chart>
  <c:spPr>
    <a:noFill/>
    <a:ln>
      <a:solidFill>
        <a:srgbClr val="000000"/>
      </a:solidFill>
      <a:prstDash val="dash"/>
    </a:ln>
    <a:effectLst/>
  </c:spPr>
  <c:txPr>
    <a:bodyPr/>
    <a:lstStyle/>
    <a:p>
      <a:pPr>
        <a:defRPr/>
      </a:pPr>
      <a:endParaRPr lang="en-US"/>
    </a:p>
  </c:txPr>
  <c:externalData r:id="rId4">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5982770697450167E-2"/>
          <c:y val="0.44393826323482311"/>
          <c:w val="0.87539767403588598"/>
          <c:h val="3.2406436413830779E-2"/>
        </c:manualLayout>
      </c:layout>
      <c:lineChart>
        <c:grouping val="stacked"/>
        <c:varyColors val="0"/>
        <c:ser>
          <c:idx val="0"/>
          <c:order val="0"/>
          <c:tx>
            <c:strRef>
              <c:f>Sheet1!$B$1</c:f>
              <c:strCache>
                <c:ptCount val="1"/>
                <c:pt idx="0">
                  <c:v>Column3</c:v>
                </c:pt>
              </c:strCache>
            </c:strRef>
          </c:tx>
          <c:spPr>
            <a:ln w="28575" cap="rnd">
              <a:solidFill>
                <a:schemeClr val="bg1"/>
              </a:solidFill>
              <a:round/>
            </a:ln>
            <a:effectLst>
              <a:outerShdw blurRad="50800" dist="50800" dir="5400000" algn="ctr" rotWithShape="0">
                <a:schemeClr val="bg1"/>
              </a:outerShdw>
            </a:effectLst>
          </c:spPr>
          <c:marker>
            <c:symbol val="none"/>
          </c:marker>
          <c:cat>
            <c:numRef>
              <c:f>Sheet1!$A$2:$A$29</c:f>
              <c:numCache>
                <c:formatCode>mmm\-yy</c:formatCode>
                <c:ptCount val="28"/>
                <c:pt idx="0">
                  <c:v>41640</c:v>
                </c:pt>
                <c:pt idx="1">
                  <c:v>41671</c:v>
                </c:pt>
                <c:pt idx="2">
                  <c:v>41699</c:v>
                </c:pt>
                <c:pt idx="3">
                  <c:v>41730</c:v>
                </c:pt>
                <c:pt idx="4">
                  <c:v>41760</c:v>
                </c:pt>
                <c:pt idx="5">
                  <c:v>41791</c:v>
                </c:pt>
                <c:pt idx="6">
                  <c:v>41821</c:v>
                </c:pt>
                <c:pt idx="7">
                  <c:v>41852</c:v>
                </c:pt>
                <c:pt idx="8">
                  <c:v>41883</c:v>
                </c:pt>
                <c:pt idx="9">
                  <c:v>41913</c:v>
                </c:pt>
                <c:pt idx="10">
                  <c:v>41944</c:v>
                </c:pt>
                <c:pt idx="11">
                  <c:v>41974</c:v>
                </c:pt>
                <c:pt idx="12">
                  <c:v>42005</c:v>
                </c:pt>
                <c:pt idx="13">
                  <c:v>42036</c:v>
                </c:pt>
                <c:pt idx="14">
                  <c:v>42064</c:v>
                </c:pt>
                <c:pt idx="15">
                  <c:v>42095</c:v>
                </c:pt>
                <c:pt idx="16">
                  <c:v>42125</c:v>
                </c:pt>
                <c:pt idx="17">
                  <c:v>42156</c:v>
                </c:pt>
                <c:pt idx="18">
                  <c:v>42186</c:v>
                </c:pt>
                <c:pt idx="19">
                  <c:v>42217</c:v>
                </c:pt>
                <c:pt idx="20">
                  <c:v>42248</c:v>
                </c:pt>
                <c:pt idx="21">
                  <c:v>42278</c:v>
                </c:pt>
                <c:pt idx="22">
                  <c:v>42309</c:v>
                </c:pt>
                <c:pt idx="23">
                  <c:v>42339</c:v>
                </c:pt>
                <c:pt idx="24">
                  <c:v>42370</c:v>
                </c:pt>
                <c:pt idx="25">
                  <c:v>42401</c:v>
                </c:pt>
                <c:pt idx="26">
                  <c:v>42430</c:v>
                </c:pt>
                <c:pt idx="27">
                  <c:v>42461</c:v>
                </c:pt>
              </c:numCache>
            </c:numRef>
          </c:cat>
          <c:val>
            <c:numRef>
              <c:f>Sheet1!$B$2:$B$29</c:f>
              <c:numCache>
                <c:formatCode>General</c:formatCode>
                <c:ptCount val="28"/>
                <c:pt idx="0">
                  <c:v>2</c:v>
                </c:pt>
                <c:pt idx="1">
                  <c:v>34</c:v>
                </c:pt>
                <c:pt idx="2">
                  <c:v>5</c:v>
                </c:pt>
              </c:numCache>
            </c:numRef>
          </c:val>
          <c:smooth val="0"/>
        </c:ser>
        <c:dLbls>
          <c:showLegendKey val="0"/>
          <c:showVal val="0"/>
          <c:showCatName val="0"/>
          <c:showSerName val="0"/>
          <c:showPercent val="0"/>
          <c:showBubbleSize val="0"/>
        </c:dLbls>
        <c:smooth val="0"/>
        <c:axId val="-1040067088"/>
        <c:axId val="-1040063280"/>
      </c:lineChart>
      <c:dateAx>
        <c:axId val="-1040067088"/>
        <c:scaling>
          <c:orientation val="minMax"/>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40063280"/>
        <c:crosses val="autoZero"/>
        <c:auto val="1"/>
        <c:lblOffset val="100"/>
        <c:baseTimeUnit val="months"/>
      </c:dateAx>
      <c:valAx>
        <c:axId val="-1040063280"/>
        <c:scaling>
          <c:orientation val="minMax"/>
        </c:scaling>
        <c:delete val="1"/>
        <c:axPos val="l"/>
        <c:majorGridlines>
          <c:spPr>
            <a:ln w="9525" cap="flat" cmpd="sng" algn="ctr">
              <a:noFill/>
              <a:round/>
            </a:ln>
            <a:effectLst/>
          </c:spPr>
        </c:majorGridlines>
        <c:numFmt formatCode="General" sourceLinked="1"/>
        <c:majorTickMark val="none"/>
        <c:minorTickMark val="none"/>
        <c:tickLblPos val="nextTo"/>
        <c:crossAx val="-1040067088"/>
        <c:crosses val="autoZero"/>
        <c:crossBetween val="between"/>
      </c:valAx>
      <c:spPr>
        <a:noFill/>
        <a:ln w="25400">
          <a:noFill/>
        </a:ln>
        <a:effectLst/>
      </c:spPr>
    </c:plotArea>
    <c:plotVisOnly val="1"/>
    <c:dispBlanksAs val="gap"/>
    <c:showDLblsOverMax val="0"/>
  </c:chart>
  <c:spPr>
    <a:noFill/>
    <a:ln>
      <a:solidFill>
        <a:schemeClr val="tx1"/>
      </a:solidFill>
    </a:ln>
    <a:effectLst>
      <a:outerShdw blurRad="50800" dist="50800" dir="5400000" algn="ctr" rotWithShape="0">
        <a:schemeClr val="bg1"/>
      </a:outerShdw>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600" b="1" dirty="0">
                <a:solidFill>
                  <a:schemeClr val="bg1">
                    <a:lumMod val="50000"/>
                  </a:schemeClr>
                </a:solidFill>
              </a:rPr>
              <a:t>Total </a:t>
            </a:r>
            <a:r>
              <a:rPr lang="en-US" sz="1600" b="1" dirty="0" smtClean="0">
                <a:solidFill>
                  <a:schemeClr val="bg1">
                    <a:lumMod val="50000"/>
                  </a:schemeClr>
                </a:solidFill>
              </a:rPr>
              <a:t>Lifting –  Observed Value</a:t>
            </a:r>
            <a:endParaRPr lang="en-US" sz="1600" b="1" dirty="0">
              <a:solidFill>
                <a:schemeClr val="bg1">
                  <a:lumMod val="50000"/>
                </a:schemeClr>
              </a:solidFill>
            </a:endParaRPr>
          </a:p>
        </c:rich>
      </c:tx>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Total Lifting</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Sheet1!$A$2:$A$29</c:f>
              <c:numCache>
                <c:formatCode>mmm\-yy</c:formatCode>
                <c:ptCount val="28"/>
                <c:pt idx="0">
                  <c:v>41640</c:v>
                </c:pt>
                <c:pt idx="1">
                  <c:v>41671</c:v>
                </c:pt>
                <c:pt idx="2">
                  <c:v>41699</c:v>
                </c:pt>
                <c:pt idx="3">
                  <c:v>41730</c:v>
                </c:pt>
                <c:pt idx="4">
                  <c:v>41760</c:v>
                </c:pt>
                <c:pt idx="5">
                  <c:v>41791</c:v>
                </c:pt>
                <c:pt idx="6">
                  <c:v>41821</c:v>
                </c:pt>
                <c:pt idx="7">
                  <c:v>41852</c:v>
                </c:pt>
                <c:pt idx="8">
                  <c:v>41883</c:v>
                </c:pt>
                <c:pt idx="9">
                  <c:v>41913</c:v>
                </c:pt>
                <c:pt idx="10">
                  <c:v>41944</c:v>
                </c:pt>
                <c:pt idx="11">
                  <c:v>41974</c:v>
                </c:pt>
                <c:pt idx="12">
                  <c:v>42005</c:v>
                </c:pt>
                <c:pt idx="13">
                  <c:v>42036</c:v>
                </c:pt>
                <c:pt idx="14">
                  <c:v>42064</c:v>
                </c:pt>
                <c:pt idx="15">
                  <c:v>42095</c:v>
                </c:pt>
                <c:pt idx="16">
                  <c:v>42125</c:v>
                </c:pt>
                <c:pt idx="17">
                  <c:v>42156</c:v>
                </c:pt>
                <c:pt idx="18">
                  <c:v>42186</c:v>
                </c:pt>
                <c:pt idx="19">
                  <c:v>42217</c:v>
                </c:pt>
                <c:pt idx="20">
                  <c:v>42248</c:v>
                </c:pt>
                <c:pt idx="21">
                  <c:v>42278</c:v>
                </c:pt>
                <c:pt idx="22">
                  <c:v>42309</c:v>
                </c:pt>
                <c:pt idx="23">
                  <c:v>42339</c:v>
                </c:pt>
                <c:pt idx="24">
                  <c:v>42370</c:v>
                </c:pt>
                <c:pt idx="25">
                  <c:v>42401</c:v>
                </c:pt>
                <c:pt idx="26">
                  <c:v>42430</c:v>
                </c:pt>
                <c:pt idx="27">
                  <c:v>42461</c:v>
                </c:pt>
              </c:numCache>
            </c:numRef>
          </c:cat>
          <c:val>
            <c:numRef>
              <c:f>Sheet1!$B$2:$B$29</c:f>
              <c:numCache>
                <c:formatCode>General</c:formatCode>
                <c:ptCount val="28"/>
                <c:pt idx="0">
                  <c:v>5766.3310000000001</c:v>
                </c:pt>
                <c:pt idx="1">
                  <c:v>5245.69</c:v>
                </c:pt>
                <c:pt idx="2">
                  <c:v>5883.9</c:v>
                </c:pt>
                <c:pt idx="3">
                  <c:v>5716.2160000000003</c:v>
                </c:pt>
                <c:pt idx="4">
                  <c:v>5301.7929999999997</c:v>
                </c:pt>
                <c:pt idx="5">
                  <c:v>5087.701</c:v>
                </c:pt>
                <c:pt idx="6">
                  <c:v>4629.6090000000004</c:v>
                </c:pt>
                <c:pt idx="7">
                  <c:v>4633.6909999999998</c:v>
                </c:pt>
                <c:pt idx="8">
                  <c:v>5126.8620000000001</c:v>
                </c:pt>
                <c:pt idx="9">
                  <c:v>5286.9179999999997</c:v>
                </c:pt>
                <c:pt idx="10">
                  <c:v>4457.7209999999995</c:v>
                </c:pt>
                <c:pt idx="11">
                  <c:v>4532.5959999999995</c:v>
                </c:pt>
                <c:pt idx="12">
                  <c:v>5162.4229999999998</c:v>
                </c:pt>
                <c:pt idx="13">
                  <c:v>4409.3230000000003</c:v>
                </c:pt>
                <c:pt idx="14">
                  <c:v>5316.82</c:v>
                </c:pt>
                <c:pt idx="15">
                  <c:v>4568.4380000000001</c:v>
                </c:pt>
                <c:pt idx="16">
                  <c:v>4773.1170000000002</c:v>
                </c:pt>
                <c:pt idx="17">
                  <c:v>5447.9340000000002</c:v>
                </c:pt>
                <c:pt idx="18">
                  <c:v>6324.866</c:v>
                </c:pt>
                <c:pt idx="19">
                  <c:v>5160.9690000000001</c:v>
                </c:pt>
                <c:pt idx="20">
                  <c:v>5270.4840000000004</c:v>
                </c:pt>
                <c:pt idx="21">
                  <c:v>4820.0510000000004</c:v>
                </c:pt>
                <c:pt idx="22">
                  <c:v>4617.8249999999998</c:v>
                </c:pt>
                <c:pt idx="23">
                  <c:v>5920.2529999999997</c:v>
                </c:pt>
                <c:pt idx="24">
                  <c:v>6014.317</c:v>
                </c:pt>
                <c:pt idx="25">
                  <c:v>6263.3980000000001</c:v>
                </c:pt>
                <c:pt idx="26">
                  <c:v>6744.2190000000001</c:v>
                </c:pt>
                <c:pt idx="27">
                  <c:v>5029.857</c:v>
                </c:pt>
              </c:numCache>
            </c:numRef>
          </c:val>
          <c:smooth val="0"/>
        </c:ser>
        <c:dLbls>
          <c:showLegendKey val="0"/>
          <c:showVal val="0"/>
          <c:showCatName val="0"/>
          <c:showSerName val="0"/>
          <c:showPercent val="0"/>
          <c:showBubbleSize val="0"/>
        </c:dLbls>
        <c:marker val="1"/>
        <c:smooth val="0"/>
        <c:axId val="-1040073072"/>
        <c:axId val="-1040077968"/>
      </c:lineChart>
      <c:dateAx>
        <c:axId val="-1040073072"/>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40077968"/>
        <c:crosses val="autoZero"/>
        <c:auto val="1"/>
        <c:lblOffset val="100"/>
        <c:baseTimeUnit val="months"/>
      </c:dateAx>
      <c:valAx>
        <c:axId val="-10400779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40073072"/>
        <c:crosses val="autoZero"/>
        <c:crossBetween val="between"/>
        <c:majorUnit val="2000"/>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Level</c:v>
                </c:pt>
              </c:strCache>
            </c:strRef>
          </c:tx>
          <c:spPr>
            <a:ln w="28575" cap="rnd">
              <a:solidFill>
                <a:schemeClr val="accent1"/>
              </a:solidFill>
              <a:round/>
            </a:ln>
            <a:effectLst/>
          </c:spPr>
          <c:marker>
            <c:symbol val="none"/>
          </c:marker>
          <c:cat>
            <c:numRef>
              <c:f>Sheet1!$A$2:$A$29</c:f>
              <c:numCache>
                <c:formatCode>mmm\-yy</c:formatCode>
                <c:ptCount val="28"/>
                <c:pt idx="0">
                  <c:v>41640</c:v>
                </c:pt>
                <c:pt idx="1">
                  <c:v>41671</c:v>
                </c:pt>
                <c:pt idx="2">
                  <c:v>41699</c:v>
                </c:pt>
                <c:pt idx="3">
                  <c:v>41730</c:v>
                </c:pt>
                <c:pt idx="4">
                  <c:v>41760</c:v>
                </c:pt>
                <c:pt idx="5">
                  <c:v>41791</c:v>
                </c:pt>
                <c:pt idx="6">
                  <c:v>41821</c:v>
                </c:pt>
                <c:pt idx="7">
                  <c:v>41852</c:v>
                </c:pt>
                <c:pt idx="8">
                  <c:v>41883</c:v>
                </c:pt>
                <c:pt idx="9">
                  <c:v>41913</c:v>
                </c:pt>
                <c:pt idx="10">
                  <c:v>41944</c:v>
                </c:pt>
                <c:pt idx="11">
                  <c:v>41974</c:v>
                </c:pt>
                <c:pt idx="12">
                  <c:v>42005</c:v>
                </c:pt>
                <c:pt idx="13">
                  <c:v>42036</c:v>
                </c:pt>
                <c:pt idx="14">
                  <c:v>42064</c:v>
                </c:pt>
                <c:pt idx="15">
                  <c:v>42095</c:v>
                </c:pt>
                <c:pt idx="16">
                  <c:v>42125</c:v>
                </c:pt>
                <c:pt idx="17">
                  <c:v>42156</c:v>
                </c:pt>
                <c:pt idx="18">
                  <c:v>42186</c:v>
                </c:pt>
                <c:pt idx="19">
                  <c:v>42217</c:v>
                </c:pt>
                <c:pt idx="20">
                  <c:v>42248</c:v>
                </c:pt>
                <c:pt idx="21">
                  <c:v>42278</c:v>
                </c:pt>
                <c:pt idx="22">
                  <c:v>42309</c:v>
                </c:pt>
                <c:pt idx="23">
                  <c:v>42339</c:v>
                </c:pt>
                <c:pt idx="24">
                  <c:v>42370</c:v>
                </c:pt>
                <c:pt idx="25">
                  <c:v>42401</c:v>
                </c:pt>
                <c:pt idx="26">
                  <c:v>42430</c:v>
                </c:pt>
                <c:pt idx="27">
                  <c:v>42461</c:v>
                </c:pt>
              </c:numCache>
            </c:numRef>
          </c:cat>
          <c:val>
            <c:numRef>
              <c:f>Sheet1!$B$2:$B$29</c:f>
              <c:numCache>
                <c:formatCode>General</c:formatCode>
                <c:ptCount val="28"/>
                <c:pt idx="0">
                  <c:v>5455.8559999999998</c:v>
                </c:pt>
                <c:pt idx="1">
                  <c:v>5396.4040000000005</c:v>
                </c:pt>
                <c:pt idx="2">
                  <c:v>5336.9520000000002</c:v>
                </c:pt>
                <c:pt idx="3">
                  <c:v>5279.5140000000001</c:v>
                </c:pt>
                <c:pt idx="4">
                  <c:v>5222.076</c:v>
                </c:pt>
                <c:pt idx="5">
                  <c:v>5166.24</c:v>
                </c:pt>
                <c:pt idx="6">
                  <c:v>5110.4040000000005</c:v>
                </c:pt>
                <c:pt idx="7">
                  <c:v>5050.9889999999996</c:v>
                </c:pt>
                <c:pt idx="8">
                  <c:v>4991.5749999999998</c:v>
                </c:pt>
                <c:pt idx="9">
                  <c:v>4940.46</c:v>
                </c:pt>
                <c:pt idx="10">
                  <c:v>4889.3459999999995</c:v>
                </c:pt>
                <c:pt idx="11">
                  <c:v>4902.29</c:v>
                </c:pt>
                <c:pt idx="12">
                  <c:v>4915.2340000000004</c:v>
                </c:pt>
                <c:pt idx="13">
                  <c:v>4954.8950000000004</c:v>
                </c:pt>
                <c:pt idx="14">
                  <c:v>4994.5550000000003</c:v>
                </c:pt>
                <c:pt idx="15">
                  <c:v>5029.6869999999999</c:v>
                </c:pt>
                <c:pt idx="16">
                  <c:v>5064.8180000000002</c:v>
                </c:pt>
                <c:pt idx="17">
                  <c:v>5136.4759999999997</c:v>
                </c:pt>
                <c:pt idx="18">
                  <c:v>5208.1350000000002</c:v>
                </c:pt>
                <c:pt idx="19">
                  <c:v>5300.973</c:v>
                </c:pt>
                <c:pt idx="20">
                  <c:v>5393.8109999999997</c:v>
                </c:pt>
                <c:pt idx="21">
                  <c:v>5471.4960000000001</c:v>
                </c:pt>
                <c:pt idx="22">
                  <c:v>5549.1809999999996</c:v>
                </c:pt>
                <c:pt idx="23">
                  <c:v>5622.4690000000001</c:v>
                </c:pt>
                <c:pt idx="24">
                  <c:v>5695.7569999999996</c:v>
                </c:pt>
                <c:pt idx="25">
                  <c:v>5768.5749999999998</c:v>
                </c:pt>
                <c:pt idx="26">
                  <c:v>5841.393</c:v>
                </c:pt>
                <c:pt idx="27">
                  <c:v>5913.6869999999999</c:v>
                </c:pt>
              </c:numCache>
            </c:numRef>
          </c:val>
          <c:smooth val="0"/>
        </c:ser>
        <c:dLbls>
          <c:showLegendKey val="0"/>
          <c:showVal val="0"/>
          <c:showCatName val="0"/>
          <c:showSerName val="0"/>
          <c:showPercent val="0"/>
          <c:showBubbleSize val="0"/>
        </c:dLbls>
        <c:smooth val="0"/>
        <c:axId val="-1040074704"/>
        <c:axId val="-1040075792"/>
      </c:lineChart>
      <c:dateAx>
        <c:axId val="-1040074704"/>
        <c:scaling>
          <c:orientation val="minMax"/>
        </c:scaling>
        <c:delete val="1"/>
        <c:axPos val="b"/>
        <c:numFmt formatCode="mmm\-yy" sourceLinked="1"/>
        <c:majorTickMark val="none"/>
        <c:minorTickMark val="none"/>
        <c:tickLblPos val="nextTo"/>
        <c:crossAx val="-1040075792"/>
        <c:crosses val="autoZero"/>
        <c:auto val="1"/>
        <c:lblOffset val="100"/>
        <c:baseTimeUnit val="months"/>
      </c:dateAx>
      <c:valAx>
        <c:axId val="-1040075792"/>
        <c:scaling>
          <c:orientation val="minMax"/>
          <c:max val="6500"/>
          <c:min val="4800"/>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40074704"/>
        <c:crosses val="autoZero"/>
        <c:crossBetween val="between"/>
        <c:majorUnit val="500"/>
      </c:valAx>
      <c:spPr>
        <a:solidFill>
          <a:schemeClr val="bg1"/>
        </a:solidFill>
        <a:ln>
          <a:noFill/>
        </a:ln>
        <a:effectLst/>
      </c:spPr>
    </c:plotArea>
    <c:plotVisOnly val="1"/>
    <c:dispBlanksAs val="gap"/>
    <c:showDLblsOverMax val="0"/>
  </c:chart>
  <c:spPr>
    <a:noFill/>
    <a:ln>
      <a:solidFill>
        <a:schemeClr val="tx1"/>
      </a:solid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cked"/>
        <c:varyColors val="0"/>
        <c:ser>
          <c:idx val="0"/>
          <c:order val="0"/>
          <c:tx>
            <c:strRef>
              <c:f>Sheet1!$B$1</c:f>
              <c:strCache>
                <c:ptCount val="1"/>
                <c:pt idx="0">
                  <c:v>Trend</c:v>
                </c:pt>
              </c:strCache>
            </c:strRef>
          </c:tx>
          <c:spPr>
            <a:ln w="28575" cap="rnd">
              <a:solidFill>
                <a:schemeClr val="accent1"/>
              </a:solidFill>
              <a:round/>
            </a:ln>
            <a:effectLst/>
          </c:spPr>
          <c:marker>
            <c:symbol val="none"/>
          </c:marker>
          <c:cat>
            <c:numRef>
              <c:f>Sheet1!$A$2:$A$29</c:f>
              <c:numCache>
                <c:formatCode>mmm\-yy</c:formatCode>
                <c:ptCount val="28"/>
                <c:pt idx="0">
                  <c:v>41640</c:v>
                </c:pt>
                <c:pt idx="1">
                  <c:v>41671</c:v>
                </c:pt>
                <c:pt idx="2">
                  <c:v>41699</c:v>
                </c:pt>
                <c:pt idx="3">
                  <c:v>41730</c:v>
                </c:pt>
                <c:pt idx="4">
                  <c:v>41760</c:v>
                </c:pt>
                <c:pt idx="5">
                  <c:v>41791</c:v>
                </c:pt>
                <c:pt idx="6">
                  <c:v>41821</c:v>
                </c:pt>
                <c:pt idx="7">
                  <c:v>41852</c:v>
                </c:pt>
                <c:pt idx="8">
                  <c:v>41883</c:v>
                </c:pt>
                <c:pt idx="9">
                  <c:v>41913</c:v>
                </c:pt>
                <c:pt idx="10">
                  <c:v>41944</c:v>
                </c:pt>
                <c:pt idx="11">
                  <c:v>41974</c:v>
                </c:pt>
                <c:pt idx="12">
                  <c:v>42005</c:v>
                </c:pt>
                <c:pt idx="13">
                  <c:v>42036</c:v>
                </c:pt>
                <c:pt idx="14">
                  <c:v>42064</c:v>
                </c:pt>
                <c:pt idx="15">
                  <c:v>42095</c:v>
                </c:pt>
                <c:pt idx="16">
                  <c:v>42125</c:v>
                </c:pt>
                <c:pt idx="17">
                  <c:v>42156</c:v>
                </c:pt>
                <c:pt idx="18">
                  <c:v>42186</c:v>
                </c:pt>
                <c:pt idx="19">
                  <c:v>42217</c:v>
                </c:pt>
                <c:pt idx="20">
                  <c:v>42248</c:v>
                </c:pt>
                <c:pt idx="21">
                  <c:v>42278</c:v>
                </c:pt>
                <c:pt idx="22">
                  <c:v>42309</c:v>
                </c:pt>
                <c:pt idx="23">
                  <c:v>42339</c:v>
                </c:pt>
                <c:pt idx="24">
                  <c:v>42370</c:v>
                </c:pt>
                <c:pt idx="25">
                  <c:v>42401</c:v>
                </c:pt>
                <c:pt idx="26">
                  <c:v>42430</c:v>
                </c:pt>
                <c:pt idx="27">
                  <c:v>42461</c:v>
                </c:pt>
              </c:numCache>
            </c:numRef>
          </c:cat>
          <c:val>
            <c:numRef>
              <c:f>Sheet1!$B$2:$B$29</c:f>
              <c:numCache>
                <c:formatCode>General</c:formatCode>
                <c:ptCount val="28"/>
                <c:pt idx="0">
                  <c:v>335.52813900000001</c:v>
                </c:pt>
                <c:pt idx="1">
                  <c:v>-22.703002000000001</c:v>
                </c:pt>
                <c:pt idx="2">
                  <c:v>636.12921100000005</c:v>
                </c:pt>
                <c:pt idx="3">
                  <c:v>-255.94164599999999</c:v>
                </c:pt>
                <c:pt idx="4">
                  <c:v>-88.608549999999994</c:v>
                </c:pt>
                <c:pt idx="5">
                  <c:v>129.15665100000001</c:v>
                </c:pt>
                <c:pt idx="6">
                  <c:v>325.97935100000001</c:v>
                </c:pt>
                <c:pt idx="7">
                  <c:v>-269.37865499999998</c:v>
                </c:pt>
                <c:pt idx="8">
                  <c:v>16.513839000000001</c:v>
                </c:pt>
                <c:pt idx="9">
                  <c:v>-137.09213800000001</c:v>
                </c:pt>
                <c:pt idx="10">
                  <c:v>-661.22111500000005</c:v>
                </c:pt>
                <c:pt idx="11">
                  <c:v>-8.3625769999999999</c:v>
                </c:pt>
                <c:pt idx="12">
                  <c:v>335.52813900000001</c:v>
                </c:pt>
                <c:pt idx="13">
                  <c:v>-22.703002000000001</c:v>
                </c:pt>
                <c:pt idx="14">
                  <c:v>636.12921100000005</c:v>
                </c:pt>
                <c:pt idx="15">
                  <c:v>-255.94164599999999</c:v>
                </c:pt>
                <c:pt idx="16">
                  <c:v>-88.608549999999994</c:v>
                </c:pt>
                <c:pt idx="17">
                  <c:v>129.15665100000001</c:v>
                </c:pt>
                <c:pt idx="18">
                  <c:v>325.97935100000001</c:v>
                </c:pt>
                <c:pt idx="19">
                  <c:v>-269.37865499999998</c:v>
                </c:pt>
                <c:pt idx="20">
                  <c:v>16.513839000000001</c:v>
                </c:pt>
                <c:pt idx="21">
                  <c:v>-137.09213800000001</c:v>
                </c:pt>
                <c:pt idx="22">
                  <c:v>-661.22111500000005</c:v>
                </c:pt>
                <c:pt idx="23">
                  <c:v>-8.3625769999999999</c:v>
                </c:pt>
                <c:pt idx="24">
                  <c:v>335.52813900000001</c:v>
                </c:pt>
                <c:pt idx="25">
                  <c:v>-22.703002000000001</c:v>
                </c:pt>
                <c:pt idx="26">
                  <c:v>636.12921100000005</c:v>
                </c:pt>
                <c:pt idx="27">
                  <c:v>-255.94164599999999</c:v>
                </c:pt>
              </c:numCache>
            </c:numRef>
          </c:val>
          <c:smooth val="0"/>
        </c:ser>
        <c:dLbls>
          <c:showLegendKey val="0"/>
          <c:showVal val="0"/>
          <c:showCatName val="0"/>
          <c:showSerName val="0"/>
          <c:showPercent val="0"/>
          <c:showBubbleSize val="0"/>
        </c:dLbls>
        <c:smooth val="0"/>
        <c:axId val="-1040071984"/>
        <c:axId val="-1040078512"/>
      </c:lineChart>
      <c:dateAx>
        <c:axId val="-1040071984"/>
        <c:scaling>
          <c:orientation val="minMax"/>
        </c:scaling>
        <c:delete val="1"/>
        <c:axPos val="b"/>
        <c:numFmt formatCode="mmm\-yy" sourceLinked="1"/>
        <c:majorTickMark val="none"/>
        <c:minorTickMark val="none"/>
        <c:tickLblPos val="nextTo"/>
        <c:crossAx val="-1040078512"/>
        <c:crosses val="autoZero"/>
        <c:auto val="1"/>
        <c:lblOffset val="100"/>
        <c:baseTimeUnit val="months"/>
      </c:dateAx>
      <c:valAx>
        <c:axId val="-1040078512"/>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40071984"/>
        <c:crosses val="autoZero"/>
        <c:crossBetween val="between"/>
      </c:valAx>
      <c:spPr>
        <a:solidFill>
          <a:schemeClr val="bg1"/>
        </a:solidFill>
        <a:ln>
          <a:noFill/>
        </a:ln>
        <a:effectLst/>
      </c:spPr>
    </c:plotArea>
    <c:plotVisOnly val="1"/>
    <c:dispBlanksAs val="gap"/>
    <c:showDLblsOverMax val="0"/>
  </c:chart>
  <c:spPr>
    <a:solidFill>
      <a:schemeClr val="bg1"/>
    </a:solidFill>
    <a:ln>
      <a:solidFill>
        <a:schemeClr val="tx1"/>
      </a:solid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cked"/>
        <c:varyColors val="0"/>
        <c:ser>
          <c:idx val="0"/>
          <c:order val="0"/>
          <c:tx>
            <c:strRef>
              <c:f>Sheet1!$B$1</c:f>
              <c:strCache>
                <c:ptCount val="1"/>
                <c:pt idx="0">
                  <c:v>Seasonal</c:v>
                </c:pt>
              </c:strCache>
            </c:strRef>
          </c:tx>
          <c:spPr>
            <a:ln w="28575" cap="rnd">
              <a:solidFill>
                <a:schemeClr val="accent1"/>
              </a:solidFill>
              <a:round/>
            </a:ln>
            <a:effectLst/>
          </c:spPr>
          <c:marker>
            <c:symbol val="none"/>
          </c:marker>
          <c:cat>
            <c:numRef>
              <c:f>Sheet1!$A$2:$A$29</c:f>
              <c:numCache>
                <c:formatCode>mmm\-yy</c:formatCode>
                <c:ptCount val="28"/>
                <c:pt idx="0">
                  <c:v>41640</c:v>
                </c:pt>
                <c:pt idx="1">
                  <c:v>41671</c:v>
                </c:pt>
                <c:pt idx="2">
                  <c:v>41699</c:v>
                </c:pt>
                <c:pt idx="3">
                  <c:v>41730</c:v>
                </c:pt>
                <c:pt idx="4">
                  <c:v>41760</c:v>
                </c:pt>
                <c:pt idx="5">
                  <c:v>41791</c:v>
                </c:pt>
                <c:pt idx="6">
                  <c:v>41821</c:v>
                </c:pt>
                <c:pt idx="7">
                  <c:v>41852</c:v>
                </c:pt>
                <c:pt idx="8">
                  <c:v>41883</c:v>
                </c:pt>
                <c:pt idx="9">
                  <c:v>41913</c:v>
                </c:pt>
                <c:pt idx="10">
                  <c:v>41944</c:v>
                </c:pt>
                <c:pt idx="11">
                  <c:v>41974</c:v>
                </c:pt>
                <c:pt idx="12">
                  <c:v>42005</c:v>
                </c:pt>
                <c:pt idx="13">
                  <c:v>42036</c:v>
                </c:pt>
                <c:pt idx="14">
                  <c:v>42064</c:v>
                </c:pt>
                <c:pt idx="15">
                  <c:v>42095</c:v>
                </c:pt>
                <c:pt idx="16">
                  <c:v>42125</c:v>
                </c:pt>
                <c:pt idx="17">
                  <c:v>42156</c:v>
                </c:pt>
                <c:pt idx="18">
                  <c:v>42186</c:v>
                </c:pt>
                <c:pt idx="19">
                  <c:v>42217</c:v>
                </c:pt>
                <c:pt idx="20">
                  <c:v>42248</c:v>
                </c:pt>
                <c:pt idx="21">
                  <c:v>42278</c:v>
                </c:pt>
                <c:pt idx="22">
                  <c:v>42309</c:v>
                </c:pt>
                <c:pt idx="23">
                  <c:v>42339</c:v>
                </c:pt>
                <c:pt idx="24">
                  <c:v>42370</c:v>
                </c:pt>
                <c:pt idx="25">
                  <c:v>42401</c:v>
                </c:pt>
                <c:pt idx="26">
                  <c:v>42430</c:v>
                </c:pt>
                <c:pt idx="27">
                  <c:v>42461</c:v>
                </c:pt>
              </c:numCache>
            </c:numRef>
          </c:cat>
          <c:val>
            <c:numRef>
              <c:f>Sheet1!$B$2:$B$29</c:f>
              <c:numCache>
                <c:formatCode>General</c:formatCode>
                <c:ptCount val="28"/>
                <c:pt idx="0">
                  <c:v>-25.05341</c:v>
                </c:pt>
                <c:pt idx="1">
                  <c:v>-128.01123000000001</c:v>
                </c:pt>
                <c:pt idx="2">
                  <c:v>-89.181399999999996</c:v>
                </c:pt>
                <c:pt idx="3">
                  <c:v>692.64374999999995</c:v>
                </c:pt>
                <c:pt idx="4">
                  <c:v>168.32595000000001</c:v>
                </c:pt>
                <c:pt idx="5">
                  <c:v>-207.69559000000001</c:v>
                </c:pt>
                <c:pt idx="6">
                  <c:v>-806.77463999999998</c:v>
                </c:pt>
                <c:pt idx="7">
                  <c:v>-147.91981999999999</c:v>
                </c:pt>
                <c:pt idx="8">
                  <c:v>118.7735</c:v>
                </c:pt>
                <c:pt idx="9">
                  <c:v>483.54996999999997</c:v>
                </c:pt>
                <c:pt idx="10">
                  <c:v>229.59644</c:v>
                </c:pt>
                <c:pt idx="11">
                  <c:v>-361.33148999999997</c:v>
                </c:pt>
                <c:pt idx="12">
                  <c:v>-88.339590000000001</c:v>
                </c:pt>
                <c:pt idx="13">
                  <c:v>-522.86884999999995</c:v>
                </c:pt>
                <c:pt idx="14">
                  <c:v>-313.86444999999998</c:v>
                </c:pt>
                <c:pt idx="15">
                  <c:v>-205.30714</c:v>
                </c:pt>
                <c:pt idx="16">
                  <c:v>-203.09278</c:v>
                </c:pt>
                <c:pt idx="17">
                  <c:v>182.30090000000001</c:v>
                </c:pt>
                <c:pt idx="18">
                  <c:v>790.75207</c:v>
                </c:pt>
                <c:pt idx="19">
                  <c:v>129.37485000000001</c:v>
                </c:pt>
                <c:pt idx="20">
                  <c:v>-139.84085999999999</c:v>
                </c:pt>
                <c:pt idx="21">
                  <c:v>-514.35296000000005</c:v>
                </c:pt>
                <c:pt idx="22">
                  <c:v>-270.13506000000001</c:v>
                </c:pt>
                <c:pt idx="23">
                  <c:v>306.14663999999999</c:v>
                </c:pt>
                <c:pt idx="24">
                  <c:v>-16.967839999999999</c:v>
                </c:pt>
                <c:pt idx="25">
                  <c:v>517.52611000000002</c:v>
                </c:pt>
                <c:pt idx="26">
                  <c:v>266.69671</c:v>
                </c:pt>
                <c:pt idx="27">
                  <c:v>-627.88815999999997</c:v>
                </c:pt>
              </c:numCache>
            </c:numRef>
          </c:val>
          <c:smooth val="0"/>
        </c:ser>
        <c:dLbls>
          <c:showLegendKey val="0"/>
          <c:showVal val="0"/>
          <c:showCatName val="0"/>
          <c:showSerName val="0"/>
          <c:showPercent val="0"/>
          <c:showBubbleSize val="0"/>
        </c:dLbls>
        <c:smooth val="0"/>
        <c:axId val="-1040061104"/>
        <c:axId val="-1040060560"/>
      </c:lineChart>
      <c:dateAx>
        <c:axId val="-1040061104"/>
        <c:scaling>
          <c:orientation val="minMax"/>
        </c:scaling>
        <c:delete val="1"/>
        <c:axPos val="b"/>
        <c:numFmt formatCode="mmm\-yy" sourceLinked="1"/>
        <c:majorTickMark val="none"/>
        <c:minorTickMark val="none"/>
        <c:tickLblPos val="nextTo"/>
        <c:crossAx val="-1040060560"/>
        <c:crosses val="autoZero"/>
        <c:auto val="1"/>
        <c:lblOffset val="100"/>
        <c:baseTimeUnit val="months"/>
      </c:dateAx>
      <c:valAx>
        <c:axId val="-1040060560"/>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40061104"/>
        <c:crosses val="autoZero"/>
        <c:crossBetween val="between"/>
      </c:valAx>
      <c:spPr>
        <a:solidFill>
          <a:schemeClr val="bg1"/>
        </a:solidFill>
        <a:ln>
          <a:noFill/>
        </a:ln>
        <a:effectLst/>
      </c:spPr>
    </c:plotArea>
    <c:plotVisOnly val="1"/>
    <c:dispBlanksAs val="gap"/>
    <c:showDLblsOverMax val="0"/>
  </c:chart>
  <c:spPr>
    <a:solidFill>
      <a:schemeClr val="bg1"/>
    </a:solidFill>
    <a:ln>
      <a:solidFill>
        <a:schemeClr val="tx1"/>
      </a:solidFill>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600" b="1" dirty="0" smtClean="0">
                <a:solidFill>
                  <a:schemeClr val="bg1">
                    <a:lumMod val="50000"/>
                  </a:schemeClr>
                </a:solidFill>
              </a:rPr>
              <a:t>Primary Sales Total Lifting –Observed Value Vs Predicted Values</a:t>
            </a:r>
            <a:endParaRPr lang="en-US" sz="1600" b="1" dirty="0">
              <a:solidFill>
                <a:schemeClr val="bg1">
                  <a:lumMod val="50000"/>
                </a:schemeClr>
              </a:solidFill>
            </a:endParaRPr>
          </a:p>
        </c:rich>
      </c:tx>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Actual</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Sheet1!$A$2:$A$32</c:f>
              <c:numCache>
                <c:formatCode>mmm\-yy</c:formatCode>
                <c:ptCount val="31"/>
                <c:pt idx="0">
                  <c:v>41640</c:v>
                </c:pt>
                <c:pt idx="1">
                  <c:v>41671</c:v>
                </c:pt>
                <c:pt idx="2">
                  <c:v>41699</c:v>
                </c:pt>
                <c:pt idx="3">
                  <c:v>41730</c:v>
                </c:pt>
                <c:pt idx="4">
                  <c:v>41760</c:v>
                </c:pt>
                <c:pt idx="5">
                  <c:v>41791</c:v>
                </c:pt>
                <c:pt idx="6">
                  <c:v>41821</c:v>
                </c:pt>
                <c:pt idx="7">
                  <c:v>41852</c:v>
                </c:pt>
                <c:pt idx="8">
                  <c:v>41883</c:v>
                </c:pt>
                <c:pt idx="9">
                  <c:v>41913</c:v>
                </c:pt>
                <c:pt idx="10">
                  <c:v>41944</c:v>
                </c:pt>
                <c:pt idx="11">
                  <c:v>41974</c:v>
                </c:pt>
                <c:pt idx="12">
                  <c:v>42005</c:v>
                </c:pt>
                <c:pt idx="13">
                  <c:v>42036</c:v>
                </c:pt>
                <c:pt idx="14">
                  <c:v>42064</c:v>
                </c:pt>
                <c:pt idx="15">
                  <c:v>42095</c:v>
                </c:pt>
                <c:pt idx="16">
                  <c:v>42125</c:v>
                </c:pt>
                <c:pt idx="17">
                  <c:v>42156</c:v>
                </c:pt>
                <c:pt idx="18">
                  <c:v>42186</c:v>
                </c:pt>
                <c:pt idx="19">
                  <c:v>42217</c:v>
                </c:pt>
                <c:pt idx="20">
                  <c:v>42248</c:v>
                </c:pt>
                <c:pt idx="21">
                  <c:v>42278</c:v>
                </c:pt>
                <c:pt idx="22">
                  <c:v>42309</c:v>
                </c:pt>
                <c:pt idx="23">
                  <c:v>42339</c:v>
                </c:pt>
                <c:pt idx="24">
                  <c:v>42370</c:v>
                </c:pt>
                <c:pt idx="25">
                  <c:v>42401</c:v>
                </c:pt>
                <c:pt idx="26">
                  <c:v>42430</c:v>
                </c:pt>
                <c:pt idx="27">
                  <c:v>42461</c:v>
                </c:pt>
                <c:pt idx="28">
                  <c:v>42491</c:v>
                </c:pt>
                <c:pt idx="29">
                  <c:v>42522</c:v>
                </c:pt>
                <c:pt idx="30">
                  <c:v>42552</c:v>
                </c:pt>
              </c:numCache>
            </c:numRef>
          </c:cat>
          <c:val>
            <c:numRef>
              <c:f>Sheet1!$B$2:$B$32</c:f>
              <c:numCache>
                <c:formatCode>General</c:formatCode>
                <c:ptCount val="31"/>
                <c:pt idx="0">
                  <c:v>5766.3310000000001</c:v>
                </c:pt>
                <c:pt idx="1">
                  <c:v>5245.69</c:v>
                </c:pt>
                <c:pt idx="2">
                  <c:v>5883.9</c:v>
                </c:pt>
                <c:pt idx="3">
                  <c:v>5716.2160000000003</c:v>
                </c:pt>
                <c:pt idx="4">
                  <c:v>5301.7929999999997</c:v>
                </c:pt>
                <c:pt idx="5">
                  <c:v>5087.701</c:v>
                </c:pt>
                <c:pt idx="6">
                  <c:v>4629.6090000000004</c:v>
                </c:pt>
                <c:pt idx="7">
                  <c:v>4633.6909999999998</c:v>
                </c:pt>
                <c:pt idx="8">
                  <c:v>5126.8620000000001</c:v>
                </c:pt>
                <c:pt idx="9">
                  <c:v>5286.9179999999997</c:v>
                </c:pt>
                <c:pt idx="10">
                  <c:v>4457.7209999999995</c:v>
                </c:pt>
                <c:pt idx="11">
                  <c:v>4532.5959999999995</c:v>
                </c:pt>
                <c:pt idx="12">
                  <c:v>5162.4229999999998</c:v>
                </c:pt>
                <c:pt idx="13">
                  <c:v>4409.3230000000003</c:v>
                </c:pt>
                <c:pt idx="14">
                  <c:v>5316.82</c:v>
                </c:pt>
                <c:pt idx="15">
                  <c:v>4568.4380000000001</c:v>
                </c:pt>
                <c:pt idx="16">
                  <c:v>4773.1170000000002</c:v>
                </c:pt>
                <c:pt idx="17">
                  <c:v>5447.9340000000002</c:v>
                </c:pt>
                <c:pt idx="18">
                  <c:v>6324.866</c:v>
                </c:pt>
                <c:pt idx="19">
                  <c:v>5160.9690000000001</c:v>
                </c:pt>
                <c:pt idx="20">
                  <c:v>5270.4840000000004</c:v>
                </c:pt>
                <c:pt idx="21">
                  <c:v>4820.0510000000004</c:v>
                </c:pt>
                <c:pt idx="22">
                  <c:v>4617.8249999999998</c:v>
                </c:pt>
                <c:pt idx="23">
                  <c:v>5920.2529999999997</c:v>
                </c:pt>
                <c:pt idx="24">
                  <c:v>6014.317</c:v>
                </c:pt>
                <c:pt idx="25">
                  <c:v>6263.3980000000001</c:v>
                </c:pt>
                <c:pt idx="26">
                  <c:v>6744.2190000000001</c:v>
                </c:pt>
                <c:pt idx="27">
                  <c:v>5029.857</c:v>
                </c:pt>
                <c:pt idx="28">
                  <c:v>4925.8879999999999</c:v>
                </c:pt>
                <c:pt idx="29">
                  <c:v>5901.3590000000004</c:v>
                </c:pt>
                <c:pt idx="30">
                  <c:v>5908.76</c:v>
                </c:pt>
              </c:numCache>
            </c:numRef>
          </c:val>
          <c:smooth val="0"/>
        </c:ser>
        <c:ser>
          <c:idx val="1"/>
          <c:order val="1"/>
          <c:tx>
            <c:strRef>
              <c:f>Sheet1!$C$1</c:f>
              <c:strCache>
                <c:ptCount val="1"/>
                <c:pt idx="0">
                  <c:v>Predicted</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numRef>
              <c:f>Sheet1!$A$2:$A$32</c:f>
              <c:numCache>
                <c:formatCode>mmm\-yy</c:formatCode>
                <c:ptCount val="31"/>
                <c:pt idx="0">
                  <c:v>41640</c:v>
                </c:pt>
                <c:pt idx="1">
                  <c:v>41671</c:v>
                </c:pt>
                <c:pt idx="2">
                  <c:v>41699</c:v>
                </c:pt>
                <c:pt idx="3">
                  <c:v>41730</c:v>
                </c:pt>
                <c:pt idx="4">
                  <c:v>41760</c:v>
                </c:pt>
                <c:pt idx="5">
                  <c:v>41791</c:v>
                </c:pt>
                <c:pt idx="6">
                  <c:v>41821</c:v>
                </c:pt>
                <c:pt idx="7">
                  <c:v>41852</c:v>
                </c:pt>
                <c:pt idx="8">
                  <c:v>41883</c:v>
                </c:pt>
                <c:pt idx="9">
                  <c:v>41913</c:v>
                </c:pt>
                <c:pt idx="10">
                  <c:v>41944</c:v>
                </c:pt>
                <c:pt idx="11">
                  <c:v>41974</c:v>
                </c:pt>
                <c:pt idx="12">
                  <c:v>42005</c:v>
                </c:pt>
                <c:pt idx="13">
                  <c:v>42036</c:v>
                </c:pt>
                <c:pt idx="14">
                  <c:v>42064</c:v>
                </c:pt>
                <c:pt idx="15">
                  <c:v>42095</c:v>
                </c:pt>
                <c:pt idx="16">
                  <c:v>42125</c:v>
                </c:pt>
                <c:pt idx="17">
                  <c:v>42156</c:v>
                </c:pt>
                <c:pt idx="18">
                  <c:v>42186</c:v>
                </c:pt>
                <c:pt idx="19">
                  <c:v>42217</c:v>
                </c:pt>
                <c:pt idx="20">
                  <c:v>42248</c:v>
                </c:pt>
                <c:pt idx="21">
                  <c:v>42278</c:v>
                </c:pt>
                <c:pt idx="22">
                  <c:v>42309</c:v>
                </c:pt>
                <c:pt idx="23">
                  <c:v>42339</c:v>
                </c:pt>
                <c:pt idx="24">
                  <c:v>42370</c:v>
                </c:pt>
                <c:pt idx="25">
                  <c:v>42401</c:v>
                </c:pt>
                <c:pt idx="26">
                  <c:v>42430</c:v>
                </c:pt>
                <c:pt idx="27">
                  <c:v>42461</c:v>
                </c:pt>
                <c:pt idx="28">
                  <c:v>42491</c:v>
                </c:pt>
                <c:pt idx="29">
                  <c:v>42522</c:v>
                </c:pt>
                <c:pt idx="30">
                  <c:v>42552</c:v>
                </c:pt>
              </c:numCache>
            </c:numRef>
          </c:cat>
          <c:val>
            <c:numRef>
              <c:f>Sheet1!$C$2:$C$32</c:f>
              <c:numCache>
                <c:formatCode>General</c:formatCode>
                <c:ptCount val="31"/>
                <c:pt idx="0">
                  <c:v>5305.3677289999996</c:v>
                </c:pt>
                <c:pt idx="1">
                  <c:v>4864.6717679999992</c:v>
                </c:pt>
                <c:pt idx="2">
                  <c:v>5582.8268109999999</c:v>
                </c:pt>
                <c:pt idx="3">
                  <c:v>5493.0741039999994</c:v>
                </c:pt>
                <c:pt idx="4">
                  <c:v>5156.5824000000002</c:v>
                </c:pt>
                <c:pt idx="5">
                  <c:v>5018.8190609999992</c:v>
                </c:pt>
                <c:pt idx="6">
                  <c:v>4637.055711</c:v>
                </c:pt>
                <c:pt idx="7">
                  <c:v>4721.0455250000005</c:v>
                </c:pt>
                <c:pt idx="8">
                  <c:v>5294.124339</c:v>
                </c:pt>
                <c:pt idx="9">
                  <c:v>5525.787832</c:v>
                </c:pt>
                <c:pt idx="10">
                  <c:v>4768.1983249999994</c:v>
                </c:pt>
                <c:pt idx="11">
                  <c:v>4850.6219329999994</c:v>
                </c:pt>
                <c:pt idx="12">
                  <c:v>5487.9975489999997</c:v>
                </c:pt>
                <c:pt idx="13">
                  <c:v>4715.7301479999996</c:v>
                </c:pt>
                <c:pt idx="14">
                  <c:v>5604.0597610000004</c:v>
                </c:pt>
                <c:pt idx="15">
                  <c:v>4841.0392139999994</c:v>
                </c:pt>
                <c:pt idx="16">
                  <c:v>5031.0796700000001</c:v>
                </c:pt>
                <c:pt idx="17">
                  <c:v>5654.7315509999999</c:v>
                </c:pt>
                <c:pt idx="18">
                  <c:v>6480.4984210000002</c:v>
                </c:pt>
                <c:pt idx="19">
                  <c:v>5244.256194999999</c:v>
                </c:pt>
                <c:pt idx="20">
                  <c:v>5281.4259789999996</c:v>
                </c:pt>
                <c:pt idx="21">
                  <c:v>4773.800901999999</c:v>
                </c:pt>
                <c:pt idx="22">
                  <c:v>4514.3828249999997</c:v>
                </c:pt>
                <c:pt idx="23">
                  <c:v>5764.016063</c:v>
                </c:pt>
                <c:pt idx="24">
                  <c:v>5805.2852989999992</c:v>
                </c:pt>
                <c:pt idx="25">
                  <c:v>6002.0411079999994</c:v>
                </c:pt>
                <c:pt idx="26">
                  <c:v>6430.536920999999</c:v>
                </c:pt>
                <c:pt idx="27">
                  <c:v>4664.374194</c:v>
                </c:pt>
                <c:pt idx="28">
                  <c:v>5059.7203300000001</c:v>
                </c:pt>
                <c:pt idx="29">
                  <c:v>5738.5874009999998</c:v>
                </c:pt>
                <c:pt idx="30">
                  <c:v>6014.3691709999994</c:v>
                </c:pt>
              </c:numCache>
            </c:numRef>
          </c:val>
          <c:smooth val="0"/>
        </c:ser>
        <c:dLbls>
          <c:showLegendKey val="0"/>
          <c:showVal val="0"/>
          <c:showCatName val="0"/>
          <c:showSerName val="0"/>
          <c:showPercent val="0"/>
          <c:showBubbleSize val="0"/>
        </c:dLbls>
        <c:marker val="1"/>
        <c:smooth val="0"/>
        <c:axId val="-1040059472"/>
        <c:axId val="-1040058928"/>
      </c:lineChart>
      <c:dateAx>
        <c:axId val="-1040059472"/>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40058928"/>
        <c:crosses val="autoZero"/>
        <c:auto val="1"/>
        <c:lblOffset val="100"/>
        <c:baseTimeUnit val="months"/>
      </c:dateAx>
      <c:valAx>
        <c:axId val="-1040058928"/>
        <c:scaling>
          <c:orientation val="minMax"/>
          <c:max val="7500"/>
          <c:min val="40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40059472"/>
        <c:crosses val="autoZero"/>
        <c:crossBetween val="between"/>
        <c:majorUnit val="500"/>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b="1" dirty="0" smtClean="0">
                <a:solidFill>
                  <a:schemeClr val="bg1">
                    <a:lumMod val="50000"/>
                  </a:schemeClr>
                </a:solidFill>
              </a:rPr>
              <a:t>Secondary Total Lifting –Observed Value Vs Predicted Values – for Activity Cluster</a:t>
            </a:r>
            <a:endParaRPr lang="en-US" sz="1400" b="1" dirty="0">
              <a:solidFill>
                <a:schemeClr val="bg1">
                  <a:lumMod val="50000"/>
                </a:schemeClr>
              </a:solidFill>
            </a:endParaRPr>
          </a:p>
        </c:rich>
      </c:tx>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Actual</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Sheet1!$A$2:$A$25</c:f>
              <c:numCache>
                <c:formatCode>mmm\-yy</c:formatCode>
                <c:ptCount val="24"/>
                <c:pt idx="0">
                  <c:v>42095</c:v>
                </c:pt>
                <c:pt idx="1">
                  <c:v>42125</c:v>
                </c:pt>
                <c:pt idx="2">
                  <c:v>42156</c:v>
                </c:pt>
                <c:pt idx="3">
                  <c:v>42186</c:v>
                </c:pt>
                <c:pt idx="4">
                  <c:v>42217</c:v>
                </c:pt>
                <c:pt idx="5">
                  <c:v>42248</c:v>
                </c:pt>
                <c:pt idx="6">
                  <c:v>42278</c:v>
                </c:pt>
                <c:pt idx="7">
                  <c:v>42309</c:v>
                </c:pt>
                <c:pt idx="8">
                  <c:v>42339</c:v>
                </c:pt>
                <c:pt idx="9">
                  <c:v>42370</c:v>
                </c:pt>
                <c:pt idx="10">
                  <c:v>42401</c:v>
                </c:pt>
                <c:pt idx="11">
                  <c:v>42430</c:v>
                </c:pt>
                <c:pt idx="12">
                  <c:v>42461</c:v>
                </c:pt>
                <c:pt idx="13">
                  <c:v>42491</c:v>
                </c:pt>
                <c:pt idx="14">
                  <c:v>42522</c:v>
                </c:pt>
                <c:pt idx="15">
                  <c:v>42552</c:v>
                </c:pt>
                <c:pt idx="16">
                  <c:v>42583</c:v>
                </c:pt>
                <c:pt idx="17">
                  <c:v>42614</c:v>
                </c:pt>
                <c:pt idx="18">
                  <c:v>42644</c:v>
                </c:pt>
                <c:pt idx="19">
                  <c:v>42675</c:v>
                </c:pt>
                <c:pt idx="20">
                  <c:v>42705</c:v>
                </c:pt>
                <c:pt idx="21">
                  <c:v>42736</c:v>
                </c:pt>
                <c:pt idx="22">
                  <c:v>42767</c:v>
                </c:pt>
                <c:pt idx="23">
                  <c:v>42795</c:v>
                </c:pt>
              </c:numCache>
            </c:numRef>
          </c:cat>
          <c:val>
            <c:numRef>
              <c:f>Sheet1!$B$2:$B$25</c:f>
              <c:numCache>
                <c:formatCode>General</c:formatCode>
                <c:ptCount val="24"/>
                <c:pt idx="0">
                  <c:v>720.94100000000003</c:v>
                </c:pt>
                <c:pt idx="1">
                  <c:v>725.09299999999996</c:v>
                </c:pt>
                <c:pt idx="2">
                  <c:v>934.43700000000001</c:v>
                </c:pt>
                <c:pt idx="3">
                  <c:v>711.68200000000002</c:v>
                </c:pt>
                <c:pt idx="4">
                  <c:v>570.17700000000002</c:v>
                </c:pt>
                <c:pt idx="5">
                  <c:v>573.62900000000002</c:v>
                </c:pt>
                <c:pt idx="6">
                  <c:v>358.947</c:v>
                </c:pt>
                <c:pt idx="7">
                  <c:v>425.18599999999998</c:v>
                </c:pt>
                <c:pt idx="8">
                  <c:v>444.04300000000001</c:v>
                </c:pt>
                <c:pt idx="9">
                  <c:v>571.70899999999995</c:v>
                </c:pt>
                <c:pt idx="10">
                  <c:v>509.42099999999999</c:v>
                </c:pt>
                <c:pt idx="11">
                  <c:v>486.072</c:v>
                </c:pt>
                <c:pt idx="12">
                  <c:v>692.46</c:v>
                </c:pt>
                <c:pt idx="13">
                  <c:v>912.80100000000004</c:v>
                </c:pt>
                <c:pt idx="14">
                  <c:v>839.31100000000004</c:v>
                </c:pt>
                <c:pt idx="15">
                  <c:v>813.29899999999998</c:v>
                </c:pt>
                <c:pt idx="16">
                  <c:v>592.76</c:v>
                </c:pt>
                <c:pt idx="17">
                  <c:v>726.23699999999997</c:v>
                </c:pt>
                <c:pt idx="18">
                  <c:v>614.61500000000001</c:v>
                </c:pt>
                <c:pt idx="19">
                  <c:v>5024.9960000000001</c:v>
                </c:pt>
                <c:pt idx="20">
                  <c:v>683.81100000000004</c:v>
                </c:pt>
                <c:pt idx="21">
                  <c:v>758.73900000000003</c:v>
                </c:pt>
                <c:pt idx="22">
                  <c:v>896.40499999999997</c:v>
                </c:pt>
                <c:pt idx="23">
                  <c:v>981.62699999999995</c:v>
                </c:pt>
              </c:numCache>
            </c:numRef>
          </c:val>
          <c:smooth val="0"/>
        </c:ser>
        <c:ser>
          <c:idx val="1"/>
          <c:order val="1"/>
          <c:tx>
            <c:strRef>
              <c:f>Sheet1!$C$1</c:f>
              <c:strCache>
                <c:ptCount val="1"/>
                <c:pt idx="0">
                  <c:v>Predicted</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numRef>
              <c:f>Sheet1!$A$2:$A$25</c:f>
              <c:numCache>
                <c:formatCode>mmm\-yy</c:formatCode>
                <c:ptCount val="24"/>
                <c:pt idx="0">
                  <c:v>42095</c:v>
                </c:pt>
                <c:pt idx="1">
                  <c:v>42125</c:v>
                </c:pt>
                <c:pt idx="2">
                  <c:v>42156</c:v>
                </c:pt>
                <c:pt idx="3">
                  <c:v>42186</c:v>
                </c:pt>
                <c:pt idx="4">
                  <c:v>42217</c:v>
                </c:pt>
                <c:pt idx="5">
                  <c:v>42248</c:v>
                </c:pt>
                <c:pt idx="6">
                  <c:v>42278</c:v>
                </c:pt>
                <c:pt idx="7">
                  <c:v>42309</c:v>
                </c:pt>
                <c:pt idx="8">
                  <c:v>42339</c:v>
                </c:pt>
                <c:pt idx="9">
                  <c:v>42370</c:v>
                </c:pt>
                <c:pt idx="10">
                  <c:v>42401</c:v>
                </c:pt>
                <c:pt idx="11">
                  <c:v>42430</c:v>
                </c:pt>
                <c:pt idx="12">
                  <c:v>42461</c:v>
                </c:pt>
                <c:pt idx="13">
                  <c:v>42491</c:v>
                </c:pt>
                <c:pt idx="14">
                  <c:v>42522</c:v>
                </c:pt>
                <c:pt idx="15">
                  <c:v>42552</c:v>
                </c:pt>
                <c:pt idx="16">
                  <c:v>42583</c:v>
                </c:pt>
                <c:pt idx="17">
                  <c:v>42614</c:v>
                </c:pt>
                <c:pt idx="18">
                  <c:v>42644</c:v>
                </c:pt>
                <c:pt idx="19">
                  <c:v>42675</c:v>
                </c:pt>
                <c:pt idx="20">
                  <c:v>42705</c:v>
                </c:pt>
                <c:pt idx="21">
                  <c:v>42736</c:v>
                </c:pt>
                <c:pt idx="22">
                  <c:v>42767</c:v>
                </c:pt>
                <c:pt idx="23">
                  <c:v>42795</c:v>
                </c:pt>
              </c:numCache>
            </c:numRef>
          </c:cat>
          <c:val>
            <c:numRef>
              <c:f>Sheet1!$C$2:$C$25</c:f>
              <c:numCache>
                <c:formatCode>General</c:formatCode>
                <c:ptCount val="24"/>
                <c:pt idx="12">
                  <c:v>720.94100000000003</c:v>
                </c:pt>
                <c:pt idx="13">
                  <c:v>723.919823464091</c:v>
                </c:pt>
                <c:pt idx="14">
                  <c:v>942.13845413907109</c:v>
                </c:pt>
                <c:pt idx="15">
                  <c:v>717.56022284190783</c:v>
                </c:pt>
                <c:pt idx="16">
                  <c:v>579.32306099119376</c:v>
                </c:pt>
                <c:pt idx="17">
                  <c:v>586.267105131677</c:v>
                </c:pt>
                <c:pt idx="18">
                  <c:v>372.41964234772911</c:v>
                </c:pt>
                <c:pt idx="19">
                  <c:v>457.36093662940596</c:v>
                </c:pt>
                <c:pt idx="20">
                  <c:v>683.81101155584327</c:v>
                </c:pt>
                <c:pt idx="21">
                  <c:v>1020.0655676175829</c:v>
                </c:pt>
                <c:pt idx="22">
                  <c:v>1033.3668695360568</c:v>
                </c:pt>
                <c:pt idx="23">
                  <c:v>1104.7375806321611</c:v>
                </c:pt>
              </c:numCache>
            </c:numRef>
          </c:val>
          <c:smooth val="0"/>
        </c:ser>
        <c:dLbls>
          <c:showLegendKey val="0"/>
          <c:showVal val="0"/>
          <c:showCatName val="0"/>
          <c:showSerName val="0"/>
          <c:showPercent val="0"/>
          <c:showBubbleSize val="0"/>
        </c:dLbls>
        <c:marker val="1"/>
        <c:smooth val="0"/>
        <c:axId val="-1040058384"/>
        <c:axId val="-1040050224"/>
      </c:lineChart>
      <c:dateAx>
        <c:axId val="-1040058384"/>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40050224"/>
        <c:crosses val="autoZero"/>
        <c:auto val="1"/>
        <c:lblOffset val="100"/>
        <c:baseTimeUnit val="months"/>
      </c:dateAx>
      <c:valAx>
        <c:axId val="-10400502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40058384"/>
        <c:crosses val="autoZero"/>
        <c:crossBetween val="between"/>
        <c:majorUnit val="2000"/>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chemeClr val="bg1"/>
    </a:solid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b="1" dirty="0" smtClean="0">
                <a:solidFill>
                  <a:schemeClr val="bg1">
                    <a:lumMod val="50000"/>
                  </a:schemeClr>
                </a:solidFill>
              </a:rPr>
              <a:t>Secondary Total Lifting –Observed Value Vs Predicted Values – for Rural</a:t>
            </a:r>
            <a:r>
              <a:rPr lang="en-US" sz="1400" b="1" baseline="0" dirty="0" smtClean="0">
                <a:solidFill>
                  <a:schemeClr val="bg1">
                    <a:lumMod val="50000"/>
                  </a:schemeClr>
                </a:solidFill>
              </a:rPr>
              <a:t> Cultivator</a:t>
            </a:r>
            <a:r>
              <a:rPr lang="en-US" sz="1400" b="1" dirty="0" smtClean="0">
                <a:solidFill>
                  <a:schemeClr val="bg1">
                    <a:lumMod val="50000"/>
                  </a:schemeClr>
                </a:solidFill>
              </a:rPr>
              <a:t> Cluster</a:t>
            </a:r>
            <a:endParaRPr lang="en-US" sz="1400" b="1" dirty="0">
              <a:solidFill>
                <a:schemeClr val="bg1">
                  <a:lumMod val="50000"/>
                </a:schemeClr>
              </a:solidFill>
            </a:endParaRPr>
          </a:p>
        </c:rich>
      </c:tx>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SecondarySales</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Sheet1!$A$2:$A$25</c:f>
              <c:numCache>
                <c:formatCode>mmm\-yy</c:formatCode>
                <c:ptCount val="24"/>
                <c:pt idx="0">
                  <c:v>42095</c:v>
                </c:pt>
                <c:pt idx="1">
                  <c:v>42125</c:v>
                </c:pt>
                <c:pt idx="2">
                  <c:v>42156</c:v>
                </c:pt>
                <c:pt idx="3">
                  <c:v>42186</c:v>
                </c:pt>
                <c:pt idx="4">
                  <c:v>42217</c:v>
                </c:pt>
                <c:pt idx="5">
                  <c:v>42248</c:v>
                </c:pt>
                <c:pt idx="6">
                  <c:v>42278</c:v>
                </c:pt>
                <c:pt idx="7">
                  <c:v>42309</c:v>
                </c:pt>
                <c:pt idx="8">
                  <c:v>42339</c:v>
                </c:pt>
                <c:pt idx="9">
                  <c:v>42370</c:v>
                </c:pt>
                <c:pt idx="10">
                  <c:v>42401</c:v>
                </c:pt>
                <c:pt idx="11">
                  <c:v>42430</c:v>
                </c:pt>
                <c:pt idx="12">
                  <c:v>42461</c:v>
                </c:pt>
                <c:pt idx="13">
                  <c:v>42491</c:v>
                </c:pt>
                <c:pt idx="14">
                  <c:v>42522</c:v>
                </c:pt>
                <c:pt idx="15">
                  <c:v>42552</c:v>
                </c:pt>
                <c:pt idx="16">
                  <c:v>42583</c:v>
                </c:pt>
                <c:pt idx="17">
                  <c:v>42614</c:v>
                </c:pt>
                <c:pt idx="18">
                  <c:v>42644</c:v>
                </c:pt>
                <c:pt idx="19">
                  <c:v>42675</c:v>
                </c:pt>
                <c:pt idx="20">
                  <c:v>42705</c:v>
                </c:pt>
                <c:pt idx="21">
                  <c:v>42736</c:v>
                </c:pt>
                <c:pt idx="22">
                  <c:v>42767</c:v>
                </c:pt>
                <c:pt idx="23">
                  <c:v>42795</c:v>
                </c:pt>
              </c:numCache>
            </c:numRef>
          </c:cat>
          <c:val>
            <c:numRef>
              <c:f>Sheet1!$B$2:$B$25</c:f>
              <c:numCache>
                <c:formatCode>General</c:formatCode>
                <c:ptCount val="24"/>
                <c:pt idx="0">
                  <c:v>1238.9349999999999</c:v>
                </c:pt>
                <c:pt idx="1">
                  <c:v>1344.037</c:v>
                </c:pt>
                <c:pt idx="2">
                  <c:v>1327.0813000000001</c:v>
                </c:pt>
                <c:pt idx="3">
                  <c:v>1436.492</c:v>
                </c:pt>
                <c:pt idx="4">
                  <c:v>1498.2739999999999</c:v>
                </c:pt>
                <c:pt idx="5">
                  <c:v>1673.001</c:v>
                </c:pt>
                <c:pt idx="6">
                  <c:v>846.76199999999994</c:v>
                </c:pt>
                <c:pt idx="7">
                  <c:v>748.94299999999998</c:v>
                </c:pt>
                <c:pt idx="8">
                  <c:v>768.30700000000002</c:v>
                </c:pt>
                <c:pt idx="9">
                  <c:v>852.99400000000003</c:v>
                </c:pt>
                <c:pt idx="10">
                  <c:v>1160.5730000000001</c:v>
                </c:pt>
                <c:pt idx="11">
                  <c:v>1123.193</c:v>
                </c:pt>
                <c:pt idx="12">
                  <c:v>1251.2650000000001</c:v>
                </c:pt>
                <c:pt idx="13">
                  <c:v>1094.4949999999999</c:v>
                </c:pt>
                <c:pt idx="14">
                  <c:v>1296.202</c:v>
                </c:pt>
                <c:pt idx="15">
                  <c:v>1623.865</c:v>
                </c:pt>
                <c:pt idx="16">
                  <c:v>1372.4770000000001</c:v>
                </c:pt>
                <c:pt idx="17">
                  <c:v>1167.51</c:v>
                </c:pt>
                <c:pt idx="18">
                  <c:v>924.30499999999995</c:v>
                </c:pt>
                <c:pt idx="19">
                  <c:v>649.52300000000002</c:v>
                </c:pt>
                <c:pt idx="20">
                  <c:v>1175.0239999999999</c:v>
                </c:pt>
                <c:pt idx="21">
                  <c:v>1247.644</c:v>
                </c:pt>
                <c:pt idx="22">
                  <c:v>1338.9870000000001</c:v>
                </c:pt>
                <c:pt idx="23">
                  <c:v>1549.5450000000001</c:v>
                </c:pt>
              </c:numCache>
            </c:numRef>
          </c:val>
          <c:smooth val="0"/>
        </c:ser>
        <c:ser>
          <c:idx val="1"/>
          <c:order val="1"/>
          <c:tx>
            <c:strRef>
              <c:f>Sheet1!$C$1</c:f>
              <c:strCache>
                <c:ptCount val="1"/>
                <c:pt idx="0">
                  <c:v>Predicted Sales</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numRef>
              <c:f>Sheet1!$A$2:$A$25</c:f>
              <c:numCache>
                <c:formatCode>mmm\-yy</c:formatCode>
                <c:ptCount val="24"/>
                <c:pt idx="0">
                  <c:v>42095</c:v>
                </c:pt>
                <c:pt idx="1">
                  <c:v>42125</c:v>
                </c:pt>
                <c:pt idx="2">
                  <c:v>42156</c:v>
                </c:pt>
                <c:pt idx="3">
                  <c:v>42186</c:v>
                </c:pt>
                <c:pt idx="4">
                  <c:v>42217</c:v>
                </c:pt>
                <c:pt idx="5">
                  <c:v>42248</c:v>
                </c:pt>
                <c:pt idx="6">
                  <c:v>42278</c:v>
                </c:pt>
                <c:pt idx="7">
                  <c:v>42309</c:v>
                </c:pt>
                <c:pt idx="8">
                  <c:v>42339</c:v>
                </c:pt>
                <c:pt idx="9">
                  <c:v>42370</c:v>
                </c:pt>
                <c:pt idx="10">
                  <c:v>42401</c:v>
                </c:pt>
                <c:pt idx="11">
                  <c:v>42430</c:v>
                </c:pt>
                <c:pt idx="12">
                  <c:v>42461</c:v>
                </c:pt>
                <c:pt idx="13">
                  <c:v>42491</c:v>
                </c:pt>
                <c:pt idx="14">
                  <c:v>42522</c:v>
                </c:pt>
                <c:pt idx="15">
                  <c:v>42552</c:v>
                </c:pt>
                <c:pt idx="16">
                  <c:v>42583</c:v>
                </c:pt>
                <c:pt idx="17">
                  <c:v>42614</c:v>
                </c:pt>
                <c:pt idx="18">
                  <c:v>42644</c:v>
                </c:pt>
                <c:pt idx="19">
                  <c:v>42675</c:v>
                </c:pt>
                <c:pt idx="20">
                  <c:v>42705</c:v>
                </c:pt>
                <c:pt idx="21">
                  <c:v>42736</c:v>
                </c:pt>
                <c:pt idx="22">
                  <c:v>42767</c:v>
                </c:pt>
                <c:pt idx="23">
                  <c:v>42795</c:v>
                </c:pt>
              </c:numCache>
            </c:numRef>
          </c:cat>
          <c:val>
            <c:numRef>
              <c:f>Sheet1!$C$2:$C$25</c:f>
              <c:numCache>
                <c:formatCode>General</c:formatCode>
                <c:ptCount val="24"/>
                <c:pt idx="12">
                  <c:v>1238.9349999999999</c:v>
                </c:pt>
                <c:pt idx="13">
                  <c:v>1345.8448866596787</c:v>
                </c:pt>
                <c:pt idx="14">
                  <c:v>1296.2152610405499</c:v>
                </c:pt>
                <c:pt idx="15">
                  <c:v>1385.8908312746687</c:v>
                </c:pt>
                <c:pt idx="16">
                  <c:v>1461.1155487903598</c:v>
                </c:pt>
                <c:pt idx="17">
                  <c:v>1616.842205449499</c:v>
                </c:pt>
                <c:pt idx="18">
                  <c:v>783.56191042304351</c:v>
                </c:pt>
                <c:pt idx="19">
                  <c:v>692.70384048993117</c:v>
                </c:pt>
                <c:pt idx="20">
                  <c:v>695.64767166048102</c:v>
                </c:pt>
                <c:pt idx="21">
                  <c:v>830.9674111061081</c:v>
                </c:pt>
                <c:pt idx="22">
                  <c:v>1161.4548559804896</c:v>
                </c:pt>
                <c:pt idx="23">
                  <c:v>1153.9037564308526</c:v>
                </c:pt>
              </c:numCache>
            </c:numRef>
          </c:val>
          <c:smooth val="0"/>
        </c:ser>
        <c:dLbls>
          <c:showLegendKey val="0"/>
          <c:showVal val="0"/>
          <c:showCatName val="0"/>
          <c:showSerName val="0"/>
          <c:showPercent val="0"/>
          <c:showBubbleSize val="0"/>
        </c:dLbls>
        <c:marker val="1"/>
        <c:smooth val="0"/>
        <c:axId val="-1040047504"/>
        <c:axId val="-1040048592"/>
      </c:lineChart>
      <c:dateAx>
        <c:axId val="-1040047504"/>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40048592"/>
        <c:crosses val="autoZero"/>
        <c:auto val="1"/>
        <c:lblOffset val="100"/>
        <c:baseTimeUnit val="months"/>
      </c:dateAx>
      <c:valAx>
        <c:axId val="-10400485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40047504"/>
        <c:crosses val="autoZero"/>
        <c:crossBetween val="between"/>
        <c:majorUnit val="500"/>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chemeClr val="bg1"/>
    </a:solid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b="1" dirty="0" smtClean="0"/>
              <a:t>Geo Profiling</a:t>
            </a:r>
            <a:r>
              <a:rPr lang="en-IN" b="1" baseline="0" dirty="0" smtClean="0"/>
              <a:t> Segments - Properties</a:t>
            </a:r>
            <a:endParaRPr lang="en-IN" b="1" dirty="0" smtClean="0"/>
          </a:p>
          <a:p>
            <a:pPr>
              <a:defRPr/>
            </a:pPr>
            <a:r>
              <a:rPr lang="en-IN" dirty="0" smtClean="0"/>
              <a:t>Priority States - Districts</a:t>
            </a:r>
            <a:endParaRPr lang="en-IN" dirty="0"/>
          </a:p>
        </c:rich>
      </c:tx>
      <c:layout>
        <c:manualLayout>
          <c:xMode val="edge"/>
          <c:yMode val="edge"/>
          <c:x val="0.27922142483119228"/>
          <c:y val="1.9209951662517957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1.2025569959936861E-2"/>
          <c:y val="0.13680687242323203"/>
          <c:w val="0.77706702288292939"/>
          <c:h val="0.82797488286215171"/>
        </c:manualLayout>
      </c:layout>
      <c:barChart>
        <c:barDir val="col"/>
        <c:grouping val="clustered"/>
        <c:varyColors val="0"/>
        <c:ser>
          <c:idx val="0"/>
          <c:order val="0"/>
          <c:tx>
            <c:strRef>
              <c:f>Sheet1!$B$1</c:f>
              <c:strCache>
                <c:ptCount val="1"/>
                <c:pt idx="0">
                  <c:v>Affluence</c:v>
                </c:pt>
              </c:strCache>
            </c:strRef>
          </c:tx>
          <c:spPr>
            <a:solidFill>
              <a:schemeClr val="accent1"/>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Sheet1!$B$2:$B$6</c:f>
              <c:numCache>
                <c:formatCode>General</c:formatCode>
                <c:ptCount val="5"/>
                <c:pt idx="0">
                  <c:v>-0.37833</c:v>
                </c:pt>
                <c:pt idx="1">
                  <c:v>-0.21403</c:v>
                </c:pt>
                <c:pt idx="2">
                  <c:v>0.19492599999999999</c:v>
                </c:pt>
                <c:pt idx="3">
                  <c:v>0.49029200000000001</c:v>
                </c:pt>
                <c:pt idx="4">
                  <c:v>0.977796</c:v>
                </c:pt>
              </c:numCache>
            </c:numRef>
          </c:val>
        </c:ser>
        <c:ser>
          <c:idx val="1"/>
          <c:order val="1"/>
          <c:tx>
            <c:strRef>
              <c:f>Sheet1!$C$1</c:f>
              <c:strCache>
                <c:ptCount val="1"/>
                <c:pt idx="0">
                  <c:v>Well Irrigated and Cropped</c:v>
                </c:pt>
              </c:strCache>
            </c:strRef>
          </c:tx>
          <c:spPr>
            <a:solidFill>
              <a:schemeClr val="accent2"/>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Sheet1!$C$2:$C$6</c:f>
              <c:numCache>
                <c:formatCode>General</c:formatCode>
                <c:ptCount val="5"/>
                <c:pt idx="0">
                  <c:v>0.41645500000000002</c:v>
                </c:pt>
                <c:pt idx="1">
                  <c:v>-0.19714000000000001</c:v>
                </c:pt>
                <c:pt idx="2">
                  <c:v>4.4803999999999997E-2</c:v>
                </c:pt>
                <c:pt idx="3">
                  <c:v>-0.52381999999999995</c:v>
                </c:pt>
                <c:pt idx="4">
                  <c:v>-0.78771999999999998</c:v>
                </c:pt>
              </c:numCache>
            </c:numRef>
          </c:val>
        </c:ser>
        <c:ser>
          <c:idx val="2"/>
          <c:order val="2"/>
          <c:tx>
            <c:strRef>
              <c:f>Sheet1!$D$1</c:f>
              <c:strCache>
                <c:ptCount val="1"/>
                <c:pt idx="0">
                  <c:v>Rural Cultivator population</c:v>
                </c:pt>
              </c:strCache>
            </c:strRef>
          </c:tx>
          <c:spPr>
            <a:solidFill>
              <a:schemeClr val="accent3"/>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Sheet1!$D$2:$D$6</c:f>
              <c:numCache>
                <c:formatCode>General</c:formatCode>
                <c:ptCount val="5"/>
                <c:pt idx="0">
                  <c:v>-0.28452</c:v>
                </c:pt>
                <c:pt idx="1">
                  <c:v>-2.282E-2</c:v>
                </c:pt>
                <c:pt idx="2">
                  <c:v>0.351746</c:v>
                </c:pt>
                <c:pt idx="3">
                  <c:v>1.8117209999999999</c:v>
                </c:pt>
                <c:pt idx="4">
                  <c:v>-0.73534999999999995</c:v>
                </c:pt>
              </c:numCache>
            </c:numRef>
          </c:val>
        </c:ser>
        <c:ser>
          <c:idx val="3"/>
          <c:order val="3"/>
          <c:tx>
            <c:strRef>
              <c:f>Sheet1!$E$1</c:f>
              <c:strCache>
                <c:ptCount val="1"/>
                <c:pt idx="0">
                  <c:v>Rainfall</c:v>
                </c:pt>
              </c:strCache>
            </c:strRef>
          </c:tx>
          <c:spPr>
            <a:solidFill>
              <a:schemeClr val="accent4"/>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Sheet1!$E$2:$E$6</c:f>
              <c:numCache>
                <c:formatCode>General</c:formatCode>
                <c:ptCount val="5"/>
                <c:pt idx="0">
                  <c:v>-0.39232</c:v>
                </c:pt>
                <c:pt idx="1">
                  <c:v>-0.46012999999999998</c:v>
                </c:pt>
                <c:pt idx="2">
                  <c:v>0.35480699999999998</c:v>
                </c:pt>
                <c:pt idx="3">
                  <c:v>-0.37974999999999998</c:v>
                </c:pt>
                <c:pt idx="4">
                  <c:v>1.830368</c:v>
                </c:pt>
              </c:numCache>
            </c:numRef>
          </c:val>
        </c:ser>
        <c:ser>
          <c:idx val="4"/>
          <c:order val="4"/>
          <c:tx>
            <c:strRef>
              <c:f>Sheet1!$F$1</c:f>
              <c:strCache>
                <c:ptCount val="1"/>
                <c:pt idx="0">
                  <c:v>High Non food crop irrigated area</c:v>
                </c:pt>
              </c:strCache>
            </c:strRef>
          </c:tx>
          <c:spPr>
            <a:solidFill>
              <a:schemeClr val="accent5"/>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Sheet1!$F$2:$F$6</c:f>
              <c:numCache>
                <c:formatCode>General</c:formatCode>
                <c:ptCount val="5"/>
                <c:pt idx="0">
                  <c:v>-0.62544</c:v>
                </c:pt>
                <c:pt idx="1">
                  <c:v>1.3058940000000001</c:v>
                </c:pt>
                <c:pt idx="2">
                  <c:v>-0.17963000000000001</c:v>
                </c:pt>
                <c:pt idx="3">
                  <c:v>0.13786200000000001</c:v>
                </c:pt>
                <c:pt idx="4">
                  <c:v>0.45117099999999999</c:v>
                </c:pt>
              </c:numCache>
            </c:numRef>
          </c:val>
        </c:ser>
        <c:ser>
          <c:idx val="5"/>
          <c:order val="5"/>
          <c:tx>
            <c:strRef>
              <c:f>Sheet1!$G$1</c:f>
              <c:strCache>
                <c:ptCount val="1"/>
                <c:pt idx="0">
                  <c:v>Area Irrigated by Canal</c:v>
                </c:pt>
              </c:strCache>
            </c:strRef>
          </c:tx>
          <c:spPr>
            <a:solidFill>
              <a:schemeClr val="accent6"/>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Sheet1!$G$2:$G$6</c:f>
              <c:numCache>
                <c:formatCode>General</c:formatCode>
                <c:ptCount val="5"/>
                <c:pt idx="0">
                  <c:v>-8.3699999999999997E-2</c:v>
                </c:pt>
                <c:pt idx="1">
                  <c:v>-0.34826000000000001</c:v>
                </c:pt>
                <c:pt idx="2">
                  <c:v>1.2793350000000001</c:v>
                </c:pt>
                <c:pt idx="3">
                  <c:v>-0.11973</c:v>
                </c:pt>
                <c:pt idx="4">
                  <c:v>-0.50561999999999996</c:v>
                </c:pt>
              </c:numCache>
            </c:numRef>
          </c:val>
        </c:ser>
        <c:ser>
          <c:idx val="6"/>
          <c:order val="6"/>
          <c:tx>
            <c:strRef>
              <c:f>Sheet1!$H$1</c:f>
              <c:strCache>
                <c:ptCount val="1"/>
                <c:pt idx="0">
                  <c:v>Areas irrigated by alternate sources</c:v>
                </c:pt>
              </c:strCache>
            </c:strRef>
          </c:tx>
          <c:spPr>
            <a:solidFill>
              <a:schemeClr val="accent1">
                <a:lumMod val="60000"/>
              </a:schemeClr>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Sheet1!$H$2:$H$6</c:f>
              <c:numCache>
                <c:formatCode>General</c:formatCode>
                <c:ptCount val="5"/>
                <c:pt idx="0">
                  <c:v>0.26278699999999999</c:v>
                </c:pt>
                <c:pt idx="1">
                  <c:v>-8.0979999999999996E-2</c:v>
                </c:pt>
                <c:pt idx="2">
                  <c:v>-0.21328</c:v>
                </c:pt>
                <c:pt idx="3">
                  <c:v>-0.27317999999999998</c:v>
                </c:pt>
                <c:pt idx="4">
                  <c:v>-0.34521000000000002</c:v>
                </c:pt>
              </c:numCache>
            </c:numRef>
          </c:val>
        </c:ser>
        <c:ser>
          <c:idx val="7"/>
          <c:order val="7"/>
          <c:tx>
            <c:strRef>
              <c:f>Sheet1!$I$1</c:f>
              <c:strCache>
                <c:ptCount val="1"/>
                <c:pt idx="0">
                  <c:v>Tank Irrigated area</c:v>
                </c:pt>
              </c:strCache>
            </c:strRef>
          </c:tx>
          <c:spPr>
            <a:solidFill>
              <a:schemeClr val="accent2">
                <a:lumMod val="60000"/>
              </a:schemeClr>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Sheet1!$I$2:$I$6</c:f>
              <c:numCache>
                <c:formatCode>General</c:formatCode>
                <c:ptCount val="5"/>
                <c:pt idx="0">
                  <c:v>-0.17978</c:v>
                </c:pt>
                <c:pt idx="1">
                  <c:v>-0.25788</c:v>
                </c:pt>
                <c:pt idx="2">
                  <c:v>1.099383</c:v>
                </c:pt>
                <c:pt idx="3">
                  <c:v>-6.1490000000000003E-2</c:v>
                </c:pt>
                <c:pt idx="4">
                  <c:v>-0.15964</c:v>
                </c:pt>
              </c:numCache>
            </c:numRef>
          </c:val>
        </c:ser>
        <c:ser>
          <c:idx val="8"/>
          <c:order val="8"/>
          <c:tx>
            <c:strRef>
              <c:f>Sheet1!$J$1</c:f>
              <c:strCache>
                <c:ptCount val="1"/>
                <c:pt idx="0">
                  <c:v>Tractor Buying Customers</c:v>
                </c:pt>
              </c:strCache>
            </c:strRef>
          </c:tx>
          <c:spPr>
            <a:solidFill>
              <a:schemeClr val="accent3">
                <a:lumMod val="60000"/>
              </a:schemeClr>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Sheet1!$J$2:$J$6</c:f>
              <c:numCache>
                <c:formatCode>General</c:formatCode>
                <c:ptCount val="5"/>
                <c:pt idx="0">
                  <c:v>-0.29066999999999998</c:v>
                </c:pt>
                <c:pt idx="1">
                  <c:v>8.1365999999999994E-2</c:v>
                </c:pt>
                <c:pt idx="2">
                  <c:v>0.11928999999999999</c:v>
                </c:pt>
                <c:pt idx="3">
                  <c:v>1.922714</c:v>
                </c:pt>
                <c:pt idx="4">
                  <c:v>-0.69255999999999995</c:v>
                </c:pt>
              </c:numCache>
            </c:numRef>
          </c:val>
        </c:ser>
        <c:dLbls>
          <c:showLegendKey val="0"/>
          <c:showVal val="0"/>
          <c:showCatName val="0"/>
          <c:showSerName val="0"/>
          <c:showPercent val="0"/>
          <c:showBubbleSize val="0"/>
        </c:dLbls>
        <c:gapWidth val="150"/>
        <c:axId val="-1040051856"/>
        <c:axId val="-1040052944"/>
      </c:barChart>
      <c:catAx>
        <c:axId val="-1040051856"/>
        <c:scaling>
          <c:orientation val="minMax"/>
        </c:scaling>
        <c:delete val="1"/>
        <c:axPos val="b"/>
        <c:numFmt formatCode="General" sourceLinked="1"/>
        <c:majorTickMark val="none"/>
        <c:minorTickMark val="none"/>
        <c:tickLblPos val="nextTo"/>
        <c:crossAx val="-1040052944"/>
        <c:crosses val="autoZero"/>
        <c:auto val="1"/>
        <c:lblAlgn val="ctr"/>
        <c:lblOffset val="100"/>
        <c:noMultiLvlLbl val="0"/>
      </c:catAx>
      <c:valAx>
        <c:axId val="-1040052944"/>
        <c:scaling>
          <c:orientation val="minMax"/>
        </c:scaling>
        <c:delete val="1"/>
        <c:axPos val="l"/>
        <c:numFmt formatCode="General" sourceLinked="1"/>
        <c:majorTickMark val="none"/>
        <c:minorTickMark val="none"/>
        <c:tickLblPos val="nextTo"/>
        <c:crossAx val="-1040051856"/>
        <c:crosses val="autoZero"/>
        <c:crossBetween val="between"/>
      </c:valAx>
      <c:spPr>
        <a:noFill/>
        <a:ln>
          <a:noFill/>
        </a:ln>
        <a:effectLst/>
      </c:spPr>
    </c:plotArea>
    <c:legend>
      <c:legendPos val="r"/>
      <c:layout>
        <c:manualLayout>
          <c:xMode val="edge"/>
          <c:yMode val="edge"/>
          <c:x val="0.80316999877678352"/>
          <c:y val="0.19735729552115691"/>
          <c:w val="0.19573676759049499"/>
          <c:h val="0.80097632940680585"/>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2025569959936861E-2"/>
          <c:y val="0.13680687242323203"/>
          <c:w val="0.77706702288292939"/>
          <c:h val="0.82797488286215171"/>
        </c:manualLayout>
      </c:layout>
      <c:barChart>
        <c:barDir val="col"/>
        <c:grouping val="clustered"/>
        <c:varyColors val="0"/>
        <c:ser>
          <c:idx val="0"/>
          <c:order val="0"/>
          <c:tx>
            <c:strRef>
              <c:f>Sheet1!$B$1</c:f>
              <c:strCache>
                <c:ptCount val="1"/>
                <c:pt idx="0">
                  <c:v>Activity Hub</c:v>
                </c:pt>
              </c:strCache>
            </c:strRef>
          </c:tx>
          <c:spPr>
            <a:solidFill>
              <a:schemeClr val="accent1"/>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Sheet1!$B$2:$B$6</c:f>
              <c:numCache>
                <c:formatCode>General</c:formatCode>
                <c:ptCount val="5"/>
                <c:pt idx="0">
                  <c:v>-0.37833</c:v>
                </c:pt>
                <c:pt idx="1">
                  <c:v>-0.21403</c:v>
                </c:pt>
                <c:pt idx="2">
                  <c:v>0.19492599999999999</c:v>
                </c:pt>
                <c:pt idx="3">
                  <c:v>0.49029200000000001</c:v>
                </c:pt>
                <c:pt idx="4">
                  <c:v>0.977796</c:v>
                </c:pt>
              </c:numCache>
            </c:numRef>
          </c:val>
        </c:ser>
        <c:ser>
          <c:idx val="1"/>
          <c:order val="1"/>
          <c:tx>
            <c:strRef>
              <c:f>Sheet1!$C$1</c:f>
              <c:strCache>
                <c:ptCount val="1"/>
                <c:pt idx="0">
                  <c:v>Well Irrigated and Cropped</c:v>
                </c:pt>
              </c:strCache>
            </c:strRef>
          </c:tx>
          <c:spPr>
            <a:solidFill>
              <a:schemeClr val="accent2"/>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Sheet1!$C$2:$C$6</c:f>
              <c:numCache>
                <c:formatCode>General</c:formatCode>
                <c:ptCount val="5"/>
                <c:pt idx="0">
                  <c:v>0.41645500000000002</c:v>
                </c:pt>
                <c:pt idx="1">
                  <c:v>-0.19714000000000001</c:v>
                </c:pt>
                <c:pt idx="2">
                  <c:v>4.4803999999999997E-2</c:v>
                </c:pt>
                <c:pt idx="3">
                  <c:v>-0.52381999999999995</c:v>
                </c:pt>
                <c:pt idx="4">
                  <c:v>-0.78771999999999998</c:v>
                </c:pt>
              </c:numCache>
            </c:numRef>
          </c:val>
        </c:ser>
        <c:ser>
          <c:idx val="2"/>
          <c:order val="2"/>
          <c:tx>
            <c:strRef>
              <c:f>Sheet1!$D$1</c:f>
              <c:strCache>
                <c:ptCount val="1"/>
                <c:pt idx="0">
                  <c:v>Rural Cultivator population</c:v>
                </c:pt>
              </c:strCache>
            </c:strRef>
          </c:tx>
          <c:spPr>
            <a:solidFill>
              <a:schemeClr val="accent3"/>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Sheet1!$D$2:$D$6</c:f>
              <c:numCache>
                <c:formatCode>General</c:formatCode>
                <c:ptCount val="5"/>
                <c:pt idx="0">
                  <c:v>-0.28452</c:v>
                </c:pt>
                <c:pt idx="1">
                  <c:v>-2.282E-2</c:v>
                </c:pt>
                <c:pt idx="2">
                  <c:v>0.351746</c:v>
                </c:pt>
                <c:pt idx="3">
                  <c:v>1.8117209999999999</c:v>
                </c:pt>
                <c:pt idx="4">
                  <c:v>-0.73534999999999995</c:v>
                </c:pt>
              </c:numCache>
            </c:numRef>
          </c:val>
        </c:ser>
        <c:ser>
          <c:idx val="3"/>
          <c:order val="3"/>
          <c:tx>
            <c:strRef>
              <c:f>Sheet1!$E$1</c:f>
              <c:strCache>
                <c:ptCount val="1"/>
                <c:pt idx="0">
                  <c:v>Rainfall</c:v>
                </c:pt>
              </c:strCache>
            </c:strRef>
          </c:tx>
          <c:spPr>
            <a:solidFill>
              <a:schemeClr val="accent4"/>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Sheet1!$E$2:$E$6</c:f>
              <c:numCache>
                <c:formatCode>General</c:formatCode>
                <c:ptCount val="5"/>
                <c:pt idx="0">
                  <c:v>-0.39232</c:v>
                </c:pt>
                <c:pt idx="1">
                  <c:v>-0.46012999999999998</c:v>
                </c:pt>
                <c:pt idx="2">
                  <c:v>0.35480699999999998</c:v>
                </c:pt>
                <c:pt idx="3">
                  <c:v>-0.37974999999999998</c:v>
                </c:pt>
                <c:pt idx="4">
                  <c:v>1.830368</c:v>
                </c:pt>
              </c:numCache>
            </c:numRef>
          </c:val>
        </c:ser>
        <c:ser>
          <c:idx val="4"/>
          <c:order val="4"/>
          <c:tx>
            <c:strRef>
              <c:f>Sheet1!$F$1</c:f>
              <c:strCache>
                <c:ptCount val="1"/>
                <c:pt idx="0">
                  <c:v>High Non food crop irrigated area</c:v>
                </c:pt>
              </c:strCache>
            </c:strRef>
          </c:tx>
          <c:spPr>
            <a:solidFill>
              <a:schemeClr val="accent5"/>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Sheet1!$F$2:$F$6</c:f>
              <c:numCache>
                <c:formatCode>General</c:formatCode>
                <c:ptCount val="5"/>
                <c:pt idx="0">
                  <c:v>-0.62544</c:v>
                </c:pt>
                <c:pt idx="1">
                  <c:v>1.3058940000000001</c:v>
                </c:pt>
                <c:pt idx="2">
                  <c:v>-0.17963000000000001</c:v>
                </c:pt>
                <c:pt idx="3">
                  <c:v>0.13786200000000001</c:v>
                </c:pt>
                <c:pt idx="4">
                  <c:v>0.45117099999999999</c:v>
                </c:pt>
              </c:numCache>
            </c:numRef>
          </c:val>
        </c:ser>
        <c:ser>
          <c:idx val="5"/>
          <c:order val="5"/>
          <c:tx>
            <c:strRef>
              <c:f>Sheet1!$G$1</c:f>
              <c:strCache>
                <c:ptCount val="1"/>
                <c:pt idx="0">
                  <c:v>Tractor Buying Customers</c:v>
                </c:pt>
              </c:strCache>
            </c:strRef>
          </c:tx>
          <c:spPr>
            <a:solidFill>
              <a:schemeClr val="accent6"/>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Sheet1!$G$2:$G$6</c:f>
              <c:numCache>
                <c:formatCode>General</c:formatCode>
                <c:ptCount val="5"/>
                <c:pt idx="0">
                  <c:v>-0.29066999999999998</c:v>
                </c:pt>
                <c:pt idx="1">
                  <c:v>8.1365999999999994E-2</c:v>
                </c:pt>
                <c:pt idx="2">
                  <c:v>0.11928999999999999</c:v>
                </c:pt>
                <c:pt idx="3">
                  <c:v>1.922714</c:v>
                </c:pt>
                <c:pt idx="4">
                  <c:v>-0.69255999999999995</c:v>
                </c:pt>
              </c:numCache>
            </c:numRef>
          </c:val>
        </c:ser>
        <c:dLbls>
          <c:showLegendKey val="0"/>
          <c:showVal val="0"/>
          <c:showCatName val="0"/>
          <c:showSerName val="0"/>
          <c:showPercent val="0"/>
          <c:showBubbleSize val="0"/>
        </c:dLbls>
        <c:gapWidth val="150"/>
        <c:axId val="-1040055664"/>
        <c:axId val="-1040055120"/>
      </c:barChart>
      <c:catAx>
        <c:axId val="-1040055664"/>
        <c:scaling>
          <c:orientation val="minMax"/>
        </c:scaling>
        <c:delete val="1"/>
        <c:axPos val="b"/>
        <c:numFmt formatCode="General" sourceLinked="1"/>
        <c:majorTickMark val="none"/>
        <c:minorTickMark val="none"/>
        <c:tickLblPos val="nextTo"/>
        <c:crossAx val="-1040055120"/>
        <c:crosses val="autoZero"/>
        <c:auto val="1"/>
        <c:lblAlgn val="ctr"/>
        <c:lblOffset val="100"/>
        <c:noMultiLvlLbl val="0"/>
      </c:catAx>
      <c:valAx>
        <c:axId val="-1040055120"/>
        <c:scaling>
          <c:orientation val="minMax"/>
        </c:scaling>
        <c:delete val="1"/>
        <c:axPos val="l"/>
        <c:numFmt formatCode="General" sourceLinked="1"/>
        <c:majorTickMark val="none"/>
        <c:minorTickMark val="none"/>
        <c:tickLblPos val="nextTo"/>
        <c:crossAx val="-1040055664"/>
        <c:crosses val="autoZero"/>
        <c:crossBetween val="between"/>
      </c:valAx>
      <c:spPr>
        <a:noFill/>
        <a:ln>
          <a:noFill/>
        </a:ln>
        <a:effectLst/>
      </c:spPr>
    </c:plotArea>
    <c:legend>
      <c:legendPos val="r"/>
      <c:layout>
        <c:manualLayout>
          <c:xMode val="edge"/>
          <c:yMode val="edge"/>
          <c:x val="0.80316999877678352"/>
          <c:y val="0.19735729552115691"/>
          <c:w val="0.19573676759049499"/>
          <c:h val="0.80097632940680585"/>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2025569959936861E-2"/>
          <c:y val="0.13680687242323203"/>
          <c:w val="0.77706702288292939"/>
          <c:h val="0.82797488286215171"/>
        </c:manualLayout>
      </c:layout>
      <c:barChart>
        <c:barDir val="col"/>
        <c:grouping val="clustered"/>
        <c:varyColors val="0"/>
        <c:ser>
          <c:idx val="0"/>
          <c:order val="0"/>
          <c:tx>
            <c:strRef>
              <c:f>Sheet1!$B$1</c:f>
              <c:strCache>
                <c:ptCount val="1"/>
                <c:pt idx="0">
                  <c:v>Activity Hub</c:v>
                </c:pt>
              </c:strCache>
            </c:strRef>
          </c:tx>
          <c:spPr>
            <a:solidFill>
              <a:schemeClr val="accent1"/>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Sheet1!$B$2:$B$6</c:f>
              <c:numCache>
                <c:formatCode>General</c:formatCode>
                <c:ptCount val="5"/>
                <c:pt idx="0">
                  <c:v>-0.37833</c:v>
                </c:pt>
                <c:pt idx="1">
                  <c:v>-0.21403</c:v>
                </c:pt>
                <c:pt idx="2">
                  <c:v>0.19492599999999999</c:v>
                </c:pt>
                <c:pt idx="3">
                  <c:v>0.49029200000000001</c:v>
                </c:pt>
                <c:pt idx="4">
                  <c:v>0.977796</c:v>
                </c:pt>
              </c:numCache>
            </c:numRef>
          </c:val>
        </c:ser>
        <c:ser>
          <c:idx val="1"/>
          <c:order val="1"/>
          <c:tx>
            <c:strRef>
              <c:f>Sheet1!$C$1</c:f>
              <c:strCache>
                <c:ptCount val="1"/>
                <c:pt idx="0">
                  <c:v>Well Irrigated and Cropped</c:v>
                </c:pt>
              </c:strCache>
            </c:strRef>
          </c:tx>
          <c:spPr>
            <a:solidFill>
              <a:schemeClr val="accent2"/>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Sheet1!$C$2:$C$6</c:f>
              <c:numCache>
                <c:formatCode>General</c:formatCode>
                <c:ptCount val="5"/>
                <c:pt idx="0">
                  <c:v>0.41645500000000002</c:v>
                </c:pt>
                <c:pt idx="1">
                  <c:v>-0.19714000000000001</c:v>
                </c:pt>
                <c:pt idx="2">
                  <c:v>4.4803999999999997E-2</c:v>
                </c:pt>
                <c:pt idx="3">
                  <c:v>-0.52381999999999995</c:v>
                </c:pt>
                <c:pt idx="4">
                  <c:v>-0.78771999999999998</c:v>
                </c:pt>
              </c:numCache>
            </c:numRef>
          </c:val>
        </c:ser>
        <c:ser>
          <c:idx val="2"/>
          <c:order val="2"/>
          <c:tx>
            <c:strRef>
              <c:f>Sheet1!$D$1</c:f>
              <c:strCache>
                <c:ptCount val="1"/>
                <c:pt idx="0">
                  <c:v>Rural Cultivator population</c:v>
                </c:pt>
              </c:strCache>
            </c:strRef>
          </c:tx>
          <c:spPr>
            <a:solidFill>
              <a:schemeClr val="accent3"/>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Sheet1!$D$2:$D$6</c:f>
              <c:numCache>
                <c:formatCode>General</c:formatCode>
                <c:ptCount val="5"/>
                <c:pt idx="0">
                  <c:v>-0.28452</c:v>
                </c:pt>
                <c:pt idx="1">
                  <c:v>-2.282E-2</c:v>
                </c:pt>
                <c:pt idx="2">
                  <c:v>0.351746</c:v>
                </c:pt>
                <c:pt idx="3">
                  <c:v>1.8117209999999999</c:v>
                </c:pt>
                <c:pt idx="4">
                  <c:v>-0.73534999999999995</c:v>
                </c:pt>
              </c:numCache>
            </c:numRef>
          </c:val>
        </c:ser>
        <c:ser>
          <c:idx val="3"/>
          <c:order val="3"/>
          <c:tx>
            <c:strRef>
              <c:f>Sheet1!$E$1</c:f>
              <c:strCache>
                <c:ptCount val="1"/>
                <c:pt idx="0">
                  <c:v>Rainfall</c:v>
                </c:pt>
              </c:strCache>
            </c:strRef>
          </c:tx>
          <c:spPr>
            <a:solidFill>
              <a:schemeClr val="accent4"/>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Sheet1!$E$2:$E$6</c:f>
              <c:numCache>
                <c:formatCode>General</c:formatCode>
                <c:ptCount val="5"/>
                <c:pt idx="0">
                  <c:v>-0.39232</c:v>
                </c:pt>
                <c:pt idx="1">
                  <c:v>-0.46012999999999998</c:v>
                </c:pt>
                <c:pt idx="2">
                  <c:v>0.35480699999999998</c:v>
                </c:pt>
                <c:pt idx="3">
                  <c:v>-0.37974999999999998</c:v>
                </c:pt>
                <c:pt idx="4">
                  <c:v>1.830368</c:v>
                </c:pt>
              </c:numCache>
            </c:numRef>
          </c:val>
        </c:ser>
        <c:ser>
          <c:idx val="4"/>
          <c:order val="4"/>
          <c:tx>
            <c:strRef>
              <c:f>Sheet1!$F$1</c:f>
              <c:strCache>
                <c:ptCount val="1"/>
                <c:pt idx="0">
                  <c:v>High Non food crop irrigated area</c:v>
                </c:pt>
              </c:strCache>
            </c:strRef>
          </c:tx>
          <c:spPr>
            <a:solidFill>
              <a:schemeClr val="accent5"/>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Sheet1!$F$2:$F$6</c:f>
              <c:numCache>
                <c:formatCode>General</c:formatCode>
                <c:ptCount val="5"/>
                <c:pt idx="0">
                  <c:v>-0.62544</c:v>
                </c:pt>
                <c:pt idx="1">
                  <c:v>1.3058940000000001</c:v>
                </c:pt>
                <c:pt idx="2">
                  <c:v>-0.17963000000000001</c:v>
                </c:pt>
                <c:pt idx="3">
                  <c:v>0.13786200000000001</c:v>
                </c:pt>
                <c:pt idx="4">
                  <c:v>0.45117099999999999</c:v>
                </c:pt>
              </c:numCache>
            </c:numRef>
          </c:val>
        </c:ser>
        <c:ser>
          <c:idx val="5"/>
          <c:order val="5"/>
          <c:tx>
            <c:strRef>
              <c:f>Sheet1!$G$1</c:f>
              <c:strCache>
                <c:ptCount val="1"/>
                <c:pt idx="0">
                  <c:v>Tractor Buying Customers</c:v>
                </c:pt>
              </c:strCache>
            </c:strRef>
          </c:tx>
          <c:spPr>
            <a:solidFill>
              <a:schemeClr val="accent6"/>
            </a:solidFill>
            <a:ln>
              <a:noFill/>
            </a:ln>
            <a:effectLst/>
          </c:spPr>
          <c:invertIfNegative val="0"/>
          <c:cat>
            <c:strRef>
              <c:f>Sheet1!$A$2:$A$6</c:f>
              <c:strCache>
                <c:ptCount val="5"/>
                <c:pt idx="0">
                  <c:v>Not Affluent</c:v>
                </c:pt>
                <c:pt idx="1">
                  <c:v>Low Rainfall, Limited Food grains cultivation</c:v>
                </c:pt>
                <c:pt idx="2">
                  <c:v>Moderate Affluence, rainfall and irrigation</c:v>
                </c:pt>
                <c:pt idx="3">
                  <c:v>Mid Affluent, High Rural cultivator and agricultural labor volume</c:v>
                </c:pt>
                <c:pt idx="4">
                  <c:v>High Affluence
</c:v>
                </c:pt>
              </c:strCache>
            </c:strRef>
          </c:cat>
          <c:val>
            <c:numRef>
              <c:f>Sheet1!$G$2:$G$6</c:f>
              <c:numCache>
                <c:formatCode>General</c:formatCode>
                <c:ptCount val="5"/>
                <c:pt idx="0">
                  <c:v>-0.29066999999999998</c:v>
                </c:pt>
                <c:pt idx="1">
                  <c:v>8.1365999999999994E-2</c:v>
                </c:pt>
                <c:pt idx="2">
                  <c:v>0.11928999999999999</c:v>
                </c:pt>
                <c:pt idx="3">
                  <c:v>1.922714</c:v>
                </c:pt>
                <c:pt idx="4">
                  <c:v>-0.69255999999999995</c:v>
                </c:pt>
              </c:numCache>
            </c:numRef>
          </c:val>
        </c:ser>
        <c:dLbls>
          <c:showLegendKey val="0"/>
          <c:showVal val="0"/>
          <c:showCatName val="0"/>
          <c:showSerName val="0"/>
          <c:showPercent val="0"/>
          <c:showBubbleSize val="0"/>
        </c:dLbls>
        <c:gapWidth val="150"/>
        <c:axId val="-1040053488"/>
        <c:axId val="-1040052400"/>
      </c:barChart>
      <c:catAx>
        <c:axId val="-1040053488"/>
        <c:scaling>
          <c:orientation val="minMax"/>
        </c:scaling>
        <c:delete val="1"/>
        <c:axPos val="b"/>
        <c:numFmt formatCode="General" sourceLinked="1"/>
        <c:majorTickMark val="none"/>
        <c:minorTickMark val="none"/>
        <c:tickLblPos val="nextTo"/>
        <c:crossAx val="-1040052400"/>
        <c:crosses val="autoZero"/>
        <c:auto val="1"/>
        <c:lblAlgn val="ctr"/>
        <c:lblOffset val="100"/>
        <c:noMultiLvlLbl val="0"/>
      </c:catAx>
      <c:valAx>
        <c:axId val="-1040052400"/>
        <c:scaling>
          <c:orientation val="minMax"/>
        </c:scaling>
        <c:delete val="1"/>
        <c:axPos val="l"/>
        <c:numFmt formatCode="General" sourceLinked="1"/>
        <c:majorTickMark val="none"/>
        <c:minorTickMark val="none"/>
        <c:tickLblPos val="nextTo"/>
        <c:crossAx val="-1040053488"/>
        <c:crosses val="autoZero"/>
        <c:crossBetween val="between"/>
      </c:valAx>
      <c:spPr>
        <a:noFill/>
        <a:ln>
          <a:noFill/>
        </a:ln>
        <a:effectLst/>
      </c:spPr>
    </c:plotArea>
    <c:legend>
      <c:legendPos val="r"/>
      <c:layout>
        <c:manualLayout>
          <c:xMode val="edge"/>
          <c:yMode val="edge"/>
          <c:x val="0.80316999877678352"/>
          <c:y val="0.19735729552115691"/>
          <c:w val="0.19573676759049499"/>
          <c:h val="0.80097632940680585"/>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69">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alpha val="75000"/>
        </a:schemeClr>
      </a:solidFill>
    </cs:spPr>
  </cs:dataPoint>
  <cs:dataPoint3D>
    <cs:lnRef idx="0"/>
    <cs:fillRef idx="1">
      <cs:styleClr val="auto"/>
    </cs:fillRef>
    <cs:effectRef idx="0"/>
    <cs:fontRef idx="minor">
      <a:schemeClr val="tx1"/>
    </cs:fontRef>
    <cs:spPr>
      <a:solidFill>
        <a:schemeClr val="phClr">
          <a:alpha val="75000"/>
        </a:schemeClr>
      </a:solidFill>
    </cs:spPr>
  </cs:dataPoint3D>
  <cs:dataPointLine>
    <cs:lnRef idx="0">
      <cs:styleClr val="auto"/>
    </cs:lnRef>
    <cs:fillRef idx="1"/>
    <cs:effectRef idx="0"/>
    <cs:fontRef idx="minor">
      <a:schemeClr val="tx1"/>
    </cs:fontRef>
    <cs:spPr>
      <a:ln w="19050" cap="rnd">
        <a:solidFill>
          <a:schemeClr val="phClr">
            <a:alpha val="50000"/>
          </a:scheme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391BAE-4CBD-424D-AAAC-D43475B34264}" type="doc">
      <dgm:prSet loTypeId="urn:microsoft.com/office/officeart/2011/layout/HexagonRadial" loCatId="cycle" qsTypeId="urn:microsoft.com/office/officeart/2005/8/quickstyle/simple1" qsCatId="simple" csTypeId="urn:microsoft.com/office/officeart/2005/8/colors/accent1_2" csCatId="accent1" phldr="1"/>
      <dgm:spPr/>
      <dgm:t>
        <a:bodyPr/>
        <a:lstStyle/>
        <a:p>
          <a:endParaRPr lang="en-IN"/>
        </a:p>
      </dgm:t>
    </dgm:pt>
    <dgm:pt modelId="{A830A481-8ABA-4096-9EAB-DDF74450EC30}">
      <dgm:prSet phldrT="[Text]"/>
      <dgm:spPr>
        <a:solidFill>
          <a:schemeClr val="accent2"/>
        </a:solidFill>
      </dgm:spPr>
      <dgm:t>
        <a:bodyPr/>
        <a:lstStyle/>
        <a:p>
          <a:r>
            <a:rPr lang="en-IN" dirty="0" smtClean="0"/>
            <a:t>District level aggregation</a:t>
          </a:r>
          <a:endParaRPr lang="en-IN" dirty="0"/>
        </a:p>
      </dgm:t>
    </dgm:pt>
    <dgm:pt modelId="{14A47BC7-1B6F-4CFF-8B27-1C3EF03013D4}" type="parTrans" cxnId="{648CD80A-F31A-4CCC-9CBB-6EC9F69860C9}">
      <dgm:prSet/>
      <dgm:spPr/>
      <dgm:t>
        <a:bodyPr/>
        <a:lstStyle/>
        <a:p>
          <a:endParaRPr lang="en-IN"/>
        </a:p>
      </dgm:t>
    </dgm:pt>
    <dgm:pt modelId="{46A66625-0CEA-4A61-A1C3-979F20171950}" type="sibTrans" cxnId="{648CD80A-F31A-4CCC-9CBB-6EC9F69860C9}">
      <dgm:prSet/>
      <dgm:spPr/>
      <dgm:t>
        <a:bodyPr/>
        <a:lstStyle/>
        <a:p>
          <a:endParaRPr lang="en-IN"/>
        </a:p>
      </dgm:t>
    </dgm:pt>
    <dgm:pt modelId="{849AE3B5-4B6E-4A06-AC3E-7534E5F51CFF}">
      <dgm:prSet phldrT="[Text]"/>
      <dgm:spPr/>
      <dgm:t>
        <a:bodyPr/>
        <a:lstStyle/>
        <a:p>
          <a:r>
            <a:rPr lang="en-IN" dirty="0" smtClean="0"/>
            <a:t>Rainfall</a:t>
          </a:r>
          <a:endParaRPr lang="en-IN" dirty="0"/>
        </a:p>
      </dgm:t>
    </dgm:pt>
    <dgm:pt modelId="{B0D5FBD0-DD35-4B53-B8C5-5D52E890541F}" type="parTrans" cxnId="{A00D2C2B-6A7D-4DA1-9A5E-91DE9D8FFD86}">
      <dgm:prSet/>
      <dgm:spPr/>
      <dgm:t>
        <a:bodyPr/>
        <a:lstStyle/>
        <a:p>
          <a:endParaRPr lang="en-IN"/>
        </a:p>
      </dgm:t>
    </dgm:pt>
    <dgm:pt modelId="{BB48D188-19F5-438B-9701-21D3191E981E}" type="sibTrans" cxnId="{A00D2C2B-6A7D-4DA1-9A5E-91DE9D8FFD86}">
      <dgm:prSet/>
      <dgm:spPr/>
      <dgm:t>
        <a:bodyPr/>
        <a:lstStyle/>
        <a:p>
          <a:endParaRPr lang="en-IN"/>
        </a:p>
      </dgm:t>
    </dgm:pt>
    <dgm:pt modelId="{8AF71F1A-2D3D-49B4-9374-247D8E2789FC}">
      <dgm:prSet phldrT="[Text]"/>
      <dgm:spPr/>
      <dgm:t>
        <a:bodyPr/>
        <a:lstStyle/>
        <a:p>
          <a:r>
            <a:rPr lang="en-IN" dirty="0" smtClean="0"/>
            <a:t>GDP and Growth</a:t>
          </a:r>
          <a:endParaRPr lang="en-IN" dirty="0"/>
        </a:p>
      </dgm:t>
    </dgm:pt>
    <dgm:pt modelId="{A196BA83-76B4-4B82-9B79-CB3A6CC34CCD}" type="parTrans" cxnId="{22421A78-E984-45DB-A401-F2237B2A1AC0}">
      <dgm:prSet/>
      <dgm:spPr/>
      <dgm:t>
        <a:bodyPr/>
        <a:lstStyle/>
        <a:p>
          <a:endParaRPr lang="en-IN"/>
        </a:p>
      </dgm:t>
    </dgm:pt>
    <dgm:pt modelId="{0BDF4F9E-830D-4D99-839B-6589D11EC44F}" type="sibTrans" cxnId="{22421A78-E984-45DB-A401-F2237B2A1AC0}">
      <dgm:prSet/>
      <dgm:spPr/>
      <dgm:t>
        <a:bodyPr/>
        <a:lstStyle/>
        <a:p>
          <a:endParaRPr lang="en-IN"/>
        </a:p>
      </dgm:t>
    </dgm:pt>
    <dgm:pt modelId="{97DF76D9-8EB8-42EC-B17F-5F16772DE29B}">
      <dgm:prSet phldrT="[Text]"/>
      <dgm:spPr/>
      <dgm:t>
        <a:bodyPr/>
        <a:lstStyle/>
        <a:p>
          <a:r>
            <a:rPr lang="en-IN" dirty="0" smtClean="0"/>
            <a:t>Affluence and growth  estimate</a:t>
          </a:r>
          <a:endParaRPr lang="en-IN" dirty="0"/>
        </a:p>
      </dgm:t>
    </dgm:pt>
    <dgm:pt modelId="{CA4BDFAD-790F-4ABA-A395-03327283DF6F}" type="parTrans" cxnId="{908AD2C5-741C-4180-AB73-F5C1FDE1DC61}">
      <dgm:prSet/>
      <dgm:spPr/>
      <dgm:t>
        <a:bodyPr/>
        <a:lstStyle/>
        <a:p>
          <a:endParaRPr lang="en-IN"/>
        </a:p>
      </dgm:t>
    </dgm:pt>
    <dgm:pt modelId="{F9F69475-FA8F-46C0-928E-0D0C80BB90DC}" type="sibTrans" cxnId="{908AD2C5-741C-4180-AB73-F5C1FDE1DC61}">
      <dgm:prSet/>
      <dgm:spPr/>
      <dgm:t>
        <a:bodyPr/>
        <a:lstStyle/>
        <a:p>
          <a:endParaRPr lang="en-IN"/>
        </a:p>
      </dgm:t>
    </dgm:pt>
    <dgm:pt modelId="{5D7D3CFF-987C-4E92-9EAF-98701DE69BDB}">
      <dgm:prSet phldrT="[Text]"/>
      <dgm:spPr/>
      <dgm:t>
        <a:bodyPr/>
        <a:lstStyle/>
        <a:p>
          <a:r>
            <a:rPr lang="en-IN" dirty="0" smtClean="0"/>
            <a:t>Area under cultivation</a:t>
          </a:r>
          <a:endParaRPr lang="en-IN" dirty="0"/>
        </a:p>
      </dgm:t>
    </dgm:pt>
    <dgm:pt modelId="{EC7D27A4-D782-464C-B1BB-69B06E368A3C}" type="parTrans" cxnId="{5CFEE6C3-9A02-49B7-9AA3-C562A8623857}">
      <dgm:prSet/>
      <dgm:spPr/>
      <dgm:t>
        <a:bodyPr/>
        <a:lstStyle/>
        <a:p>
          <a:endParaRPr lang="en-IN"/>
        </a:p>
      </dgm:t>
    </dgm:pt>
    <dgm:pt modelId="{B76DA110-A278-4C02-9795-E12BFD11E5E0}" type="sibTrans" cxnId="{5CFEE6C3-9A02-49B7-9AA3-C562A8623857}">
      <dgm:prSet/>
      <dgm:spPr/>
      <dgm:t>
        <a:bodyPr/>
        <a:lstStyle/>
        <a:p>
          <a:endParaRPr lang="en-IN"/>
        </a:p>
      </dgm:t>
    </dgm:pt>
    <dgm:pt modelId="{59567AFA-E3DA-4F4D-92DD-38531BD5AB54}">
      <dgm:prSet phldrT="[Text]"/>
      <dgm:spPr/>
      <dgm:t>
        <a:bodyPr/>
        <a:lstStyle/>
        <a:p>
          <a:r>
            <a:rPr lang="en-IN" dirty="0" smtClean="0"/>
            <a:t>Area under irrigation</a:t>
          </a:r>
          <a:endParaRPr lang="en-IN" dirty="0"/>
        </a:p>
      </dgm:t>
    </dgm:pt>
    <dgm:pt modelId="{2FEEEA1A-1CCC-4251-A4F5-861996868557}" type="parTrans" cxnId="{5BBB4776-4472-4B13-BED6-F1C6BD822797}">
      <dgm:prSet/>
      <dgm:spPr/>
      <dgm:t>
        <a:bodyPr/>
        <a:lstStyle/>
        <a:p>
          <a:endParaRPr lang="en-IN"/>
        </a:p>
      </dgm:t>
    </dgm:pt>
    <dgm:pt modelId="{E6823E93-5F19-4E6B-AFFF-4559EB5BEAA3}" type="sibTrans" cxnId="{5BBB4776-4472-4B13-BED6-F1C6BD822797}">
      <dgm:prSet/>
      <dgm:spPr/>
      <dgm:t>
        <a:bodyPr/>
        <a:lstStyle/>
        <a:p>
          <a:endParaRPr lang="en-IN"/>
        </a:p>
      </dgm:t>
    </dgm:pt>
    <dgm:pt modelId="{9D8F7736-1221-4ABF-8523-647A643AA430}">
      <dgm:prSet phldrT="[Text]"/>
      <dgm:spPr/>
      <dgm:t>
        <a:bodyPr/>
        <a:lstStyle/>
        <a:p>
          <a:r>
            <a:rPr lang="en-IN" dirty="0" smtClean="0"/>
            <a:t>Population Sizing </a:t>
          </a:r>
          <a:endParaRPr lang="en-IN" dirty="0"/>
        </a:p>
      </dgm:t>
    </dgm:pt>
    <dgm:pt modelId="{1662A787-7699-4E3F-9DD2-69C9F534A3C8}" type="parTrans" cxnId="{185972E5-4B93-4C69-AF8C-413771B3C3B7}">
      <dgm:prSet/>
      <dgm:spPr/>
      <dgm:t>
        <a:bodyPr/>
        <a:lstStyle/>
        <a:p>
          <a:endParaRPr lang="en-IN"/>
        </a:p>
      </dgm:t>
    </dgm:pt>
    <dgm:pt modelId="{9AB19F17-F57A-4692-BAA3-24F4EA2F34B0}" type="sibTrans" cxnId="{185972E5-4B93-4C69-AF8C-413771B3C3B7}">
      <dgm:prSet/>
      <dgm:spPr/>
      <dgm:t>
        <a:bodyPr/>
        <a:lstStyle/>
        <a:p>
          <a:endParaRPr lang="en-IN"/>
        </a:p>
      </dgm:t>
    </dgm:pt>
    <dgm:pt modelId="{5E9FB41F-1ECD-43B9-BB7D-F108F02DA69D}" type="pres">
      <dgm:prSet presAssocID="{89391BAE-4CBD-424D-AAAC-D43475B34264}" presName="Name0" presStyleCnt="0">
        <dgm:presLayoutVars>
          <dgm:chMax val="1"/>
          <dgm:chPref val="1"/>
          <dgm:dir/>
          <dgm:animOne val="branch"/>
          <dgm:animLvl val="lvl"/>
        </dgm:presLayoutVars>
      </dgm:prSet>
      <dgm:spPr/>
      <dgm:t>
        <a:bodyPr/>
        <a:lstStyle/>
        <a:p>
          <a:endParaRPr lang="en-IN"/>
        </a:p>
      </dgm:t>
    </dgm:pt>
    <dgm:pt modelId="{6D1FEEA3-3370-4C77-BAC5-70FE2C2377CF}" type="pres">
      <dgm:prSet presAssocID="{A830A481-8ABA-4096-9EAB-DDF74450EC30}" presName="Parent" presStyleLbl="node0" presStyleIdx="0" presStyleCnt="1">
        <dgm:presLayoutVars>
          <dgm:chMax val="6"/>
          <dgm:chPref val="6"/>
        </dgm:presLayoutVars>
      </dgm:prSet>
      <dgm:spPr/>
      <dgm:t>
        <a:bodyPr/>
        <a:lstStyle/>
        <a:p>
          <a:endParaRPr lang="en-IN"/>
        </a:p>
      </dgm:t>
    </dgm:pt>
    <dgm:pt modelId="{A0079234-F22D-4883-B5E5-022ECE51EF93}" type="pres">
      <dgm:prSet presAssocID="{849AE3B5-4B6E-4A06-AC3E-7534E5F51CFF}" presName="Accent1" presStyleCnt="0"/>
      <dgm:spPr/>
    </dgm:pt>
    <dgm:pt modelId="{D908DEA4-3F91-4BCE-B624-F58B06EB3B90}" type="pres">
      <dgm:prSet presAssocID="{849AE3B5-4B6E-4A06-AC3E-7534E5F51CFF}" presName="Accent" presStyleLbl="bgShp" presStyleIdx="0" presStyleCnt="6"/>
      <dgm:spPr/>
    </dgm:pt>
    <dgm:pt modelId="{EF66FF3D-74F3-4C0A-AFA1-AE74E8FE38F1}" type="pres">
      <dgm:prSet presAssocID="{849AE3B5-4B6E-4A06-AC3E-7534E5F51CFF}" presName="Child1" presStyleLbl="node1" presStyleIdx="0" presStyleCnt="6">
        <dgm:presLayoutVars>
          <dgm:chMax val="0"/>
          <dgm:chPref val="0"/>
          <dgm:bulletEnabled val="1"/>
        </dgm:presLayoutVars>
      </dgm:prSet>
      <dgm:spPr/>
      <dgm:t>
        <a:bodyPr/>
        <a:lstStyle/>
        <a:p>
          <a:endParaRPr lang="en-IN"/>
        </a:p>
      </dgm:t>
    </dgm:pt>
    <dgm:pt modelId="{E473EB33-94AD-4FFD-8C40-3A90435DAEAD}" type="pres">
      <dgm:prSet presAssocID="{8AF71F1A-2D3D-49B4-9374-247D8E2789FC}" presName="Accent2" presStyleCnt="0"/>
      <dgm:spPr/>
    </dgm:pt>
    <dgm:pt modelId="{8F33937B-7DFC-4AAC-B3E6-9E5E7F9148D7}" type="pres">
      <dgm:prSet presAssocID="{8AF71F1A-2D3D-49B4-9374-247D8E2789FC}" presName="Accent" presStyleLbl="bgShp" presStyleIdx="1" presStyleCnt="6"/>
      <dgm:spPr/>
    </dgm:pt>
    <dgm:pt modelId="{FE1B363C-53B7-46F9-9BA9-825ECA44E699}" type="pres">
      <dgm:prSet presAssocID="{8AF71F1A-2D3D-49B4-9374-247D8E2789FC}" presName="Child2" presStyleLbl="node1" presStyleIdx="1" presStyleCnt="6">
        <dgm:presLayoutVars>
          <dgm:chMax val="0"/>
          <dgm:chPref val="0"/>
          <dgm:bulletEnabled val="1"/>
        </dgm:presLayoutVars>
      </dgm:prSet>
      <dgm:spPr/>
      <dgm:t>
        <a:bodyPr/>
        <a:lstStyle/>
        <a:p>
          <a:endParaRPr lang="en-IN"/>
        </a:p>
      </dgm:t>
    </dgm:pt>
    <dgm:pt modelId="{A0A420BA-EC4A-4F9E-96BE-CC83DC5B450E}" type="pres">
      <dgm:prSet presAssocID="{97DF76D9-8EB8-42EC-B17F-5F16772DE29B}" presName="Accent3" presStyleCnt="0"/>
      <dgm:spPr/>
    </dgm:pt>
    <dgm:pt modelId="{0D95D15D-81D3-4CA0-9BB5-D4C9F2F93BE4}" type="pres">
      <dgm:prSet presAssocID="{97DF76D9-8EB8-42EC-B17F-5F16772DE29B}" presName="Accent" presStyleLbl="bgShp" presStyleIdx="2" presStyleCnt="6"/>
      <dgm:spPr/>
    </dgm:pt>
    <dgm:pt modelId="{7A8CA101-0A99-4829-8DBD-10D5DC662C5D}" type="pres">
      <dgm:prSet presAssocID="{97DF76D9-8EB8-42EC-B17F-5F16772DE29B}" presName="Child3" presStyleLbl="node1" presStyleIdx="2" presStyleCnt="6">
        <dgm:presLayoutVars>
          <dgm:chMax val="0"/>
          <dgm:chPref val="0"/>
          <dgm:bulletEnabled val="1"/>
        </dgm:presLayoutVars>
      </dgm:prSet>
      <dgm:spPr/>
      <dgm:t>
        <a:bodyPr/>
        <a:lstStyle/>
        <a:p>
          <a:endParaRPr lang="en-IN"/>
        </a:p>
      </dgm:t>
    </dgm:pt>
    <dgm:pt modelId="{C3BE7389-A127-4E3D-B6DB-7924046F58A8}" type="pres">
      <dgm:prSet presAssocID="{5D7D3CFF-987C-4E92-9EAF-98701DE69BDB}" presName="Accent4" presStyleCnt="0"/>
      <dgm:spPr/>
    </dgm:pt>
    <dgm:pt modelId="{DCDC207B-504F-4D24-8B56-00BAFB24B795}" type="pres">
      <dgm:prSet presAssocID="{5D7D3CFF-987C-4E92-9EAF-98701DE69BDB}" presName="Accent" presStyleLbl="bgShp" presStyleIdx="3" presStyleCnt="6"/>
      <dgm:spPr/>
    </dgm:pt>
    <dgm:pt modelId="{E6FC64CB-EDE9-43EA-808C-2595035FD624}" type="pres">
      <dgm:prSet presAssocID="{5D7D3CFF-987C-4E92-9EAF-98701DE69BDB}" presName="Child4" presStyleLbl="node1" presStyleIdx="3" presStyleCnt="6">
        <dgm:presLayoutVars>
          <dgm:chMax val="0"/>
          <dgm:chPref val="0"/>
          <dgm:bulletEnabled val="1"/>
        </dgm:presLayoutVars>
      </dgm:prSet>
      <dgm:spPr/>
      <dgm:t>
        <a:bodyPr/>
        <a:lstStyle/>
        <a:p>
          <a:endParaRPr lang="en-IN"/>
        </a:p>
      </dgm:t>
    </dgm:pt>
    <dgm:pt modelId="{F4377C73-DB8C-4B08-ABD3-A5096EB81489}" type="pres">
      <dgm:prSet presAssocID="{59567AFA-E3DA-4F4D-92DD-38531BD5AB54}" presName="Accent5" presStyleCnt="0"/>
      <dgm:spPr/>
    </dgm:pt>
    <dgm:pt modelId="{C228E20B-70C9-4B3E-8894-33CB53F87F9B}" type="pres">
      <dgm:prSet presAssocID="{59567AFA-E3DA-4F4D-92DD-38531BD5AB54}" presName="Accent" presStyleLbl="bgShp" presStyleIdx="4" presStyleCnt="6"/>
      <dgm:spPr/>
    </dgm:pt>
    <dgm:pt modelId="{22129FFF-5A73-4FE2-9B8A-4C360B156DAC}" type="pres">
      <dgm:prSet presAssocID="{59567AFA-E3DA-4F4D-92DD-38531BD5AB54}" presName="Child5" presStyleLbl="node1" presStyleIdx="4" presStyleCnt="6">
        <dgm:presLayoutVars>
          <dgm:chMax val="0"/>
          <dgm:chPref val="0"/>
          <dgm:bulletEnabled val="1"/>
        </dgm:presLayoutVars>
      </dgm:prSet>
      <dgm:spPr/>
      <dgm:t>
        <a:bodyPr/>
        <a:lstStyle/>
        <a:p>
          <a:endParaRPr lang="en-IN"/>
        </a:p>
      </dgm:t>
    </dgm:pt>
    <dgm:pt modelId="{5C22E978-188E-4882-8755-B560C6D288F0}" type="pres">
      <dgm:prSet presAssocID="{9D8F7736-1221-4ABF-8523-647A643AA430}" presName="Accent6" presStyleCnt="0"/>
      <dgm:spPr/>
    </dgm:pt>
    <dgm:pt modelId="{4D7D5835-BF44-4EBF-8CAF-C54F54209566}" type="pres">
      <dgm:prSet presAssocID="{9D8F7736-1221-4ABF-8523-647A643AA430}" presName="Accent" presStyleLbl="bgShp" presStyleIdx="5" presStyleCnt="6"/>
      <dgm:spPr/>
    </dgm:pt>
    <dgm:pt modelId="{2CE7B139-0E20-4AA7-80ED-B65301064FB9}" type="pres">
      <dgm:prSet presAssocID="{9D8F7736-1221-4ABF-8523-647A643AA430}" presName="Child6" presStyleLbl="node1" presStyleIdx="5" presStyleCnt="6">
        <dgm:presLayoutVars>
          <dgm:chMax val="0"/>
          <dgm:chPref val="0"/>
          <dgm:bulletEnabled val="1"/>
        </dgm:presLayoutVars>
      </dgm:prSet>
      <dgm:spPr/>
      <dgm:t>
        <a:bodyPr/>
        <a:lstStyle/>
        <a:p>
          <a:endParaRPr lang="en-IN"/>
        </a:p>
      </dgm:t>
    </dgm:pt>
  </dgm:ptLst>
  <dgm:cxnLst>
    <dgm:cxn modelId="{F746591E-CD5F-41A7-9F47-A385F0F9A695}" type="presOf" srcId="{9D8F7736-1221-4ABF-8523-647A643AA430}" destId="{2CE7B139-0E20-4AA7-80ED-B65301064FB9}" srcOrd="0" destOrd="0" presId="urn:microsoft.com/office/officeart/2011/layout/HexagonRadial"/>
    <dgm:cxn modelId="{5B853103-DC51-4E21-B7C7-6371F0FB048F}" type="presOf" srcId="{849AE3B5-4B6E-4A06-AC3E-7534E5F51CFF}" destId="{EF66FF3D-74F3-4C0A-AFA1-AE74E8FE38F1}" srcOrd="0" destOrd="0" presId="urn:microsoft.com/office/officeart/2011/layout/HexagonRadial"/>
    <dgm:cxn modelId="{59ACF80E-D5C6-48C7-B769-313AC20EDF5B}" type="presOf" srcId="{5D7D3CFF-987C-4E92-9EAF-98701DE69BDB}" destId="{E6FC64CB-EDE9-43EA-808C-2595035FD624}" srcOrd="0" destOrd="0" presId="urn:microsoft.com/office/officeart/2011/layout/HexagonRadial"/>
    <dgm:cxn modelId="{5CFEE6C3-9A02-49B7-9AA3-C562A8623857}" srcId="{A830A481-8ABA-4096-9EAB-DDF74450EC30}" destId="{5D7D3CFF-987C-4E92-9EAF-98701DE69BDB}" srcOrd="3" destOrd="0" parTransId="{EC7D27A4-D782-464C-B1BB-69B06E368A3C}" sibTransId="{B76DA110-A278-4C02-9795-E12BFD11E5E0}"/>
    <dgm:cxn modelId="{22421A78-E984-45DB-A401-F2237B2A1AC0}" srcId="{A830A481-8ABA-4096-9EAB-DDF74450EC30}" destId="{8AF71F1A-2D3D-49B4-9374-247D8E2789FC}" srcOrd="1" destOrd="0" parTransId="{A196BA83-76B4-4B82-9B79-CB3A6CC34CCD}" sibTransId="{0BDF4F9E-830D-4D99-839B-6589D11EC44F}"/>
    <dgm:cxn modelId="{A00D2C2B-6A7D-4DA1-9A5E-91DE9D8FFD86}" srcId="{A830A481-8ABA-4096-9EAB-DDF74450EC30}" destId="{849AE3B5-4B6E-4A06-AC3E-7534E5F51CFF}" srcOrd="0" destOrd="0" parTransId="{B0D5FBD0-DD35-4B53-B8C5-5D52E890541F}" sibTransId="{BB48D188-19F5-438B-9701-21D3191E981E}"/>
    <dgm:cxn modelId="{D2DE4B11-0C94-4A75-ADEC-5BE9A064BADD}" type="presOf" srcId="{89391BAE-4CBD-424D-AAAC-D43475B34264}" destId="{5E9FB41F-1ECD-43B9-BB7D-F108F02DA69D}" srcOrd="0" destOrd="0" presId="urn:microsoft.com/office/officeart/2011/layout/HexagonRadial"/>
    <dgm:cxn modelId="{648CD80A-F31A-4CCC-9CBB-6EC9F69860C9}" srcId="{89391BAE-4CBD-424D-AAAC-D43475B34264}" destId="{A830A481-8ABA-4096-9EAB-DDF74450EC30}" srcOrd="0" destOrd="0" parTransId="{14A47BC7-1B6F-4CFF-8B27-1C3EF03013D4}" sibTransId="{46A66625-0CEA-4A61-A1C3-979F20171950}"/>
    <dgm:cxn modelId="{094FA6C9-7E85-4C00-AD32-3A4DC753CD9F}" type="presOf" srcId="{59567AFA-E3DA-4F4D-92DD-38531BD5AB54}" destId="{22129FFF-5A73-4FE2-9B8A-4C360B156DAC}" srcOrd="0" destOrd="0" presId="urn:microsoft.com/office/officeart/2011/layout/HexagonRadial"/>
    <dgm:cxn modelId="{7C2DE7E4-074E-4397-B027-1AA5ECAEAAAC}" type="presOf" srcId="{8AF71F1A-2D3D-49B4-9374-247D8E2789FC}" destId="{FE1B363C-53B7-46F9-9BA9-825ECA44E699}" srcOrd="0" destOrd="0" presId="urn:microsoft.com/office/officeart/2011/layout/HexagonRadial"/>
    <dgm:cxn modelId="{6A85B644-9946-4048-9EB1-11972ABD44E6}" type="presOf" srcId="{97DF76D9-8EB8-42EC-B17F-5F16772DE29B}" destId="{7A8CA101-0A99-4829-8DBD-10D5DC662C5D}" srcOrd="0" destOrd="0" presId="urn:microsoft.com/office/officeart/2011/layout/HexagonRadial"/>
    <dgm:cxn modelId="{185972E5-4B93-4C69-AF8C-413771B3C3B7}" srcId="{A830A481-8ABA-4096-9EAB-DDF74450EC30}" destId="{9D8F7736-1221-4ABF-8523-647A643AA430}" srcOrd="5" destOrd="0" parTransId="{1662A787-7699-4E3F-9DD2-69C9F534A3C8}" sibTransId="{9AB19F17-F57A-4692-BAA3-24F4EA2F34B0}"/>
    <dgm:cxn modelId="{B5A0AD9F-4ED4-4F43-8861-401CCE2D989F}" type="presOf" srcId="{A830A481-8ABA-4096-9EAB-DDF74450EC30}" destId="{6D1FEEA3-3370-4C77-BAC5-70FE2C2377CF}" srcOrd="0" destOrd="0" presId="urn:microsoft.com/office/officeart/2011/layout/HexagonRadial"/>
    <dgm:cxn modelId="{908AD2C5-741C-4180-AB73-F5C1FDE1DC61}" srcId="{A830A481-8ABA-4096-9EAB-DDF74450EC30}" destId="{97DF76D9-8EB8-42EC-B17F-5F16772DE29B}" srcOrd="2" destOrd="0" parTransId="{CA4BDFAD-790F-4ABA-A395-03327283DF6F}" sibTransId="{F9F69475-FA8F-46C0-928E-0D0C80BB90DC}"/>
    <dgm:cxn modelId="{5BBB4776-4472-4B13-BED6-F1C6BD822797}" srcId="{A830A481-8ABA-4096-9EAB-DDF74450EC30}" destId="{59567AFA-E3DA-4F4D-92DD-38531BD5AB54}" srcOrd="4" destOrd="0" parTransId="{2FEEEA1A-1CCC-4251-A4F5-861996868557}" sibTransId="{E6823E93-5F19-4E6B-AFFF-4559EB5BEAA3}"/>
    <dgm:cxn modelId="{F0B85A49-15D0-484E-A5AE-6DD75E6CBEFB}" type="presParOf" srcId="{5E9FB41F-1ECD-43B9-BB7D-F108F02DA69D}" destId="{6D1FEEA3-3370-4C77-BAC5-70FE2C2377CF}" srcOrd="0" destOrd="0" presId="urn:microsoft.com/office/officeart/2011/layout/HexagonRadial"/>
    <dgm:cxn modelId="{166B71FE-1CD2-4554-BF0E-2E9232DE0A55}" type="presParOf" srcId="{5E9FB41F-1ECD-43B9-BB7D-F108F02DA69D}" destId="{A0079234-F22D-4883-B5E5-022ECE51EF93}" srcOrd="1" destOrd="0" presId="urn:microsoft.com/office/officeart/2011/layout/HexagonRadial"/>
    <dgm:cxn modelId="{8C958209-BBDC-4510-8CDF-4297E0133DC4}" type="presParOf" srcId="{A0079234-F22D-4883-B5E5-022ECE51EF93}" destId="{D908DEA4-3F91-4BCE-B624-F58B06EB3B90}" srcOrd="0" destOrd="0" presId="urn:microsoft.com/office/officeart/2011/layout/HexagonRadial"/>
    <dgm:cxn modelId="{4B684DF0-9FEC-4DF2-A61F-AADAA6B1F92B}" type="presParOf" srcId="{5E9FB41F-1ECD-43B9-BB7D-F108F02DA69D}" destId="{EF66FF3D-74F3-4C0A-AFA1-AE74E8FE38F1}" srcOrd="2" destOrd="0" presId="urn:microsoft.com/office/officeart/2011/layout/HexagonRadial"/>
    <dgm:cxn modelId="{FEDEE181-8328-4F95-AE34-AAF0B2B93274}" type="presParOf" srcId="{5E9FB41F-1ECD-43B9-BB7D-F108F02DA69D}" destId="{E473EB33-94AD-4FFD-8C40-3A90435DAEAD}" srcOrd="3" destOrd="0" presId="urn:microsoft.com/office/officeart/2011/layout/HexagonRadial"/>
    <dgm:cxn modelId="{38BF0122-B234-47A5-99D3-350C3F8900F8}" type="presParOf" srcId="{E473EB33-94AD-4FFD-8C40-3A90435DAEAD}" destId="{8F33937B-7DFC-4AAC-B3E6-9E5E7F9148D7}" srcOrd="0" destOrd="0" presId="urn:microsoft.com/office/officeart/2011/layout/HexagonRadial"/>
    <dgm:cxn modelId="{16E2877B-5725-4D1A-A804-611D00C63540}" type="presParOf" srcId="{5E9FB41F-1ECD-43B9-BB7D-F108F02DA69D}" destId="{FE1B363C-53B7-46F9-9BA9-825ECA44E699}" srcOrd="4" destOrd="0" presId="urn:microsoft.com/office/officeart/2011/layout/HexagonRadial"/>
    <dgm:cxn modelId="{48383DDA-BA3A-4234-BB20-CEF7FB989996}" type="presParOf" srcId="{5E9FB41F-1ECD-43B9-BB7D-F108F02DA69D}" destId="{A0A420BA-EC4A-4F9E-96BE-CC83DC5B450E}" srcOrd="5" destOrd="0" presId="urn:microsoft.com/office/officeart/2011/layout/HexagonRadial"/>
    <dgm:cxn modelId="{C202351B-054A-40EC-93E8-037680FB2028}" type="presParOf" srcId="{A0A420BA-EC4A-4F9E-96BE-CC83DC5B450E}" destId="{0D95D15D-81D3-4CA0-9BB5-D4C9F2F93BE4}" srcOrd="0" destOrd="0" presId="urn:microsoft.com/office/officeart/2011/layout/HexagonRadial"/>
    <dgm:cxn modelId="{6C193DB7-E47F-471C-99F4-2115DE6DE447}" type="presParOf" srcId="{5E9FB41F-1ECD-43B9-BB7D-F108F02DA69D}" destId="{7A8CA101-0A99-4829-8DBD-10D5DC662C5D}" srcOrd="6" destOrd="0" presId="urn:microsoft.com/office/officeart/2011/layout/HexagonRadial"/>
    <dgm:cxn modelId="{6F7CB14E-3D3D-421F-85A4-2A755BF745AC}" type="presParOf" srcId="{5E9FB41F-1ECD-43B9-BB7D-F108F02DA69D}" destId="{C3BE7389-A127-4E3D-B6DB-7924046F58A8}" srcOrd="7" destOrd="0" presId="urn:microsoft.com/office/officeart/2011/layout/HexagonRadial"/>
    <dgm:cxn modelId="{232A064F-A629-43BF-BFC8-CC4F119716AA}" type="presParOf" srcId="{C3BE7389-A127-4E3D-B6DB-7924046F58A8}" destId="{DCDC207B-504F-4D24-8B56-00BAFB24B795}" srcOrd="0" destOrd="0" presId="urn:microsoft.com/office/officeart/2011/layout/HexagonRadial"/>
    <dgm:cxn modelId="{7512D167-10D6-4402-B847-E5BC6F22A2C6}" type="presParOf" srcId="{5E9FB41F-1ECD-43B9-BB7D-F108F02DA69D}" destId="{E6FC64CB-EDE9-43EA-808C-2595035FD624}" srcOrd="8" destOrd="0" presId="urn:microsoft.com/office/officeart/2011/layout/HexagonRadial"/>
    <dgm:cxn modelId="{010810C0-FA72-4676-B97A-88B401E819BF}" type="presParOf" srcId="{5E9FB41F-1ECD-43B9-BB7D-F108F02DA69D}" destId="{F4377C73-DB8C-4B08-ABD3-A5096EB81489}" srcOrd="9" destOrd="0" presId="urn:microsoft.com/office/officeart/2011/layout/HexagonRadial"/>
    <dgm:cxn modelId="{53F32B4B-9C5E-4C04-9973-A239CDD3E2F9}" type="presParOf" srcId="{F4377C73-DB8C-4B08-ABD3-A5096EB81489}" destId="{C228E20B-70C9-4B3E-8894-33CB53F87F9B}" srcOrd="0" destOrd="0" presId="urn:microsoft.com/office/officeart/2011/layout/HexagonRadial"/>
    <dgm:cxn modelId="{3411E203-ECE0-45FB-ADE3-8DB11A334D5C}" type="presParOf" srcId="{5E9FB41F-1ECD-43B9-BB7D-F108F02DA69D}" destId="{22129FFF-5A73-4FE2-9B8A-4C360B156DAC}" srcOrd="10" destOrd="0" presId="urn:microsoft.com/office/officeart/2011/layout/HexagonRadial"/>
    <dgm:cxn modelId="{77AD2AF4-59C7-437C-AA41-36F0A8078F3D}" type="presParOf" srcId="{5E9FB41F-1ECD-43B9-BB7D-F108F02DA69D}" destId="{5C22E978-188E-4882-8755-B560C6D288F0}" srcOrd="11" destOrd="0" presId="urn:microsoft.com/office/officeart/2011/layout/HexagonRadial"/>
    <dgm:cxn modelId="{5D96F30C-2E5C-4066-A3CF-B98E1AB8AE34}" type="presParOf" srcId="{5C22E978-188E-4882-8755-B560C6D288F0}" destId="{4D7D5835-BF44-4EBF-8CAF-C54F54209566}" srcOrd="0" destOrd="0" presId="urn:microsoft.com/office/officeart/2011/layout/HexagonRadial"/>
    <dgm:cxn modelId="{7B8C1E64-249E-4512-914F-B8A69A900E25}" type="presParOf" srcId="{5E9FB41F-1ECD-43B9-BB7D-F108F02DA69D}" destId="{2CE7B139-0E20-4AA7-80ED-B65301064FB9}" srcOrd="12" destOrd="0" presId="urn:microsoft.com/office/officeart/2011/layout/HexagonRadial"/>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F016F4F-3B86-4B93-A14E-3376976E21FB}" type="doc">
      <dgm:prSet loTypeId="urn:microsoft.com/office/officeart/2005/8/layout/radial6" loCatId="cycle" qsTypeId="urn:microsoft.com/office/officeart/2005/8/quickstyle/simple1" qsCatId="simple" csTypeId="urn:microsoft.com/office/officeart/2005/8/colors/accent1_2" csCatId="accent1" phldr="1"/>
      <dgm:spPr/>
      <dgm:t>
        <a:bodyPr/>
        <a:lstStyle/>
        <a:p>
          <a:endParaRPr lang="en-IN"/>
        </a:p>
      </dgm:t>
    </dgm:pt>
    <dgm:pt modelId="{D7A2C6BC-BAB5-4499-BBB1-E289DF9CDECC}">
      <dgm:prSet phldrT="[Text]"/>
      <dgm:spPr/>
      <dgm:t>
        <a:bodyPr/>
        <a:lstStyle/>
        <a:p>
          <a:r>
            <a:rPr lang="en-IN" dirty="0" smtClean="0"/>
            <a:t>Location Characteristic Metrics</a:t>
          </a:r>
          <a:endParaRPr lang="en-IN" dirty="0"/>
        </a:p>
      </dgm:t>
    </dgm:pt>
    <dgm:pt modelId="{8D7F520B-5544-42A8-B2F7-3CFCC4002D22}" type="parTrans" cxnId="{79E8CBFA-A56F-4BBB-9DF8-B4A72EA8911B}">
      <dgm:prSet/>
      <dgm:spPr/>
      <dgm:t>
        <a:bodyPr/>
        <a:lstStyle/>
        <a:p>
          <a:endParaRPr lang="en-IN"/>
        </a:p>
      </dgm:t>
    </dgm:pt>
    <dgm:pt modelId="{297FF734-48B3-4596-9413-A33F5D3EBC06}" type="sibTrans" cxnId="{79E8CBFA-A56F-4BBB-9DF8-B4A72EA8911B}">
      <dgm:prSet/>
      <dgm:spPr/>
      <dgm:t>
        <a:bodyPr/>
        <a:lstStyle/>
        <a:p>
          <a:endParaRPr lang="en-IN"/>
        </a:p>
      </dgm:t>
    </dgm:pt>
    <dgm:pt modelId="{7310E487-7B61-4678-ACBA-6CF567684DA2}">
      <dgm:prSet phldrT="[Text]" custT="1"/>
      <dgm:spPr/>
      <dgm:t>
        <a:bodyPr/>
        <a:lstStyle/>
        <a:p>
          <a:r>
            <a:rPr lang="en-IN" sz="1100" dirty="0" smtClean="0"/>
            <a:t>Activity Hub</a:t>
          </a:r>
          <a:endParaRPr lang="en-IN" sz="1100" dirty="0"/>
        </a:p>
      </dgm:t>
    </dgm:pt>
    <dgm:pt modelId="{CD67E34C-1506-44EE-BCCA-3C11F07986B5}" type="parTrans" cxnId="{5D553801-A67F-43EA-B220-0EF7D254CF86}">
      <dgm:prSet/>
      <dgm:spPr/>
      <dgm:t>
        <a:bodyPr/>
        <a:lstStyle/>
        <a:p>
          <a:endParaRPr lang="en-IN"/>
        </a:p>
      </dgm:t>
    </dgm:pt>
    <dgm:pt modelId="{71DB9537-352E-42D3-82D7-27343170A729}" type="sibTrans" cxnId="{5D553801-A67F-43EA-B220-0EF7D254CF86}">
      <dgm:prSet/>
      <dgm:spPr/>
      <dgm:t>
        <a:bodyPr/>
        <a:lstStyle/>
        <a:p>
          <a:endParaRPr lang="en-IN"/>
        </a:p>
      </dgm:t>
    </dgm:pt>
    <dgm:pt modelId="{149C49B4-23C1-41B5-88F9-F90E9CBDD40F}">
      <dgm:prSet phldrT="[Text]" custT="1"/>
      <dgm:spPr/>
      <dgm:t>
        <a:bodyPr/>
        <a:lstStyle/>
        <a:p>
          <a:r>
            <a:rPr lang="en-IN" sz="1100" dirty="0" smtClean="0"/>
            <a:t>Rainfall</a:t>
          </a:r>
          <a:endParaRPr lang="en-IN" sz="1100" dirty="0"/>
        </a:p>
      </dgm:t>
    </dgm:pt>
    <dgm:pt modelId="{7197F693-9C53-46F4-A410-9FFFB2E15500}" type="parTrans" cxnId="{58CDD159-742A-41A8-BD27-0A9D561D62C4}">
      <dgm:prSet/>
      <dgm:spPr/>
      <dgm:t>
        <a:bodyPr/>
        <a:lstStyle/>
        <a:p>
          <a:endParaRPr lang="en-IN"/>
        </a:p>
      </dgm:t>
    </dgm:pt>
    <dgm:pt modelId="{FBCA2BCE-3CD3-4AE8-949C-80E48E960962}" type="sibTrans" cxnId="{58CDD159-742A-41A8-BD27-0A9D561D62C4}">
      <dgm:prSet/>
      <dgm:spPr/>
      <dgm:t>
        <a:bodyPr/>
        <a:lstStyle/>
        <a:p>
          <a:endParaRPr lang="en-IN"/>
        </a:p>
      </dgm:t>
    </dgm:pt>
    <dgm:pt modelId="{260B3B58-06AC-4922-ACD2-7F90EC3307B6}">
      <dgm:prSet phldrT="[Text]" custT="1"/>
      <dgm:spPr/>
      <dgm:t>
        <a:bodyPr/>
        <a:lstStyle/>
        <a:p>
          <a:r>
            <a:rPr lang="en-IN" sz="1100" dirty="0" smtClean="0"/>
            <a:t>Non Food Crop irrigated areas</a:t>
          </a:r>
          <a:endParaRPr lang="en-IN" sz="1100" dirty="0"/>
        </a:p>
      </dgm:t>
    </dgm:pt>
    <dgm:pt modelId="{9637046E-CA89-4AC5-94E4-DDE82F3A3A6B}" type="parTrans" cxnId="{CE317D46-E73C-433D-BA2D-BE1E5B448081}">
      <dgm:prSet/>
      <dgm:spPr/>
      <dgm:t>
        <a:bodyPr/>
        <a:lstStyle/>
        <a:p>
          <a:endParaRPr lang="en-IN"/>
        </a:p>
      </dgm:t>
    </dgm:pt>
    <dgm:pt modelId="{7F79FC8D-FBD4-4C37-8F32-F953FA5B2669}" type="sibTrans" cxnId="{CE317D46-E73C-433D-BA2D-BE1E5B448081}">
      <dgm:prSet/>
      <dgm:spPr/>
      <dgm:t>
        <a:bodyPr/>
        <a:lstStyle/>
        <a:p>
          <a:endParaRPr lang="en-IN"/>
        </a:p>
      </dgm:t>
    </dgm:pt>
    <dgm:pt modelId="{C5DDC626-FC85-470A-A6B2-3D32775430D0}">
      <dgm:prSet phldrT="[Text]" custT="1"/>
      <dgm:spPr/>
      <dgm:t>
        <a:bodyPr/>
        <a:lstStyle/>
        <a:p>
          <a:r>
            <a:rPr lang="en-IN" sz="1100" dirty="0" smtClean="0"/>
            <a:t>Tractor buying Customers</a:t>
          </a:r>
        </a:p>
      </dgm:t>
    </dgm:pt>
    <dgm:pt modelId="{31CEC04E-B744-45E8-B3CF-EF010AC9E78B}" type="parTrans" cxnId="{D088CDCA-C518-4EC4-BCE7-1A8026661E60}">
      <dgm:prSet/>
      <dgm:spPr/>
      <dgm:t>
        <a:bodyPr/>
        <a:lstStyle/>
        <a:p>
          <a:endParaRPr lang="en-IN"/>
        </a:p>
      </dgm:t>
    </dgm:pt>
    <dgm:pt modelId="{018348B6-4F6C-4244-93FE-0BCC8DAD0416}" type="sibTrans" cxnId="{D088CDCA-C518-4EC4-BCE7-1A8026661E60}">
      <dgm:prSet/>
      <dgm:spPr/>
      <dgm:t>
        <a:bodyPr/>
        <a:lstStyle/>
        <a:p>
          <a:endParaRPr lang="en-IN"/>
        </a:p>
      </dgm:t>
    </dgm:pt>
    <dgm:pt modelId="{B94A8803-9291-4FE0-9149-8598B5F25A84}">
      <dgm:prSet custT="1"/>
      <dgm:spPr/>
      <dgm:t>
        <a:bodyPr/>
        <a:lstStyle/>
        <a:p>
          <a:r>
            <a:rPr lang="en-IN" sz="1100" b="0" dirty="0" smtClean="0"/>
            <a:t>Well Irrigated and Cropped</a:t>
          </a:r>
          <a:endParaRPr lang="en-IN" sz="1100" b="0" dirty="0"/>
        </a:p>
      </dgm:t>
    </dgm:pt>
    <dgm:pt modelId="{296C60AF-D157-4596-AF81-A03CEB3C653D}" type="parTrans" cxnId="{98E4B8C8-57DD-4EFA-8699-71EB64C71C13}">
      <dgm:prSet/>
      <dgm:spPr/>
      <dgm:t>
        <a:bodyPr/>
        <a:lstStyle/>
        <a:p>
          <a:endParaRPr lang="en-IN"/>
        </a:p>
      </dgm:t>
    </dgm:pt>
    <dgm:pt modelId="{C461E877-407D-45F1-B020-9F78AEF8899B}" type="sibTrans" cxnId="{98E4B8C8-57DD-4EFA-8699-71EB64C71C13}">
      <dgm:prSet/>
      <dgm:spPr/>
      <dgm:t>
        <a:bodyPr/>
        <a:lstStyle/>
        <a:p>
          <a:endParaRPr lang="en-IN"/>
        </a:p>
      </dgm:t>
    </dgm:pt>
    <dgm:pt modelId="{EC6B9AA0-E68F-48E0-9434-3EACCE84C669}">
      <dgm:prSet custT="1"/>
      <dgm:spPr/>
      <dgm:t>
        <a:bodyPr/>
        <a:lstStyle/>
        <a:p>
          <a:r>
            <a:rPr lang="en-IN" sz="1100" b="0" dirty="0" smtClean="0"/>
            <a:t>Rural, Cultivator population</a:t>
          </a:r>
          <a:endParaRPr lang="en-IN" sz="1100" b="0" dirty="0"/>
        </a:p>
      </dgm:t>
    </dgm:pt>
    <dgm:pt modelId="{471A75F7-08B5-487A-9EEE-116518372BEC}" type="parTrans" cxnId="{559FB772-B4B8-493D-976F-A761E9976F29}">
      <dgm:prSet/>
      <dgm:spPr/>
      <dgm:t>
        <a:bodyPr/>
        <a:lstStyle/>
        <a:p>
          <a:endParaRPr lang="en-IN"/>
        </a:p>
      </dgm:t>
    </dgm:pt>
    <dgm:pt modelId="{F7148850-A22A-4DC1-8748-B5BEFA881013}" type="sibTrans" cxnId="{559FB772-B4B8-493D-976F-A761E9976F29}">
      <dgm:prSet/>
      <dgm:spPr/>
      <dgm:t>
        <a:bodyPr/>
        <a:lstStyle/>
        <a:p>
          <a:endParaRPr lang="en-IN"/>
        </a:p>
      </dgm:t>
    </dgm:pt>
    <dgm:pt modelId="{405096DB-88A4-486E-9030-7FB1DCFC9F12}" type="pres">
      <dgm:prSet presAssocID="{3F016F4F-3B86-4B93-A14E-3376976E21FB}" presName="Name0" presStyleCnt="0">
        <dgm:presLayoutVars>
          <dgm:chMax val="1"/>
          <dgm:dir/>
          <dgm:animLvl val="ctr"/>
          <dgm:resizeHandles val="exact"/>
        </dgm:presLayoutVars>
      </dgm:prSet>
      <dgm:spPr/>
      <dgm:t>
        <a:bodyPr/>
        <a:lstStyle/>
        <a:p>
          <a:endParaRPr lang="en-IN"/>
        </a:p>
      </dgm:t>
    </dgm:pt>
    <dgm:pt modelId="{4CEF1119-DA0E-4D21-AB52-C779FDB824A3}" type="pres">
      <dgm:prSet presAssocID="{D7A2C6BC-BAB5-4499-BBB1-E289DF9CDECC}" presName="centerShape" presStyleLbl="node0" presStyleIdx="0" presStyleCnt="1"/>
      <dgm:spPr/>
      <dgm:t>
        <a:bodyPr/>
        <a:lstStyle/>
        <a:p>
          <a:endParaRPr lang="en-IN"/>
        </a:p>
      </dgm:t>
    </dgm:pt>
    <dgm:pt modelId="{5B82602B-3461-4DF9-A05D-66699FEDD03C}" type="pres">
      <dgm:prSet presAssocID="{7310E487-7B61-4678-ACBA-6CF567684DA2}" presName="node" presStyleLbl="node1" presStyleIdx="0" presStyleCnt="6">
        <dgm:presLayoutVars>
          <dgm:bulletEnabled val="1"/>
        </dgm:presLayoutVars>
      </dgm:prSet>
      <dgm:spPr/>
      <dgm:t>
        <a:bodyPr/>
        <a:lstStyle/>
        <a:p>
          <a:endParaRPr lang="en-IN"/>
        </a:p>
      </dgm:t>
    </dgm:pt>
    <dgm:pt modelId="{61A1DEA5-89C4-49CC-B618-8E4110131177}" type="pres">
      <dgm:prSet presAssocID="{7310E487-7B61-4678-ACBA-6CF567684DA2}" presName="dummy" presStyleCnt="0"/>
      <dgm:spPr/>
    </dgm:pt>
    <dgm:pt modelId="{643E3D03-AA0F-44A9-BA71-476F734956AC}" type="pres">
      <dgm:prSet presAssocID="{71DB9537-352E-42D3-82D7-27343170A729}" presName="sibTrans" presStyleLbl="sibTrans2D1" presStyleIdx="0" presStyleCnt="6"/>
      <dgm:spPr/>
      <dgm:t>
        <a:bodyPr/>
        <a:lstStyle/>
        <a:p>
          <a:endParaRPr lang="en-IN"/>
        </a:p>
      </dgm:t>
    </dgm:pt>
    <dgm:pt modelId="{4CF5B0DB-93E9-4829-9575-D88CF06FCF82}" type="pres">
      <dgm:prSet presAssocID="{B94A8803-9291-4FE0-9149-8598B5F25A84}" presName="node" presStyleLbl="node1" presStyleIdx="1" presStyleCnt="6">
        <dgm:presLayoutVars>
          <dgm:bulletEnabled val="1"/>
        </dgm:presLayoutVars>
      </dgm:prSet>
      <dgm:spPr/>
      <dgm:t>
        <a:bodyPr/>
        <a:lstStyle/>
        <a:p>
          <a:endParaRPr lang="en-IN"/>
        </a:p>
      </dgm:t>
    </dgm:pt>
    <dgm:pt modelId="{51F71C37-B354-467D-A5B1-7E7B5E8089CD}" type="pres">
      <dgm:prSet presAssocID="{B94A8803-9291-4FE0-9149-8598B5F25A84}" presName="dummy" presStyleCnt="0"/>
      <dgm:spPr/>
    </dgm:pt>
    <dgm:pt modelId="{0BA8187D-C7E3-4BEA-9A8D-4FF4A0DA38D7}" type="pres">
      <dgm:prSet presAssocID="{C461E877-407D-45F1-B020-9F78AEF8899B}" presName="sibTrans" presStyleLbl="sibTrans2D1" presStyleIdx="1" presStyleCnt="6"/>
      <dgm:spPr/>
      <dgm:t>
        <a:bodyPr/>
        <a:lstStyle/>
        <a:p>
          <a:endParaRPr lang="en-IN"/>
        </a:p>
      </dgm:t>
    </dgm:pt>
    <dgm:pt modelId="{07919B3E-1490-4A2D-8FB7-E8DE36D8F84D}" type="pres">
      <dgm:prSet presAssocID="{EC6B9AA0-E68F-48E0-9434-3EACCE84C669}" presName="node" presStyleLbl="node1" presStyleIdx="2" presStyleCnt="6">
        <dgm:presLayoutVars>
          <dgm:bulletEnabled val="1"/>
        </dgm:presLayoutVars>
      </dgm:prSet>
      <dgm:spPr/>
      <dgm:t>
        <a:bodyPr/>
        <a:lstStyle/>
        <a:p>
          <a:endParaRPr lang="en-IN"/>
        </a:p>
      </dgm:t>
    </dgm:pt>
    <dgm:pt modelId="{6DF2EBBF-035E-442D-B595-27F83AA9C983}" type="pres">
      <dgm:prSet presAssocID="{EC6B9AA0-E68F-48E0-9434-3EACCE84C669}" presName="dummy" presStyleCnt="0"/>
      <dgm:spPr/>
    </dgm:pt>
    <dgm:pt modelId="{6610C483-DBD8-42C2-AD24-7D299ABD6AF8}" type="pres">
      <dgm:prSet presAssocID="{F7148850-A22A-4DC1-8748-B5BEFA881013}" presName="sibTrans" presStyleLbl="sibTrans2D1" presStyleIdx="2" presStyleCnt="6"/>
      <dgm:spPr/>
      <dgm:t>
        <a:bodyPr/>
        <a:lstStyle/>
        <a:p>
          <a:endParaRPr lang="en-IN"/>
        </a:p>
      </dgm:t>
    </dgm:pt>
    <dgm:pt modelId="{52ECC0BC-1E0E-4C58-BEF8-9921B16F9356}" type="pres">
      <dgm:prSet presAssocID="{149C49B4-23C1-41B5-88F9-F90E9CBDD40F}" presName="node" presStyleLbl="node1" presStyleIdx="3" presStyleCnt="6">
        <dgm:presLayoutVars>
          <dgm:bulletEnabled val="1"/>
        </dgm:presLayoutVars>
      </dgm:prSet>
      <dgm:spPr/>
      <dgm:t>
        <a:bodyPr/>
        <a:lstStyle/>
        <a:p>
          <a:endParaRPr lang="en-IN"/>
        </a:p>
      </dgm:t>
    </dgm:pt>
    <dgm:pt modelId="{CCF1C41A-6591-4B84-A255-91A1C5E3B86C}" type="pres">
      <dgm:prSet presAssocID="{149C49B4-23C1-41B5-88F9-F90E9CBDD40F}" presName="dummy" presStyleCnt="0"/>
      <dgm:spPr/>
    </dgm:pt>
    <dgm:pt modelId="{18CE6A47-2CDD-4F66-BE01-8223ADD06BAB}" type="pres">
      <dgm:prSet presAssocID="{FBCA2BCE-3CD3-4AE8-949C-80E48E960962}" presName="sibTrans" presStyleLbl="sibTrans2D1" presStyleIdx="3" presStyleCnt="6"/>
      <dgm:spPr/>
      <dgm:t>
        <a:bodyPr/>
        <a:lstStyle/>
        <a:p>
          <a:endParaRPr lang="en-IN"/>
        </a:p>
      </dgm:t>
    </dgm:pt>
    <dgm:pt modelId="{C3513244-8ADA-4BC2-82D4-2CE2E15AF9C2}" type="pres">
      <dgm:prSet presAssocID="{260B3B58-06AC-4922-ACD2-7F90EC3307B6}" presName="node" presStyleLbl="node1" presStyleIdx="4" presStyleCnt="6">
        <dgm:presLayoutVars>
          <dgm:bulletEnabled val="1"/>
        </dgm:presLayoutVars>
      </dgm:prSet>
      <dgm:spPr/>
      <dgm:t>
        <a:bodyPr/>
        <a:lstStyle/>
        <a:p>
          <a:endParaRPr lang="en-IN"/>
        </a:p>
      </dgm:t>
    </dgm:pt>
    <dgm:pt modelId="{7EC5C7C0-1853-45C6-8DBB-CBAFD9C80492}" type="pres">
      <dgm:prSet presAssocID="{260B3B58-06AC-4922-ACD2-7F90EC3307B6}" presName="dummy" presStyleCnt="0"/>
      <dgm:spPr/>
    </dgm:pt>
    <dgm:pt modelId="{9C6428BD-9B9B-4C5F-AD45-C1BA0423E890}" type="pres">
      <dgm:prSet presAssocID="{7F79FC8D-FBD4-4C37-8F32-F953FA5B2669}" presName="sibTrans" presStyleLbl="sibTrans2D1" presStyleIdx="4" presStyleCnt="6"/>
      <dgm:spPr/>
      <dgm:t>
        <a:bodyPr/>
        <a:lstStyle/>
        <a:p>
          <a:endParaRPr lang="en-IN"/>
        </a:p>
      </dgm:t>
    </dgm:pt>
    <dgm:pt modelId="{60907E69-61DC-45E6-9127-FAA75DFA9DB4}" type="pres">
      <dgm:prSet presAssocID="{C5DDC626-FC85-470A-A6B2-3D32775430D0}" presName="node" presStyleLbl="node1" presStyleIdx="5" presStyleCnt="6">
        <dgm:presLayoutVars>
          <dgm:bulletEnabled val="1"/>
        </dgm:presLayoutVars>
      </dgm:prSet>
      <dgm:spPr/>
      <dgm:t>
        <a:bodyPr/>
        <a:lstStyle/>
        <a:p>
          <a:endParaRPr lang="en-IN"/>
        </a:p>
      </dgm:t>
    </dgm:pt>
    <dgm:pt modelId="{C3B4D8F9-4AF0-4CC3-A412-17F828C5EA52}" type="pres">
      <dgm:prSet presAssocID="{C5DDC626-FC85-470A-A6B2-3D32775430D0}" presName="dummy" presStyleCnt="0"/>
      <dgm:spPr/>
    </dgm:pt>
    <dgm:pt modelId="{CD83FF8A-8662-4E96-B68A-A49A0A7C6D8F}" type="pres">
      <dgm:prSet presAssocID="{018348B6-4F6C-4244-93FE-0BCC8DAD0416}" presName="sibTrans" presStyleLbl="sibTrans2D1" presStyleIdx="5" presStyleCnt="6"/>
      <dgm:spPr/>
      <dgm:t>
        <a:bodyPr/>
        <a:lstStyle/>
        <a:p>
          <a:endParaRPr lang="en-IN"/>
        </a:p>
      </dgm:t>
    </dgm:pt>
  </dgm:ptLst>
  <dgm:cxnLst>
    <dgm:cxn modelId="{D1565438-E0BC-42F1-9E0C-49AF0417B605}" type="presOf" srcId="{71DB9537-352E-42D3-82D7-27343170A729}" destId="{643E3D03-AA0F-44A9-BA71-476F734956AC}" srcOrd="0" destOrd="0" presId="urn:microsoft.com/office/officeart/2005/8/layout/radial6"/>
    <dgm:cxn modelId="{CE317D46-E73C-433D-BA2D-BE1E5B448081}" srcId="{D7A2C6BC-BAB5-4499-BBB1-E289DF9CDECC}" destId="{260B3B58-06AC-4922-ACD2-7F90EC3307B6}" srcOrd="4" destOrd="0" parTransId="{9637046E-CA89-4AC5-94E4-DDE82F3A3A6B}" sibTransId="{7F79FC8D-FBD4-4C37-8F32-F953FA5B2669}"/>
    <dgm:cxn modelId="{6C65F00E-0CF6-49A2-AB6D-247FD6B04642}" type="presOf" srcId="{260B3B58-06AC-4922-ACD2-7F90EC3307B6}" destId="{C3513244-8ADA-4BC2-82D4-2CE2E15AF9C2}" srcOrd="0" destOrd="0" presId="urn:microsoft.com/office/officeart/2005/8/layout/radial6"/>
    <dgm:cxn modelId="{98E4B8C8-57DD-4EFA-8699-71EB64C71C13}" srcId="{D7A2C6BC-BAB5-4499-BBB1-E289DF9CDECC}" destId="{B94A8803-9291-4FE0-9149-8598B5F25A84}" srcOrd="1" destOrd="0" parTransId="{296C60AF-D157-4596-AF81-A03CEB3C653D}" sibTransId="{C461E877-407D-45F1-B020-9F78AEF8899B}"/>
    <dgm:cxn modelId="{BC22C2FE-94A4-4760-BA96-B38233C2395B}" type="presOf" srcId="{B94A8803-9291-4FE0-9149-8598B5F25A84}" destId="{4CF5B0DB-93E9-4829-9575-D88CF06FCF82}" srcOrd="0" destOrd="0" presId="urn:microsoft.com/office/officeart/2005/8/layout/radial6"/>
    <dgm:cxn modelId="{D921F006-C528-42E3-9B2B-88677D4A38D5}" type="presOf" srcId="{149C49B4-23C1-41B5-88F9-F90E9CBDD40F}" destId="{52ECC0BC-1E0E-4C58-BEF8-9921B16F9356}" srcOrd="0" destOrd="0" presId="urn:microsoft.com/office/officeart/2005/8/layout/radial6"/>
    <dgm:cxn modelId="{79E8CBFA-A56F-4BBB-9DF8-B4A72EA8911B}" srcId="{3F016F4F-3B86-4B93-A14E-3376976E21FB}" destId="{D7A2C6BC-BAB5-4499-BBB1-E289DF9CDECC}" srcOrd="0" destOrd="0" parTransId="{8D7F520B-5544-42A8-B2F7-3CFCC4002D22}" sibTransId="{297FF734-48B3-4596-9413-A33F5D3EBC06}"/>
    <dgm:cxn modelId="{BDAAA076-9A06-427C-9538-50F70C408E88}" type="presOf" srcId="{C5DDC626-FC85-470A-A6B2-3D32775430D0}" destId="{60907E69-61DC-45E6-9127-FAA75DFA9DB4}" srcOrd="0" destOrd="0" presId="urn:microsoft.com/office/officeart/2005/8/layout/radial6"/>
    <dgm:cxn modelId="{E774BEFC-4E07-4281-A240-A1F229B9003C}" type="presOf" srcId="{018348B6-4F6C-4244-93FE-0BCC8DAD0416}" destId="{CD83FF8A-8662-4E96-B68A-A49A0A7C6D8F}" srcOrd="0" destOrd="0" presId="urn:microsoft.com/office/officeart/2005/8/layout/radial6"/>
    <dgm:cxn modelId="{D30EC8E2-D4F3-4311-AB2B-0CD159793A09}" type="presOf" srcId="{7310E487-7B61-4678-ACBA-6CF567684DA2}" destId="{5B82602B-3461-4DF9-A05D-66699FEDD03C}" srcOrd="0" destOrd="0" presId="urn:microsoft.com/office/officeart/2005/8/layout/radial6"/>
    <dgm:cxn modelId="{6DE5356B-A7F9-4C6D-9959-5BDEB4036D93}" type="presOf" srcId="{3F016F4F-3B86-4B93-A14E-3376976E21FB}" destId="{405096DB-88A4-486E-9030-7FB1DCFC9F12}" srcOrd="0" destOrd="0" presId="urn:microsoft.com/office/officeart/2005/8/layout/radial6"/>
    <dgm:cxn modelId="{58CDD159-742A-41A8-BD27-0A9D561D62C4}" srcId="{D7A2C6BC-BAB5-4499-BBB1-E289DF9CDECC}" destId="{149C49B4-23C1-41B5-88F9-F90E9CBDD40F}" srcOrd="3" destOrd="0" parTransId="{7197F693-9C53-46F4-A410-9FFFB2E15500}" sibTransId="{FBCA2BCE-3CD3-4AE8-949C-80E48E960962}"/>
    <dgm:cxn modelId="{5D553801-A67F-43EA-B220-0EF7D254CF86}" srcId="{D7A2C6BC-BAB5-4499-BBB1-E289DF9CDECC}" destId="{7310E487-7B61-4678-ACBA-6CF567684DA2}" srcOrd="0" destOrd="0" parTransId="{CD67E34C-1506-44EE-BCCA-3C11F07986B5}" sibTransId="{71DB9537-352E-42D3-82D7-27343170A729}"/>
    <dgm:cxn modelId="{30FC2630-1AD9-43F6-8CED-955EF85E6AC4}" type="presOf" srcId="{C461E877-407D-45F1-B020-9F78AEF8899B}" destId="{0BA8187D-C7E3-4BEA-9A8D-4FF4A0DA38D7}" srcOrd="0" destOrd="0" presId="urn:microsoft.com/office/officeart/2005/8/layout/radial6"/>
    <dgm:cxn modelId="{87A9CBE4-FE31-4A06-B706-28F78B7D6EBA}" type="presOf" srcId="{F7148850-A22A-4DC1-8748-B5BEFA881013}" destId="{6610C483-DBD8-42C2-AD24-7D299ABD6AF8}" srcOrd="0" destOrd="0" presId="urn:microsoft.com/office/officeart/2005/8/layout/radial6"/>
    <dgm:cxn modelId="{559FB772-B4B8-493D-976F-A761E9976F29}" srcId="{D7A2C6BC-BAB5-4499-BBB1-E289DF9CDECC}" destId="{EC6B9AA0-E68F-48E0-9434-3EACCE84C669}" srcOrd="2" destOrd="0" parTransId="{471A75F7-08B5-487A-9EEE-116518372BEC}" sibTransId="{F7148850-A22A-4DC1-8748-B5BEFA881013}"/>
    <dgm:cxn modelId="{ED618255-CC84-4D3D-847B-2A6DB52BCAD0}" type="presOf" srcId="{D7A2C6BC-BAB5-4499-BBB1-E289DF9CDECC}" destId="{4CEF1119-DA0E-4D21-AB52-C779FDB824A3}" srcOrd="0" destOrd="0" presId="urn:microsoft.com/office/officeart/2005/8/layout/radial6"/>
    <dgm:cxn modelId="{D088CDCA-C518-4EC4-BCE7-1A8026661E60}" srcId="{D7A2C6BC-BAB5-4499-BBB1-E289DF9CDECC}" destId="{C5DDC626-FC85-470A-A6B2-3D32775430D0}" srcOrd="5" destOrd="0" parTransId="{31CEC04E-B744-45E8-B3CF-EF010AC9E78B}" sibTransId="{018348B6-4F6C-4244-93FE-0BCC8DAD0416}"/>
    <dgm:cxn modelId="{CA88AB20-BB20-40DB-8FE1-500A904286C5}" type="presOf" srcId="{FBCA2BCE-3CD3-4AE8-949C-80E48E960962}" destId="{18CE6A47-2CDD-4F66-BE01-8223ADD06BAB}" srcOrd="0" destOrd="0" presId="urn:microsoft.com/office/officeart/2005/8/layout/radial6"/>
    <dgm:cxn modelId="{60FD91CD-4337-4CBB-9FE4-33FEEC5F82AB}" type="presOf" srcId="{EC6B9AA0-E68F-48E0-9434-3EACCE84C669}" destId="{07919B3E-1490-4A2D-8FB7-E8DE36D8F84D}" srcOrd="0" destOrd="0" presId="urn:microsoft.com/office/officeart/2005/8/layout/radial6"/>
    <dgm:cxn modelId="{EC71C669-332A-4212-ACB0-B9D12C0C973F}" type="presOf" srcId="{7F79FC8D-FBD4-4C37-8F32-F953FA5B2669}" destId="{9C6428BD-9B9B-4C5F-AD45-C1BA0423E890}" srcOrd="0" destOrd="0" presId="urn:microsoft.com/office/officeart/2005/8/layout/radial6"/>
    <dgm:cxn modelId="{64D10AB2-E87F-4901-9F8B-404E53F372CF}" type="presParOf" srcId="{405096DB-88A4-486E-9030-7FB1DCFC9F12}" destId="{4CEF1119-DA0E-4D21-AB52-C779FDB824A3}" srcOrd="0" destOrd="0" presId="urn:microsoft.com/office/officeart/2005/8/layout/radial6"/>
    <dgm:cxn modelId="{389BE9F1-CCB6-4BFC-9717-4E3009D76760}" type="presParOf" srcId="{405096DB-88A4-486E-9030-7FB1DCFC9F12}" destId="{5B82602B-3461-4DF9-A05D-66699FEDD03C}" srcOrd="1" destOrd="0" presId="urn:microsoft.com/office/officeart/2005/8/layout/radial6"/>
    <dgm:cxn modelId="{09D9E344-A15C-4CE5-8D99-5750E6C0715A}" type="presParOf" srcId="{405096DB-88A4-486E-9030-7FB1DCFC9F12}" destId="{61A1DEA5-89C4-49CC-B618-8E4110131177}" srcOrd="2" destOrd="0" presId="urn:microsoft.com/office/officeart/2005/8/layout/radial6"/>
    <dgm:cxn modelId="{97C0B6C3-DE4C-4F2E-B0C3-6FEE79F213C1}" type="presParOf" srcId="{405096DB-88A4-486E-9030-7FB1DCFC9F12}" destId="{643E3D03-AA0F-44A9-BA71-476F734956AC}" srcOrd="3" destOrd="0" presId="urn:microsoft.com/office/officeart/2005/8/layout/radial6"/>
    <dgm:cxn modelId="{015DF28A-5387-4D69-8FD1-EE4E42B4F149}" type="presParOf" srcId="{405096DB-88A4-486E-9030-7FB1DCFC9F12}" destId="{4CF5B0DB-93E9-4829-9575-D88CF06FCF82}" srcOrd="4" destOrd="0" presId="urn:microsoft.com/office/officeart/2005/8/layout/radial6"/>
    <dgm:cxn modelId="{1C3C2A54-BAB2-455D-9565-B0BC85D2BDF1}" type="presParOf" srcId="{405096DB-88A4-486E-9030-7FB1DCFC9F12}" destId="{51F71C37-B354-467D-A5B1-7E7B5E8089CD}" srcOrd="5" destOrd="0" presId="urn:microsoft.com/office/officeart/2005/8/layout/radial6"/>
    <dgm:cxn modelId="{A0C3E287-9ADC-44A6-8F8B-2A4DAAE2C2E1}" type="presParOf" srcId="{405096DB-88A4-486E-9030-7FB1DCFC9F12}" destId="{0BA8187D-C7E3-4BEA-9A8D-4FF4A0DA38D7}" srcOrd="6" destOrd="0" presId="urn:microsoft.com/office/officeart/2005/8/layout/radial6"/>
    <dgm:cxn modelId="{1F6807C3-B407-4E08-8141-529102A9D12F}" type="presParOf" srcId="{405096DB-88A4-486E-9030-7FB1DCFC9F12}" destId="{07919B3E-1490-4A2D-8FB7-E8DE36D8F84D}" srcOrd="7" destOrd="0" presId="urn:microsoft.com/office/officeart/2005/8/layout/radial6"/>
    <dgm:cxn modelId="{33D631C6-5CD7-4F63-86FB-D2CBCA0BAB34}" type="presParOf" srcId="{405096DB-88A4-486E-9030-7FB1DCFC9F12}" destId="{6DF2EBBF-035E-442D-B595-27F83AA9C983}" srcOrd="8" destOrd="0" presId="urn:microsoft.com/office/officeart/2005/8/layout/radial6"/>
    <dgm:cxn modelId="{07A87BB1-C21C-479B-A329-16DE636A413A}" type="presParOf" srcId="{405096DB-88A4-486E-9030-7FB1DCFC9F12}" destId="{6610C483-DBD8-42C2-AD24-7D299ABD6AF8}" srcOrd="9" destOrd="0" presId="urn:microsoft.com/office/officeart/2005/8/layout/radial6"/>
    <dgm:cxn modelId="{9D001287-BD15-4CA3-8025-B29A07F15325}" type="presParOf" srcId="{405096DB-88A4-486E-9030-7FB1DCFC9F12}" destId="{52ECC0BC-1E0E-4C58-BEF8-9921B16F9356}" srcOrd="10" destOrd="0" presId="urn:microsoft.com/office/officeart/2005/8/layout/radial6"/>
    <dgm:cxn modelId="{C1456DF2-6952-4537-8997-E447763C2712}" type="presParOf" srcId="{405096DB-88A4-486E-9030-7FB1DCFC9F12}" destId="{CCF1C41A-6591-4B84-A255-91A1C5E3B86C}" srcOrd="11" destOrd="0" presId="urn:microsoft.com/office/officeart/2005/8/layout/radial6"/>
    <dgm:cxn modelId="{27B2F29D-C706-4C55-96FA-6279354BBCC2}" type="presParOf" srcId="{405096DB-88A4-486E-9030-7FB1DCFC9F12}" destId="{18CE6A47-2CDD-4F66-BE01-8223ADD06BAB}" srcOrd="12" destOrd="0" presId="urn:microsoft.com/office/officeart/2005/8/layout/radial6"/>
    <dgm:cxn modelId="{D4E1BDE6-F52D-4FCA-A028-86F547FE371F}" type="presParOf" srcId="{405096DB-88A4-486E-9030-7FB1DCFC9F12}" destId="{C3513244-8ADA-4BC2-82D4-2CE2E15AF9C2}" srcOrd="13" destOrd="0" presId="urn:microsoft.com/office/officeart/2005/8/layout/radial6"/>
    <dgm:cxn modelId="{482EA12E-7B5B-4B51-935F-527B3C4D6B63}" type="presParOf" srcId="{405096DB-88A4-486E-9030-7FB1DCFC9F12}" destId="{7EC5C7C0-1853-45C6-8DBB-CBAFD9C80492}" srcOrd="14" destOrd="0" presId="urn:microsoft.com/office/officeart/2005/8/layout/radial6"/>
    <dgm:cxn modelId="{881F24F2-14B8-46FC-8F3A-2091594BE370}" type="presParOf" srcId="{405096DB-88A4-486E-9030-7FB1DCFC9F12}" destId="{9C6428BD-9B9B-4C5F-AD45-C1BA0423E890}" srcOrd="15" destOrd="0" presId="urn:microsoft.com/office/officeart/2005/8/layout/radial6"/>
    <dgm:cxn modelId="{B8B76804-49DB-493B-8793-6DC83AE4EE94}" type="presParOf" srcId="{405096DB-88A4-486E-9030-7FB1DCFC9F12}" destId="{60907E69-61DC-45E6-9127-FAA75DFA9DB4}" srcOrd="16" destOrd="0" presId="urn:microsoft.com/office/officeart/2005/8/layout/radial6"/>
    <dgm:cxn modelId="{0859A119-BCCF-482C-8682-EE653D904AFC}" type="presParOf" srcId="{405096DB-88A4-486E-9030-7FB1DCFC9F12}" destId="{C3B4D8F9-4AF0-4CC3-A412-17F828C5EA52}" srcOrd="17" destOrd="0" presId="urn:microsoft.com/office/officeart/2005/8/layout/radial6"/>
    <dgm:cxn modelId="{C1C31205-F0C2-4D70-A8C9-2FA4419D750F}" type="presParOf" srcId="{405096DB-88A4-486E-9030-7FB1DCFC9F12}" destId="{CD83FF8A-8662-4E96-B68A-A49A0A7C6D8F}" srcOrd="18"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1FEEA3-3370-4C77-BAC5-70FE2C2377CF}">
      <dsp:nvSpPr>
        <dsp:cNvPr id="0" name=""/>
        <dsp:cNvSpPr/>
      </dsp:nvSpPr>
      <dsp:spPr>
        <a:xfrm>
          <a:off x="2552355" y="1419597"/>
          <a:ext cx="1804369" cy="1560852"/>
        </a:xfrm>
        <a:prstGeom prst="hexagon">
          <a:avLst>
            <a:gd name="adj" fmla="val 28570"/>
            <a:gd name="vf" fmla="val 115470"/>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n-IN" sz="1600" kern="1200" dirty="0" smtClean="0"/>
            <a:t>District level aggregation</a:t>
          </a:r>
          <a:endParaRPr lang="en-IN" sz="1600" kern="1200" dirty="0"/>
        </a:p>
      </dsp:txBody>
      <dsp:txXfrm>
        <a:off x="2851364" y="1678252"/>
        <a:ext cx="1206351" cy="1043542"/>
      </dsp:txXfrm>
    </dsp:sp>
    <dsp:sp modelId="{8F33937B-7DFC-4AAC-B3E6-9E5E7F9148D7}">
      <dsp:nvSpPr>
        <dsp:cNvPr id="0" name=""/>
        <dsp:cNvSpPr/>
      </dsp:nvSpPr>
      <dsp:spPr>
        <a:xfrm>
          <a:off x="3682237" y="672834"/>
          <a:ext cx="680783" cy="586584"/>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66FF3D-74F3-4C0A-AFA1-AE74E8FE38F1}">
      <dsp:nvSpPr>
        <dsp:cNvPr id="0" name=""/>
        <dsp:cNvSpPr/>
      </dsp:nvSpPr>
      <dsp:spPr>
        <a:xfrm>
          <a:off x="2718563" y="0"/>
          <a:ext cx="1478668" cy="1279221"/>
        </a:xfrm>
        <a:prstGeom prst="hexagon">
          <a:avLst>
            <a:gd name="adj" fmla="val 2857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n-IN" sz="1600" kern="1200" dirty="0" smtClean="0"/>
            <a:t>Rainfall</a:t>
          </a:r>
          <a:endParaRPr lang="en-IN" sz="1600" kern="1200" dirty="0"/>
        </a:p>
      </dsp:txBody>
      <dsp:txXfrm>
        <a:off x="2963610" y="211994"/>
        <a:ext cx="988574" cy="855233"/>
      </dsp:txXfrm>
    </dsp:sp>
    <dsp:sp modelId="{0D95D15D-81D3-4CA0-9BB5-D4C9F2F93BE4}">
      <dsp:nvSpPr>
        <dsp:cNvPr id="0" name=""/>
        <dsp:cNvSpPr/>
      </dsp:nvSpPr>
      <dsp:spPr>
        <a:xfrm>
          <a:off x="4476764" y="1769435"/>
          <a:ext cx="680783" cy="586584"/>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1B363C-53B7-46F9-9BA9-825ECA44E699}">
      <dsp:nvSpPr>
        <dsp:cNvPr id="0" name=""/>
        <dsp:cNvSpPr/>
      </dsp:nvSpPr>
      <dsp:spPr>
        <a:xfrm>
          <a:off x="4074674" y="786807"/>
          <a:ext cx="1478668" cy="1279221"/>
        </a:xfrm>
        <a:prstGeom prst="hexagon">
          <a:avLst>
            <a:gd name="adj" fmla="val 2857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n-IN" sz="1600" kern="1200" dirty="0" smtClean="0"/>
            <a:t>GDP and Growth</a:t>
          </a:r>
          <a:endParaRPr lang="en-IN" sz="1600" kern="1200" dirty="0"/>
        </a:p>
      </dsp:txBody>
      <dsp:txXfrm>
        <a:off x="4319721" y="998801"/>
        <a:ext cx="988574" cy="855233"/>
      </dsp:txXfrm>
    </dsp:sp>
    <dsp:sp modelId="{DCDC207B-504F-4D24-8B56-00BAFB24B795}">
      <dsp:nvSpPr>
        <dsp:cNvPr id="0" name=""/>
        <dsp:cNvSpPr/>
      </dsp:nvSpPr>
      <dsp:spPr>
        <a:xfrm>
          <a:off x="3924834" y="3007292"/>
          <a:ext cx="680783" cy="586584"/>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8CA101-0A99-4829-8DBD-10D5DC662C5D}">
      <dsp:nvSpPr>
        <dsp:cNvPr id="0" name=""/>
        <dsp:cNvSpPr/>
      </dsp:nvSpPr>
      <dsp:spPr>
        <a:xfrm>
          <a:off x="4074674" y="2333578"/>
          <a:ext cx="1478668" cy="1279221"/>
        </a:xfrm>
        <a:prstGeom prst="hexagon">
          <a:avLst>
            <a:gd name="adj" fmla="val 2857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n-IN" sz="1600" kern="1200" dirty="0" smtClean="0"/>
            <a:t>Affluence and growth  estimate</a:t>
          </a:r>
          <a:endParaRPr lang="en-IN" sz="1600" kern="1200" dirty="0"/>
        </a:p>
      </dsp:txBody>
      <dsp:txXfrm>
        <a:off x="4319721" y="2545572"/>
        <a:ext cx="988574" cy="855233"/>
      </dsp:txXfrm>
    </dsp:sp>
    <dsp:sp modelId="{C228E20B-70C9-4B3E-8894-33CB53F87F9B}">
      <dsp:nvSpPr>
        <dsp:cNvPr id="0" name=""/>
        <dsp:cNvSpPr/>
      </dsp:nvSpPr>
      <dsp:spPr>
        <a:xfrm>
          <a:off x="2555713" y="3135787"/>
          <a:ext cx="680783" cy="586584"/>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FC64CB-EDE9-43EA-808C-2595035FD624}">
      <dsp:nvSpPr>
        <dsp:cNvPr id="0" name=""/>
        <dsp:cNvSpPr/>
      </dsp:nvSpPr>
      <dsp:spPr>
        <a:xfrm>
          <a:off x="2718563" y="3121265"/>
          <a:ext cx="1478668" cy="1279221"/>
        </a:xfrm>
        <a:prstGeom prst="hexagon">
          <a:avLst>
            <a:gd name="adj" fmla="val 2857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n-IN" sz="1600" kern="1200" dirty="0" smtClean="0"/>
            <a:t>Area under cultivation</a:t>
          </a:r>
          <a:endParaRPr lang="en-IN" sz="1600" kern="1200" dirty="0"/>
        </a:p>
      </dsp:txBody>
      <dsp:txXfrm>
        <a:off x="2963610" y="3333259"/>
        <a:ext cx="988574" cy="855233"/>
      </dsp:txXfrm>
    </dsp:sp>
    <dsp:sp modelId="{4D7D5835-BF44-4EBF-8CAF-C54F54209566}">
      <dsp:nvSpPr>
        <dsp:cNvPr id="0" name=""/>
        <dsp:cNvSpPr/>
      </dsp:nvSpPr>
      <dsp:spPr>
        <a:xfrm>
          <a:off x="1748174" y="2039625"/>
          <a:ext cx="680783" cy="586584"/>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129FFF-5A73-4FE2-9B8A-4C360B156DAC}">
      <dsp:nvSpPr>
        <dsp:cNvPr id="0" name=""/>
        <dsp:cNvSpPr/>
      </dsp:nvSpPr>
      <dsp:spPr>
        <a:xfrm>
          <a:off x="1356157" y="2334458"/>
          <a:ext cx="1478668" cy="1279221"/>
        </a:xfrm>
        <a:prstGeom prst="hexagon">
          <a:avLst>
            <a:gd name="adj" fmla="val 2857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n-IN" sz="1600" kern="1200" dirty="0" smtClean="0"/>
            <a:t>Area under irrigation</a:t>
          </a:r>
          <a:endParaRPr lang="en-IN" sz="1600" kern="1200" dirty="0"/>
        </a:p>
      </dsp:txBody>
      <dsp:txXfrm>
        <a:off x="1601204" y="2546452"/>
        <a:ext cx="988574" cy="855233"/>
      </dsp:txXfrm>
    </dsp:sp>
    <dsp:sp modelId="{2CE7B139-0E20-4AA7-80ED-B65301064FB9}">
      <dsp:nvSpPr>
        <dsp:cNvPr id="0" name=""/>
        <dsp:cNvSpPr/>
      </dsp:nvSpPr>
      <dsp:spPr>
        <a:xfrm>
          <a:off x="1356157" y="785046"/>
          <a:ext cx="1478668" cy="1279221"/>
        </a:xfrm>
        <a:prstGeom prst="hexagon">
          <a:avLst>
            <a:gd name="adj" fmla="val 2857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n-IN" sz="1600" kern="1200" dirty="0" smtClean="0"/>
            <a:t>Population Sizing </a:t>
          </a:r>
          <a:endParaRPr lang="en-IN" sz="1600" kern="1200" dirty="0"/>
        </a:p>
      </dsp:txBody>
      <dsp:txXfrm>
        <a:off x="1601204" y="997040"/>
        <a:ext cx="988574" cy="85523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83FF8A-8662-4E96-B68A-A49A0A7C6D8F}">
      <dsp:nvSpPr>
        <dsp:cNvPr id="0" name=""/>
        <dsp:cNvSpPr/>
      </dsp:nvSpPr>
      <dsp:spPr>
        <a:xfrm>
          <a:off x="1626116" y="462588"/>
          <a:ext cx="3162728" cy="3162728"/>
        </a:xfrm>
        <a:prstGeom prst="blockArc">
          <a:avLst>
            <a:gd name="adj1" fmla="val 12600000"/>
            <a:gd name="adj2" fmla="val 16200000"/>
            <a:gd name="adj3" fmla="val 451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C6428BD-9B9B-4C5F-AD45-C1BA0423E890}">
      <dsp:nvSpPr>
        <dsp:cNvPr id="0" name=""/>
        <dsp:cNvSpPr/>
      </dsp:nvSpPr>
      <dsp:spPr>
        <a:xfrm>
          <a:off x="1626116" y="462588"/>
          <a:ext cx="3162728" cy="3162728"/>
        </a:xfrm>
        <a:prstGeom prst="blockArc">
          <a:avLst>
            <a:gd name="adj1" fmla="val 9000000"/>
            <a:gd name="adj2" fmla="val 12600000"/>
            <a:gd name="adj3" fmla="val 451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8CE6A47-2CDD-4F66-BE01-8223ADD06BAB}">
      <dsp:nvSpPr>
        <dsp:cNvPr id="0" name=""/>
        <dsp:cNvSpPr/>
      </dsp:nvSpPr>
      <dsp:spPr>
        <a:xfrm>
          <a:off x="1626116" y="462588"/>
          <a:ext cx="3162728" cy="3162728"/>
        </a:xfrm>
        <a:prstGeom prst="blockArc">
          <a:avLst>
            <a:gd name="adj1" fmla="val 5400000"/>
            <a:gd name="adj2" fmla="val 9000000"/>
            <a:gd name="adj3" fmla="val 451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610C483-DBD8-42C2-AD24-7D299ABD6AF8}">
      <dsp:nvSpPr>
        <dsp:cNvPr id="0" name=""/>
        <dsp:cNvSpPr/>
      </dsp:nvSpPr>
      <dsp:spPr>
        <a:xfrm>
          <a:off x="1626116" y="462588"/>
          <a:ext cx="3162728" cy="3162728"/>
        </a:xfrm>
        <a:prstGeom prst="blockArc">
          <a:avLst>
            <a:gd name="adj1" fmla="val 1800000"/>
            <a:gd name="adj2" fmla="val 5400000"/>
            <a:gd name="adj3" fmla="val 451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BA8187D-C7E3-4BEA-9A8D-4FF4A0DA38D7}">
      <dsp:nvSpPr>
        <dsp:cNvPr id="0" name=""/>
        <dsp:cNvSpPr/>
      </dsp:nvSpPr>
      <dsp:spPr>
        <a:xfrm>
          <a:off x="1626116" y="462588"/>
          <a:ext cx="3162728" cy="3162728"/>
        </a:xfrm>
        <a:prstGeom prst="blockArc">
          <a:avLst>
            <a:gd name="adj1" fmla="val 19800000"/>
            <a:gd name="adj2" fmla="val 1800000"/>
            <a:gd name="adj3" fmla="val 451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43E3D03-AA0F-44A9-BA71-476F734956AC}">
      <dsp:nvSpPr>
        <dsp:cNvPr id="0" name=""/>
        <dsp:cNvSpPr/>
      </dsp:nvSpPr>
      <dsp:spPr>
        <a:xfrm>
          <a:off x="1626116" y="462588"/>
          <a:ext cx="3162728" cy="3162728"/>
        </a:xfrm>
        <a:prstGeom prst="blockArc">
          <a:avLst>
            <a:gd name="adj1" fmla="val 16200000"/>
            <a:gd name="adj2" fmla="val 19800000"/>
            <a:gd name="adj3" fmla="val 451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CEF1119-DA0E-4D21-AB52-C779FDB824A3}">
      <dsp:nvSpPr>
        <dsp:cNvPr id="0" name=""/>
        <dsp:cNvSpPr/>
      </dsp:nvSpPr>
      <dsp:spPr>
        <a:xfrm>
          <a:off x="2498796" y="1335268"/>
          <a:ext cx="1417368" cy="141736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IN" sz="1300" kern="1200" dirty="0" smtClean="0"/>
            <a:t>Location Characteristic Metrics</a:t>
          </a:r>
          <a:endParaRPr lang="en-IN" sz="1300" kern="1200" dirty="0"/>
        </a:p>
      </dsp:txBody>
      <dsp:txXfrm>
        <a:off x="2706365" y="1542837"/>
        <a:ext cx="1002230" cy="1002230"/>
      </dsp:txXfrm>
    </dsp:sp>
    <dsp:sp modelId="{5B82602B-3461-4DF9-A05D-66699FEDD03C}">
      <dsp:nvSpPr>
        <dsp:cNvPr id="0" name=""/>
        <dsp:cNvSpPr/>
      </dsp:nvSpPr>
      <dsp:spPr>
        <a:xfrm>
          <a:off x="2711401" y="2227"/>
          <a:ext cx="992157" cy="99215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IN" sz="1100" kern="1200" dirty="0" smtClean="0"/>
            <a:t>Activity Hub</a:t>
          </a:r>
          <a:endParaRPr lang="en-IN" sz="1100" kern="1200" dirty="0"/>
        </a:p>
      </dsp:txBody>
      <dsp:txXfrm>
        <a:off x="2856699" y="147525"/>
        <a:ext cx="701561" cy="701561"/>
      </dsp:txXfrm>
    </dsp:sp>
    <dsp:sp modelId="{4CF5B0DB-93E9-4829-9575-D88CF06FCF82}">
      <dsp:nvSpPr>
        <dsp:cNvPr id="0" name=""/>
        <dsp:cNvSpPr/>
      </dsp:nvSpPr>
      <dsp:spPr>
        <a:xfrm>
          <a:off x="4049970" y="775050"/>
          <a:ext cx="992157" cy="99215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IN" sz="1100" b="0" kern="1200" dirty="0" smtClean="0"/>
            <a:t>Well Irrigated and Cropped</a:t>
          </a:r>
          <a:endParaRPr lang="en-IN" sz="1100" b="0" kern="1200" dirty="0"/>
        </a:p>
      </dsp:txBody>
      <dsp:txXfrm>
        <a:off x="4195268" y="920348"/>
        <a:ext cx="701561" cy="701561"/>
      </dsp:txXfrm>
    </dsp:sp>
    <dsp:sp modelId="{07919B3E-1490-4A2D-8FB7-E8DE36D8F84D}">
      <dsp:nvSpPr>
        <dsp:cNvPr id="0" name=""/>
        <dsp:cNvSpPr/>
      </dsp:nvSpPr>
      <dsp:spPr>
        <a:xfrm>
          <a:off x="4049970" y="2320697"/>
          <a:ext cx="992157" cy="99215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IN" sz="1100" b="0" kern="1200" dirty="0" smtClean="0"/>
            <a:t>Rural, Cultivator population</a:t>
          </a:r>
          <a:endParaRPr lang="en-IN" sz="1100" b="0" kern="1200" dirty="0"/>
        </a:p>
      </dsp:txBody>
      <dsp:txXfrm>
        <a:off x="4195268" y="2465995"/>
        <a:ext cx="701561" cy="701561"/>
      </dsp:txXfrm>
    </dsp:sp>
    <dsp:sp modelId="{52ECC0BC-1E0E-4C58-BEF8-9921B16F9356}">
      <dsp:nvSpPr>
        <dsp:cNvPr id="0" name=""/>
        <dsp:cNvSpPr/>
      </dsp:nvSpPr>
      <dsp:spPr>
        <a:xfrm>
          <a:off x="2711401" y="3093520"/>
          <a:ext cx="992157" cy="99215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IN" sz="1100" kern="1200" dirty="0" smtClean="0"/>
            <a:t>Rainfall</a:t>
          </a:r>
          <a:endParaRPr lang="en-IN" sz="1100" kern="1200" dirty="0"/>
        </a:p>
      </dsp:txBody>
      <dsp:txXfrm>
        <a:off x="2856699" y="3238818"/>
        <a:ext cx="701561" cy="701561"/>
      </dsp:txXfrm>
    </dsp:sp>
    <dsp:sp modelId="{C3513244-8ADA-4BC2-82D4-2CE2E15AF9C2}">
      <dsp:nvSpPr>
        <dsp:cNvPr id="0" name=""/>
        <dsp:cNvSpPr/>
      </dsp:nvSpPr>
      <dsp:spPr>
        <a:xfrm>
          <a:off x="1372832" y="2320697"/>
          <a:ext cx="992157" cy="99215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IN" sz="1100" kern="1200" dirty="0" smtClean="0"/>
            <a:t>Non Food Crop irrigated areas</a:t>
          </a:r>
          <a:endParaRPr lang="en-IN" sz="1100" kern="1200" dirty="0"/>
        </a:p>
      </dsp:txBody>
      <dsp:txXfrm>
        <a:off x="1518130" y="2465995"/>
        <a:ext cx="701561" cy="701561"/>
      </dsp:txXfrm>
    </dsp:sp>
    <dsp:sp modelId="{60907E69-61DC-45E6-9127-FAA75DFA9DB4}">
      <dsp:nvSpPr>
        <dsp:cNvPr id="0" name=""/>
        <dsp:cNvSpPr/>
      </dsp:nvSpPr>
      <dsp:spPr>
        <a:xfrm>
          <a:off x="1372832" y="775050"/>
          <a:ext cx="992157" cy="99215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IN" sz="1100" kern="1200" dirty="0" smtClean="0"/>
            <a:t>Tractor buying Customers</a:t>
          </a:r>
        </a:p>
      </dsp:txBody>
      <dsp:txXfrm>
        <a:off x="1518130" y="920348"/>
        <a:ext cx="701561" cy="701561"/>
      </dsp:txXfrm>
    </dsp:sp>
  </dsp:spTree>
</dsp:drawing>
</file>

<file path=ppt/diagrams/layout1.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1615BD-D018-E545-9289-4AB1AE8F6686}" type="datetimeFigureOut">
              <a:rPr lang="en-US" smtClean="0"/>
              <a:t>12/19/2016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57CCB0-914D-D143-908C-7E6DBE57730A}" type="slidenum">
              <a:rPr lang="en-US" smtClean="0"/>
              <a:t>‹#›</a:t>
            </a:fld>
            <a:endParaRPr lang="en-US"/>
          </a:p>
        </p:txBody>
      </p:sp>
    </p:spTree>
    <p:extLst>
      <p:ext uri="{BB962C8B-B14F-4D97-AF65-F5344CB8AC3E}">
        <p14:creationId xmlns:p14="http://schemas.microsoft.com/office/powerpoint/2010/main" val="519056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F57CCB0-914D-D143-908C-7E6DBE57730A}" type="slidenum">
              <a:rPr lang="en-US" smtClean="0"/>
              <a:t>1</a:t>
            </a:fld>
            <a:endParaRPr lang="en-US"/>
          </a:p>
        </p:txBody>
      </p:sp>
    </p:spTree>
    <p:extLst>
      <p:ext uri="{BB962C8B-B14F-4D97-AF65-F5344CB8AC3E}">
        <p14:creationId xmlns:p14="http://schemas.microsoft.com/office/powerpoint/2010/main" val="15300458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F57CCB0-914D-D143-908C-7E6DBE57730A}" type="slidenum">
              <a:rPr lang="en-US" smtClean="0"/>
              <a:t>2</a:t>
            </a:fld>
            <a:endParaRPr lang="en-US"/>
          </a:p>
        </p:txBody>
      </p:sp>
    </p:spTree>
    <p:extLst>
      <p:ext uri="{BB962C8B-B14F-4D97-AF65-F5344CB8AC3E}">
        <p14:creationId xmlns:p14="http://schemas.microsoft.com/office/powerpoint/2010/main" val="36543320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F57CCB0-914D-D143-908C-7E6DBE57730A}" type="slidenum">
              <a:rPr lang="en-US" smtClean="0"/>
              <a:t>13</a:t>
            </a:fld>
            <a:endParaRPr lang="en-US"/>
          </a:p>
        </p:txBody>
      </p:sp>
    </p:spTree>
    <p:extLst>
      <p:ext uri="{BB962C8B-B14F-4D97-AF65-F5344CB8AC3E}">
        <p14:creationId xmlns:p14="http://schemas.microsoft.com/office/powerpoint/2010/main" val="20541286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F57CCB0-914D-D143-908C-7E6DBE57730A}" type="slidenum">
              <a:rPr lang="en-US" smtClean="0"/>
              <a:t>16</a:t>
            </a:fld>
            <a:endParaRPr lang="en-US"/>
          </a:p>
        </p:txBody>
      </p:sp>
    </p:spTree>
    <p:extLst>
      <p:ext uri="{BB962C8B-B14F-4D97-AF65-F5344CB8AC3E}">
        <p14:creationId xmlns:p14="http://schemas.microsoft.com/office/powerpoint/2010/main" val="30311255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53A37BD6-0D3D-4445-9516-40387E9A638D}" type="datetime1">
              <a:rPr lang="en-IN" smtClean="0"/>
              <a:t>19-12-2016</a:t>
            </a:fld>
            <a:endParaRPr lang="en-IN" dirty="0"/>
          </a:p>
        </p:txBody>
      </p:sp>
      <p:sp>
        <p:nvSpPr>
          <p:cNvPr id="5" name="Footer Placeholder 4"/>
          <p:cNvSpPr>
            <a:spLocks noGrp="1"/>
          </p:cNvSpPr>
          <p:nvPr>
            <p:ph type="ftr" sz="quarter" idx="11"/>
          </p:nvPr>
        </p:nvSpPr>
        <p:spPr/>
        <p:txBody>
          <a:bodyPr/>
          <a:lstStyle/>
          <a:p>
            <a:r>
              <a:rPr lang="en-IN" smtClean="0"/>
              <a:t>Version 1                                                                                            Confidential</a:t>
            </a:r>
            <a:endParaRPr lang="en-IN" dirty="0"/>
          </a:p>
        </p:txBody>
      </p:sp>
      <p:sp>
        <p:nvSpPr>
          <p:cNvPr id="6" name="Slide Number Placeholder 5"/>
          <p:cNvSpPr>
            <a:spLocks noGrp="1"/>
          </p:cNvSpPr>
          <p:nvPr>
            <p:ph type="sldNum" sz="quarter" idx="12"/>
          </p:nvPr>
        </p:nvSpPr>
        <p:spPr/>
        <p:txBody>
          <a:bodyPr/>
          <a:lstStyle/>
          <a:p>
            <a:fld id="{3040F425-731D-4835-A38A-9545B9CAE996}" type="slidenum">
              <a:rPr lang="en-IN" smtClean="0"/>
              <a:t>‹#›</a:t>
            </a:fld>
            <a:endParaRPr lang="en-IN" dirty="0"/>
          </a:p>
        </p:txBody>
      </p:sp>
    </p:spTree>
    <p:extLst>
      <p:ext uri="{BB962C8B-B14F-4D97-AF65-F5344CB8AC3E}">
        <p14:creationId xmlns:p14="http://schemas.microsoft.com/office/powerpoint/2010/main" val="40746894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E383E73-ACF0-4677-8A63-E7754C9B16F6}" type="datetime1">
              <a:rPr lang="en-IN" smtClean="0"/>
              <a:t>19-12-2016</a:t>
            </a:fld>
            <a:endParaRPr lang="en-IN" dirty="0"/>
          </a:p>
        </p:txBody>
      </p:sp>
      <p:sp>
        <p:nvSpPr>
          <p:cNvPr id="5" name="Footer Placeholder 4"/>
          <p:cNvSpPr>
            <a:spLocks noGrp="1"/>
          </p:cNvSpPr>
          <p:nvPr>
            <p:ph type="ftr" sz="quarter" idx="11"/>
          </p:nvPr>
        </p:nvSpPr>
        <p:spPr/>
        <p:txBody>
          <a:bodyPr/>
          <a:lstStyle/>
          <a:p>
            <a:r>
              <a:rPr lang="en-IN" smtClean="0"/>
              <a:t>Version 1                                                                                            Confidential</a:t>
            </a:r>
            <a:endParaRPr lang="en-IN" dirty="0"/>
          </a:p>
        </p:txBody>
      </p:sp>
      <p:sp>
        <p:nvSpPr>
          <p:cNvPr id="6" name="Slide Number Placeholder 5"/>
          <p:cNvSpPr>
            <a:spLocks noGrp="1"/>
          </p:cNvSpPr>
          <p:nvPr>
            <p:ph type="sldNum" sz="quarter" idx="12"/>
          </p:nvPr>
        </p:nvSpPr>
        <p:spPr/>
        <p:txBody>
          <a:bodyPr/>
          <a:lstStyle/>
          <a:p>
            <a:fld id="{3040F425-731D-4835-A38A-9545B9CAE996}" type="slidenum">
              <a:rPr lang="en-IN" smtClean="0"/>
              <a:t>‹#›</a:t>
            </a:fld>
            <a:endParaRPr lang="en-IN" dirty="0"/>
          </a:p>
        </p:txBody>
      </p:sp>
    </p:spTree>
    <p:extLst>
      <p:ext uri="{BB962C8B-B14F-4D97-AF65-F5344CB8AC3E}">
        <p14:creationId xmlns:p14="http://schemas.microsoft.com/office/powerpoint/2010/main" val="1022697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5FC384B-3DB6-49F9-A402-2F04F39BBC94}" type="datetime1">
              <a:rPr lang="en-IN" smtClean="0"/>
              <a:t>19-12-2016</a:t>
            </a:fld>
            <a:endParaRPr lang="en-IN" dirty="0"/>
          </a:p>
        </p:txBody>
      </p:sp>
      <p:sp>
        <p:nvSpPr>
          <p:cNvPr id="5" name="Footer Placeholder 4"/>
          <p:cNvSpPr>
            <a:spLocks noGrp="1"/>
          </p:cNvSpPr>
          <p:nvPr>
            <p:ph type="ftr" sz="quarter" idx="11"/>
          </p:nvPr>
        </p:nvSpPr>
        <p:spPr/>
        <p:txBody>
          <a:bodyPr/>
          <a:lstStyle/>
          <a:p>
            <a:r>
              <a:rPr lang="en-IN" smtClean="0"/>
              <a:t>Version 1                                                                                            Confidential</a:t>
            </a:r>
            <a:endParaRPr lang="en-IN" dirty="0"/>
          </a:p>
        </p:txBody>
      </p:sp>
      <p:sp>
        <p:nvSpPr>
          <p:cNvPr id="6" name="Slide Number Placeholder 5"/>
          <p:cNvSpPr>
            <a:spLocks noGrp="1"/>
          </p:cNvSpPr>
          <p:nvPr>
            <p:ph type="sldNum" sz="quarter" idx="12"/>
          </p:nvPr>
        </p:nvSpPr>
        <p:spPr/>
        <p:txBody>
          <a:bodyPr/>
          <a:lstStyle/>
          <a:p>
            <a:fld id="{3040F425-731D-4835-A38A-9545B9CAE996}" type="slidenum">
              <a:rPr lang="en-IN" smtClean="0"/>
              <a:t>‹#›</a:t>
            </a:fld>
            <a:endParaRPr lang="en-IN" dirty="0"/>
          </a:p>
        </p:txBody>
      </p:sp>
    </p:spTree>
    <p:extLst>
      <p:ext uri="{BB962C8B-B14F-4D97-AF65-F5344CB8AC3E}">
        <p14:creationId xmlns:p14="http://schemas.microsoft.com/office/powerpoint/2010/main" val="2593845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21237AB9-E41C-404D-99E4-0D89BBD6F3B7}" type="datetime1">
              <a:rPr lang="en-IN" smtClean="0"/>
              <a:t>19-12-2016</a:t>
            </a:fld>
            <a:endParaRPr lang="en-IN" dirty="0"/>
          </a:p>
        </p:txBody>
      </p:sp>
      <p:sp>
        <p:nvSpPr>
          <p:cNvPr id="6" name="Footer Placeholder 5"/>
          <p:cNvSpPr>
            <a:spLocks noGrp="1"/>
          </p:cNvSpPr>
          <p:nvPr>
            <p:ph type="ftr" sz="quarter" idx="11"/>
          </p:nvPr>
        </p:nvSpPr>
        <p:spPr/>
        <p:txBody>
          <a:bodyPr/>
          <a:lstStyle/>
          <a:p>
            <a:r>
              <a:rPr lang="en-IN" smtClean="0"/>
              <a:t>Version 1                                                                                            Confidential</a:t>
            </a:r>
            <a:endParaRPr lang="en-IN" dirty="0"/>
          </a:p>
        </p:txBody>
      </p:sp>
      <p:sp>
        <p:nvSpPr>
          <p:cNvPr id="7" name="Slide Number Placeholder 6"/>
          <p:cNvSpPr>
            <a:spLocks noGrp="1"/>
          </p:cNvSpPr>
          <p:nvPr>
            <p:ph type="sldNum" sz="quarter" idx="12"/>
          </p:nvPr>
        </p:nvSpPr>
        <p:spPr/>
        <p:txBody>
          <a:bodyPr/>
          <a:lstStyle/>
          <a:p>
            <a:fld id="{3040F425-731D-4835-A38A-9545B9CAE996}" type="slidenum">
              <a:rPr lang="en-IN" smtClean="0"/>
              <a:t>‹#›</a:t>
            </a:fld>
            <a:endParaRPr lang="en-IN" dirty="0"/>
          </a:p>
        </p:txBody>
      </p:sp>
    </p:spTree>
    <p:extLst>
      <p:ext uri="{BB962C8B-B14F-4D97-AF65-F5344CB8AC3E}">
        <p14:creationId xmlns:p14="http://schemas.microsoft.com/office/powerpoint/2010/main" val="1609842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92B9E29C-74BE-45FD-AD90-13E0BBF9D9AD}" type="datetime1">
              <a:rPr lang="en-IN" smtClean="0"/>
              <a:t>19-12-2016</a:t>
            </a:fld>
            <a:endParaRPr lang="en-IN" dirty="0"/>
          </a:p>
        </p:txBody>
      </p:sp>
      <p:sp>
        <p:nvSpPr>
          <p:cNvPr id="8" name="Footer Placeholder 7"/>
          <p:cNvSpPr>
            <a:spLocks noGrp="1"/>
          </p:cNvSpPr>
          <p:nvPr>
            <p:ph type="ftr" sz="quarter" idx="11"/>
          </p:nvPr>
        </p:nvSpPr>
        <p:spPr/>
        <p:txBody>
          <a:bodyPr/>
          <a:lstStyle/>
          <a:p>
            <a:r>
              <a:rPr lang="en-IN" smtClean="0"/>
              <a:t>Version 1                                                                                            Confidential</a:t>
            </a:r>
            <a:endParaRPr lang="en-IN" dirty="0"/>
          </a:p>
        </p:txBody>
      </p:sp>
      <p:sp>
        <p:nvSpPr>
          <p:cNvPr id="9" name="Slide Number Placeholder 8"/>
          <p:cNvSpPr>
            <a:spLocks noGrp="1"/>
          </p:cNvSpPr>
          <p:nvPr>
            <p:ph type="sldNum" sz="quarter" idx="12"/>
          </p:nvPr>
        </p:nvSpPr>
        <p:spPr/>
        <p:txBody>
          <a:bodyPr/>
          <a:lstStyle/>
          <a:p>
            <a:fld id="{3040F425-731D-4835-A38A-9545B9CAE996}" type="slidenum">
              <a:rPr lang="en-IN" smtClean="0"/>
              <a:t>‹#›</a:t>
            </a:fld>
            <a:endParaRPr lang="en-IN" dirty="0"/>
          </a:p>
        </p:txBody>
      </p:sp>
    </p:spTree>
    <p:extLst>
      <p:ext uri="{BB962C8B-B14F-4D97-AF65-F5344CB8AC3E}">
        <p14:creationId xmlns:p14="http://schemas.microsoft.com/office/powerpoint/2010/main" val="1947226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C53EC4B-2E88-4A7C-ACB5-C826F71F3760}" type="datetime1">
              <a:rPr lang="en-IN" smtClean="0"/>
              <a:t>19-12-2016</a:t>
            </a:fld>
            <a:endParaRPr lang="en-IN" dirty="0"/>
          </a:p>
        </p:txBody>
      </p:sp>
      <p:sp>
        <p:nvSpPr>
          <p:cNvPr id="4" name="Footer Placeholder 3"/>
          <p:cNvSpPr>
            <a:spLocks noGrp="1"/>
          </p:cNvSpPr>
          <p:nvPr>
            <p:ph type="ftr" sz="quarter" idx="11"/>
          </p:nvPr>
        </p:nvSpPr>
        <p:spPr/>
        <p:txBody>
          <a:bodyPr/>
          <a:lstStyle/>
          <a:p>
            <a:r>
              <a:rPr lang="en-IN" smtClean="0"/>
              <a:t>Version 1                                                                                            Confidential</a:t>
            </a:r>
            <a:endParaRPr lang="en-IN" dirty="0"/>
          </a:p>
        </p:txBody>
      </p:sp>
      <p:sp>
        <p:nvSpPr>
          <p:cNvPr id="5" name="Slide Number Placeholder 4"/>
          <p:cNvSpPr>
            <a:spLocks noGrp="1"/>
          </p:cNvSpPr>
          <p:nvPr>
            <p:ph type="sldNum" sz="quarter" idx="12"/>
          </p:nvPr>
        </p:nvSpPr>
        <p:spPr/>
        <p:txBody>
          <a:bodyPr/>
          <a:lstStyle/>
          <a:p>
            <a:fld id="{3040F425-731D-4835-A38A-9545B9CAE996}" type="slidenum">
              <a:rPr lang="en-IN" smtClean="0"/>
              <a:t>‹#›</a:t>
            </a:fld>
            <a:endParaRPr lang="en-IN" dirty="0"/>
          </a:p>
        </p:txBody>
      </p:sp>
    </p:spTree>
    <p:extLst>
      <p:ext uri="{BB962C8B-B14F-4D97-AF65-F5344CB8AC3E}">
        <p14:creationId xmlns:p14="http://schemas.microsoft.com/office/powerpoint/2010/main" val="1061131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099BF1-8186-4C54-BC6C-CBE58FABD82B}" type="datetime1">
              <a:rPr lang="en-IN" smtClean="0"/>
              <a:t>19-12-2016</a:t>
            </a:fld>
            <a:endParaRPr lang="en-IN" dirty="0"/>
          </a:p>
        </p:txBody>
      </p:sp>
      <p:sp>
        <p:nvSpPr>
          <p:cNvPr id="3" name="Footer Placeholder 2"/>
          <p:cNvSpPr>
            <a:spLocks noGrp="1"/>
          </p:cNvSpPr>
          <p:nvPr>
            <p:ph type="ftr" sz="quarter" idx="11"/>
          </p:nvPr>
        </p:nvSpPr>
        <p:spPr/>
        <p:txBody>
          <a:bodyPr/>
          <a:lstStyle/>
          <a:p>
            <a:r>
              <a:rPr lang="en-IN" smtClean="0"/>
              <a:t>Version 1                                                                                            Confidential</a:t>
            </a:r>
            <a:endParaRPr lang="en-IN" dirty="0"/>
          </a:p>
        </p:txBody>
      </p:sp>
      <p:sp>
        <p:nvSpPr>
          <p:cNvPr id="4" name="Slide Number Placeholder 3"/>
          <p:cNvSpPr>
            <a:spLocks noGrp="1"/>
          </p:cNvSpPr>
          <p:nvPr>
            <p:ph type="sldNum" sz="quarter" idx="12"/>
          </p:nvPr>
        </p:nvSpPr>
        <p:spPr/>
        <p:txBody>
          <a:bodyPr/>
          <a:lstStyle/>
          <a:p>
            <a:fld id="{3040F425-731D-4835-A38A-9545B9CAE996}" type="slidenum">
              <a:rPr lang="en-IN" smtClean="0"/>
              <a:t>‹#›</a:t>
            </a:fld>
            <a:endParaRPr lang="en-IN" dirty="0"/>
          </a:p>
        </p:txBody>
      </p:sp>
    </p:spTree>
    <p:extLst>
      <p:ext uri="{BB962C8B-B14F-4D97-AF65-F5344CB8AC3E}">
        <p14:creationId xmlns:p14="http://schemas.microsoft.com/office/powerpoint/2010/main" val="996493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9716D4B-72E0-4550-B535-94AB6DABD937}" type="datetime1">
              <a:rPr lang="en-IN" smtClean="0"/>
              <a:t>19-12-2016</a:t>
            </a:fld>
            <a:endParaRPr lang="en-IN" dirty="0"/>
          </a:p>
        </p:txBody>
      </p:sp>
      <p:sp>
        <p:nvSpPr>
          <p:cNvPr id="6" name="Footer Placeholder 5"/>
          <p:cNvSpPr>
            <a:spLocks noGrp="1"/>
          </p:cNvSpPr>
          <p:nvPr>
            <p:ph type="ftr" sz="quarter" idx="11"/>
          </p:nvPr>
        </p:nvSpPr>
        <p:spPr/>
        <p:txBody>
          <a:bodyPr/>
          <a:lstStyle/>
          <a:p>
            <a:r>
              <a:rPr lang="en-IN" smtClean="0"/>
              <a:t>Version 1                                                                                            Confidential</a:t>
            </a:r>
            <a:endParaRPr lang="en-IN" dirty="0"/>
          </a:p>
        </p:txBody>
      </p:sp>
      <p:sp>
        <p:nvSpPr>
          <p:cNvPr id="7" name="Slide Number Placeholder 6"/>
          <p:cNvSpPr>
            <a:spLocks noGrp="1"/>
          </p:cNvSpPr>
          <p:nvPr>
            <p:ph type="sldNum" sz="quarter" idx="12"/>
          </p:nvPr>
        </p:nvSpPr>
        <p:spPr/>
        <p:txBody>
          <a:bodyPr/>
          <a:lstStyle/>
          <a:p>
            <a:fld id="{3040F425-731D-4835-A38A-9545B9CAE996}" type="slidenum">
              <a:rPr lang="en-IN" smtClean="0"/>
              <a:t>‹#›</a:t>
            </a:fld>
            <a:endParaRPr lang="en-IN" dirty="0"/>
          </a:p>
        </p:txBody>
      </p:sp>
    </p:spTree>
    <p:extLst>
      <p:ext uri="{BB962C8B-B14F-4D97-AF65-F5344CB8AC3E}">
        <p14:creationId xmlns:p14="http://schemas.microsoft.com/office/powerpoint/2010/main" val="4253949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DDDA81-B8B1-4F08-B4C8-6E9FBD446BAC}" type="datetime1">
              <a:rPr lang="en-IN" smtClean="0"/>
              <a:t>19-12-2016</a:t>
            </a:fld>
            <a:endParaRPr lang="en-IN" dirty="0"/>
          </a:p>
        </p:txBody>
      </p:sp>
      <p:sp>
        <p:nvSpPr>
          <p:cNvPr id="6" name="Footer Placeholder 5"/>
          <p:cNvSpPr>
            <a:spLocks noGrp="1"/>
          </p:cNvSpPr>
          <p:nvPr>
            <p:ph type="ftr" sz="quarter" idx="11"/>
          </p:nvPr>
        </p:nvSpPr>
        <p:spPr/>
        <p:txBody>
          <a:bodyPr/>
          <a:lstStyle/>
          <a:p>
            <a:r>
              <a:rPr lang="en-IN" smtClean="0"/>
              <a:t>Version 1                                                                                            Confidential</a:t>
            </a:r>
            <a:endParaRPr lang="en-IN" dirty="0"/>
          </a:p>
        </p:txBody>
      </p:sp>
      <p:sp>
        <p:nvSpPr>
          <p:cNvPr id="7" name="Slide Number Placeholder 6"/>
          <p:cNvSpPr>
            <a:spLocks noGrp="1"/>
          </p:cNvSpPr>
          <p:nvPr>
            <p:ph type="sldNum" sz="quarter" idx="12"/>
          </p:nvPr>
        </p:nvSpPr>
        <p:spPr/>
        <p:txBody>
          <a:bodyPr/>
          <a:lstStyle/>
          <a:p>
            <a:fld id="{3040F425-731D-4835-A38A-9545B9CAE996}" type="slidenum">
              <a:rPr lang="en-IN" smtClean="0"/>
              <a:t>‹#›</a:t>
            </a:fld>
            <a:endParaRPr lang="en-IN" dirty="0"/>
          </a:p>
        </p:txBody>
      </p:sp>
    </p:spTree>
    <p:extLst>
      <p:ext uri="{BB962C8B-B14F-4D97-AF65-F5344CB8AC3E}">
        <p14:creationId xmlns:p14="http://schemas.microsoft.com/office/powerpoint/2010/main" val="864860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33CE3C2-B177-4493-8316-0921C06E6A6A}" type="datetime1">
              <a:rPr lang="en-IN" smtClean="0"/>
              <a:t>19-12-2016</a:t>
            </a:fld>
            <a:endParaRPr lang="en-IN" dirty="0"/>
          </a:p>
        </p:txBody>
      </p:sp>
      <p:sp>
        <p:nvSpPr>
          <p:cNvPr id="5" name="Footer Placeholder 4"/>
          <p:cNvSpPr>
            <a:spLocks noGrp="1"/>
          </p:cNvSpPr>
          <p:nvPr>
            <p:ph type="ftr" sz="quarter" idx="11"/>
          </p:nvPr>
        </p:nvSpPr>
        <p:spPr/>
        <p:txBody>
          <a:bodyPr/>
          <a:lstStyle/>
          <a:p>
            <a:r>
              <a:rPr lang="en-IN" smtClean="0"/>
              <a:t>Version 1                                                                                            Confidential</a:t>
            </a:r>
            <a:endParaRPr lang="en-IN" dirty="0"/>
          </a:p>
        </p:txBody>
      </p:sp>
      <p:sp>
        <p:nvSpPr>
          <p:cNvPr id="6" name="Slide Number Placeholder 5"/>
          <p:cNvSpPr>
            <a:spLocks noGrp="1"/>
          </p:cNvSpPr>
          <p:nvPr>
            <p:ph type="sldNum" sz="quarter" idx="12"/>
          </p:nvPr>
        </p:nvSpPr>
        <p:spPr/>
        <p:txBody>
          <a:bodyPr/>
          <a:lstStyle/>
          <a:p>
            <a:fld id="{3040F425-731D-4835-A38A-9545B9CAE996}" type="slidenum">
              <a:rPr lang="en-IN" smtClean="0"/>
              <a:t>‹#›</a:t>
            </a:fld>
            <a:endParaRPr lang="en-IN" dirty="0"/>
          </a:p>
        </p:txBody>
      </p:sp>
    </p:spTree>
    <p:extLst>
      <p:ext uri="{BB962C8B-B14F-4D97-AF65-F5344CB8AC3E}">
        <p14:creationId xmlns:p14="http://schemas.microsoft.com/office/powerpoint/2010/main" val="22737486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F30DD54-8AEB-4450-A4AA-A2A535FAA247}" type="datetime1">
              <a:rPr lang="en-IN" smtClean="0"/>
              <a:t>19-12-2016</a:t>
            </a:fld>
            <a:endParaRPr lang="en-IN" dirty="0"/>
          </a:p>
        </p:txBody>
      </p:sp>
      <p:sp>
        <p:nvSpPr>
          <p:cNvPr id="5" name="Footer Placeholder 4"/>
          <p:cNvSpPr>
            <a:spLocks noGrp="1"/>
          </p:cNvSpPr>
          <p:nvPr>
            <p:ph type="ftr" sz="quarter" idx="11"/>
          </p:nvPr>
        </p:nvSpPr>
        <p:spPr/>
        <p:txBody>
          <a:bodyPr/>
          <a:lstStyle/>
          <a:p>
            <a:r>
              <a:rPr lang="en-IN" smtClean="0"/>
              <a:t>Version 1                                                                                            Confidential</a:t>
            </a:r>
            <a:endParaRPr lang="en-IN" dirty="0"/>
          </a:p>
        </p:txBody>
      </p:sp>
      <p:sp>
        <p:nvSpPr>
          <p:cNvPr id="6" name="Slide Number Placeholder 5"/>
          <p:cNvSpPr>
            <a:spLocks noGrp="1"/>
          </p:cNvSpPr>
          <p:nvPr>
            <p:ph type="sldNum" sz="quarter" idx="12"/>
          </p:nvPr>
        </p:nvSpPr>
        <p:spPr/>
        <p:txBody>
          <a:bodyPr/>
          <a:lstStyle/>
          <a:p>
            <a:fld id="{3040F425-731D-4835-A38A-9545B9CAE996}" type="slidenum">
              <a:rPr lang="en-IN" smtClean="0"/>
              <a:t>‹#›</a:t>
            </a:fld>
            <a:endParaRPr lang="en-IN" dirty="0"/>
          </a:p>
        </p:txBody>
      </p:sp>
    </p:spTree>
    <p:extLst>
      <p:ext uri="{BB962C8B-B14F-4D97-AF65-F5344CB8AC3E}">
        <p14:creationId xmlns:p14="http://schemas.microsoft.com/office/powerpoint/2010/main" val="2062386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B438AF-F456-403F-9929-E14CB4A67CCD}" type="datetime1">
              <a:rPr lang="en-IN" smtClean="0"/>
              <a:t>19-12-2016</a:t>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smtClean="0"/>
              <a:t>Version 1                                                                                            Confidential</a:t>
            </a:r>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40F425-731D-4835-A38A-9545B9CAE996}" type="slidenum">
              <a:rPr lang="en-IN" smtClean="0"/>
              <a:t>‹#›</a:t>
            </a:fld>
            <a:endParaRPr lang="en-IN" dirty="0"/>
          </a:p>
        </p:txBody>
      </p:sp>
    </p:spTree>
    <p:extLst>
      <p:ext uri="{BB962C8B-B14F-4D97-AF65-F5344CB8AC3E}">
        <p14:creationId xmlns:p14="http://schemas.microsoft.com/office/powerpoint/2010/main" val="40979546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8" Type="http://schemas.openxmlformats.org/officeDocument/2006/relationships/chart" Target="../charts/chart5.xml"/><Relationship Id="rId13" Type="http://schemas.openxmlformats.org/officeDocument/2006/relationships/package" Target="../embeddings/Microsoft_Excel_Worksheet9.xlsx"/><Relationship Id="rId3" Type="http://schemas.openxmlformats.org/officeDocument/2006/relationships/image" Target="../media/image2.jpeg"/><Relationship Id="rId7" Type="http://schemas.openxmlformats.org/officeDocument/2006/relationships/chart" Target="../charts/chart4.xml"/><Relationship Id="rId12"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chart" Target="../charts/chart3.xml"/><Relationship Id="rId11" Type="http://schemas.openxmlformats.org/officeDocument/2006/relationships/chart" Target="../charts/chart8.xml"/><Relationship Id="rId5" Type="http://schemas.openxmlformats.org/officeDocument/2006/relationships/chart" Target="../charts/chart2.xml"/><Relationship Id="rId10" Type="http://schemas.openxmlformats.org/officeDocument/2006/relationships/chart" Target="../charts/chart7.xml"/><Relationship Id="rId4" Type="http://schemas.openxmlformats.org/officeDocument/2006/relationships/chart" Target="../charts/chart1.xml"/><Relationship Id="rId9" Type="http://schemas.openxmlformats.org/officeDocument/2006/relationships/chart" Target="../charts/chart6.xml"/><Relationship Id="rId14" Type="http://schemas.openxmlformats.org/officeDocument/2006/relationships/image" Target="../media/image3.wmf"/></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gif"/></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9.xml"/><Relationship Id="rId7" Type="http://schemas.openxmlformats.org/officeDocument/2006/relationships/image" Target="../media/image7.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package" Target="../embeddings/Microsoft_Excel_Worksheet10.xlsx"/><Relationship Id="rId5" Type="http://schemas.openxmlformats.org/officeDocument/2006/relationships/oleObject" Target="../embeddings/oleObject2.bin"/><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chart" Target="../charts/chart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chart" Target="../charts/chart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chart" Target="../charts/chart13.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chart" Target="../charts/chart14.xml"/><Relationship Id="rId5" Type="http://schemas.openxmlformats.org/officeDocument/2006/relationships/image" Target="../media/image6.png"/><Relationship Id="rId4" Type="http://schemas.openxmlformats.org/officeDocument/2006/relationships/image" Target="../media/image5.gif"/></Relationships>
</file>

<file path=ppt/slides/_rels/slide17.xml.rels><?xml version="1.0" encoding="UTF-8" standalone="yes"?>
<Relationships xmlns="http://schemas.openxmlformats.org/package/2006/relationships"><Relationship Id="rId8" Type="http://schemas.openxmlformats.org/officeDocument/2006/relationships/chart" Target="../charts/chart20.xml"/><Relationship Id="rId3" Type="http://schemas.openxmlformats.org/officeDocument/2006/relationships/image" Target="../media/image2.jpeg"/><Relationship Id="rId7" Type="http://schemas.openxmlformats.org/officeDocument/2006/relationships/chart" Target="../charts/chart19.xml"/><Relationship Id="rId2" Type="http://schemas.openxmlformats.org/officeDocument/2006/relationships/chart" Target="../charts/chart15.xml"/><Relationship Id="rId1" Type="http://schemas.openxmlformats.org/officeDocument/2006/relationships/slideLayout" Target="../slideLayouts/slideLayout2.xml"/><Relationship Id="rId6" Type="http://schemas.openxmlformats.org/officeDocument/2006/relationships/chart" Target="../charts/chart18.xml"/><Relationship Id="rId5" Type="http://schemas.openxmlformats.org/officeDocument/2006/relationships/chart" Target="../charts/chart17.xml"/><Relationship Id="rId4" Type="http://schemas.openxmlformats.org/officeDocument/2006/relationships/chart" Target="../charts/chart16.xml"/></Relationships>
</file>

<file path=ppt/slides/_rels/slide18.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chart" Target="../charts/chart2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23.xm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chart" Target="../charts/chart2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chart" Target="../charts/chart2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0" y="0"/>
            <a:ext cx="12192000" cy="6858000"/>
          </a:xfrm>
          <a:prstGeom prst="rect">
            <a:avLst/>
          </a:prstGeom>
        </p:spPr>
      </p:pic>
      <p:sp>
        <p:nvSpPr>
          <p:cNvPr id="7" name="Rectangle 6"/>
          <p:cNvSpPr/>
          <p:nvPr/>
        </p:nvSpPr>
        <p:spPr>
          <a:xfrm>
            <a:off x="228600" y="4887774"/>
            <a:ext cx="5080000" cy="1754326"/>
          </a:xfrm>
          <a:prstGeom prst="rect">
            <a:avLst/>
          </a:prstGeom>
        </p:spPr>
        <p:txBody>
          <a:bodyPr wrap="square" anchor="b">
            <a:spAutoFit/>
          </a:bodyPr>
          <a:lstStyle/>
          <a:p>
            <a:pPr lvl="0"/>
            <a:r>
              <a:rPr lang="en-US" sz="900" dirty="0">
                <a:solidFill>
                  <a:prstClr val="white"/>
                </a:solidFill>
                <a:latin typeface="Century Gothic"/>
              </a:rPr>
              <a:t>The information contained in the document is proprietary to Tata Industries Limited- Tata Insights &amp; Quants Division and is strictly confidential. </a:t>
            </a:r>
            <a:r>
              <a:rPr lang="en-IN" sz="900" dirty="0">
                <a:solidFill>
                  <a:prstClr val="white"/>
                </a:solidFill>
                <a:latin typeface="Century Gothic"/>
              </a:rPr>
              <a:t>In consideration of receipt of this document, the recipient agrees that the information is being shared only for the limited purpose. The recipient of this information further agrees to maintain such information in confidence and to not reproduce, disclose, duplicate, electronically transmit or use in whole or in part for any other purpose. Prior written consent shall be obtained from the Insights &amp; Quants Division of Tata Industries in case the information is necessitated to be shared with anyone other than the Recipient to whom this information is addressed. The above restriction shall not limit the right to use the information contained in this deck, if it is obtained from another source without restriction.</a:t>
            </a:r>
            <a:br>
              <a:rPr lang="en-IN" sz="900" dirty="0">
                <a:solidFill>
                  <a:prstClr val="white"/>
                </a:solidFill>
                <a:latin typeface="Century Gothic"/>
              </a:rPr>
            </a:br>
            <a:r>
              <a:rPr lang="en-IN" sz="900" dirty="0">
                <a:solidFill>
                  <a:prstClr val="white"/>
                </a:solidFill>
                <a:latin typeface="Century Gothic"/>
              </a:rPr>
              <a:t> </a:t>
            </a:r>
            <a:br>
              <a:rPr lang="en-IN" sz="900" dirty="0">
                <a:solidFill>
                  <a:prstClr val="white"/>
                </a:solidFill>
                <a:latin typeface="Century Gothic"/>
              </a:rPr>
            </a:br>
            <a:r>
              <a:rPr lang="en-IN" sz="900" dirty="0">
                <a:solidFill>
                  <a:prstClr val="white"/>
                </a:solidFill>
                <a:latin typeface="Century Gothic"/>
              </a:rPr>
              <a:t>© Copyright, Tata Insights &amp; Quants Division, Tata Industries Limited </a:t>
            </a:r>
          </a:p>
        </p:txBody>
      </p:sp>
      <p:sp>
        <p:nvSpPr>
          <p:cNvPr id="8" name="Rectangle 7"/>
          <p:cNvSpPr/>
          <p:nvPr/>
        </p:nvSpPr>
        <p:spPr>
          <a:xfrm>
            <a:off x="2960254" y="1905506"/>
            <a:ext cx="8495146" cy="2739211"/>
          </a:xfrm>
          <a:prstGeom prst="rect">
            <a:avLst/>
          </a:prstGeom>
        </p:spPr>
        <p:txBody>
          <a:bodyPr wrap="none">
            <a:spAutoFit/>
          </a:bodyPr>
          <a:lstStyle/>
          <a:p>
            <a:pPr algn="r"/>
            <a:r>
              <a:rPr lang="en-US" sz="4800" b="1" dirty="0" smtClean="0">
                <a:solidFill>
                  <a:schemeClr val="bg1"/>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rPr>
              <a:t>Tata Steel Wires</a:t>
            </a:r>
          </a:p>
          <a:p>
            <a:pPr algn="r"/>
            <a:r>
              <a:rPr lang="en-US" sz="2800" b="1" dirty="0" smtClean="0">
                <a:solidFill>
                  <a:schemeClr val="bg1"/>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rPr>
              <a:t>Territory Attractiveness and Demand Forecasting</a:t>
            </a:r>
            <a:endParaRPr lang="en-US" sz="4800" b="1" dirty="0" smtClean="0">
              <a:solidFill>
                <a:schemeClr val="bg1"/>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endParaRPr>
          </a:p>
          <a:p>
            <a:pPr algn="r"/>
            <a:endParaRPr lang="en-US" sz="4800" b="1" dirty="0" smtClean="0">
              <a:solidFill>
                <a:schemeClr val="bg1"/>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endParaRPr>
          </a:p>
          <a:p>
            <a:pPr algn="r"/>
            <a:endParaRPr lang="en-US" sz="4800" b="1" dirty="0">
              <a:solidFill>
                <a:schemeClr val="bg1"/>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endParaRPr>
          </a:p>
        </p:txBody>
      </p:sp>
      <p:sp>
        <p:nvSpPr>
          <p:cNvPr id="10" name="Rectangle 9"/>
          <p:cNvSpPr/>
          <p:nvPr/>
        </p:nvSpPr>
        <p:spPr>
          <a:xfrm>
            <a:off x="4216400" y="3949222"/>
            <a:ext cx="7239000" cy="400110"/>
          </a:xfrm>
          <a:prstGeom prst="rect">
            <a:avLst/>
          </a:prstGeom>
        </p:spPr>
        <p:txBody>
          <a:bodyPr wrap="square">
            <a:spAutoFit/>
          </a:bodyPr>
          <a:lstStyle/>
          <a:p>
            <a:pPr algn="r"/>
            <a:r>
              <a:rPr lang="en-US" sz="2000" b="1" dirty="0" smtClean="0">
                <a:solidFill>
                  <a:schemeClr val="bg1"/>
                </a:solidFill>
                <a:latin typeface="Leelawadee UI" panose="020B0502040204020203" pitchFamily="34" charset="-34"/>
                <a:cs typeface="Leelawadee UI" panose="020B0502040204020203" pitchFamily="34" charset="-34"/>
              </a:rPr>
              <a:t>November 2016</a:t>
            </a:r>
            <a:endParaRPr lang="en-US" sz="2000" b="1" dirty="0">
              <a:solidFill>
                <a:schemeClr val="bg1"/>
              </a:solidFill>
              <a:latin typeface="Leelawadee UI" panose="020B0502040204020203" pitchFamily="34" charset="-34"/>
              <a:cs typeface="Leelawadee UI" panose="020B0502040204020203" pitchFamily="34" charset="-34"/>
            </a:endParaRPr>
          </a:p>
        </p:txBody>
      </p:sp>
      <p:sp>
        <p:nvSpPr>
          <p:cNvPr id="2" name="Footer Placeholder 1"/>
          <p:cNvSpPr>
            <a:spLocks noGrp="1"/>
          </p:cNvSpPr>
          <p:nvPr>
            <p:ph type="ftr" sz="quarter" idx="11"/>
          </p:nvPr>
        </p:nvSpPr>
        <p:spPr/>
        <p:txBody>
          <a:bodyPr/>
          <a:lstStyle/>
          <a:p>
            <a:r>
              <a:rPr lang="en-IN" smtClean="0"/>
              <a:t>Version 1                                                                                            Confidential</a:t>
            </a:r>
            <a:endParaRPr lang="en-IN" dirty="0"/>
          </a:p>
        </p:txBody>
      </p:sp>
      <p:sp>
        <p:nvSpPr>
          <p:cNvPr id="3" name="Slide Number Placeholder 2"/>
          <p:cNvSpPr>
            <a:spLocks noGrp="1"/>
          </p:cNvSpPr>
          <p:nvPr>
            <p:ph type="sldNum" sz="quarter" idx="12"/>
          </p:nvPr>
        </p:nvSpPr>
        <p:spPr/>
        <p:txBody>
          <a:bodyPr/>
          <a:lstStyle/>
          <a:p>
            <a:fld id="{3040F425-731D-4835-A38A-9545B9CAE996}" type="slidenum">
              <a:rPr lang="en-IN" smtClean="0"/>
              <a:t>1</a:t>
            </a:fld>
            <a:endParaRPr lang="en-IN" dirty="0"/>
          </a:p>
        </p:txBody>
      </p:sp>
    </p:spTree>
    <p:extLst>
      <p:ext uri="{BB962C8B-B14F-4D97-AF65-F5344CB8AC3E}">
        <p14:creationId xmlns:p14="http://schemas.microsoft.com/office/powerpoint/2010/main" val="41203208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endParaRPr>
          </a:p>
        </p:txBody>
      </p:sp>
      <p:cxnSp>
        <p:nvCxnSpPr>
          <p:cNvPr id="15" name="Straight Connector 14"/>
          <p:cNvCxnSpPr/>
          <p:nvPr/>
        </p:nvCxnSpPr>
        <p:spPr>
          <a:xfrm>
            <a:off x="1" y="512914"/>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5248579" y="237066"/>
            <a:ext cx="1694888"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Contents</a:t>
            </a:r>
          </a:p>
        </p:txBody>
      </p:sp>
      <p:sp>
        <p:nvSpPr>
          <p:cNvPr id="2" name="Footer Placeholder 1"/>
          <p:cNvSpPr>
            <a:spLocks noGrp="1"/>
          </p:cNvSpPr>
          <p:nvPr>
            <p:ph type="ftr" sz="quarter" idx="11"/>
          </p:nvPr>
        </p:nvSpPr>
        <p:spPr/>
        <p:txBody>
          <a:bodyPr/>
          <a:lstStyle/>
          <a:p>
            <a:r>
              <a:rPr lang="en-IN" smtClean="0"/>
              <a:t>Version 1                                                                                            Confidential</a:t>
            </a:r>
            <a:endParaRPr lang="en-IN" dirty="0"/>
          </a:p>
        </p:txBody>
      </p:sp>
      <p:grpSp>
        <p:nvGrpSpPr>
          <p:cNvPr id="9" name="Group 8"/>
          <p:cNvGrpSpPr/>
          <p:nvPr/>
        </p:nvGrpSpPr>
        <p:grpSpPr>
          <a:xfrm>
            <a:off x="524434" y="1244864"/>
            <a:ext cx="10999695" cy="987347"/>
            <a:chOff x="2275095" y="1046125"/>
            <a:chExt cx="6010903" cy="479192"/>
          </a:xfrm>
        </p:grpSpPr>
        <p:sp>
          <p:nvSpPr>
            <p:cNvPr id="16" name="Pentagon 15"/>
            <p:cNvSpPr/>
            <p:nvPr/>
          </p:nvSpPr>
          <p:spPr>
            <a:xfrm>
              <a:off x="4899024" y="1046125"/>
              <a:ext cx="3386974" cy="479192"/>
            </a:xfrm>
            <a:prstGeom prst="homePlat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prstClr val="white"/>
                  </a:solidFill>
                  <a:latin typeface="Leelawadee UI" panose="020B0502040204020203" pitchFamily="34" charset="-34"/>
                  <a:cs typeface="Leelawadee UI" panose="020B0502040204020203" pitchFamily="34" charset="-34"/>
                </a:rPr>
                <a:t>         Data Sources and Metrics Overview</a:t>
              </a:r>
              <a:endParaRPr lang="en-US" dirty="0">
                <a:solidFill>
                  <a:prstClr val="white"/>
                </a:solidFill>
                <a:latin typeface="Leelawadee UI" panose="020B0502040204020203" pitchFamily="34" charset="-34"/>
                <a:cs typeface="Leelawadee UI" panose="020B0502040204020203" pitchFamily="34" charset="-34"/>
              </a:endParaRPr>
            </a:p>
          </p:txBody>
        </p:sp>
        <p:sp>
          <p:nvSpPr>
            <p:cNvPr id="17" name="Pentagon 16"/>
            <p:cNvSpPr/>
            <p:nvPr/>
          </p:nvSpPr>
          <p:spPr>
            <a:xfrm>
              <a:off x="2275095" y="1046125"/>
              <a:ext cx="2984842" cy="479192"/>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bg1"/>
                  </a:solidFill>
                  <a:latin typeface="Leelawadee UI" panose="020B0502040204020203" pitchFamily="34" charset="-34"/>
                  <a:cs typeface="Leelawadee UI" panose="020B0502040204020203" pitchFamily="34" charset="-34"/>
                </a:rPr>
                <a:t>Data and Aggregation</a:t>
              </a:r>
              <a:endParaRPr lang="en-US" sz="2000" b="1" dirty="0">
                <a:solidFill>
                  <a:schemeClr val="bg1"/>
                </a:solidFill>
                <a:latin typeface="Leelawadee UI" panose="020B0502040204020203" pitchFamily="34" charset="-34"/>
                <a:cs typeface="Leelawadee UI" panose="020B0502040204020203" pitchFamily="34" charset="-34"/>
              </a:endParaRPr>
            </a:p>
          </p:txBody>
        </p:sp>
      </p:grpSp>
      <p:sp>
        <p:nvSpPr>
          <p:cNvPr id="5" name="Rectangle 4"/>
          <p:cNvSpPr/>
          <p:nvPr/>
        </p:nvSpPr>
        <p:spPr>
          <a:xfrm>
            <a:off x="10999694" y="1244864"/>
            <a:ext cx="632012" cy="987348"/>
          </a:xfrm>
          <a:prstGeom prst="rect">
            <a:avLst/>
          </a:prstGeom>
          <a:solidFill>
            <a:schemeClr val="accent4"/>
          </a:solidFill>
          <a:ln>
            <a:noFill/>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pPr algn="ctr"/>
            <a:endParaRPr lang="en-IN"/>
          </a:p>
        </p:txBody>
      </p:sp>
      <p:grpSp>
        <p:nvGrpSpPr>
          <p:cNvPr id="18" name="Group 17"/>
          <p:cNvGrpSpPr/>
          <p:nvPr/>
        </p:nvGrpSpPr>
        <p:grpSpPr>
          <a:xfrm>
            <a:off x="524434" y="2791033"/>
            <a:ext cx="10999695" cy="987347"/>
            <a:chOff x="2275095" y="1046125"/>
            <a:chExt cx="6010903" cy="479192"/>
          </a:xfrm>
        </p:grpSpPr>
        <p:sp>
          <p:nvSpPr>
            <p:cNvPr id="19" name="Pentagon 18"/>
            <p:cNvSpPr/>
            <p:nvPr/>
          </p:nvSpPr>
          <p:spPr>
            <a:xfrm>
              <a:off x="4899024" y="1046125"/>
              <a:ext cx="3386974" cy="479192"/>
            </a:xfrm>
            <a:prstGeom prst="homePlat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prstClr val="white"/>
                  </a:solidFill>
                  <a:latin typeface="Leelawadee UI" panose="020B0502040204020203" pitchFamily="34" charset="-34"/>
                  <a:cs typeface="Leelawadee UI" panose="020B0502040204020203" pitchFamily="34" charset="-34"/>
                </a:rPr>
                <a:t>            </a:t>
              </a:r>
              <a:r>
                <a:rPr lang="en-US" dirty="0" smtClean="0">
                  <a:solidFill>
                    <a:prstClr val="white"/>
                  </a:solidFill>
                  <a:latin typeface="Leelawadee UI" panose="020B0502040204020203" pitchFamily="34" charset="-34"/>
                  <a:cs typeface="Leelawadee UI" panose="020B0502040204020203" pitchFamily="34" charset="-34"/>
                </a:rPr>
                <a:t>Attractiveness Clusters and Scoring</a:t>
              </a:r>
              <a:endParaRPr lang="en-US" dirty="0">
                <a:solidFill>
                  <a:prstClr val="white"/>
                </a:solidFill>
                <a:latin typeface="Leelawadee UI" panose="020B0502040204020203" pitchFamily="34" charset="-34"/>
                <a:cs typeface="Leelawadee UI" panose="020B0502040204020203" pitchFamily="34" charset="-34"/>
              </a:endParaRPr>
            </a:p>
          </p:txBody>
        </p:sp>
        <p:sp>
          <p:nvSpPr>
            <p:cNvPr id="20" name="Pentagon 19"/>
            <p:cNvSpPr/>
            <p:nvPr/>
          </p:nvSpPr>
          <p:spPr>
            <a:xfrm>
              <a:off x="2275095" y="1046125"/>
              <a:ext cx="2984842" cy="479192"/>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bg1"/>
                  </a:solidFill>
                  <a:latin typeface="Leelawadee UI" panose="020B0502040204020203" pitchFamily="34" charset="-34"/>
                  <a:cs typeface="Leelawadee UI" panose="020B0502040204020203" pitchFamily="34" charset="-34"/>
                </a:rPr>
                <a:t>Territory Attractiveness</a:t>
              </a:r>
              <a:endParaRPr lang="en-US" sz="2000" b="1" dirty="0">
                <a:solidFill>
                  <a:schemeClr val="bg1"/>
                </a:solidFill>
                <a:latin typeface="Leelawadee UI" panose="020B0502040204020203" pitchFamily="34" charset="-34"/>
                <a:cs typeface="Leelawadee UI" panose="020B0502040204020203" pitchFamily="34" charset="-34"/>
              </a:endParaRPr>
            </a:p>
          </p:txBody>
        </p:sp>
      </p:grpSp>
      <p:sp>
        <p:nvSpPr>
          <p:cNvPr id="21" name="Rectangle 20"/>
          <p:cNvSpPr/>
          <p:nvPr/>
        </p:nvSpPr>
        <p:spPr>
          <a:xfrm>
            <a:off x="10999694" y="2791033"/>
            <a:ext cx="632012" cy="987348"/>
          </a:xfrm>
          <a:prstGeom prst="rect">
            <a:avLst/>
          </a:prstGeom>
          <a:solidFill>
            <a:schemeClr val="accent4"/>
          </a:solidFill>
          <a:ln>
            <a:noFill/>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pPr algn="ctr"/>
            <a:endParaRPr lang="en-IN"/>
          </a:p>
        </p:txBody>
      </p:sp>
      <p:grpSp>
        <p:nvGrpSpPr>
          <p:cNvPr id="22" name="Group 21"/>
          <p:cNvGrpSpPr/>
          <p:nvPr/>
        </p:nvGrpSpPr>
        <p:grpSpPr>
          <a:xfrm>
            <a:off x="546146" y="4346300"/>
            <a:ext cx="10999695" cy="987347"/>
            <a:chOff x="2275095" y="1046125"/>
            <a:chExt cx="6010903" cy="479192"/>
          </a:xfrm>
        </p:grpSpPr>
        <p:sp>
          <p:nvSpPr>
            <p:cNvPr id="23" name="Pentagon 22"/>
            <p:cNvSpPr/>
            <p:nvPr/>
          </p:nvSpPr>
          <p:spPr>
            <a:xfrm>
              <a:off x="4899024" y="1046125"/>
              <a:ext cx="3386974" cy="479192"/>
            </a:xfrm>
            <a:prstGeom prst="homePlat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prstClr val="white"/>
                  </a:solidFill>
                  <a:latin typeface="Leelawadee UI" panose="020B0502040204020203" pitchFamily="34" charset="-34"/>
                  <a:cs typeface="Leelawadee UI" panose="020B0502040204020203" pitchFamily="34" charset="-34"/>
                </a:rPr>
                <a:t>            </a:t>
              </a:r>
              <a:r>
                <a:rPr lang="en-US" dirty="0" smtClean="0">
                  <a:solidFill>
                    <a:prstClr val="white"/>
                  </a:solidFill>
                  <a:latin typeface="Leelawadee UI" panose="020B0502040204020203" pitchFamily="34" charset="-34"/>
                  <a:cs typeface="Leelawadee UI" panose="020B0502040204020203" pitchFamily="34" charset="-34"/>
                </a:rPr>
                <a:t>Techniques and Results</a:t>
              </a:r>
              <a:endParaRPr lang="en-US" dirty="0">
                <a:solidFill>
                  <a:prstClr val="white"/>
                </a:solidFill>
                <a:latin typeface="Leelawadee UI" panose="020B0502040204020203" pitchFamily="34" charset="-34"/>
                <a:cs typeface="Leelawadee UI" panose="020B0502040204020203" pitchFamily="34" charset="-34"/>
              </a:endParaRPr>
            </a:p>
          </p:txBody>
        </p:sp>
        <p:sp>
          <p:nvSpPr>
            <p:cNvPr id="24" name="Pentagon 23"/>
            <p:cNvSpPr/>
            <p:nvPr/>
          </p:nvSpPr>
          <p:spPr>
            <a:xfrm>
              <a:off x="2275095" y="1046125"/>
              <a:ext cx="2984842" cy="479192"/>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bg1"/>
                  </a:solidFill>
                  <a:latin typeface="Leelawadee UI" panose="020B0502040204020203" pitchFamily="34" charset="-34"/>
                  <a:cs typeface="Leelawadee UI" panose="020B0502040204020203" pitchFamily="34" charset="-34"/>
                </a:rPr>
                <a:t>Demand Forecasting</a:t>
              </a:r>
              <a:endParaRPr lang="en-US" sz="2000" b="1" dirty="0">
                <a:solidFill>
                  <a:schemeClr val="bg1"/>
                </a:solidFill>
                <a:latin typeface="Leelawadee UI" panose="020B0502040204020203" pitchFamily="34" charset="-34"/>
                <a:cs typeface="Leelawadee UI" panose="020B0502040204020203" pitchFamily="34" charset="-34"/>
              </a:endParaRPr>
            </a:p>
          </p:txBody>
        </p:sp>
      </p:grpSp>
      <p:sp>
        <p:nvSpPr>
          <p:cNvPr id="25" name="Rectangle 24"/>
          <p:cNvSpPr/>
          <p:nvPr/>
        </p:nvSpPr>
        <p:spPr>
          <a:xfrm>
            <a:off x="11021406" y="4346300"/>
            <a:ext cx="632012" cy="987348"/>
          </a:xfrm>
          <a:prstGeom prst="rect">
            <a:avLst/>
          </a:prstGeom>
          <a:solidFill>
            <a:schemeClr val="accent4"/>
          </a:solidFill>
          <a:ln>
            <a:noFill/>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pPr algn="ctr"/>
            <a:endParaRPr lang="en-IN"/>
          </a:p>
        </p:txBody>
      </p:sp>
      <p:sp>
        <p:nvSpPr>
          <p:cNvPr id="3" name="Slide Number Placeholder 2"/>
          <p:cNvSpPr>
            <a:spLocks noGrp="1"/>
          </p:cNvSpPr>
          <p:nvPr>
            <p:ph type="sldNum" sz="quarter" idx="12"/>
          </p:nvPr>
        </p:nvSpPr>
        <p:spPr/>
        <p:txBody>
          <a:bodyPr/>
          <a:lstStyle/>
          <a:p>
            <a:fld id="{3040F425-731D-4835-A38A-9545B9CAE996}" type="slidenum">
              <a:rPr lang="en-IN" smtClean="0"/>
              <a:t>2</a:t>
            </a:fld>
            <a:endParaRPr lang="en-IN" dirty="0"/>
          </a:p>
        </p:txBody>
      </p:sp>
    </p:spTree>
    <p:extLst>
      <p:ext uri="{BB962C8B-B14F-4D97-AF65-F5344CB8AC3E}">
        <p14:creationId xmlns:p14="http://schemas.microsoft.com/office/powerpoint/2010/main" val="39889007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endParaRPr>
          </a:p>
        </p:txBody>
      </p:sp>
      <p:sp>
        <p:nvSpPr>
          <p:cNvPr id="3" name="Rectangle 2"/>
          <p:cNvSpPr/>
          <p:nvPr/>
        </p:nvSpPr>
        <p:spPr>
          <a:xfrm>
            <a:off x="0" y="0"/>
            <a:ext cx="12192000" cy="5410200"/>
          </a:xfrm>
          <a:prstGeom prst="rect">
            <a:avLst/>
          </a:prstGeom>
          <a:solidFill>
            <a:srgbClr val="5DB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8" name="Group 7"/>
          <p:cNvGrpSpPr/>
          <p:nvPr/>
        </p:nvGrpSpPr>
        <p:grpSpPr>
          <a:xfrm>
            <a:off x="2895600" y="2547738"/>
            <a:ext cx="6400800" cy="830997"/>
            <a:chOff x="2895600" y="1960714"/>
            <a:chExt cx="6400800" cy="830997"/>
          </a:xfrm>
        </p:grpSpPr>
        <p:sp>
          <p:nvSpPr>
            <p:cNvPr id="5" name="Rectangle 4"/>
            <p:cNvSpPr/>
            <p:nvPr/>
          </p:nvSpPr>
          <p:spPr>
            <a:xfrm>
              <a:off x="2998439" y="1960714"/>
              <a:ext cx="6200608" cy="830997"/>
            </a:xfrm>
            <a:prstGeom prst="rect">
              <a:avLst/>
            </a:prstGeom>
          </p:spPr>
          <p:txBody>
            <a:bodyPr wrap="none">
              <a:spAutoFit/>
            </a:bodyPr>
            <a:lstStyle/>
            <a:p>
              <a:pPr algn="ctr"/>
              <a:r>
                <a:rPr lang="en-IN" sz="4800" dirty="0" smtClean="0">
                  <a:ln/>
                  <a:solidFill>
                    <a:schemeClr val="bg1"/>
                  </a:solidFill>
                  <a:latin typeface="Leelawadee UI" panose="020B0502040204020203" pitchFamily="34" charset="-34"/>
                  <a:cs typeface="Leelawadee UI" panose="020B0502040204020203" pitchFamily="34" charset="-34"/>
                </a:rPr>
                <a:t>Data and Aggregation</a:t>
              </a:r>
              <a:endParaRPr lang="en-IN" sz="4800" dirty="0">
                <a:ln/>
                <a:solidFill>
                  <a:schemeClr val="bg1"/>
                </a:solidFill>
                <a:latin typeface="Leelawadee UI" panose="020B0502040204020203" pitchFamily="34" charset="-34"/>
                <a:cs typeface="Leelawadee UI" panose="020B0502040204020203" pitchFamily="34" charset="-34"/>
              </a:endParaRPr>
            </a:p>
          </p:txBody>
        </p:sp>
        <p:cxnSp>
          <p:nvCxnSpPr>
            <p:cNvPr id="34" name="Straight Connector 33"/>
            <p:cNvCxnSpPr/>
            <p:nvPr/>
          </p:nvCxnSpPr>
          <p:spPr>
            <a:xfrm>
              <a:off x="2895600" y="1960714"/>
              <a:ext cx="6400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Footer Placeholder 1"/>
          <p:cNvSpPr>
            <a:spLocks noGrp="1"/>
          </p:cNvSpPr>
          <p:nvPr>
            <p:ph type="ftr" sz="quarter" idx="11"/>
          </p:nvPr>
        </p:nvSpPr>
        <p:spPr/>
        <p:txBody>
          <a:bodyPr/>
          <a:lstStyle/>
          <a:p>
            <a:r>
              <a:rPr lang="en-IN" smtClean="0"/>
              <a:t>Version 1                                                                                            Confidential</a:t>
            </a:r>
            <a:endParaRPr lang="en-IN" dirty="0"/>
          </a:p>
        </p:txBody>
      </p:sp>
      <p:sp>
        <p:nvSpPr>
          <p:cNvPr id="7" name="Slide Number Placeholder 6"/>
          <p:cNvSpPr>
            <a:spLocks noGrp="1"/>
          </p:cNvSpPr>
          <p:nvPr>
            <p:ph type="sldNum" sz="quarter" idx="12"/>
          </p:nvPr>
        </p:nvSpPr>
        <p:spPr/>
        <p:txBody>
          <a:bodyPr/>
          <a:lstStyle/>
          <a:p>
            <a:fld id="{3040F425-731D-4835-A38A-9545B9CAE996}" type="slidenum">
              <a:rPr lang="en-IN" smtClean="0"/>
              <a:t>3</a:t>
            </a:fld>
            <a:endParaRPr lang="en-IN" dirty="0"/>
          </a:p>
        </p:txBody>
      </p:sp>
    </p:spTree>
    <p:extLst>
      <p:ext uri="{BB962C8B-B14F-4D97-AF65-F5344CB8AC3E}">
        <p14:creationId xmlns:p14="http://schemas.microsoft.com/office/powerpoint/2010/main" val="26326000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237066"/>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3813990" y="291779"/>
              <a:ext cx="4564070" cy="523220"/>
            </a:xfrm>
            <a:prstGeom prst="rect">
              <a:avLst/>
            </a:prstGeom>
            <a:solidFill>
              <a:schemeClr val="bg1"/>
            </a:solidFill>
          </p:spPr>
          <p:txBody>
            <a:bodyPr wrap="none" anchor="ctr">
              <a:spAutoFit/>
            </a:bodyPr>
            <a:lstStyle/>
            <a:p>
              <a:pPr algn="ctr"/>
              <a:r>
                <a:rPr lang="en-IN" sz="2800" b="1" dirty="0">
                  <a:solidFill>
                    <a:srgbClr val="0070C0"/>
                  </a:solidFill>
                  <a:latin typeface="Leelawadee UI" panose="020B0502040204020203" pitchFamily="34" charset="-34"/>
                  <a:cs typeface="Leelawadee UI" panose="020B0502040204020203" pitchFamily="34" charset="-34"/>
                </a:rPr>
                <a:t>Data Sources and Metrics </a:t>
              </a:r>
              <a:endParaRPr lang="en-IN" sz="2800" b="1" dirty="0" smtClean="0">
                <a:solidFill>
                  <a:srgbClr val="0070C0"/>
                </a:solidFill>
                <a:latin typeface="Leelawadee UI" panose="020B0502040204020203" pitchFamily="34" charset="-34"/>
                <a:cs typeface="Leelawadee UI" panose="020B0502040204020203" pitchFamily="34" charset="-34"/>
              </a:endParaRPr>
            </a:p>
          </p:txBody>
        </p:sp>
      </p:grpSp>
      <p:sp>
        <p:nvSpPr>
          <p:cNvPr id="56" name="TextBox 55"/>
          <p:cNvSpPr txBox="1"/>
          <p:nvPr/>
        </p:nvSpPr>
        <p:spPr>
          <a:xfrm>
            <a:off x="332295" y="720304"/>
            <a:ext cx="11616913" cy="369332"/>
          </a:xfrm>
          <a:prstGeom prst="rect">
            <a:avLst/>
          </a:prstGeom>
          <a:noFill/>
        </p:spPr>
        <p:txBody>
          <a:bodyPr wrap="square" rtlCol="0">
            <a:spAutoFit/>
          </a:bodyPr>
          <a:lstStyle/>
          <a:p>
            <a:pPr algn="ctr"/>
            <a:r>
              <a:rPr lang="en-IN" dirty="0" smtClean="0">
                <a:solidFill>
                  <a:schemeClr val="tx2">
                    <a:lumMod val="60000"/>
                    <a:lumOff val="40000"/>
                  </a:schemeClr>
                </a:solidFill>
              </a:rPr>
              <a:t>Aggregation of data across multiple sources provides a multi-dimensional view of a location  </a:t>
            </a:r>
            <a:endParaRPr lang="en-IN" dirty="0">
              <a:solidFill>
                <a:schemeClr val="tx2">
                  <a:lumMod val="60000"/>
                  <a:lumOff val="40000"/>
                </a:schemeClr>
              </a:solidFill>
            </a:endParaRPr>
          </a:p>
        </p:txBody>
      </p:sp>
      <p:sp>
        <p:nvSpPr>
          <p:cNvPr id="2" name="Footer Placeholder 1"/>
          <p:cNvSpPr>
            <a:spLocks noGrp="1"/>
          </p:cNvSpPr>
          <p:nvPr>
            <p:ph type="ftr" sz="quarter" idx="11"/>
          </p:nvPr>
        </p:nvSpPr>
        <p:spPr/>
        <p:txBody>
          <a:bodyPr/>
          <a:lstStyle/>
          <a:p>
            <a:r>
              <a:rPr lang="en-IN" smtClean="0"/>
              <a:t>Version 1                                                                                            Confidential</a:t>
            </a:r>
            <a:endParaRPr lang="en-IN" dirty="0"/>
          </a:p>
        </p:txBody>
      </p:sp>
      <p:graphicFrame>
        <p:nvGraphicFramePr>
          <p:cNvPr id="3" name="Diagram 2"/>
          <p:cNvGraphicFramePr/>
          <p:nvPr>
            <p:extLst>
              <p:ext uri="{D42A27DB-BD31-4B8C-83A1-F6EECF244321}">
                <p14:modId xmlns:p14="http://schemas.microsoft.com/office/powerpoint/2010/main" val="1757048684"/>
              </p:ext>
            </p:extLst>
          </p:nvPr>
        </p:nvGraphicFramePr>
        <p:xfrm>
          <a:off x="2433918" y="1355392"/>
          <a:ext cx="6909500" cy="44004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TextBox 9"/>
          <p:cNvSpPr txBox="1"/>
          <p:nvPr/>
        </p:nvSpPr>
        <p:spPr>
          <a:xfrm>
            <a:off x="6452843" y="1284143"/>
            <a:ext cx="2890575" cy="276999"/>
          </a:xfrm>
          <a:prstGeom prst="rect">
            <a:avLst/>
          </a:prstGeom>
          <a:noFill/>
        </p:spPr>
        <p:txBody>
          <a:bodyPr wrap="square" rtlCol="0">
            <a:spAutoFit/>
          </a:bodyPr>
          <a:lstStyle/>
          <a:p>
            <a:r>
              <a:rPr lang="en-IN" sz="1200" dirty="0" smtClean="0"/>
              <a:t>Monthly rainfall values by district</a:t>
            </a:r>
            <a:endParaRPr lang="en-IN" sz="1200" dirty="0"/>
          </a:p>
        </p:txBody>
      </p:sp>
      <p:sp>
        <p:nvSpPr>
          <p:cNvPr id="42" name="TextBox 41"/>
          <p:cNvSpPr txBox="1"/>
          <p:nvPr/>
        </p:nvSpPr>
        <p:spPr>
          <a:xfrm>
            <a:off x="7898130" y="2117163"/>
            <a:ext cx="2348529" cy="461665"/>
          </a:xfrm>
          <a:prstGeom prst="rect">
            <a:avLst/>
          </a:prstGeom>
          <a:noFill/>
        </p:spPr>
        <p:txBody>
          <a:bodyPr wrap="square" rtlCol="0">
            <a:spAutoFit/>
          </a:bodyPr>
          <a:lstStyle/>
          <a:p>
            <a:r>
              <a:rPr lang="en-IN" sz="1200" dirty="0" smtClean="0"/>
              <a:t>GDP estimates and observed growth by district</a:t>
            </a:r>
            <a:endParaRPr lang="en-IN" sz="1200" dirty="0"/>
          </a:p>
        </p:txBody>
      </p:sp>
      <p:sp>
        <p:nvSpPr>
          <p:cNvPr id="43" name="TextBox 42"/>
          <p:cNvSpPr txBox="1"/>
          <p:nvPr/>
        </p:nvSpPr>
        <p:spPr>
          <a:xfrm>
            <a:off x="8054200" y="3662361"/>
            <a:ext cx="2348529" cy="830997"/>
          </a:xfrm>
          <a:prstGeom prst="rect">
            <a:avLst/>
          </a:prstGeom>
          <a:noFill/>
        </p:spPr>
        <p:txBody>
          <a:bodyPr wrap="square" rtlCol="0">
            <a:spAutoFit/>
          </a:bodyPr>
          <a:lstStyle/>
          <a:p>
            <a:r>
              <a:rPr lang="en-IN" sz="1200" dirty="0" smtClean="0"/>
              <a:t>Banking population proxy and exposure estimates and tractor and commercial vehicles purchase proxy</a:t>
            </a:r>
            <a:endParaRPr lang="en-IN" sz="1200" dirty="0"/>
          </a:p>
        </p:txBody>
      </p:sp>
      <p:sp>
        <p:nvSpPr>
          <p:cNvPr id="44" name="TextBox 43"/>
          <p:cNvSpPr txBox="1"/>
          <p:nvPr/>
        </p:nvSpPr>
        <p:spPr>
          <a:xfrm>
            <a:off x="6566059" y="5339205"/>
            <a:ext cx="2348529" cy="461665"/>
          </a:xfrm>
          <a:prstGeom prst="rect">
            <a:avLst/>
          </a:prstGeom>
          <a:noFill/>
        </p:spPr>
        <p:txBody>
          <a:bodyPr wrap="square" rtlCol="0">
            <a:spAutoFit/>
          </a:bodyPr>
          <a:lstStyle/>
          <a:p>
            <a:r>
              <a:rPr lang="en-IN" sz="1200" dirty="0" smtClean="0"/>
              <a:t>Total and percentage are under cultivation by crop</a:t>
            </a:r>
            <a:endParaRPr lang="en-IN" sz="1200" dirty="0"/>
          </a:p>
        </p:txBody>
      </p:sp>
      <p:sp>
        <p:nvSpPr>
          <p:cNvPr id="48" name="TextBox 47"/>
          <p:cNvSpPr txBox="1"/>
          <p:nvPr/>
        </p:nvSpPr>
        <p:spPr>
          <a:xfrm>
            <a:off x="1690071" y="4366090"/>
            <a:ext cx="2348529" cy="461665"/>
          </a:xfrm>
          <a:prstGeom prst="rect">
            <a:avLst/>
          </a:prstGeom>
          <a:noFill/>
        </p:spPr>
        <p:txBody>
          <a:bodyPr wrap="square" rtlCol="0">
            <a:spAutoFit/>
          </a:bodyPr>
          <a:lstStyle/>
          <a:p>
            <a:r>
              <a:rPr lang="en-IN" sz="1200" dirty="0" smtClean="0"/>
              <a:t>Total and percentage area under irrigation by crop </a:t>
            </a:r>
            <a:endParaRPr lang="en-IN" sz="1200" dirty="0"/>
          </a:p>
        </p:txBody>
      </p:sp>
      <p:sp>
        <p:nvSpPr>
          <p:cNvPr id="53" name="TextBox 52"/>
          <p:cNvSpPr txBox="1"/>
          <p:nvPr/>
        </p:nvSpPr>
        <p:spPr>
          <a:xfrm>
            <a:off x="1465461" y="2692616"/>
            <a:ext cx="2348529" cy="830997"/>
          </a:xfrm>
          <a:prstGeom prst="rect">
            <a:avLst/>
          </a:prstGeom>
          <a:noFill/>
        </p:spPr>
        <p:txBody>
          <a:bodyPr wrap="square" rtlCol="0">
            <a:spAutoFit/>
          </a:bodyPr>
          <a:lstStyle/>
          <a:p>
            <a:r>
              <a:rPr lang="en-IN" sz="1200" dirty="0" smtClean="0"/>
              <a:t>Total and percentage population in rural and urban areas by agriculture related occupation, literacy levels etc.</a:t>
            </a:r>
            <a:endParaRPr lang="en-IN" sz="1200" dirty="0"/>
          </a:p>
        </p:txBody>
      </p:sp>
      <p:sp>
        <p:nvSpPr>
          <p:cNvPr id="13" name="Slide Number Placeholder 12"/>
          <p:cNvSpPr>
            <a:spLocks noGrp="1"/>
          </p:cNvSpPr>
          <p:nvPr>
            <p:ph type="sldNum" sz="quarter" idx="12"/>
          </p:nvPr>
        </p:nvSpPr>
        <p:spPr/>
        <p:txBody>
          <a:bodyPr/>
          <a:lstStyle/>
          <a:p>
            <a:fld id="{3040F425-731D-4835-A38A-9545B9CAE996}" type="slidenum">
              <a:rPr lang="en-IN" smtClean="0"/>
              <a:t>4</a:t>
            </a:fld>
            <a:endParaRPr lang="en-IN" dirty="0"/>
          </a:p>
        </p:txBody>
      </p:sp>
    </p:spTree>
    <p:extLst>
      <p:ext uri="{BB962C8B-B14F-4D97-AF65-F5344CB8AC3E}">
        <p14:creationId xmlns:p14="http://schemas.microsoft.com/office/powerpoint/2010/main" val="338883121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237066"/>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2561245" y="291779"/>
              <a:ext cx="7069564" cy="523220"/>
            </a:xfrm>
            <a:prstGeom prst="rect">
              <a:avLst/>
            </a:prstGeom>
            <a:solidFill>
              <a:schemeClr val="bg1"/>
            </a:solidFill>
          </p:spPr>
          <p:txBody>
            <a:bodyPr wrap="none" anchor="ctr">
              <a:spAutoFit/>
            </a:bodyPr>
            <a:lstStyle/>
            <a:p>
              <a:pPr algn="ctr"/>
              <a:r>
                <a:rPr lang="en-IN" sz="2800" b="1" dirty="0">
                  <a:solidFill>
                    <a:srgbClr val="0070C0"/>
                  </a:solidFill>
                  <a:latin typeface="Leelawadee UI" panose="020B0502040204020203" pitchFamily="34" charset="-34"/>
                  <a:cs typeface="Leelawadee UI" panose="020B0502040204020203" pitchFamily="34" charset="-34"/>
                </a:rPr>
                <a:t>Data Sources and </a:t>
              </a:r>
              <a:r>
                <a:rPr lang="en-IN" sz="2800" b="1" dirty="0" smtClean="0">
                  <a:solidFill>
                    <a:srgbClr val="0070C0"/>
                  </a:solidFill>
                  <a:latin typeface="Leelawadee UI" panose="020B0502040204020203" pitchFamily="34" charset="-34"/>
                  <a:cs typeface="Leelawadee UI" panose="020B0502040204020203" pitchFamily="34" charset="-34"/>
                </a:rPr>
                <a:t>Metrics – Sample View </a:t>
              </a:r>
            </a:p>
          </p:txBody>
        </p:sp>
      </p:grpSp>
      <p:sp>
        <p:nvSpPr>
          <p:cNvPr id="56" name="TextBox 55"/>
          <p:cNvSpPr txBox="1"/>
          <p:nvPr/>
        </p:nvSpPr>
        <p:spPr>
          <a:xfrm>
            <a:off x="332295" y="720304"/>
            <a:ext cx="11616913" cy="369332"/>
          </a:xfrm>
          <a:prstGeom prst="rect">
            <a:avLst/>
          </a:prstGeom>
          <a:noFill/>
        </p:spPr>
        <p:txBody>
          <a:bodyPr wrap="square" rtlCol="0">
            <a:spAutoFit/>
          </a:bodyPr>
          <a:lstStyle/>
          <a:p>
            <a:pPr algn="ctr"/>
            <a:r>
              <a:rPr lang="en-IN" dirty="0" smtClean="0">
                <a:solidFill>
                  <a:schemeClr val="tx2">
                    <a:lumMod val="60000"/>
                    <a:lumOff val="40000"/>
                  </a:schemeClr>
                </a:solidFill>
              </a:rPr>
              <a:t>Aggregation of data across multiple sources provides a multi-dimensional view of a location  </a:t>
            </a:r>
            <a:endParaRPr lang="en-IN" dirty="0">
              <a:solidFill>
                <a:schemeClr val="tx2">
                  <a:lumMod val="60000"/>
                  <a:lumOff val="40000"/>
                </a:schemeClr>
              </a:solidFill>
            </a:endParaRPr>
          </a:p>
        </p:txBody>
      </p:sp>
      <p:sp>
        <p:nvSpPr>
          <p:cNvPr id="2" name="Footer Placeholder 1"/>
          <p:cNvSpPr>
            <a:spLocks noGrp="1"/>
          </p:cNvSpPr>
          <p:nvPr>
            <p:ph type="ftr" sz="quarter" idx="11"/>
          </p:nvPr>
        </p:nvSpPr>
        <p:spPr/>
        <p:txBody>
          <a:bodyPr/>
          <a:lstStyle/>
          <a:p>
            <a:r>
              <a:rPr lang="en-IN" smtClean="0"/>
              <a:t>Version 1                                                                                            Confidential</a:t>
            </a:r>
            <a:endParaRPr lang="en-IN" dirty="0"/>
          </a:p>
        </p:txBody>
      </p:sp>
      <p:graphicFrame>
        <p:nvGraphicFramePr>
          <p:cNvPr id="8" name="Chart 7"/>
          <p:cNvGraphicFramePr/>
          <p:nvPr>
            <p:extLst>
              <p:ext uri="{D42A27DB-BD31-4B8C-83A1-F6EECF244321}">
                <p14:modId xmlns:p14="http://schemas.microsoft.com/office/powerpoint/2010/main" val="3262721542"/>
              </p:ext>
            </p:extLst>
          </p:nvPr>
        </p:nvGraphicFramePr>
        <p:xfrm>
          <a:off x="373855" y="1954971"/>
          <a:ext cx="2747405" cy="1508673"/>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Box 8"/>
          <p:cNvSpPr txBox="1"/>
          <p:nvPr/>
        </p:nvSpPr>
        <p:spPr>
          <a:xfrm>
            <a:off x="722320" y="1650127"/>
            <a:ext cx="2050473" cy="276999"/>
          </a:xfrm>
          <a:prstGeom prst="rect">
            <a:avLst/>
          </a:prstGeom>
          <a:noFill/>
        </p:spPr>
        <p:txBody>
          <a:bodyPr wrap="square" rtlCol="0">
            <a:spAutoFit/>
          </a:bodyPr>
          <a:lstStyle/>
          <a:p>
            <a:pPr algn="ctr"/>
            <a:r>
              <a:rPr lang="en-IN" sz="1200" dirty="0" smtClean="0"/>
              <a:t>Annual Rainfall</a:t>
            </a:r>
            <a:endParaRPr lang="en-IN" sz="1200" dirty="0"/>
          </a:p>
        </p:txBody>
      </p:sp>
      <p:graphicFrame>
        <p:nvGraphicFramePr>
          <p:cNvPr id="22" name="Chart 21"/>
          <p:cNvGraphicFramePr/>
          <p:nvPr>
            <p:extLst>
              <p:ext uri="{D42A27DB-BD31-4B8C-83A1-F6EECF244321}">
                <p14:modId xmlns:p14="http://schemas.microsoft.com/office/powerpoint/2010/main" val="3527956932"/>
              </p:ext>
            </p:extLst>
          </p:nvPr>
        </p:nvGraphicFramePr>
        <p:xfrm>
          <a:off x="3269451" y="1954971"/>
          <a:ext cx="2747405" cy="1508673"/>
        </p:xfrm>
        <a:graphic>
          <a:graphicData uri="http://schemas.openxmlformats.org/drawingml/2006/chart">
            <c:chart xmlns:c="http://schemas.openxmlformats.org/drawingml/2006/chart" xmlns:r="http://schemas.openxmlformats.org/officeDocument/2006/relationships" r:id="rId5"/>
          </a:graphicData>
        </a:graphic>
      </p:graphicFrame>
      <p:sp>
        <p:nvSpPr>
          <p:cNvPr id="23" name="TextBox 22"/>
          <p:cNvSpPr txBox="1"/>
          <p:nvPr/>
        </p:nvSpPr>
        <p:spPr>
          <a:xfrm>
            <a:off x="3617916" y="1650127"/>
            <a:ext cx="2050473" cy="276999"/>
          </a:xfrm>
          <a:prstGeom prst="rect">
            <a:avLst/>
          </a:prstGeom>
          <a:noFill/>
        </p:spPr>
        <p:txBody>
          <a:bodyPr wrap="square" rtlCol="0">
            <a:spAutoFit/>
          </a:bodyPr>
          <a:lstStyle/>
          <a:p>
            <a:pPr algn="ctr"/>
            <a:r>
              <a:rPr lang="en-IN" sz="1200" dirty="0" smtClean="0"/>
              <a:t>GDP value</a:t>
            </a:r>
            <a:endParaRPr lang="en-IN" sz="1200" dirty="0"/>
          </a:p>
        </p:txBody>
      </p:sp>
      <p:graphicFrame>
        <p:nvGraphicFramePr>
          <p:cNvPr id="24" name="Chart 23"/>
          <p:cNvGraphicFramePr/>
          <p:nvPr>
            <p:extLst>
              <p:ext uri="{D42A27DB-BD31-4B8C-83A1-F6EECF244321}">
                <p14:modId xmlns:p14="http://schemas.microsoft.com/office/powerpoint/2010/main" val="2374416846"/>
              </p:ext>
            </p:extLst>
          </p:nvPr>
        </p:nvGraphicFramePr>
        <p:xfrm>
          <a:off x="6178902" y="1954971"/>
          <a:ext cx="2747405" cy="1508673"/>
        </p:xfrm>
        <a:graphic>
          <a:graphicData uri="http://schemas.openxmlformats.org/drawingml/2006/chart">
            <c:chart xmlns:c="http://schemas.openxmlformats.org/drawingml/2006/chart" xmlns:r="http://schemas.openxmlformats.org/officeDocument/2006/relationships" r:id="rId6"/>
          </a:graphicData>
        </a:graphic>
      </p:graphicFrame>
      <p:sp>
        <p:nvSpPr>
          <p:cNvPr id="25" name="TextBox 24"/>
          <p:cNvSpPr txBox="1"/>
          <p:nvPr/>
        </p:nvSpPr>
        <p:spPr>
          <a:xfrm>
            <a:off x="6527367" y="1650127"/>
            <a:ext cx="2050473" cy="276999"/>
          </a:xfrm>
          <a:prstGeom prst="rect">
            <a:avLst/>
          </a:prstGeom>
          <a:noFill/>
        </p:spPr>
        <p:txBody>
          <a:bodyPr wrap="square" rtlCol="0">
            <a:spAutoFit/>
          </a:bodyPr>
          <a:lstStyle/>
          <a:p>
            <a:pPr algn="ctr"/>
            <a:r>
              <a:rPr lang="en-IN" sz="1200" dirty="0" smtClean="0"/>
              <a:t>Tractor Purchases Proxy</a:t>
            </a:r>
            <a:endParaRPr lang="en-IN" sz="1200" dirty="0"/>
          </a:p>
        </p:txBody>
      </p:sp>
      <p:graphicFrame>
        <p:nvGraphicFramePr>
          <p:cNvPr id="26" name="Chart 25"/>
          <p:cNvGraphicFramePr/>
          <p:nvPr>
            <p:extLst>
              <p:ext uri="{D42A27DB-BD31-4B8C-83A1-F6EECF244321}">
                <p14:modId xmlns:p14="http://schemas.microsoft.com/office/powerpoint/2010/main" val="2558038046"/>
              </p:ext>
            </p:extLst>
          </p:nvPr>
        </p:nvGraphicFramePr>
        <p:xfrm>
          <a:off x="9172909" y="1954971"/>
          <a:ext cx="2747405" cy="1508673"/>
        </p:xfrm>
        <a:graphic>
          <a:graphicData uri="http://schemas.openxmlformats.org/drawingml/2006/chart">
            <c:chart xmlns:c="http://schemas.openxmlformats.org/drawingml/2006/chart" xmlns:r="http://schemas.openxmlformats.org/officeDocument/2006/relationships" r:id="rId7"/>
          </a:graphicData>
        </a:graphic>
      </p:graphicFrame>
      <p:sp>
        <p:nvSpPr>
          <p:cNvPr id="27" name="TextBox 26"/>
          <p:cNvSpPr txBox="1"/>
          <p:nvPr/>
        </p:nvSpPr>
        <p:spPr>
          <a:xfrm>
            <a:off x="9521374" y="1650127"/>
            <a:ext cx="2050473" cy="276999"/>
          </a:xfrm>
          <a:prstGeom prst="rect">
            <a:avLst/>
          </a:prstGeom>
          <a:noFill/>
        </p:spPr>
        <p:txBody>
          <a:bodyPr wrap="square" rtlCol="0">
            <a:spAutoFit/>
          </a:bodyPr>
          <a:lstStyle/>
          <a:p>
            <a:pPr algn="ctr"/>
            <a:r>
              <a:rPr lang="en-IN" sz="1200" dirty="0" smtClean="0"/>
              <a:t>% Area Sown</a:t>
            </a:r>
            <a:endParaRPr lang="en-IN" sz="1200" dirty="0"/>
          </a:p>
        </p:txBody>
      </p:sp>
      <p:graphicFrame>
        <p:nvGraphicFramePr>
          <p:cNvPr id="28" name="Chart 27"/>
          <p:cNvGraphicFramePr/>
          <p:nvPr>
            <p:extLst>
              <p:ext uri="{D42A27DB-BD31-4B8C-83A1-F6EECF244321}">
                <p14:modId xmlns:p14="http://schemas.microsoft.com/office/powerpoint/2010/main" val="1375470"/>
              </p:ext>
            </p:extLst>
          </p:nvPr>
        </p:nvGraphicFramePr>
        <p:xfrm>
          <a:off x="363065" y="4005447"/>
          <a:ext cx="2747405" cy="1508673"/>
        </p:xfrm>
        <a:graphic>
          <a:graphicData uri="http://schemas.openxmlformats.org/drawingml/2006/chart">
            <c:chart xmlns:c="http://schemas.openxmlformats.org/drawingml/2006/chart" xmlns:r="http://schemas.openxmlformats.org/officeDocument/2006/relationships" r:id="rId8"/>
          </a:graphicData>
        </a:graphic>
      </p:graphicFrame>
      <p:sp>
        <p:nvSpPr>
          <p:cNvPr id="29" name="TextBox 28"/>
          <p:cNvSpPr txBox="1"/>
          <p:nvPr/>
        </p:nvSpPr>
        <p:spPr>
          <a:xfrm>
            <a:off x="711530" y="3700603"/>
            <a:ext cx="2050473" cy="276999"/>
          </a:xfrm>
          <a:prstGeom prst="rect">
            <a:avLst/>
          </a:prstGeom>
          <a:noFill/>
        </p:spPr>
        <p:txBody>
          <a:bodyPr wrap="square" rtlCol="0">
            <a:spAutoFit/>
          </a:bodyPr>
          <a:lstStyle/>
          <a:p>
            <a:pPr algn="ctr"/>
            <a:r>
              <a:rPr lang="en-IN" sz="1200" dirty="0" smtClean="0"/>
              <a:t>% Area Cropped for grapes</a:t>
            </a:r>
            <a:endParaRPr lang="en-IN" sz="1200" dirty="0"/>
          </a:p>
        </p:txBody>
      </p:sp>
      <p:graphicFrame>
        <p:nvGraphicFramePr>
          <p:cNvPr id="30" name="Chart 29"/>
          <p:cNvGraphicFramePr/>
          <p:nvPr>
            <p:extLst>
              <p:ext uri="{D42A27DB-BD31-4B8C-83A1-F6EECF244321}">
                <p14:modId xmlns:p14="http://schemas.microsoft.com/office/powerpoint/2010/main" val="835524784"/>
              </p:ext>
            </p:extLst>
          </p:nvPr>
        </p:nvGraphicFramePr>
        <p:xfrm>
          <a:off x="3258661" y="4005447"/>
          <a:ext cx="2747405" cy="1508673"/>
        </p:xfrm>
        <a:graphic>
          <a:graphicData uri="http://schemas.openxmlformats.org/drawingml/2006/chart">
            <c:chart xmlns:c="http://schemas.openxmlformats.org/drawingml/2006/chart" xmlns:r="http://schemas.openxmlformats.org/officeDocument/2006/relationships" r:id="rId9"/>
          </a:graphicData>
        </a:graphic>
      </p:graphicFrame>
      <p:sp>
        <p:nvSpPr>
          <p:cNvPr id="31" name="TextBox 30"/>
          <p:cNvSpPr txBox="1"/>
          <p:nvPr/>
        </p:nvSpPr>
        <p:spPr>
          <a:xfrm>
            <a:off x="3607126" y="3700603"/>
            <a:ext cx="2050473" cy="276999"/>
          </a:xfrm>
          <a:prstGeom prst="rect">
            <a:avLst/>
          </a:prstGeom>
          <a:noFill/>
        </p:spPr>
        <p:txBody>
          <a:bodyPr wrap="square" rtlCol="0">
            <a:spAutoFit/>
          </a:bodyPr>
          <a:lstStyle/>
          <a:p>
            <a:pPr algn="ctr"/>
            <a:r>
              <a:rPr lang="en-IN" sz="1200" dirty="0" smtClean="0"/>
              <a:t>% Area irrigated by tube wells</a:t>
            </a:r>
            <a:endParaRPr lang="en-IN" sz="1200" dirty="0"/>
          </a:p>
        </p:txBody>
      </p:sp>
      <p:graphicFrame>
        <p:nvGraphicFramePr>
          <p:cNvPr id="32" name="Chart 31"/>
          <p:cNvGraphicFramePr/>
          <p:nvPr>
            <p:extLst>
              <p:ext uri="{D42A27DB-BD31-4B8C-83A1-F6EECF244321}">
                <p14:modId xmlns:p14="http://schemas.microsoft.com/office/powerpoint/2010/main" val="1655180926"/>
              </p:ext>
            </p:extLst>
          </p:nvPr>
        </p:nvGraphicFramePr>
        <p:xfrm>
          <a:off x="6168112" y="4005447"/>
          <a:ext cx="2747405" cy="1508673"/>
        </p:xfrm>
        <a:graphic>
          <a:graphicData uri="http://schemas.openxmlformats.org/drawingml/2006/chart">
            <c:chart xmlns:c="http://schemas.openxmlformats.org/drawingml/2006/chart" xmlns:r="http://schemas.openxmlformats.org/officeDocument/2006/relationships" r:id="rId10"/>
          </a:graphicData>
        </a:graphic>
      </p:graphicFrame>
      <p:sp>
        <p:nvSpPr>
          <p:cNvPr id="33" name="TextBox 32"/>
          <p:cNvSpPr txBox="1"/>
          <p:nvPr/>
        </p:nvSpPr>
        <p:spPr>
          <a:xfrm>
            <a:off x="6516577" y="3700603"/>
            <a:ext cx="2050473" cy="276999"/>
          </a:xfrm>
          <a:prstGeom prst="rect">
            <a:avLst/>
          </a:prstGeom>
          <a:noFill/>
        </p:spPr>
        <p:txBody>
          <a:bodyPr wrap="square" rtlCol="0">
            <a:spAutoFit/>
          </a:bodyPr>
          <a:lstStyle/>
          <a:p>
            <a:pPr algn="ctr"/>
            <a:r>
              <a:rPr lang="en-IN" sz="1200" dirty="0" smtClean="0"/>
              <a:t>% Rural Population </a:t>
            </a:r>
            <a:endParaRPr lang="en-IN" sz="1200" dirty="0"/>
          </a:p>
        </p:txBody>
      </p:sp>
      <p:graphicFrame>
        <p:nvGraphicFramePr>
          <p:cNvPr id="34" name="Chart 33"/>
          <p:cNvGraphicFramePr/>
          <p:nvPr>
            <p:extLst>
              <p:ext uri="{D42A27DB-BD31-4B8C-83A1-F6EECF244321}">
                <p14:modId xmlns:p14="http://schemas.microsoft.com/office/powerpoint/2010/main" val="3200148369"/>
              </p:ext>
            </p:extLst>
          </p:nvPr>
        </p:nvGraphicFramePr>
        <p:xfrm>
          <a:off x="9162119" y="4005447"/>
          <a:ext cx="2747405" cy="1508673"/>
        </p:xfrm>
        <a:graphic>
          <a:graphicData uri="http://schemas.openxmlformats.org/drawingml/2006/chart">
            <c:chart xmlns:c="http://schemas.openxmlformats.org/drawingml/2006/chart" xmlns:r="http://schemas.openxmlformats.org/officeDocument/2006/relationships" r:id="rId11"/>
          </a:graphicData>
        </a:graphic>
      </p:graphicFrame>
      <p:sp>
        <p:nvSpPr>
          <p:cNvPr id="35" name="TextBox 34"/>
          <p:cNvSpPr txBox="1"/>
          <p:nvPr/>
        </p:nvSpPr>
        <p:spPr>
          <a:xfrm>
            <a:off x="9510584" y="3700603"/>
            <a:ext cx="2050473" cy="276999"/>
          </a:xfrm>
          <a:prstGeom prst="rect">
            <a:avLst/>
          </a:prstGeom>
          <a:noFill/>
        </p:spPr>
        <p:txBody>
          <a:bodyPr wrap="square" rtlCol="0">
            <a:spAutoFit/>
          </a:bodyPr>
          <a:lstStyle/>
          <a:p>
            <a:pPr algn="ctr"/>
            <a:r>
              <a:rPr lang="en-IN" sz="1200" dirty="0" smtClean="0"/>
              <a:t>Rural Cultivator population</a:t>
            </a:r>
            <a:endParaRPr lang="en-IN" sz="1200" dirty="0"/>
          </a:p>
        </p:txBody>
      </p:sp>
      <p:sp>
        <p:nvSpPr>
          <p:cNvPr id="11" name="TextBox 10"/>
          <p:cNvSpPr txBox="1"/>
          <p:nvPr/>
        </p:nvSpPr>
        <p:spPr>
          <a:xfrm>
            <a:off x="332295" y="1205290"/>
            <a:ext cx="4128869" cy="276999"/>
          </a:xfrm>
          <a:prstGeom prst="rect">
            <a:avLst/>
          </a:prstGeom>
          <a:noFill/>
        </p:spPr>
        <p:txBody>
          <a:bodyPr wrap="square" rtlCol="0">
            <a:spAutoFit/>
          </a:bodyPr>
          <a:lstStyle/>
          <a:p>
            <a:r>
              <a:rPr lang="en-IN" sz="1200" i="1" dirty="0" smtClean="0"/>
              <a:t>Illustrative representation for three adjacent districts</a:t>
            </a:r>
            <a:endParaRPr lang="en-IN" sz="1200" i="1" dirty="0"/>
          </a:p>
        </p:txBody>
      </p:sp>
      <p:sp>
        <p:nvSpPr>
          <p:cNvPr id="13" name="TextBox 12"/>
          <p:cNvSpPr txBox="1"/>
          <p:nvPr/>
        </p:nvSpPr>
        <p:spPr>
          <a:xfrm>
            <a:off x="2286000" y="3463644"/>
            <a:ext cx="835260" cy="215444"/>
          </a:xfrm>
          <a:prstGeom prst="rect">
            <a:avLst/>
          </a:prstGeom>
          <a:noFill/>
        </p:spPr>
        <p:txBody>
          <a:bodyPr wrap="square" rtlCol="0">
            <a:spAutoFit/>
          </a:bodyPr>
          <a:lstStyle/>
          <a:p>
            <a:pPr algn="r"/>
            <a:r>
              <a:rPr lang="en-IN" sz="800" dirty="0" smtClean="0"/>
              <a:t>In mm</a:t>
            </a:r>
            <a:endParaRPr lang="en-IN" sz="800" dirty="0"/>
          </a:p>
        </p:txBody>
      </p:sp>
      <p:sp>
        <p:nvSpPr>
          <p:cNvPr id="38" name="TextBox 37"/>
          <p:cNvSpPr txBox="1"/>
          <p:nvPr/>
        </p:nvSpPr>
        <p:spPr>
          <a:xfrm>
            <a:off x="5210734" y="3463644"/>
            <a:ext cx="835260" cy="215444"/>
          </a:xfrm>
          <a:prstGeom prst="rect">
            <a:avLst/>
          </a:prstGeom>
          <a:noFill/>
        </p:spPr>
        <p:txBody>
          <a:bodyPr wrap="square" rtlCol="0">
            <a:spAutoFit/>
          </a:bodyPr>
          <a:lstStyle/>
          <a:p>
            <a:pPr algn="r"/>
            <a:r>
              <a:rPr lang="en-IN" sz="800" dirty="0" smtClean="0"/>
              <a:t>In Rs. Cr.</a:t>
            </a:r>
            <a:endParaRPr lang="en-IN" sz="800" dirty="0"/>
          </a:p>
        </p:txBody>
      </p:sp>
      <p:sp>
        <p:nvSpPr>
          <p:cNvPr id="14" name="Slide Number Placeholder 13"/>
          <p:cNvSpPr>
            <a:spLocks noGrp="1"/>
          </p:cNvSpPr>
          <p:nvPr>
            <p:ph type="sldNum" sz="quarter" idx="12"/>
          </p:nvPr>
        </p:nvSpPr>
        <p:spPr/>
        <p:txBody>
          <a:bodyPr/>
          <a:lstStyle/>
          <a:p>
            <a:fld id="{3040F425-731D-4835-A38A-9545B9CAE996}" type="slidenum">
              <a:rPr lang="en-IN" smtClean="0"/>
              <a:t>5</a:t>
            </a:fld>
            <a:endParaRPr lang="en-IN" dirty="0"/>
          </a:p>
        </p:txBody>
      </p:sp>
      <p:graphicFrame>
        <p:nvGraphicFramePr>
          <p:cNvPr id="3" name="Object 2"/>
          <p:cNvGraphicFramePr>
            <a:graphicFrameLocks noChangeAspect="1"/>
          </p:cNvGraphicFramePr>
          <p:nvPr>
            <p:extLst>
              <p:ext uri="{D42A27DB-BD31-4B8C-83A1-F6EECF244321}">
                <p14:modId xmlns:p14="http://schemas.microsoft.com/office/powerpoint/2010/main" val="413139958"/>
              </p:ext>
            </p:extLst>
          </p:nvPr>
        </p:nvGraphicFramePr>
        <p:xfrm>
          <a:off x="11214497" y="5656791"/>
          <a:ext cx="914400" cy="771525"/>
        </p:xfrm>
        <a:graphic>
          <a:graphicData uri="http://schemas.openxmlformats.org/presentationml/2006/ole">
            <mc:AlternateContent xmlns:mc="http://schemas.openxmlformats.org/markup-compatibility/2006">
              <mc:Choice xmlns:v="urn:schemas-microsoft-com:vml" Requires="v">
                <p:oleObj spid="_x0000_s4113" name="Worksheet" showAsIcon="1" r:id="rId13" imgW="914400" imgH="771480" progId="Excel.Sheet.12">
                  <p:embed/>
                </p:oleObj>
              </mc:Choice>
              <mc:Fallback>
                <p:oleObj name="Worksheet" showAsIcon="1" r:id="rId13" imgW="914400" imgH="771480" progId="Excel.Sheet.12">
                  <p:embed/>
                  <p:pic>
                    <p:nvPicPr>
                      <p:cNvPr id="0" name=""/>
                      <p:cNvPicPr/>
                      <p:nvPr/>
                    </p:nvPicPr>
                    <p:blipFill>
                      <a:blip r:embed="rId14"/>
                      <a:stretch>
                        <a:fillRect/>
                      </a:stretch>
                    </p:blipFill>
                    <p:spPr>
                      <a:xfrm>
                        <a:off x="11214497" y="5656791"/>
                        <a:ext cx="914400" cy="771525"/>
                      </a:xfrm>
                      <a:prstGeom prst="rect">
                        <a:avLst/>
                      </a:prstGeom>
                    </p:spPr>
                  </p:pic>
                </p:oleObj>
              </mc:Fallback>
            </mc:AlternateContent>
          </a:graphicData>
        </a:graphic>
      </p:graphicFrame>
      <p:sp>
        <p:nvSpPr>
          <p:cNvPr id="5" name="TextBox 4"/>
          <p:cNvSpPr txBox="1"/>
          <p:nvPr/>
        </p:nvSpPr>
        <p:spPr>
          <a:xfrm>
            <a:off x="10275918" y="5707564"/>
            <a:ext cx="1395779" cy="461665"/>
          </a:xfrm>
          <a:prstGeom prst="rect">
            <a:avLst/>
          </a:prstGeom>
          <a:noFill/>
        </p:spPr>
        <p:txBody>
          <a:bodyPr wrap="square" rtlCol="0">
            <a:spAutoFit/>
          </a:bodyPr>
          <a:lstStyle/>
          <a:p>
            <a:r>
              <a:rPr lang="en-IN" sz="1200" dirty="0" smtClean="0"/>
              <a:t>Detailed list of variables</a:t>
            </a:r>
            <a:endParaRPr lang="en-IN" sz="1200" dirty="0"/>
          </a:p>
        </p:txBody>
      </p:sp>
    </p:spTree>
    <p:extLst>
      <p:ext uri="{BB962C8B-B14F-4D97-AF65-F5344CB8AC3E}">
        <p14:creationId xmlns:p14="http://schemas.microsoft.com/office/powerpoint/2010/main" val="20054795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endParaRPr>
          </a:p>
        </p:txBody>
      </p:sp>
      <p:sp>
        <p:nvSpPr>
          <p:cNvPr id="3" name="Rectangle 2"/>
          <p:cNvSpPr/>
          <p:nvPr/>
        </p:nvSpPr>
        <p:spPr>
          <a:xfrm>
            <a:off x="0" y="0"/>
            <a:ext cx="12192000" cy="5410200"/>
          </a:xfrm>
          <a:prstGeom prst="rect">
            <a:avLst/>
          </a:prstGeom>
          <a:solidFill>
            <a:srgbClr val="5DB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8" name="Group 7"/>
          <p:cNvGrpSpPr/>
          <p:nvPr/>
        </p:nvGrpSpPr>
        <p:grpSpPr>
          <a:xfrm>
            <a:off x="2895600" y="2547738"/>
            <a:ext cx="6400884" cy="830997"/>
            <a:chOff x="2895600" y="1960714"/>
            <a:chExt cx="6400884" cy="830997"/>
          </a:xfrm>
        </p:grpSpPr>
        <p:sp>
          <p:nvSpPr>
            <p:cNvPr id="5" name="Rectangle 4"/>
            <p:cNvSpPr/>
            <p:nvPr/>
          </p:nvSpPr>
          <p:spPr>
            <a:xfrm>
              <a:off x="2901014" y="1960714"/>
              <a:ext cx="6395470" cy="830997"/>
            </a:xfrm>
            <a:prstGeom prst="rect">
              <a:avLst/>
            </a:prstGeom>
          </p:spPr>
          <p:txBody>
            <a:bodyPr wrap="none">
              <a:spAutoFit/>
            </a:bodyPr>
            <a:lstStyle/>
            <a:p>
              <a:pPr algn="ctr"/>
              <a:r>
                <a:rPr lang="en-IN" sz="4800" dirty="0" smtClean="0">
                  <a:ln/>
                  <a:solidFill>
                    <a:schemeClr val="bg1"/>
                  </a:solidFill>
                  <a:latin typeface="Leelawadee UI" panose="020B0502040204020203" pitchFamily="34" charset="-34"/>
                  <a:cs typeface="Leelawadee UI" panose="020B0502040204020203" pitchFamily="34" charset="-34"/>
                </a:rPr>
                <a:t>Territory Attractiveness</a:t>
              </a:r>
              <a:endParaRPr lang="en-IN" sz="4800" dirty="0">
                <a:ln/>
                <a:solidFill>
                  <a:schemeClr val="bg1"/>
                </a:solidFill>
                <a:latin typeface="Leelawadee UI" panose="020B0502040204020203" pitchFamily="34" charset="-34"/>
                <a:cs typeface="Leelawadee UI" panose="020B0502040204020203" pitchFamily="34" charset="-34"/>
              </a:endParaRPr>
            </a:p>
          </p:txBody>
        </p:sp>
        <p:cxnSp>
          <p:nvCxnSpPr>
            <p:cNvPr id="34" name="Straight Connector 33"/>
            <p:cNvCxnSpPr/>
            <p:nvPr/>
          </p:nvCxnSpPr>
          <p:spPr>
            <a:xfrm>
              <a:off x="2895600" y="1960714"/>
              <a:ext cx="6400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Footer Placeholder 1"/>
          <p:cNvSpPr>
            <a:spLocks noGrp="1"/>
          </p:cNvSpPr>
          <p:nvPr>
            <p:ph type="ftr" sz="quarter" idx="11"/>
          </p:nvPr>
        </p:nvSpPr>
        <p:spPr/>
        <p:txBody>
          <a:bodyPr/>
          <a:lstStyle/>
          <a:p>
            <a:r>
              <a:rPr lang="en-IN" smtClean="0"/>
              <a:t>Version 1                                                                                            Confidential</a:t>
            </a:r>
            <a:endParaRPr lang="en-IN" dirty="0"/>
          </a:p>
        </p:txBody>
      </p:sp>
      <p:sp>
        <p:nvSpPr>
          <p:cNvPr id="7" name="Slide Number Placeholder 6"/>
          <p:cNvSpPr>
            <a:spLocks noGrp="1"/>
          </p:cNvSpPr>
          <p:nvPr>
            <p:ph type="sldNum" sz="quarter" idx="12"/>
          </p:nvPr>
        </p:nvSpPr>
        <p:spPr/>
        <p:txBody>
          <a:bodyPr/>
          <a:lstStyle/>
          <a:p>
            <a:fld id="{3040F425-731D-4835-A38A-9545B9CAE996}" type="slidenum">
              <a:rPr lang="en-IN" smtClean="0"/>
              <a:t>6</a:t>
            </a:fld>
            <a:endParaRPr lang="en-IN" dirty="0"/>
          </a:p>
        </p:txBody>
      </p:sp>
    </p:spTree>
    <p:extLst>
      <p:ext uri="{BB962C8B-B14F-4D97-AF65-F5344CB8AC3E}">
        <p14:creationId xmlns:p14="http://schemas.microsoft.com/office/powerpoint/2010/main" val="383064233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237066"/>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3621630" y="291779"/>
              <a:ext cx="4948791"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Segmentation Methodology</a:t>
              </a:r>
            </a:p>
          </p:txBody>
        </p:sp>
      </p:grpSp>
      <p:sp>
        <p:nvSpPr>
          <p:cNvPr id="56" name="TextBox 55"/>
          <p:cNvSpPr txBox="1"/>
          <p:nvPr/>
        </p:nvSpPr>
        <p:spPr>
          <a:xfrm>
            <a:off x="332295" y="720304"/>
            <a:ext cx="11616913" cy="369332"/>
          </a:xfrm>
          <a:prstGeom prst="rect">
            <a:avLst/>
          </a:prstGeom>
          <a:noFill/>
        </p:spPr>
        <p:txBody>
          <a:bodyPr wrap="square" rtlCol="0">
            <a:spAutoFit/>
          </a:bodyPr>
          <a:lstStyle/>
          <a:p>
            <a:pPr algn="ctr"/>
            <a:r>
              <a:rPr lang="en-IN" dirty="0" smtClean="0">
                <a:solidFill>
                  <a:schemeClr val="tx2">
                    <a:lumMod val="60000"/>
                    <a:lumOff val="40000"/>
                  </a:schemeClr>
                </a:solidFill>
              </a:rPr>
              <a:t>The methodology intends to capture the inherent diversity in the locational characteristics  </a:t>
            </a:r>
            <a:endParaRPr lang="en-IN" dirty="0">
              <a:solidFill>
                <a:schemeClr val="tx2">
                  <a:lumMod val="60000"/>
                  <a:lumOff val="40000"/>
                </a:schemeClr>
              </a:solidFill>
            </a:endParaRPr>
          </a:p>
        </p:txBody>
      </p:sp>
      <p:sp>
        <p:nvSpPr>
          <p:cNvPr id="11" name="Rectangle 10"/>
          <p:cNvSpPr/>
          <p:nvPr/>
        </p:nvSpPr>
        <p:spPr>
          <a:xfrm>
            <a:off x="392396" y="1696958"/>
            <a:ext cx="2766223" cy="1700010"/>
          </a:xfrm>
          <a:prstGeom prst="rect">
            <a:avLst/>
          </a:prstGeom>
          <a:noFill/>
          <a:ln>
            <a:solidFill>
              <a:schemeClr val="tx2"/>
            </a:solidFill>
            <a:prstDash val="dash"/>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pPr algn="ctr"/>
            <a:endParaRPr lang="en-IN"/>
          </a:p>
        </p:txBody>
      </p:sp>
      <p:sp>
        <p:nvSpPr>
          <p:cNvPr id="14" name="TextBox 13"/>
          <p:cNvSpPr txBox="1"/>
          <p:nvPr/>
        </p:nvSpPr>
        <p:spPr>
          <a:xfrm>
            <a:off x="392396" y="1931733"/>
            <a:ext cx="2719029" cy="1384995"/>
          </a:xfrm>
          <a:prstGeom prst="rect">
            <a:avLst/>
          </a:prstGeom>
          <a:noFill/>
        </p:spPr>
        <p:txBody>
          <a:bodyPr wrap="square" rtlCol="0">
            <a:spAutoFit/>
          </a:bodyPr>
          <a:lstStyle/>
          <a:p>
            <a:pPr marL="171450" indent="-171450" algn="ctr">
              <a:buFont typeface="Wingdings" panose="05000000000000000000" pitchFamily="2" charset="2"/>
              <a:buChar char="Ø"/>
            </a:pPr>
            <a:r>
              <a:rPr lang="en-IN" sz="1200" dirty="0" smtClean="0"/>
              <a:t>Rainfall Statistics</a:t>
            </a:r>
          </a:p>
          <a:p>
            <a:pPr marL="171450" indent="-171450" algn="ctr">
              <a:buFont typeface="Wingdings" panose="05000000000000000000" pitchFamily="2" charset="2"/>
              <a:buChar char="Ø"/>
            </a:pPr>
            <a:r>
              <a:rPr lang="en-IN" sz="1200" dirty="0" smtClean="0"/>
              <a:t>GDP and Growth estimates</a:t>
            </a:r>
          </a:p>
          <a:p>
            <a:pPr marL="171450" indent="-171450" algn="ctr">
              <a:buFont typeface="Wingdings" panose="05000000000000000000" pitchFamily="2" charset="2"/>
              <a:buChar char="Ø"/>
            </a:pPr>
            <a:r>
              <a:rPr lang="en-IN" sz="1200" dirty="0" smtClean="0"/>
              <a:t>Land Usage statistics</a:t>
            </a:r>
          </a:p>
          <a:p>
            <a:pPr marL="171450" indent="-171450" algn="ctr">
              <a:buFont typeface="Wingdings" panose="05000000000000000000" pitchFamily="2" charset="2"/>
              <a:buChar char="Ø"/>
            </a:pPr>
            <a:r>
              <a:rPr lang="en-IN" sz="1200" dirty="0" smtClean="0"/>
              <a:t>Cultivation and Irrigation by crop</a:t>
            </a:r>
          </a:p>
          <a:p>
            <a:pPr marL="171450" indent="-171450" algn="ctr">
              <a:buFont typeface="Wingdings" panose="05000000000000000000" pitchFamily="2" charset="2"/>
              <a:buChar char="Ø"/>
            </a:pPr>
            <a:r>
              <a:rPr lang="en-IN" sz="1200" dirty="0" smtClean="0"/>
              <a:t>Population characteristics</a:t>
            </a:r>
          </a:p>
          <a:p>
            <a:pPr marL="171450" indent="-171450" algn="ctr">
              <a:buFont typeface="Wingdings" panose="05000000000000000000" pitchFamily="2" charset="2"/>
              <a:buChar char="Ø"/>
            </a:pPr>
            <a:r>
              <a:rPr lang="en-IN" sz="1200" dirty="0"/>
              <a:t>Working </a:t>
            </a:r>
            <a:r>
              <a:rPr lang="en-IN" sz="1200" dirty="0" smtClean="0"/>
              <a:t>population, Cultivator and agricultural labour population</a:t>
            </a:r>
          </a:p>
        </p:txBody>
      </p:sp>
      <p:sp>
        <p:nvSpPr>
          <p:cNvPr id="16" name="TextBox 15"/>
          <p:cNvSpPr txBox="1"/>
          <p:nvPr/>
        </p:nvSpPr>
        <p:spPr>
          <a:xfrm>
            <a:off x="527625" y="1297025"/>
            <a:ext cx="2434107" cy="369332"/>
          </a:xfrm>
          <a:prstGeom prst="rect">
            <a:avLst/>
          </a:prstGeom>
          <a:noFill/>
        </p:spPr>
        <p:txBody>
          <a:bodyPr wrap="square" rtlCol="0">
            <a:spAutoFit/>
          </a:bodyPr>
          <a:lstStyle/>
          <a:p>
            <a:pPr algn="ctr"/>
            <a:r>
              <a:rPr lang="en-IN" dirty="0" smtClean="0"/>
              <a:t>Data sources</a:t>
            </a:r>
            <a:endParaRPr lang="en-IN" dirty="0"/>
          </a:p>
        </p:txBody>
      </p:sp>
      <p:sp>
        <p:nvSpPr>
          <p:cNvPr id="18" name="Isosceles Triangle 17"/>
          <p:cNvSpPr/>
          <p:nvPr/>
        </p:nvSpPr>
        <p:spPr>
          <a:xfrm rot="5400000">
            <a:off x="2845435" y="2438457"/>
            <a:ext cx="1287888" cy="251047"/>
          </a:xfrm>
          <a:prstGeom prst="triangle">
            <a:avLst/>
          </a:prstGeom>
          <a:solidFill>
            <a:schemeClr val="accent6">
              <a:lumMod val="20000"/>
              <a:lumOff val="80000"/>
            </a:schemeClr>
          </a:solidFill>
          <a:ln>
            <a:solidFill>
              <a:schemeClr val="bg1"/>
            </a:solidFill>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pPr algn="ctr"/>
            <a:endParaRPr lang="en-IN"/>
          </a:p>
        </p:txBody>
      </p:sp>
      <p:sp>
        <p:nvSpPr>
          <p:cNvPr id="39" name="Rectangle 38"/>
          <p:cNvSpPr/>
          <p:nvPr/>
        </p:nvSpPr>
        <p:spPr>
          <a:xfrm>
            <a:off x="3775320" y="1696957"/>
            <a:ext cx="4080384" cy="1700011"/>
          </a:xfrm>
          <a:prstGeom prst="rect">
            <a:avLst/>
          </a:prstGeom>
          <a:noFill/>
          <a:ln>
            <a:solidFill>
              <a:schemeClr val="tx2"/>
            </a:solidFill>
            <a:prstDash val="dash"/>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pPr marL="171450" indent="-171450">
              <a:buFont typeface="Wingdings" panose="05000000000000000000" pitchFamily="2" charset="2"/>
              <a:buChar char="Ø"/>
            </a:pPr>
            <a:r>
              <a:rPr lang="en-IN" sz="1200" dirty="0" smtClean="0">
                <a:solidFill>
                  <a:schemeClr val="tx1"/>
                </a:solidFill>
              </a:rPr>
              <a:t>Monthly and Annual rainfall</a:t>
            </a:r>
          </a:p>
          <a:p>
            <a:pPr marL="171450" indent="-171450">
              <a:buFont typeface="Wingdings" panose="05000000000000000000" pitchFamily="2" charset="2"/>
              <a:buChar char="Ø"/>
            </a:pPr>
            <a:r>
              <a:rPr lang="en-IN" sz="1200" dirty="0" smtClean="0">
                <a:solidFill>
                  <a:schemeClr val="tx1"/>
                </a:solidFill>
              </a:rPr>
              <a:t>Banking population proxy</a:t>
            </a:r>
          </a:p>
          <a:p>
            <a:pPr marL="171450" indent="-171450">
              <a:buFont typeface="Wingdings" panose="05000000000000000000" pitchFamily="2" charset="2"/>
              <a:buChar char="Ø"/>
            </a:pPr>
            <a:r>
              <a:rPr lang="en-IN" sz="1200" dirty="0" smtClean="0">
                <a:solidFill>
                  <a:schemeClr val="tx1"/>
                </a:solidFill>
              </a:rPr>
              <a:t>Two wheeler, Commercial vehicle buyer population proxy</a:t>
            </a:r>
          </a:p>
          <a:p>
            <a:pPr marL="171450" indent="-171450">
              <a:buFont typeface="Wingdings" panose="05000000000000000000" pitchFamily="2" charset="2"/>
              <a:buChar char="Ø"/>
            </a:pPr>
            <a:r>
              <a:rPr lang="en-IN" sz="1200" dirty="0" smtClean="0">
                <a:solidFill>
                  <a:schemeClr val="tx1"/>
                </a:solidFill>
              </a:rPr>
              <a:t>Percentage of land are under cultivation, by crop</a:t>
            </a:r>
          </a:p>
          <a:p>
            <a:pPr marL="171450" indent="-171450">
              <a:buFont typeface="Wingdings" panose="05000000000000000000" pitchFamily="2" charset="2"/>
              <a:buChar char="Ø"/>
            </a:pPr>
            <a:r>
              <a:rPr lang="en-IN" sz="1200" dirty="0" smtClean="0">
                <a:solidFill>
                  <a:schemeClr val="tx1"/>
                </a:solidFill>
              </a:rPr>
              <a:t>Percentage of land are under irrigation, by crop</a:t>
            </a:r>
          </a:p>
          <a:p>
            <a:pPr marL="171450" indent="-171450">
              <a:buFont typeface="Wingdings" panose="05000000000000000000" pitchFamily="2" charset="2"/>
              <a:buChar char="Ø"/>
            </a:pPr>
            <a:r>
              <a:rPr lang="en-IN" sz="1200" dirty="0">
                <a:solidFill>
                  <a:schemeClr val="tx1"/>
                </a:solidFill>
              </a:rPr>
              <a:t>Percentage of land are under irrigation, by </a:t>
            </a:r>
            <a:r>
              <a:rPr lang="en-IN" sz="1200" dirty="0" smtClean="0">
                <a:solidFill>
                  <a:schemeClr val="tx1"/>
                </a:solidFill>
              </a:rPr>
              <a:t>channel</a:t>
            </a:r>
          </a:p>
          <a:p>
            <a:pPr marL="171450" indent="-171450">
              <a:buFont typeface="Wingdings" panose="05000000000000000000" pitchFamily="2" charset="2"/>
              <a:buChar char="Ø"/>
            </a:pPr>
            <a:r>
              <a:rPr lang="en-IN" sz="1200" dirty="0" smtClean="0">
                <a:solidFill>
                  <a:schemeClr val="tx1"/>
                </a:solidFill>
              </a:rPr>
              <a:t>Rural population </a:t>
            </a:r>
          </a:p>
          <a:p>
            <a:pPr marL="171450" indent="-171450">
              <a:buFont typeface="Wingdings" panose="05000000000000000000" pitchFamily="2" charset="2"/>
              <a:buChar char="Ø"/>
            </a:pPr>
            <a:r>
              <a:rPr lang="en-IN" sz="1200" dirty="0" smtClean="0">
                <a:solidFill>
                  <a:schemeClr val="tx1"/>
                </a:solidFill>
              </a:rPr>
              <a:t>Working, Cultivator and Agricultural labour population</a:t>
            </a:r>
            <a:endParaRPr lang="en-IN" sz="1200" dirty="0">
              <a:solidFill>
                <a:schemeClr val="tx1"/>
              </a:solidFill>
            </a:endParaRPr>
          </a:p>
        </p:txBody>
      </p:sp>
      <p:sp>
        <p:nvSpPr>
          <p:cNvPr id="41" name="TextBox 40"/>
          <p:cNvSpPr txBox="1"/>
          <p:nvPr/>
        </p:nvSpPr>
        <p:spPr>
          <a:xfrm>
            <a:off x="4583833" y="1313703"/>
            <a:ext cx="2434107" cy="369332"/>
          </a:xfrm>
          <a:prstGeom prst="rect">
            <a:avLst/>
          </a:prstGeom>
          <a:noFill/>
        </p:spPr>
        <p:txBody>
          <a:bodyPr wrap="square" rtlCol="0">
            <a:spAutoFit/>
          </a:bodyPr>
          <a:lstStyle/>
          <a:p>
            <a:pPr algn="ctr"/>
            <a:r>
              <a:rPr lang="en-IN" dirty="0" smtClean="0"/>
              <a:t>Metrics and proxies</a:t>
            </a:r>
            <a:endParaRPr lang="en-IN" dirty="0"/>
          </a:p>
        </p:txBody>
      </p:sp>
      <p:sp>
        <p:nvSpPr>
          <p:cNvPr id="45" name="Isosceles Triangle 44"/>
          <p:cNvSpPr/>
          <p:nvPr/>
        </p:nvSpPr>
        <p:spPr>
          <a:xfrm rot="5400000">
            <a:off x="7586357" y="2429258"/>
            <a:ext cx="1287888" cy="251047"/>
          </a:xfrm>
          <a:prstGeom prst="triangle">
            <a:avLst/>
          </a:prstGeom>
          <a:solidFill>
            <a:schemeClr val="accent6">
              <a:lumMod val="20000"/>
              <a:lumOff val="80000"/>
            </a:schemeClr>
          </a:solidFill>
          <a:ln>
            <a:solidFill>
              <a:schemeClr val="bg1"/>
            </a:solidFill>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pPr algn="ctr"/>
            <a:endParaRPr lang="en-IN"/>
          </a:p>
        </p:txBody>
      </p:sp>
      <p:pic>
        <p:nvPicPr>
          <p:cNvPr id="46" name="Picture 2" descr="http://www.lisa.stat.vt.edu/sites/default/files/images/K-means-clustering.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8570421" y="3862506"/>
            <a:ext cx="3159437" cy="1777284"/>
          </a:xfrm>
          <a:prstGeom prst="rect">
            <a:avLst/>
          </a:prstGeom>
          <a:noFill/>
          <a:ln>
            <a:solidFill>
              <a:schemeClr val="tx1"/>
            </a:solidFill>
            <a:prstDash val="dash"/>
          </a:ln>
          <a:extLst>
            <a:ext uri="{909E8E84-426E-40DD-AFC4-6F175D3DCCD1}">
              <a14:hiddenFill xmlns:a14="http://schemas.microsoft.com/office/drawing/2010/main">
                <a:solidFill>
                  <a:srgbClr val="FFFFFF"/>
                </a:solidFill>
              </a14:hiddenFill>
            </a:ext>
          </a:extLst>
        </p:spPr>
      </p:pic>
      <p:sp>
        <p:nvSpPr>
          <p:cNvPr id="47" name="Rectangle 46"/>
          <p:cNvSpPr/>
          <p:nvPr/>
        </p:nvSpPr>
        <p:spPr>
          <a:xfrm>
            <a:off x="8570421" y="1681038"/>
            <a:ext cx="3159437" cy="1333746"/>
          </a:xfrm>
          <a:prstGeom prst="rect">
            <a:avLst/>
          </a:prstGeom>
          <a:noFill/>
          <a:ln>
            <a:solidFill>
              <a:schemeClr val="tx2"/>
            </a:solidFill>
            <a:prstDash val="dash"/>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endParaRPr lang="en-IN" sz="1200" dirty="0">
              <a:solidFill>
                <a:schemeClr val="tx1"/>
              </a:solidFill>
            </a:endParaRPr>
          </a:p>
        </p:txBody>
      </p:sp>
      <p:sp>
        <p:nvSpPr>
          <p:cNvPr id="49" name="TextBox 48"/>
          <p:cNvSpPr txBox="1"/>
          <p:nvPr/>
        </p:nvSpPr>
        <p:spPr>
          <a:xfrm>
            <a:off x="8783393" y="1297359"/>
            <a:ext cx="2583800" cy="369332"/>
          </a:xfrm>
          <a:prstGeom prst="rect">
            <a:avLst/>
          </a:prstGeom>
          <a:noFill/>
        </p:spPr>
        <p:txBody>
          <a:bodyPr wrap="square" rtlCol="0">
            <a:spAutoFit/>
          </a:bodyPr>
          <a:lstStyle/>
          <a:p>
            <a:pPr algn="ctr"/>
            <a:r>
              <a:rPr lang="en-IN" dirty="0" smtClean="0"/>
              <a:t>Segmentation Algorithm</a:t>
            </a:r>
            <a:endParaRPr lang="en-IN" dirty="0"/>
          </a:p>
        </p:txBody>
      </p:sp>
      <p:pic>
        <p:nvPicPr>
          <p:cNvPr id="50" name="Picture 4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00757" y="1963390"/>
            <a:ext cx="786473" cy="786473"/>
          </a:xfrm>
          <a:prstGeom prst="rect">
            <a:avLst/>
          </a:prstGeom>
        </p:spPr>
      </p:pic>
      <p:sp>
        <p:nvSpPr>
          <p:cNvPr id="51" name="TextBox 50"/>
          <p:cNvSpPr txBox="1"/>
          <p:nvPr/>
        </p:nvSpPr>
        <p:spPr bwMode="gray">
          <a:xfrm>
            <a:off x="9523543" y="2169205"/>
            <a:ext cx="1253191" cy="357411"/>
          </a:xfrm>
          <a:prstGeom prst="rect">
            <a:avLst/>
          </a:prstGeom>
        </p:spPr>
        <p:txBody>
          <a:bodyPr vert="horz" wrap="square" lIns="91440" tIns="45720" rIns="91440" bIns="45720" rtlCol="0" anchor="ctr">
            <a:noAutofit/>
          </a:bodyPr>
          <a:lstStyle/>
          <a:p>
            <a:pPr algn="ctr"/>
            <a:r>
              <a:rPr lang="en-IN" sz="1200" dirty="0" smtClean="0"/>
              <a:t>Statistical technique to derive vital few metrics from the exhaustive list</a:t>
            </a:r>
          </a:p>
        </p:txBody>
      </p:sp>
      <p:pic>
        <p:nvPicPr>
          <p:cNvPr id="52" name="Picture 51"/>
          <p:cNvPicPr>
            <a:picLocks noChangeAspect="1"/>
          </p:cNvPicPr>
          <p:nvPr/>
        </p:nvPicPr>
        <p:blipFill>
          <a:blip r:embed="rId5"/>
          <a:stretch>
            <a:fillRect/>
          </a:stretch>
        </p:blipFill>
        <p:spPr>
          <a:xfrm>
            <a:off x="10893313" y="1948758"/>
            <a:ext cx="719966" cy="719966"/>
          </a:xfrm>
          <a:prstGeom prst="rect">
            <a:avLst/>
          </a:prstGeom>
        </p:spPr>
      </p:pic>
      <p:sp>
        <p:nvSpPr>
          <p:cNvPr id="54" name="Isosceles Triangle 53"/>
          <p:cNvSpPr/>
          <p:nvPr/>
        </p:nvSpPr>
        <p:spPr>
          <a:xfrm rot="10800000">
            <a:off x="8783393" y="3299965"/>
            <a:ext cx="2829886" cy="339205"/>
          </a:xfrm>
          <a:prstGeom prst="triangle">
            <a:avLst/>
          </a:prstGeom>
          <a:solidFill>
            <a:schemeClr val="accent6">
              <a:lumMod val="20000"/>
              <a:lumOff val="80000"/>
            </a:schemeClr>
          </a:solidFill>
          <a:ln>
            <a:solidFill>
              <a:schemeClr val="bg1"/>
            </a:solidFill>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pPr algn="ctr"/>
            <a:endParaRPr lang="en-IN"/>
          </a:p>
        </p:txBody>
      </p:sp>
      <p:sp>
        <p:nvSpPr>
          <p:cNvPr id="55" name="TextBox 54"/>
          <p:cNvSpPr txBox="1"/>
          <p:nvPr/>
        </p:nvSpPr>
        <p:spPr bwMode="gray">
          <a:xfrm>
            <a:off x="8903315" y="4726580"/>
            <a:ext cx="528034" cy="401259"/>
          </a:xfrm>
          <a:prstGeom prst="rect">
            <a:avLst/>
          </a:prstGeom>
        </p:spPr>
        <p:txBody>
          <a:bodyPr vert="horz" wrap="none" lIns="91440" tIns="45720" rIns="91440" bIns="45720" rtlCol="0" anchor="ctr">
            <a:noAutofit/>
          </a:bodyPr>
          <a:lstStyle/>
          <a:p>
            <a:r>
              <a:rPr lang="en-IN" sz="1200" b="1" dirty="0" smtClean="0"/>
              <a:t>Segment 1</a:t>
            </a:r>
          </a:p>
        </p:txBody>
      </p:sp>
      <p:sp>
        <p:nvSpPr>
          <p:cNvPr id="57" name="TextBox 56"/>
          <p:cNvSpPr txBox="1"/>
          <p:nvPr/>
        </p:nvSpPr>
        <p:spPr bwMode="gray">
          <a:xfrm>
            <a:off x="9912072" y="4192194"/>
            <a:ext cx="528034" cy="401259"/>
          </a:xfrm>
          <a:prstGeom prst="rect">
            <a:avLst/>
          </a:prstGeom>
        </p:spPr>
        <p:txBody>
          <a:bodyPr vert="horz" wrap="none" lIns="91440" tIns="45720" rIns="91440" bIns="45720" rtlCol="0" anchor="ctr">
            <a:noAutofit/>
          </a:bodyPr>
          <a:lstStyle/>
          <a:p>
            <a:r>
              <a:rPr lang="en-IN" sz="1200" b="1" dirty="0" smtClean="0"/>
              <a:t>Segment 2</a:t>
            </a:r>
          </a:p>
        </p:txBody>
      </p:sp>
      <p:sp>
        <p:nvSpPr>
          <p:cNvPr id="58" name="TextBox 57"/>
          <p:cNvSpPr txBox="1"/>
          <p:nvPr/>
        </p:nvSpPr>
        <p:spPr bwMode="gray">
          <a:xfrm>
            <a:off x="10577112" y="4850983"/>
            <a:ext cx="528034" cy="401259"/>
          </a:xfrm>
          <a:prstGeom prst="rect">
            <a:avLst/>
          </a:prstGeom>
        </p:spPr>
        <p:txBody>
          <a:bodyPr vert="horz" wrap="none" lIns="91440" tIns="45720" rIns="91440" bIns="45720" rtlCol="0" anchor="ctr">
            <a:noAutofit/>
          </a:bodyPr>
          <a:lstStyle/>
          <a:p>
            <a:r>
              <a:rPr lang="en-IN" sz="1200" b="1" dirty="0" smtClean="0"/>
              <a:t>Segment 3</a:t>
            </a:r>
          </a:p>
        </p:txBody>
      </p:sp>
      <p:sp>
        <p:nvSpPr>
          <p:cNvPr id="59" name="Isosceles Triangle 58"/>
          <p:cNvSpPr/>
          <p:nvPr/>
        </p:nvSpPr>
        <p:spPr>
          <a:xfrm rot="16200000">
            <a:off x="7317848" y="4623985"/>
            <a:ext cx="1287888" cy="251047"/>
          </a:xfrm>
          <a:prstGeom prst="triangle">
            <a:avLst/>
          </a:prstGeom>
          <a:solidFill>
            <a:schemeClr val="accent6">
              <a:lumMod val="20000"/>
              <a:lumOff val="80000"/>
            </a:schemeClr>
          </a:solidFill>
          <a:ln>
            <a:solidFill>
              <a:schemeClr val="bg1"/>
            </a:solidFill>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pPr algn="ctr"/>
            <a:endParaRPr lang="en-IN"/>
          </a:p>
        </p:txBody>
      </p:sp>
      <p:sp>
        <p:nvSpPr>
          <p:cNvPr id="60" name="TextBox 59"/>
          <p:cNvSpPr txBox="1"/>
          <p:nvPr/>
        </p:nvSpPr>
        <p:spPr bwMode="gray">
          <a:xfrm>
            <a:off x="8425613" y="3188613"/>
            <a:ext cx="3508502" cy="507816"/>
          </a:xfrm>
          <a:prstGeom prst="rect">
            <a:avLst/>
          </a:prstGeom>
        </p:spPr>
        <p:txBody>
          <a:bodyPr vert="horz" wrap="square" lIns="91440" tIns="45720" rIns="91440" bIns="45720" rtlCol="0" anchor="ctr">
            <a:noAutofit/>
          </a:bodyPr>
          <a:lstStyle/>
          <a:p>
            <a:pPr algn="ctr"/>
            <a:r>
              <a:rPr lang="en-IN" sz="1200" dirty="0" smtClean="0"/>
              <a:t>Vital Metrics to drive separation between district characteristics and generate clusters</a:t>
            </a:r>
          </a:p>
        </p:txBody>
      </p:sp>
      <p:sp>
        <p:nvSpPr>
          <p:cNvPr id="61" name="Rectangle 60"/>
          <p:cNvSpPr/>
          <p:nvPr/>
        </p:nvSpPr>
        <p:spPr>
          <a:xfrm>
            <a:off x="4295085" y="4059707"/>
            <a:ext cx="3159437" cy="1333746"/>
          </a:xfrm>
          <a:prstGeom prst="rect">
            <a:avLst/>
          </a:prstGeom>
          <a:noFill/>
          <a:ln>
            <a:solidFill>
              <a:schemeClr val="tx2"/>
            </a:solidFill>
            <a:prstDash val="dash"/>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r>
              <a:rPr lang="en-IN" sz="1200" dirty="0" smtClean="0">
                <a:solidFill>
                  <a:schemeClr val="tx1"/>
                </a:solidFill>
              </a:rPr>
              <a:t>Segments profiled based on the vital metrics to</a:t>
            </a:r>
          </a:p>
          <a:p>
            <a:endParaRPr lang="en-IN" sz="1200" dirty="0" smtClean="0">
              <a:solidFill>
                <a:schemeClr val="tx1"/>
              </a:solidFill>
            </a:endParaRPr>
          </a:p>
          <a:p>
            <a:pPr marL="171450" indent="-171450">
              <a:buFont typeface="Wingdings" panose="05000000000000000000" pitchFamily="2" charset="2"/>
              <a:buChar char="Ø"/>
            </a:pPr>
            <a:r>
              <a:rPr lang="en-IN" sz="1200" dirty="0" smtClean="0">
                <a:solidFill>
                  <a:schemeClr val="tx1"/>
                </a:solidFill>
              </a:rPr>
              <a:t>Provide characteristics to each segment</a:t>
            </a:r>
          </a:p>
          <a:p>
            <a:pPr marL="171450" indent="-171450">
              <a:buFont typeface="Wingdings" panose="05000000000000000000" pitchFamily="2" charset="2"/>
              <a:buChar char="Ø"/>
            </a:pPr>
            <a:r>
              <a:rPr lang="en-IN" sz="1200" dirty="0" smtClean="0">
                <a:solidFill>
                  <a:schemeClr val="tx1"/>
                </a:solidFill>
              </a:rPr>
              <a:t>Prioritising segments</a:t>
            </a:r>
            <a:endParaRPr lang="en-IN" sz="1200" dirty="0">
              <a:solidFill>
                <a:schemeClr val="tx1"/>
              </a:solidFill>
            </a:endParaRPr>
          </a:p>
        </p:txBody>
      </p:sp>
      <p:sp>
        <p:nvSpPr>
          <p:cNvPr id="62" name="TextBox 61"/>
          <p:cNvSpPr txBox="1"/>
          <p:nvPr/>
        </p:nvSpPr>
        <p:spPr>
          <a:xfrm>
            <a:off x="4508057" y="3676028"/>
            <a:ext cx="2583800" cy="369332"/>
          </a:xfrm>
          <a:prstGeom prst="rect">
            <a:avLst/>
          </a:prstGeom>
          <a:noFill/>
        </p:spPr>
        <p:txBody>
          <a:bodyPr wrap="square" rtlCol="0">
            <a:spAutoFit/>
          </a:bodyPr>
          <a:lstStyle/>
          <a:p>
            <a:pPr algn="ctr"/>
            <a:r>
              <a:rPr lang="en-IN" dirty="0" smtClean="0"/>
              <a:t>Segmentation Profiling</a:t>
            </a:r>
            <a:endParaRPr lang="en-IN" dirty="0"/>
          </a:p>
        </p:txBody>
      </p:sp>
      <p:sp>
        <p:nvSpPr>
          <p:cNvPr id="20" name="TextBox 19"/>
          <p:cNvSpPr txBox="1"/>
          <p:nvPr/>
        </p:nvSpPr>
        <p:spPr>
          <a:xfrm>
            <a:off x="8675467" y="3931359"/>
            <a:ext cx="1061429" cy="246221"/>
          </a:xfrm>
          <a:prstGeom prst="rect">
            <a:avLst/>
          </a:prstGeom>
          <a:noFill/>
        </p:spPr>
        <p:txBody>
          <a:bodyPr wrap="square" rtlCol="0">
            <a:spAutoFit/>
          </a:bodyPr>
          <a:lstStyle/>
          <a:p>
            <a:r>
              <a:rPr lang="en-IN" sz="1000" dirty="0" smtClean="0"/>
              <a:t>Illustrative</a:t>
            </a:r>
            <a:endParaRPr lang="en-IN" sz="1000" dirty="0"/>
          </a:p>
        </p:txBody>
      </p:sp>
      <p:sp>
        <p:nvSpPr>
          <p:cNvPr id="63" name="Isosceles Triangle 62"/>
          <p:cNvSpPr/>
          <p:nvPr/>
        </p:nvSpPr>
        <p:spPr>
          <a:xfrm rot="16200000">
            <a:off x="3177274" y="4611140"/>
            <a:ext cx="1287888" cy="251047"/>
          </a:xfrm>
          <a:prstGeom prst="triangle">
            <a:avLst/>
          </a:prstGeom>
          <a:solidFill>
            <a:schemeClr val="accent6">
              <a:lumMod val="20000"/>
              <a:lumOff val="80000"/>
            </a:schemeClr>
          </a:solidFill>
          <a:ln>
            <a:solidFill>
              <a:schemeClr val="bg1"/>
            </a:solidFill>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pPr algn="ctr"/>
            <a:endParaRPr lang="en-IN"/>
          </a:p>
        </p:txBody>
      </p:sp>
      <p:sp>
        <p:nvSpPr>
          <p:cNvPr id="64" name="Rectangle 63"/>
          <p:cNvSpPr/>
          <p:nvPr/>
        </p:nvSpPr>
        <p:spPr>
          <a:xfrm>
            <a:off x="463231" y="4047079"/>
            <a:ext cx="2925561" cy="1965360"/>
          </a:xfrm>
          <a:prstGeom prst="rect">
            <a:avLst/>
          </a:prstGeom>
          <a:noFill/>
          <a:ln>
            <a:solidFill>
              <a:schemeClr val="tx2"/>
            </a:solidFill>
            <a:prstDash val="dash"/>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t" anchorCtr="0"/>
          <a:lstStyle/>
          <a:p>
            <a:r>
              <a:rPr lang="en-IN" sz="1200" dirty="0" smtClean="0">
                <a:solidFill>
                  <a:schemeClr val="tx1"/>
                </a:solidFill>
              </a:rPr>
              <a:t>A composite performance score has been created at the district level </a:t>
            </a:r>
          </a:p>
          <a:p>
            <a:endParaRPr lang="en-IN" sz="1200" dirty="0">
              <a:solidFill>
                <a:schemeClr val="tx1"/>
              </a:solidFill>
            </a:endParaRPr>
          </a:p>
          <a:p>
            <a:pPr marL="171450" indent="-171450">
              <a:buFont typeface="Wingdings" panose="05000000000000000000" pitchFamily="2" charset="2"/>
              <a:buChar char="Ø"/>
            </a:pPr>
            <a:r>
              <a:rPr lang="en-IN" sz="1200" dirty="0" smtClean="0">
                <a:solidFill>
                  <a:schemeClr val="tx1"/>
                </a:solidFill>
              </a:rPr>
              <a:t>Sales data has been overlaid to understand the sales performance by the segments created</a:t>
            </a:r>
          </a:p>
          <a:p>
            <a:pPr marL="171450" indent="-171450">
              <a:buFont typeface="Wingdings" panose="05000000000000000000" pitchFamily="2" charset="2"/>
              <a:buChar char="Ø"/>
            </a:pPr>
            <a:r>
              <a:rPr lang="en-IN" sz="1200" dirty="0" smtClean="0">
                <a:solidFill>
                  <a:schemeClr val="tx1"/>
                </a:solidFill>
              </a:rPr>
              <a:t>A score has been generated using the vital metrics to characterise each location’s relative attractiveness for sales generation</a:t>
            </a:r>
          </a:p>
          <a:p>
            <a:endParaRPr lang="en-IN" sz="1200" dirty="0">
              <a:solidFill>
                <a:schemeClr val="tx1"/>
              </a:solidFill>
            </a:endParaRPr>
          </a:p>
          <a:p>
            <a:endParaRPr lang="en-IN" sz="1200" dirty="0" smtClean="0">
              <a:solidFill>
                <a:schemeClr val="tx1"/>
              </a:solidFill>
            </a:endParaRPr>
          </a:p>
          <a:p>
            <a:endParaRPr lang="en-IN" sz="1200" dirty="0" smtClean="0">
              <a:solidFill>
                <a:schemeClr val="tx1"/>
              </a:solidFill>
            </a:endParaRPr>
          </a:p>
        </p:txBody>
      </p:sp>
      <p:sp>
        <p:nvSpPr>
          <p:cNvPr id="65" name="TextBox 64"/>
          <p:cNvSpPr txBox="1"/>
          <p:nvPr/>
        </p:nvSpPr>
        <p:spPr>
          <a:xfrm>
            <a:off x="527625" y="3676028"/>
            <a:ext cx="2583800" cy="369332"/>
          </a:xfrm>
          <a:prstGeom prst="rect">
            <a:avLst/>
          </a:prstGeom>
          <a:noFill/>
        </p:spPr>
        <p:txBody>
          <a:bodyPr wrap="square" rtlCol="0">
            <a:spAutoFit/>
          </a:bodyPr>
          <a:lstStyle/>
          <a:p>
            <a:pPr algn="ctr"/>
            <a:r>
              <a:rPr lang="en-IN" dirty="0" smtClean="0"/>
              <a:t>Composite Score</a:t>
            </a:r>
            <a:endParaRPr lang="en-IN" dirty="0"/>
          </a:p>
        </p:txBody>
      </p:sp>
      <p:sp>
        <p:nvSpPr>
          <p:cNvPr id="66" name="TextBox 65"/>
          <p:cNvSpPr txBox="1"/>
          <p:nvPr/>
        </p:nvSpPr>
        <p:spPr>
          <a:xfrm>
            <a:off x="448317" y="1673815"/>
            <a:ext cx="1774522" cy="246221"/>
          </a:xfrm>
          <a:prstGeom prst="rect">
            <a:avLst/>
          </a:prstGeom>
          <a:noFill/>
        </p:spPr>
        <p:txBody>
          <a:bodyPr wrap="square" rtlCol="0">
            <a:spAutoFit/>
          </a:bodyPr>
          <a:lstStyle/>
          <a:p>
            <a:r>
              <a:rPr lang="en-IN" sz="1000" dirty="0" smtClean="0"/>
              <a:t>Aggregated at District level</a:t>
            </a:r>
            <a:endParaRPr lang="en-IN" sz="1000" dirty="0"/>
          </a:p>
        </p:txBody>
      </p:sp>
      <p:sp>
        <p:nvSpPr>
          <p:cNvPr id="2" name="Footer Placeholder 1"/>
          <p:cNvSpPr>
            <a:spLocks noGrp="1"/>
          </p:cNvSpPr>
          <p:nvPr>
            <p:ph type="ftr" sz="quarter" idx="11"/>
          </p:nvPr>
        </p:nvSpPr>
        <p:spPr/>
        <p:txBody>
          <a:bodyPr/>
          <a:lstStyle/>
          <a:p>
            <a:r>
              <a:rPr lang="en-IN" smtClean="0"/>
              <a:t>Version 1                                                                                            Confidential</a:t>
            </a:r>
            <a:endParaRPr lang="en-IN" dirty="0"/>
          </a:p>
        </p:txBody>
      </p:sp>
      <p:sp>
        <p:nvSpPr>
          <p:cNvPr id="3" name="Slide Number Placeholder 2"/>
          <p:cNvSpPr>
            <a:spLocks noGrp="1"/>
          </p:cNvSpPr>
          <p:nvPr>
            <p:ph type="sldNum" sz="quarter" idx="12"/>
          </p:nvPr>
        </p:nvSpPr>
        <p:spPr/>
        <p:txBody>
          <a:bodyPr/>
          <a:lstStyle/>
          <a:p>
            <a:fld id="{3040F425-731D-4835-A38A-9545B9CAE996}" type="slidenum">
              <a:rPr lang="en-IN" smtClean="0"/>
              <a:t>7</a:t>
            </a:fld>
            <a:endParaRPr lang="en-IN" dirty="0"/>
          </a:p>
        </p:txBody>
      </p:sp>
    </p:spTree>
    <p:extLst>
      <p:ext uri="{BB962C8B-B14F-4D97-AF65-F5344CB8AC3E}">
        <p14:creationId xmlns:p14="http://schemas.microsoft.com/office/powerpoint/2010/main" val="113600870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237066"/>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3741327" y="291779"/>
              <a:ext cx="4709431"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Key Differentiating Factors</a:t>
              </a:r>
            </a:p>
          </p:txBody>
        </p:sp>
      </p:grpSp>
      <p:sp>
        <p:nvSpPr>
          <p:cNvPr id="56" name="TextBox 55"/>
          <p:cNvSpPr txBox="1"/>
          <p:nvPr/>
        </p:nvSpPr>
        <p:spPr>
          <a:xfrm>
            <a:off x="332295" y="720304"/>
            <a:ext cx="11616913" cy="369332"/>
          </a:xfrm>
          <a:prstGeom prst="rect">
            <a:avLst/>
          </a:prstGeom>
          <a:noFill/>
        </p:spPr>
        <p:txBody>
          <a:bodyPr wrap="square" rtlCol="0">
            <a:spAutoFit/>
          </a:bodyPr>
          <a:lstStyle/>
          <a:p>
            <a:pPr algn="ctr"/>
            <a:r>
              <a:rPr lang="en-IN" dirty="0" smtClean="0">
                <a:solidFill>
                  <a:schemeClr val="tx2">
                    <a:lumMod val="60000"/>
                    <a:lumOff val="40000"/>
                  </a:schemeClr>
                </a:solidFill>
              </a:rPr>
              <a:t>The components that are key differentiators in location characteristics were studied to arrive at final cluster inputs</a:t>
            </a:r>
            <a:endParaRPr lang="en-IN" dirty="0">
              <a:solidFill>
                <a:schemeClr val="tx2">
                  <a:lumMod val="60000"/>
                  <a:lumOff val="40000"/>
                </a:schemeClr>
              </a:solidFill>
            </a:endParaRPr>
          </a:p>
        </p:txBody>
      </p:sp>
      <p:graphicFrame>
        <p:nvGraphicFramePr>
          <p:cNvPr id="3" name="Diagram 2"/>
          <p:cNvGraphicFramePr/>
          <p:nvPr>
            <p:extLst>
              <p:ext uri="{D42A27DB-BD31-4B8C-83A1-F6EECF244321}">
                <p14:modId xmlns:p14="http://schemas.microsoft.com/office/powerpoint/2010/main" val="37317757"/>
              </p:ext>
            </p:extLst>
          </p:nvPr>
        </p:nvGraphicFramePr>
        <p:xfrm>
          <a:off x="2806173" y="1292463"/>
          <a:ext cx="6414961" cy="40879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4" name="Table 33"/>
          <p:cNvGraphicFramePr>
            <a:graphicFrameLocks noGrp="1"/>
          </p:cNvGraphicFramePr>
          <p:nvPr>
            <p:extLst>
              <p:ext uri="{D42A27DB-BD31-4B8C-83A1-F6EECF244321}">
                <p14:modId xmlns:p14="http://schemas.microsoft.com/office/powerpoint/2010/main" val="1758491838"/>
              </p:ext>
            </p:extLst>
          </p:nvPr>
        </p:nvGraphicFramePr>
        <p:xfrm>
          <a:off x="8251108" y="1372994"/>
          <a:ext cx="3156165" cy="1066800"/>
        </p:xfrm>
        <a:graphic>
          <a:graphicData uri="http://schemas.openxmlformats.org/drawingml/2006/table">
            <a:tbl>
              <a:tblPr firstRow="1" bandRow="1">
                <a:tableStyleId>{5C22544A-7EE6-4342-B048-85BDC9FD1C3A}</a:tableStyleId>
              </a:tblPr>
              <a:tblGrid>
                <a:gridCol w="2076233"/>
                <a:gridCol w="1079932"/>
              </a:tblGrid>
              <a:tr h="213360">
                <a:tc>
                  <a:txBody>
                    <a:bodyPr/>
                    <a:lstStyle/>
                    <a:p>
                      <a:pPr algn="ctr"/>
                      <a:r>
                        <a:rPr lang="en-IN" sz="800" dirty="0" smtClean="0">
                          <a:latin typeface="+mn-lt"/>
                        </a:rPr>
                        <a:t>Metric</a:t>
                      </a:r>
                      <a:endParaRPr lang="en-IN" sz="800" dirty="0">
                        <a:latin typeface="+mn-lt"/>
                      </a:endParaRPr>
                    </a:p>
                  </a:txBody>
                  <a:tcPr anchor="ctr"/>
                </a:tc>
                <a:tc>
                  <a:txBody>
                    <a:bodyPr/>
                    <a:lstStyle/>
                    <a:p>
                      <a:pPr algn="ctr"/>
                      <a:r>
                        <a:rPr lang="en-IN" sz="800" dirty="0" smtClean="0">
                          <a:latin typeface="+mn-lt"/>
                        </a:rPr>
                        <a:t>Weightage</a:t>
                      </a:r>
                      <a:endParaRPr lang="en-IN" sz="800" dirty="0">
                        <a:latin typeface="+mn-lt"/>
                      </a:endParaRPr>
                    </a:p>
                  </a:txBody>
                  <a:tcPr anchor="ctr"/>
                </a:tc>
              </a:tr>
              <a:tr h="213360">
                <a:tc>
                  <a:txBody>
                    <a:bodyPr/>
                    <a:lstStyle/>
                    <a:p>
                      <a:pPr algn="ctr" fontAlgn="b"/>
                      <a:r>
                        <a:rPr lang="en-IN" sz="800" b="0" i="0" u="none" strike="noStrike" dirty="0">
                          <a:solidFill>
                            <a:srgbClr val="000000"/>
                          </a:solidFill>
                          <a:effectLst/>
                          <a:latin typeface="Calibri" panose="020F0502020204030204" pitchFamily="34" charset="0"/>
                        </a:rPr>
                        <a:t># </a:t>
                      </a:r>
                      <a:r>
                        <a:rPr lang="en-IN" sz="800" b="0" i="0" u="none" strike="noStrike" dirty="0" smtClean="0">
                          <a:solidFill>
                            <a:srgbClr val="000000"/>
                          </a:solidFill>
                          <a:effectLst/>
                          <a:latin typeface="Calibri" panose="020F0502020204030204" pitchFamily="34" charset="0"/>
                        </a:rPr>
                        <a:t>Avg. </a:t>
                      </a:r>
                      <a:r>
                        <a:rPr lang="en-IN" sz="800" b="0" i="0" u="none" strike="noStrike" dirty="0">
                          <a:solidFill>
                            <a:srgbClr val="000000"/>
                          </a:solidFill>
                          <a:effectLst/>
                          <a:latin typeface="Calibri" panose="020F0502020204030204" pitchFamily="34" charset="0"/>
                        </a:rPr>
                        <a:t>Total Banking </a:t>
                      </a:r>
                      <a:r>
                        <a:rPr lang="en-IN" sz="800" b="0" i="0" u="none" strike="noStrike" dirty="0" smtClean="0">
                          <a:solidFill>
                            <a:srgbClr val="000000"/>
                          </a:solidFill>
                          <a:effectLst/>
                          <a:latin typeface="Calibri" panose="020F0502020204030204" pitchFamily="34" charset="0"/>
                        </a:rPr>
                        <a:t>population </a:t>
                      </a:r>
                      <a:r>
                        <a:rPr lang="en-IN" sz="800" b="0" i="0" u="none" strike="noStrike" dirty="0">
                          <a:solidFill>
                            <a:srgbClr val="000000"/>
                          </a:solidFill>
                          <a:effectLst/>
                          <a:latin typeface="Calibri" panose="020F0502020204030204" pitchFamily="34" charset="0"/>
                        </a:rPr>
                        <a:t>proxy</a:t>
                      </a:r>
                    </a:p>
                  </a:txBody>
                  <a:tcPr marL="9525" marR="9525" marT="9525" marB="0" anchor="ctr"/>
                </a:tc>
                <a:tc>
                  <a:txBody>
                    <a:bodyPr/>
                    <a:lstStyle/>
                    <a:p>
                      <a:pPr algn="ctr" rtl="0" fontAlgn="ctr"/>
                      <a:r>
                        <a:rPr lang="en-IN" sz="1000" b="0" i="0" u="none" strike="noStrike">
                          <a:solidFill>
                            <a:srgbClr val="000000"/>
                          </a:solidFill>
                          <a:effectLst/>
                          <a:latin typeface="Calibri" panose="020F0502020204030204" pitchFamily="34" charset="0"/>
                        </a:rPr>
                        <a:t>25%</a:t>
                      </a:r>
                    </a:p>
                  </a:txBody>
                  <a:tcPr marL="9525" marR="9525" marT="9525" marB="0" anchor="ctr"/>
                </a:tc>
              </a:tr>
              <a:tr h="213360">
                <a:tc>
                  <a:txBody>
                    <a:bodyPr/>
                    <a:lstStyle/>
                    <a:p>
                      <a:pPr algn="ctr" fontAlgn="b"/>
                      <a:r>
                        <a:rPr lang="en-IN" sz="800" b="0" i="0" u="none" strike="noStrike" dirty="0">
                          <a:solidFill>
                            <a:srgbClr val="000000"/>
                          </a:solidFill>
                          <a:effectLst/>
                          <a:latin typeface="Calibri" panose="020F0502020204030204" pitchFamily="34" charset="0"/>
                        </a:rPr>
                        <a:t># </a:t>
                      </a:r>
                      <a:r>
                        <a:rPr lang="en-IN" sz="800" b="0" i="0" u="none" strike="noStrike" dirty="0" smtClean="0">
                          <a:solidFill>
                            <a:srgbClr val="000000"/>
                          </a:solidFill>
                          <a:effectLst/>
                          <a:latin typeface="Calibri" panose="020F0502020204030204" pitchFamily="34" charset="0"/>
                        </a:rPr>
                        <a:t>Avg. prominent bank </a:t>
                      </a:r>
                      <a:r>
                        <a:rPr lang="en-IN" sz="800" b="0" i="0" u="none" strike="noStrike" dirty="0">
                          <a:solidFill>
                            <a:srgbClr val="000000"/>
                          </a:solidFill>
                          <a:effectLst/>
                          <a:latin typeface="Calibri" panose="020F0502020204030204" pitchFamily="34" charset="0"/>
                        </a:rPr>
                        <a:t>branches</a:t>
                      </a:r>
                    </a:p>
                  </a:txBody>
                  <a:tcPr marL="9525" marR="9525" marT="9525" marB="0" anchor="ctr"/>
                </a:tc>
                <a:tc>
                  <a:txBody>
                    <a:bodyPr/>
                    <a:lstStyle/>
                    <a:p>
                      <a:pPr algn="ctr" rtl="0" fontAlgn="ctr"/>
                      <a:r>
                        <a:rPr lang="en-IN" sz="1000" b="0" i="0" u="none" strike="noStrike">
                          <a:solidFill>
                            <a:srgbClr val="000000"/>
                          </a:solidFill>
                          <a:effectLst/>
                          <a:latin typeface="Calibri" panose="020F0502020204030204" pitchFamily="34" charset="0"/>
                        </a:rPr>
                        <a:t>25%</a:t>
                      </a:r>
                    </a:p>
                  </a:txBody>
                  <a:tcPr marL="9525" marR="9525" marT="9525" marB="0" anchor="ctr"/>
                </a:tc>
              </a:tr>
              <a:tr h="213360">
                <a:tc>
                  <a:txBody>
                    <a:bodyPr/>
                    <a:lstStyle/>
                    <a:p>
                      <a:pPr algn="ctr" fontAlgn="b"/>
                      <a:r>
                        <a:rPr lang="en-IN" sz="800" b="0" i="0" u="none" strike="noStrike" dirty="0">
                          <a:solidFill>
                            <a:srgbClr val="000000"/>
                          </a:solidFill>
                          <a:effectLst/>
                          <a:latin typeface="Calibri" panose="020F0502020204030204" pitchFamily="34" charset="0"/>
                        </a:rPr>
                        <a:t># Two Wheeler buying customers proxy</a:t>
                      </a:r>
                    </a:p>
                  </a:txBody>
                  <a:tcPr marL="9525" marR="9525" marT="9525" marB="0" anchor="ctr"/>
                </a:tc>
                <a:tc>
                  <a:txBody>
                    <a:bodyPr/>
                    <a:lstStyle/>
                    <a:p>
                      <a:pPr algn="ctr" rtl="0" fontAlgn="ctr"/>
                      <a:r>
                        <a:rPr lang="en-IN" sz="1000" b="0" i="0" u="none" strike="noStrike">
                          <a:solidFill>
                            <a:srgbClr val="000000"/>
                          </a:solidFill>
                          <a:effectLst/>
                          <a:latin typeface="Calibri" panose="020F0502020204030204" pitchFamily="34" charset="0"/>
                        </a:rPr>
                        <a:t>26%</a:t>
                      </a:r>
                    </a:p>
                  </a:txBody>
                  <a:tcPr marL="9525" marR="9525" marT="9525" marB="0" anchor="ctr"/>
                </a:tc>
              </a:tr>
              <a:tr h="213360">
                <a:tc>
                  <a:txBody>
                    <a:bodyPr/>
                    <a:lstStyle/>
                    <a:p>
                      <a:pPr algn="ctr" fontAlgn="b"/>
                      <a:r>
                        <a:rPr lang="en-IN" sz="800" b="0" i="0" u="none" strike="noStrike" dirty="0">
                          <a:solidFill>
                            <a:srgbClr val="000000"/>
                          </a:solidFill>
                          <a:effectLst/>
                          <a:latin typeface="Calibri" panose="020F0502020204030204" pitchFamily="34" charset="0"/>
                        </a:rPr>
                        <a:t># Commercial Vehicle Customers proxy</a:t>
                      </a:r>
                    </a:p>
                  </a:txBody>
                  <a:tcPr marL="9525" marR="9525" marT="9525" marB="0" anchor="ctr"/>
                </a:tc>
                <a:tc>
                  <a:txBody>
                    <a:bodyPr/>
                    <a:lstStyle/>
                    <a:p>
                      <a:pPr algn="ctr" rtl="0" fontAlgn="ctr"/>
                      <a:r>
                        <a:rPr lang="en-IN" sz="1000" b="0" i="0" u="none" strike="noStrike" dirty="0">
                          <a:solidFill>
                            <a:srgbClr val="000000"/>
                          </a:solidFill>
                          <a:effectLst/>
                          <a:latin typeface="Calibri" panose="020F0502020204030204" pitchFamily="34" charset="0"/>
                        </a:rPr>
                        <a:t>25%</a:t>
                      </a:r>
                    </a:p>
                  </a:txBody>
                  <a:tcPr marL="9525" marR="9525" marT="9525" marB="0" anchor="ctr"/>
                </a:tc>
              </a:tr>
            </a:tbl>
          </a:graphicData>
        </a:graphic>
      </p:graphicFrame>
      <p:sp>
        <p:nvSpPr>
          <p:cNvPr id="36" name="TextBox 35"/>
          <p:cNvSpPr txBox="1"/>
          <p:nvPr/>
        </p:nvSpPr>
        <p:spPr>
          <a:xfrm>
            <a:off x="8242066" y="1107031"/>
            <a:ext cx="3156166" cy="276999"/>
          </a:xfrm>
          <a:prstGeom prst="rect">
            <a:avLst/>
          </a:prstGeom>
          <a:noFill/>
        </p:spPr>
        <p:txBody>
          <a:bodyPr wrap="square" rtlCol="0">
            <a:spAutoFit/>
          </a:bodyPr>
          <a:lstStyle/>
          <a:p>
            <a:pPr algn="ctr"/>
            <a:r>
              <a:rPr lang="en-IN" sz="1200" b="1" dirty="0" smtClean="0"/>
              <a:t>Activity Hub</a:t>
            </a:r>
            <a:endParaRPr lang="en-IN" sz="1200" b="1" dirty="0"/>
          </a:p>
        </p:txBody>
      </p:sp>
      <p:graphicFrame>
        <p:nvGraphicFramePr>
          <p:cNvPr id="37" name="Table 36"/>
          <p:cNvGraphicFramePr>
            <a:graphicFrameLocks noGrp="1"/>
          </p:cNvGraphicFramePr>
          <p:nvPr>
            <p:extLst>
              <p:ext uri="{D42A27DB-BD31-4B8C-83A1-F6EECF244321}">
                <p14:modId xmlns:p14="http://schemas.microsoft.com/office/powerpoint/2010/main" val="769983178"/>
              </p:ext>
            </p:extLst>
          </p:nvPr>
        </p:nvGraphicFramePr>
        <p:xfrm>
          <a:off x="1279645" y="1920059"/>
          <a:ext cx="2622226" cy="486264"/>
        </p:xfrm>
        <a:graphic>
          <a:graphicData uri="http://schemas.openxmlformats.org/drawingml/2006/table">
            <a:tbl>
              <a:tblPr firstRow="1" bandRow="1">
                <a:tableStyleId>{5C22544A-7EE6-4342-B048-85BDC9FD1C3A}</a:tableStyleId>
              </a:tblPr>
              <a:tblGrid>
                <a:gridCol w="1669920"/>
                <a:gridCol w="952306"/>
              </a:tblGrid>
              <a:tr h="243132">
                <a:tc>
                  <a:txBody>
                    <a:bodyPr/>
                    <a:lstStyle/>
                    <a:p>
                      <a:pPr algn="ctr"/>
                      <a:r>
                        <a:rPr lang="en-IN" sz="800" dirty="0" smtClean="0"/>
                        <a:t>Metric</a:t>
                      </a:r>
                      <a:endParaRPr lang="en-IN" sz="800" dirty="0"/>
                    </a:p>
                  </a:txBody>
                  <a:tcPr anchor="ctr"/>
                </a:tc>
                <a:tc>
                  <a:txBody>
                    <a:bodyPr/>
                    <a:lstStyle/>
                    <a:p>
                      <a:pPr algn="ctr"/>
                      <a:r>
                        <a:rPr lang="en-IN" sz="800" dirty="0" smtClean="0">
                          <a:latin typeface="+mn-lt"/>
                        </a:rPr>
                        <a:t>Weightage</a:t>
                      </a:r>
                      <a:endParaRPr lang="en-IN" sz="800" dirty="0">
                        <a:latin typeface="+mn-lt"/>
                      </a:endParaRPr>
                    </a:p>
                  </a:txBody>
                  <a:tcPr anchor="ctr"/>
                </a:tc>
              </a:tr>
              <a:tr h="243132">
                <a:tc>
                  <a:txBody>
                    <a:bodyPr/>
                    <a:lstStyle/>
                    <a:p>
                      <a:pPr algn="ctr" fontAlgn="b"/>
                      <a:r>
                        <a:rPr lang="en-IN" sz="800" b="0" i="0" u="none" strike="noStrike" dirty="0">
                          <a:solidFill>
                            <a:srgbClr val="000000"/>
                          </a:solidFill>
                          <a:effectLst/>
                          <a:latin typeface="Calibri" panose="020F0502020204030204" pitchFamily="34" charset="0"/>
                        </a:rPr>
                        <a:t># Tractor Buying Customers proxy</a:t>
                      </a:r>
                    </a:p>
                  </a:txBody>
                  <a:tcPr marL="9525" marR="9525" marT="9525" marB="0" anchor="ctr"/>
                </a:tc>
                <a:tc>
                  <a:txBody>
                    <a:bodyPr/>
                    <a:lstStyle/>
                    <a:p>
                      <a:pPr algn="ctr" rtl="0" fontAlgn="ctr"/>
                      <a:r>
                        <a:rPr lang="en-IN" sz="800" b="0" i="0" u="none" strike="noStrike" dirty="0">
                          <a:solidFill>
                            <a:srgbClr val="000000"/>
                          </a:solidFill>
                          <a:effectLst/>
                          <a:latin typeface="Calibri" panose="020F0502020204030204" pitchFamily="34" charset="0"/>
                        </a:rPr>
                        <a:t>100%</a:t>
                      </a:r>
                    </a:p>
                  </a:txBody>
                  <a:tcPr marL="9525" marR="9525" marT="9525" marB="0" anchor="ctr"/>
                </a:tc>
              </a:tr>
            </a:tbl>
          </a:graphicData>
        </a:graphic>
      </p:graphicFrame>
      <p:sp>
        <p:nvSpPr>
          <p:cNvPr id="38" name="TextBox 37"/>
          <p:cNvSpPr txBox="1"/>
          <p:nvPr/>
        </p:nvSpPr>
        <p:spPr>
          <a:xfrm>
            <a:off x="1474724" y="1623846"/>
            <a:ext cx="2191395" cy="276999"/>
          </a:xfrm>
          <a:prstGeom prst="rect">
            <a:avLst/>
          </a:prstGeom>
          <a:noFill/>
        </p:spPr>
        <p:txBody>
          <a:bodyPr wrap="square" rtlCol="0">
            <a:spAutoFit/>
          </a:bodyPr>
          <a:lstStyle/>
          <a:p>
            <a:pPr algn="ctr"/>
            <a:r>
              <a:rPr lang="en-IN" sz="1200" b="1" dirty="0" smtClean="0"/>
              <a:t>Tractor buying Customers</a:t>
            </a:r>
            <a:endParaRPr lang="en-IN" sz="1200" b="1" dirty="0"/>
          </a:p>
        </p:txBody>
      </p:sp>
      <p:graphicFrame>
        <p:nvGraphicFramePr>
          <p:cNvPr id="42" name="Table 41"/>
          <p:cNvGraphicFramePr>
            <a:graphicFrameLocks noGrp="1"/>
          </p:cNvGraphicFramePr>
          <p:nvPr>
            <p:extLst>
              <p:ext uri="{D42A27DB-BD31-4B8C-83A1-F6EECF244321}">
                <p14:modId xmlns:p14="http://schemas.microsoft.com/office/powerpoint/2010/main" val="3123447273"/>
              </p:ext>
            </p:extLst>
          </p:nvPr>
        </p:nvGraphicFramePr>
        <p:xfrm>
          <a:off x="1105470" y="3539007"/>
          <a:ext cx="2579050" cy="462054"/>
        </p:xfrm>
        <a:graphic>
          <a:graphicData uri="http://schemas.openxmlformats.org/drawingml/2006/table">
            <a:tbl>
              <a:tblPr firstRow="1" bandRow="1">
                <a:tableStyleId>{5C22544A-7EE6-4342-B048-85BDC9FD1C3A}</a:tableStyleId>
              </a:tblPr>
              <a:tblGrid>
                <a:gridCol w="1642424"/>
                <a:gridCol w="936626"/>
              </a:tblGrid>
              <a:tr h="231027">
                <a:tc>
                  <a:txBody>
                    <a:bodyPr/>
                    <a:lstStyle/>
                    <a:p>
                      <a:pPr algn="ctr"/>
                      <a:r>
                        <a:rPr lang="en-IN" sz="800" dirty="0" smtClean="0"/>
                        <a:t>Metric</a:t>
                      </a:r>
                      <a:endParaRPr lang="en-IN" sz="800" dirty="0"/>
                    </a:p>
                  </a:txBody>
                  <a:tcPr anchor="ctr"/>
                </a:tc>
                <a:tc>
                  <a:txBody>
                    <a:bodyPr/>
                    <a:lstStyle/>
                    <a:p>
                      <a:pPr algn="ctr"/>
                      <a:r>
                        <a:rPr lang="en-IN" sz="800" dirty="0" smtClean="0">
                          <a:latin typeface="+mn-lt"/>
                        </a:rPr>
                        <a:t>Weightage</a:t>
                      </a:r>
                      <a:endParaRPr lang="en-IN" sz="800" dirty="0">
                        <a:latin typeface="+mn-lt"/>
                      </a:endParaRPr>
                    </a:p>
                  </a:txBody>
                  <a:tcPr anchor="ctr"/>
                </a:tc>
              </a:tr>
              <a:tr h="231027">
                <a:tc>
                  <a:txBody>
                    <a:bodyPr/>
                    <a:lstStyle/>
                    <a:p>
                      <a:pPr algn="ctr" fontAlgn="b"/>
                      <a:r>
                        <a:rPr lang="en-IN" sz="800" b="0" i="0" u="none" strike="noStrike" dirty="0">
                          <a:solidFill>
                            <a:srgbClr val="000000"/>
                          </a:solidFill>
                          <a:effectLst/>
                          <a:latin typeface="Calibri" panose="020F0502020204030204" pitchFamily="34" charset="0"/>
                        </a:rPr>
                        <a:t>% Non Food Crop Irrigated area</a:t>
                      </a:r>
                    </a:p>
                  </a:txBody>
                  <a:tcPr marL="9525" marR="9525" marT="9525" marB="0" anchor="ctr"/>
                </a:tc>
                <a:tc>
                  <a:txBody>
                    <a:bodyPr/>
                    <a:lstStyle/>
                    <a:p>
                      <a:pPr algn="ctr" rtl="0" fontAlgn="ctr"/>
                      <a:r>
                        <a:rPr lang="en-IN" sz="800" b="0" i="0" u="none" strike="noStrike" dirty="0">
                          <a:solidFill>
                            <a:srgbClr val="000000"/>
                          </a:solidFill>
                          <a:effectLst/>
                          <a:latin typeface="Calibri" panose="020F0502020204030204" pitchFamily="34" charset="0"/>
                        </a:rPr>
                        <a:t>100%</a:t>
                      </a:r>
                    </a:p>
                  </a:txBody>
                  <a:tcPr marL="9525" marR="9525" marT="9525" marB="0" anchor="ctr"/>
                </a:tc>
              </a:tr>
            </a:tbl>
          </a:graphicData>
        </a:graphic>
      </p:graphicFrame>
      <p:sp>
        <p:nvSpPr>
          <p:cNvPr id="43" name="TextBox 42"/>
          <p:cNvSpPr txBox="1"/>
          <p:nvPr/>
        </p:nvSpPr>
        <p:spPr>
          <a:xfrm>
            <a:off x="1123871" y="3261975"/>
            <a:ext cx="2542248" cy="276999"/>
          </a:xfrm>
          <a:prstGeom prst="rect">
            <a:avLst/>
          </a:prstGeom>
          <a:noFill/>
        </p:spPr>
        <p:txBody>
          <a:bodyPr wrap="square" rtlCol="0">
            <a:spAutoFit/>
          </a:bodyPr>
          <a:lstStyle/>
          <a:p>
            <a:pPr algn="ctr"/>
            <a:r>
              <a:rPr lang="en-IN" sz="1200" b="1" dirty="0" smtClean="0"/>
              <a:t>High Non Food Crop Irrigated areas</a:t>
            </a:r>
            <a:endParaRPr lang="en-IN" sz="1200" b="1" dirty="0"/>
          </a:p>
        </p:txBody>
      </p:sp>
      <p:graphicFrame>
        <p:nvGraphicFramePr>
          <p:cNvPr id="44" name="Table 43"/>
          <p:cNvGraphicFramePr>
            <a:graphicFrameLocks noGrp="1"/>
          </p:cNvGraphicFramePr>
          <p:nvPr>
            <p:extLst>
              <p:ext uri="{D42A27DB-BD31-4B8C-83A1-F6EECF244321}">
                <p14:modId xmlns:p14="http://schemas.microsoft.com/office/powerpoint/2010/main" val="1508906827"/>
              </p:ext>
            </p:extLst>
          </p:nvPr>
        </p:nvGraphicFramePr>
        <p:xfrm>
          <a:off x="8450758" y="2937975"/>
          <a:ext cx="3167502" cy="1280160"/>
        </p:xfrm>
        <a:graphic>
          <a:graphicData uri="http://schemas.openxmlformats.org/drawingml/2006/table">
            <a:tbl>
              <a:tblPr firstRow="1" bandRow="1">
                <a:tableStyleId>{5C22544A-7EE6-4342-B048-85BDC9FD1C3A}</a:tableStyleId>
              </a:tblPr>
              <a:tblGrid>
                <a:gridCol w="2132077"/>
                <a:gridCol w="1035425"/>
              </a:tblGrid>
              <a:tr h="213360">
                <a:tc>
                  <a:txBody>
                    <a:bodyPr/>
                    <a:lstStyle/>
                    <a:p>
                      <a:pPr algn="ctr"/>
                      <a:r>
                        <a:rPr lang="en-IN" sz="800" dirty="0" smtClean="0"/>
                        <a:t>Metric</a:t>
                      </a:r>
                      <a:endParaRPr lang="en-IN" sz="800" dirty="0"/>
                    </a:p>
                  </a:txBody>
                  <a:tcPr anchor="ctr"/>
                </a:tc>
                <a:tc>
                  <a:txBody>
                    <a:bodyPr/>
                    <a:lstStyle/>
                    <a:p>
                      <a:pPr algn="ctr"/>
                      <a:r>
                        <a:rPr lang="en-IN" sz="800" dirty="0" smtClean="0">
                          <a:latin typeface="+mn-lt"/>
                        </a:rPr>
                        <a:t>Weightage</a:t>
                      </a:r>
                      <a:endParaRPr lang="en-IN" sz="800" dirty="0">
                        <a:latin typeface="+mn-lt"/>
                      </a:endParaRPr>
                    </a:p>
                  </a:txBody>
                  <a:tcPr anchor="ctr"/>
                </a:tc>
              </a:tr>
              <a:tr h="213360">
                <a:tc>
                  <a:txBody>
                    <a:bodyPr/>
                    <a:lstStyle/>
                    <a:p>
                      <a:pPr algn="ctr" fontAlgn="b"/>
                      <a:r>
                        <a:rPr lang="en-IN" sz="800" b="0" i="0" u="none" strike="noStrike" dirty="0">
                          <a:solidFill>
                            <a:srgbClr val="000000"/>
                          </a:solidFill>
                          <a:effectLst/>
                          <a:latin typeface="Calibri" panose="020F0502020204030204" pitchFamily="34" charset="0"/>
                        </a:rPr>
                        <a:t>% Of Land area irrigated</a:t>
                      </a:r>
                    </a:p>
                  </a:txBody>
                  <a:tcPr marL="9525" marR="9525" marT="9525" marB="0" anchor="ctr"/>
                </a:tc>
                <a:tc>
                  <a:txBody>
                    <a:bodyPr/>
                    <a:lstStyle/>
                    <a:p>
                      <a:pPr algn="ctr" rtl="0" fontAlgn="ctr"/>
                      <a:r>
                        <a:rPr lang="en-IN" sz="800" b="0" i="0" u="none" strike="noStrike">
                          <a:solidFill>
                            <a:srgbClr val="000000"/>
                          </a:solidFill>
                          <a:effectLst/>
                          <a:latin typeface="Calibri" panose="020F0502020204030204" pitchFamily="34" charset="0"/>
                        </a:rPr>
                        <a:t>20%</a:t>
                      </a:r>
                    </a:p>
                  </a:txBody>
                  <a:tcPr marL="9525" marR="9525" marT="9525" marB="0" anchor="ctr"/>
                </a:tc>
              </a:tr>
              <a:tr h="213360">
                <a:tc>
                  <a:txBody>
                    <a:bodyPr/>
                    <a:lstStyle/>
                    <a:p>
                      <a:pPr algn="ctr" fontAlgn="b"/>
                      <a:r>
                        <a:rPr lang="en-IN" sz="800" b="0" i="0" u="none" strike="noStrike" dirty="0">
                          <a:solidFill>
                            <a:srgbClr val="000000"/>
                          </a:solidFill>
                          <a:effectLst/>
                          <a:latin typeface="Calibri" panose="020F0502020204030204" pitchFamily="34" charset="0"/>
                        </a:rPr>
                        <a:t>% of Irrigated area, irrigated by Tube Wells</a:t>
                      </a:r>
                    </a:p>
                  </a:txBody>
                  <a:tcPr marL="9525" marR="9525" marT="9525" marB="0" anchor="ctr"/>
                </a:tc>
                <a:tc>
                  <a:txBody>
                    <a:bodyPr/>
                    <a:lstStyle/>
                    <a:p>
                      <a:pPr algn="ctr" rtl="0" fontAlgn="ctr"/>
                      <a:r>
                        <a:rPr lang="en-IN" sz="800" b="0" i="0" u="none" strike="noStrike">
                          <a:solidFill>
                            <a:srgbClr val="000000"/>
                          </a:solidFill>
                          <a:effectLst/>
                          <a:latin typeface="Calibri" panose="020F0502020204030204" pitchFamily="34" charset="0"/>
                        </a:rPr>
                        <a:t>20%</a:t>
                      </a:r>
                    </a:p>
                  </a:txBody>
                  <a:tcPr marL="9525" marR="9525" marT="9525" marB="0" anchor="ctr"/>
                </a:tc>
              </a:tr>
              <a:tr h="213360">
                <a:tc>
                  <a:txBody>
                    <a:bodyPr/>
                    <a:lstStyle/>
                    <a:p>
                      <a:pPr algn="ctr" fontAlgn="b"/>
                      <a:r>
                        <a:rPr lang="en-IN" sz="800" b="0" i="0" u="none" strike="noStrike" dirty="0">
                          <a:solidFill>
                            <a:srgbClr val="000000"/>
                          </a:solidFill>
                          <a:effectLst/>
                          <a:latin typeface="Calibri" panose="020F0502020204030204" pitchFamily="34" charset="0"/>
                        </a:rPr>
                        <a:t>% of Irrigated area, irrigated by Wells</a:t>
                      </a:r>
                    </a:p>
                  </a:txBody>
                  <a:tcPr marL="9525" marR="9525" marT="9525" marB="0" anchor="ctr"/>
                </a:tc>
                <a:tc>
                  <a:txBody>
                    <a:bodyPr/>
                    <a:lstStyle/>
                    <a:p>
                      <a:pPr algn="ctr" rtl="0" fontAlgn="ctr"/>
                      <a:r>
                        <a:rPr lang="en-IN" sz="800" b="0" i="0" u="none" strike="noStrike">
                          <a:solidFill>
                            <a:srgbClr val="000000"/>
                          </a:solidFill>
                          <a:effectLst/>
                          <a:latin typeface="Calibri" panose="020F0502020204030204" pitchFamily="34" charset="0"/>
                        </a:rPr>
                        <a:t>21%</a:t>
                      </a:r>
                    </a:p>
                  </a:txBody>
                  <a:tcPr marL="9525" marR="9525" marT="9525" marB="0" anchor="ctr"/>
                </a:tc>
              </a:tr>
              <a:tr h="213360">
                <a:tc>
                  <a:txBody>
                    <a:bodyPr/>
                    <a:lstStyle/>
                    <a:p>
                      <a:pPr algn="ctr" fontAlgn="b"/>
                      <a:r>
                        <a:rPr lang="en-IN" sz="800" b="0" i="0" u="none" strike="noStrike" dirty="0">
                          <a:solidFill>
                            <a:srgbClr val="000000"/>
                          </a:solidFill>
                          <a:effectLst/>
                          <a:latin typeface="Calibri" panose="020F0502020204030204" pitchFamily="34" charset="0"/>
                        </a:rPr>
                        <a:t>% of Cropped Area</a:t>
                      </a:r>
                    </a:p>
                  </a:txBody>
                  <a:tcPr marL="9525" marR="9525" marT="9525" marB="0" anchor="ctr"/>
                </a:tc>
                <a:tc>
                  <a:txBody>
                    <a:bodyPr/>
                    <a:lstStyle/>
                    <a:p>
                      <a:pPr algn="ctr" rtl="0" fontAlgn="ctr"/>
                      <a:r>
                        <a:rPr lang="en-IN" sz="800" b="0" i="0" u="none" strike="noStrike">
                          <a:solidFill>
                            <a:srgbClr val="000000"/>
                          </a:solidFill>
                          <a:effectLst/>
                          <a:latin typeface="Calibri" panose="020F0502020204030204" pitchFamily="34" charset="0"/>
                        </a:rPr>
                        <a:t>19%</a:t>
                      </a:r>
                    </a:p>
                  </a:txBody>
                  <a:tcPr marL="9525" marR="9525" marT="9525" marB="0" anchor="ctr"/>
                </a:tc>
              </a:tr>
              <a:tr h="213360">
                <a:tc>
                  <a:txBody>
                    <a:bodyPr/>
                    <a:lstStyle/>
                    <a:p>
                      <a:pPr algn="ctr" fontAlgn="b"/>
                      <a:r>
                        <a:rPr lang="en-IN" sz="800" b="0" i="0" u="none" strike="noStrike" dirty="0">
                          <a:solidFill>
                            <a:srgbClr val="000000"/>
                          </a:solidFill>
                          <a:effectLst/>
                          <a:latin typeface="Calibri" panose="020F0502020204030204" pitchFamily="34" charset="0"/>
                        </a:rPr>
                        <a:t>% Of Land area sown more than once</a:t>
                      </a:r>
                    </a:p>
                  </a:txBody>
                  <a:tcPr marL="9525" marR="9525" marT="9525" marB="0" anchor="ctr"/>
                </a:tc>
                <a:tc>
                  <a:txBody>
                    <a:bodyPr/>
                    <a:lstStyle/>
                    <a:p>
                      <a:pPr algn="ctr" rtl="0" fontAlgn="ctr"/>
                      <a:r>
                        <a:rPr lang="en-IN" sz="800" b="0" i="0" u="none" strike="noStrike" dirty="0">
                          <a:solidFill>
                            <a:srgbClr val="000000"/>
                          </a:solidFill>
                          <a:effectLst/>
                          <a:latin typeface="Calibri" panose="020F0502020204030204" pitchFamily="34" charset="0"/>
                        </a:rPr>
                        <a:t>19%</a:t>
                      </a:r>
                    </a:p>
                  </a:txBody>
                  <a:tcPr marL="9525" marR="9525" marT="9525" marB="0" anchor="ctr"/>
                </a:tc>
              </a:tr>
            </a:tbl>
          </a:graphicData>
        </a:graphic>
      </p:graphicFrame>
      <p:sp>
        <p:nvSpPr>
          <p:cNvPr id="45" name="TextBox 44"/>
          <p:cNvSpPr txBox="1"/>
          <p:nvPr/>
        </p:nvSpPr>
        <p:spPr>
          <a:xfrm>
            <a:off x="8767482" y="2640202"/>
            <a:ext cx="2850778" cy="276999"/>
          </a:xfrm>
          <a:prstGeom prst="rect">
            <a:avLst/>
          </a:prstGeom>
          <a:noFill/>
        </p:spPr>
        <p:txBody>
          <a:bodyPr wrap="square" rtlCol="0">
            <a:spAutoFit/>
          </a:bodyPr>
          <a:lstStyle/>
          <a:p>
            <a:pPr algn="ctr"/>
            <a:r>
              <a:rPr lang="en-IN" sz="1200" b="1" dirty="0" smtClean="0"/>
              <a:t>Well Irrigated and Cropped</a:t>
            </a:r>
            <a:endParaRPr lang="en-IN" sz="1200" b="1" dirty="0"/>
          </a:p>
        </p:txBody>
      </p:sp>
      <p:graphicFrame>
        <p:nvGraphicFramePr>
          <p:cNvPr id="46" name="Table 45"/>
          <p:cNvGraphicFramePr>
            <a:graphicFrameLocks noGrp="1"/>
          </p:cNvGraphicFramePr>
          <p:nvPr>
            <p:extLst>
              <p:ext uri="{D42A27DB-BD31-4B8C-83A1-F6EECF244321}">
                <p14:modId xmlns:p14="http://schemas.microsoft.com/office/powerpoint/2010/main" val="201599343"/>
              </p:ext>
            </p:extLst>
          </p:nvPr>
        </p:nvGraphicFramePr>
        <p:xfrm>
          <a:off x="7791208" y="4719682"/>
          <a:ext cx="3707019" cy="1280160"/>
        </p:xfrm>
        <a:graphic>
          <a:graphicData uri="http://schemas.openxmlformats.org/drawingml/2006/table">
            <a:tbl>
              <a:tblPr firstRow="1" bandRow="1">
                <a:tableStyleId>{5C22544A-7EE6-4342-B048-85BDC9FD1C3A}</a:tableStyleId>
              </a:tblPr>
              <a:tblGrid>
                <a:gridCol w="2670604"/>
                <a:gridCol w="1036415"/>
              </a:tblGrid>
              <a:tr h="213360">
                <a:tc>
                  <a:txBody>
                    <a:bodyPr/>
                    <a:lstStyle/>
                    <a:p>
                      <a:pPr algn="ctr"/>
                      <a:r>
                        <a:rPr lang="en-IN" sz="800" dirty="0" smtClean="0"/>
                        <a:t>Metric</a:t>
                      </a:r>
                      <a:endParaRPr lang="en-IN" sz="800" dirty="0"/>
                    </a:p>
                  </a:txBody>
                  <a:tcPr anchor="ctr"/>
                </a:tc>
                <a:tc>
                  <a:txBody>
                    <a:bodyPr/>
                    <a:lstStyle/>
                    <a:p>
                      <a:pPr algn="ctr"/>
                      <a:r>
                        <a:rPr lang="en-IN" sz="800" dirty="0" smtClean="0">
                          <a:latin typeface="+mn-lt"/>
                        </a:rPr>
                        <a:t>Weightage</a:t>
                      </a:r>
                      <a:endParaRPr lang="en-IN" sz="800" dirty="0">
                        <a:latin typeface="+mn-lt"/>
                      </a:endParaRPr>
                    </a:p>
                  </a:txBody>
                  <a:tcPr anchor="ctr"/>
                </a:tc>
              </a:tr>
              <a:tr h="213360">
                <a:tc>
                  <a:txBody>
                    <a:bodyPr/>
                    <a:lstStyle/>
                    <a:p>
                      <a:pPr algn="ctr" fontAlgn="b"/>
                      <a:r>
                        <a:rPr lang="en-IN" sz="800" b="0" i="0" u="none" strike="noStrike" dirty="0">
                          <a:solidFill>
                            <a:srgbClr val="000000"/>
                          </a:solidFill>
                          <a:effectLst/>
                          <a:latin typeface="Calibri" panose="020F0502020204030204" pitchFamily="34" charset="0"/>
                        </a:rPr>
                        <a:t>Total Rural Worker population</a:t>
                      </a:r>
                    </a:p>
                  </a:txBody>
                  <a:tcPr marL="9525" marR="9525" marT="9525" marB="0" anchor="ctr"/>
                </a:tc>
                <a:tc>
                  <a:txBody>
                    <a:bodyPr/>
                    <a:lstStyle/>
                    <a:p>
                      <a:pPr algn="ctr" rtl="0" fontAlgn="ctr"/>
                      <a:r>
                        <a:rPr lang="en-IN" sz="800" b="0" i="0" u="none" strike="noStrike" dirty="0">
                          <a:solidFill>
                            <a:srgbClr val="000000"/>
                          </a:solidFill>
                          <a:effectLst/>
                          <a:latin typeface="Calibri" panose="020F0502020204030204" pitchFamily="34" charset="0"/>
                        </a:rPr>
                        <a:t>23%</a:t>
                      </a:r>
                    </a:p>
                  </a:txBody>
                  <a:tcPr marL="9525" marR="9525" marT="9525" marB="0" anchor="ctr"/>
                </a:tc>
              </a:tr>
              <a:tr h="213360">
                <a:tc>
                  <a:txBody>
                    <a:bodyPr/>
                    <a:lstStyle/>
                    <a:p>
                      <a:pPr algn="ctr" fontAlgn="b"/>
                      <a:r>
                        <a:rPr lang="en-IN" sz="800" b="0" i="0" u="none" strike="noStrike" dirty="0">
                          <a:solidFill>
                            <a:srgbClr val="000000"/>
                          </a:solidFill>
                          <a:effectLst/>
                          <a:latin typeface="Calibri" panose="020F0502020204030204" pitchFamily="34" charset="0"/>
                        </a:rPr>
                        <a:t>Cultivator Rural population</a:t>
                      </a:r>
                    </a:p>
                  </a:txBody>
                  <a:tcPr marL="9525" marR="9525" marT="9525" marB="0" anchor="ctr"/>
                </a:tc>
                <a:tc>
                  <a:txBody>
                    <a:bodyPr/>
                    <a:lstStyle/>
                    <a:p>
                      <a:pPr algn="ctr" rtl="0" fontAlgn="ctr"/>
                      <a:r>
                        <a:rPr lang="en-IN" sz="800" b="0" i="0" u="none" strike="noStrike" dirty="0">
                          <a:solidFill>
                            <a:srgbClr val="000000"/>
                          </a:solidFill>
                          <a:effectLst/>
                          <a:latin typeface="Calibri" panose="020F0502020204030204" pitchFamily="34" charset="0"/>
                        </a:rPr>
                        <a:t>20%</a:t>
                      </a:r>
                    </a:p>
                  </a:txBody>
                  <a:tcPr marL="9525" marR="9525" marT="9525" marB="0" anchor="ctr"/>
                </a:tc>
              </a:tr>
              <a:tr h="213360">
                <a:tc>
                  <a:txBody>
                    <a:bodyPr/>
                    <a:lstStyle/>
                    <a:p>
                      <a:pPr algn="ctr" fontAlgn="b"/>
                      <a:r>
                        <a:rPr lang="en-IN" sz="800" b="0" i="0" u="none" strike="noStrike" dirty="0">
                          <a:solidFill>
                            <a:srgbClr val="000000"/>
                          </a:solidFill>
                          <a:effectLst/>
                          <a:latin typeface="Calibri" panose="020F0502020204030204" pitchFamily="34" charset="0"/>
                        </a:rPr>
                        <a:t>Total Rural Population</a:t>
                      </a:r>
                    </a:p>
                  </a:txBody>
                  <a:tcPr marL="9525" marR="9525" marT="9525" marB="0" anchor="ctr"/>
                </a:tc>
                <a:tc>
                  <a:txBody>
                    <a:bodyPr/>
                    <a:lstStyle/>
                    <a:p>
                      <a:pPr algn="ctr" rtl="0" fontAlgn="ctr"/>
                      <a:r>
                        <a:rPr lang="en-IN" sz="800" b="0" i="0" u="none" strike="noStrike" dirty="0">
                          <a:solidFill>
                            <a:srgbClr val="000000"/>
                          </a:solidFill>
                          <a:effectLst/>
                          <a:latin typeface="Calibri" panose="020F0502020204030204" pitchFamily="34" charset="0"/>
                        </a:rPr>
                        <a:t>20%</a:t>
                      </a:r>
                    </a:p>
                  </a:txBody>
                  <a:tcPr marL="9525" marR="9525" marT="9525" marB="0" anchor="ctr"/>
                </a:tc>
              </a:tr>
              <a:tr h="213360">
                <a:tc>
                  <a:txBody>
                    <a:bodyPr/>
                    <a:lstStyle/>
                    <a:p>
                      <a:pPr algn="ctr" fontAlgn="b"/>
                      <a:r>
                        <a:rPr lang="en-IN" sz="800" b="0" i="0" u="none" strike="noStrike" dirty="0">
                          <a:solidFill>
                            <a:srgbClr val="000000"/>
                          </a:solidFill>
                          <a:effectLst/>
                          <a:latin typeface="Calibri" panose="020F0502020204030204" pitchFamily="34" charset="0"/>
                        </a:rPr>
                        <a:t>Main Agricultural Labourers Population Person Rural</a:t>
                      </a:r>
                    </a:p>
                  </a:txBody>
                  <a:tcPr marL="9525" marR="9525" marT="9525" marB="0" anchor="ctr"/>
                </a:tc>
                <a:tc>
                  <a:txBody>
                    <a:bodyPr/>
                    <a:lstStyle/>
                    <a:p>
                      <a:pPr algn="ctr" rtl="0" fontAlgn="ctr"/>
                      <a:r>
                        <a:rPr lang="en-IN" sz="800" b="0" i="0" u="none" strike="noStrike" dirty="0">
                          <a:solidFill>
                            <a:srgbClr val="000000"/>
                          </a:solidFill>
                          <a:effectLst/>
                          <a:latin typeface="Calibri" panose="020F0502020204030204" pitchFamily="34" charset="0"/>
                        </a:rPr>
                        <a:t>20%</a:t>
                      </a:r>
                    </a:p>
                  </a:txBody>
                  <a:tcPr marL="9525" marR="9525" marT="9525" marB="0" anchor="ctr"/>
                </a:tc>
              </a:tr>
              <a:tr h="213360">
                <a:tc>
                  <a:txBody>
                    <a:bodyPr/>
                    <a:lstStyle/>
                    <a:p>
                      <a:pPr algn="ctr" fontAlgn="b"/>
                      <a:r>
                        <a:rPr lang="en-IN" sz="800" b="0" i="0" u="none" strike="noStrike" dirty="0">
                          <a:solidFill>
                            <a:srgbClr val="000000"/>
                          </a:solidFill>
                          <a:effectLst/>
                          <a:latin typeface="Calibri" panose="020F0502020204030204" pitchFamily="34" charset="0"/>
                        </a:rPr>
                        <a:t>Total Sown Area</a:t>
                      </a:r>
                    </a:p>
                  </a:txBody>
                  <a:tcPr marL="9525" marR="9525" marT="9525" marB="0" anchor="ctr"/>
                </a:tc>
                <a:tc>
                  <a:txBody>
                    <a:bodyPr/>
                    <a:lstStyle/>
                    <a:p>
                      <a:pPr algn="ctr" rtl="0" fontAlgn="ctr"/>
                      <a:r>
                        <a:rPr lang="en-IN" sz="800" b="0" i="0" u="none" strike="noStrike" dirty="0">
                          <a:solidFill>
                            <a:srgbClr val="000000"/>
                          </a:solidFill>
                          <a:effectLst/>
                          <a:latin typeface="Calibri" panose="020F0502020204030204" pitchFamily="34" charset="0"/>
                        </a:rPr>
                        <a:t>18%</a:t>
                      </a:r>
                    </a:p>
                  </a:txBody>
                  <a:tcPr marL="9525" marR="9525" marT="9525" marB="0" anchor="ctr"/>
                </a:tc>
              </a:tr>
            </a:tbl>
          </a:graphicData>
        </a:graphic>
      </p:graphicFrame>
      <p:sp>
        <p:nvSpPr>
          <p:cNvPr id="47" name="TextBox 46"/>
          <p:cNvSpPr txBox="1"/>
          <p:nvPr/>
        </p:nvSpPr>
        <p:spPr>
          <a:xfrm>
            <a:off x="7913150" y="4442683"/>
            <a:ext cx="3463133" cy="276999"/>
          </a:xfrm>
          <a:prstGeom prst="rect">
            <a:avLst/>
          </a:prstGeom>
          <a:noFill/>
        </p:spPr>
        <p:txBody>
          <a:bodyPr wrap="square" rtlCol="0">
            <a:spAutoFit/>
          </a:bodyPr>
          <a:lstStyle/>
          <a:p>
            <a:pPr algn="ctr"/>
            <a:r>
              <a:rPr lang="en-IN" sz="1200" b="1" dirty="0" smtClean="0"/>
              <a:t>Rural, Cultivator population</a:t>
            </a:r>
            <a:endParaRPr lang="en-IN" sz="1200" b="1" dirty="0"/>
          </a:p>
        </p:txBody>
      </p:sp>
      <p:sp>
        <p:nvSpPr>
          <p:cNvPr id="49" name="TextBox 48"/>
          <p:cNvSpPr txBox="1"/>
          <p:nvPr/>
        </p:nvSpPr>
        <p:spPr>
          <a:xfrm>
            <a:off x="2468528" y="4956182"/>
            <a:ext cx="2191395" cy="276999"/>
          </a:xfrm>
          <a:prstGeom prst="rect">
            <a:avLst/>
          </a:prstGeom>
          <a:noFill/>
        </p:spPr>
        <p:txBody>
          <a:bodyPr wrap="square" rtlCol="0">
            <a:spAutoFit/>
          </a:bodyPr>
          <a:lstStyle/>
          <a:p>
            <a:pPr algn="ctr"/>
            <a:r>
              <a:rPr lang="en-IN" sz="1200" b="1" dirty="0" smtClean="0"/>
              <a:t>Rainfall</a:t>
            </a:r>
            <a:endParaRPr lang="en-IN" sz="1200" b="1" dirty="0"/>
          </a:p>
        </p:txBody>
      </p:sp>
      <p:graphicFrame>
        <p:nvGraphicFramePr>
          <p:cNvPr id="50" name="Table 49"/>
          <p:cNvGraphicFramePr>
            <a:graphicFrameLocks noGrp="1"/>
          </p:cNvGraphicFramePr>
          <p:nvPr>
            <p:extLst>
              <p:ext uri="{D42A27DB-BD31-4B8C-83A1-F6EECF244321}">
                <p14:modId xmlns:p14="http://schemas.microsoft.com/office/powerpoint/2010/main" val="2977692908"/>
              </p:ext>
            </p:extLst>
          </p:nvPr>
        </p:nvGraphicFramePr>
        <p:xfrm>
          <a:off x="2468527" y="5255847"/>
          <a:ext cx="2191395" cy="853440"/>
        </p:xfrm>
        <a:graphic>
          <a:graphicData uri="http://schemas.openxmlformats.org/drawingml/2006/table">
            <a:tbl>
              <a:tblPr firstRow="1" bandRow="1">
                <a:tableStyleId>{5C22544A-7EE6-4342-B048-85BDC9FD1C3A}</a:tableStyleId>
              </a:tblPr>
              <a:tblGrid>
                <a:gridCol w="1395553"/>
                <a:gridCol w="795842"/>
              </a:tblGrid>
              <a:tr h="213360">
                <a:tc>
                  <a:txBody>
                    <a:bodyPr/>
                    <a:lstStyle/>
                    <a:p>
                      <a:pPr algn="ctr"/>
                      <a:r>
                        <a:rPr lang="en-IN" sz="800" dirty="0" smtClean="0"/>
                        <a:t>Metric</a:t>
                      </a:r>
                      <a:endParaRPr lang="en-IN" sz="800" dirty="0"/>
                    </a:p>
                  </a:txBody>
                  <a:tcPr anchor="ctr"/>
                </a:tc>
                <a:tc>
                  <a:txBody>
                    <a:bodyPr/>
                    <a:lstStyle/>
                    <a:p>
                      <a:pPr algn="ctr"/>
                      <a:r>
                        <a:rPr lang="en-IN" sz="800" dirty="0" smtClean="0">
                          <a:latin typeface="+mn-lt"/>
                        </a:rPr>
                        <a:t>Weightage</a:t>
                      </a:r>
                      <a:endParaRPr lang="en-IN" sz="800" dirty="0">
                        <a:latin typeface="+mn-lt"/>
                      </a:endParaRPr>
                    </a:p>
                  </a:txBody>
                  <a:tcPr anchor="ctr"/>
                </a:tc>
              </a:tr>
              <a:tr h="213360">
                <a:tc>
                  <a:txBody>
                    <a:bodyPr/>
                    <a:lstStyle/>
                    <a:p>
                      <a:pPr algn="ctr" fontAlgn="b"/>
                      <a:r>
                        <a:rPr lang="en-IN" sz="800" b="0" i="0" u="none" strike="noStrike" dirty="0">
                          <a:solidFill>
                            <a:srgbClr val="000000"/>
                          </a:solidFill>
                          <a:effectLst/>
                          <a:latin typeface="Calibri" panose="020F0502020204030204" pitchFamily="34" charset="0"/>
                        </a:rPr>
                        <a:t>Rainfall - Oct 2014</a:t>
                      </a:r>
                    </a:p>
                  </a:txBody>
                  <a:tcPr marL="9525" marR="9525" marT="9525" marB="0" anchor="ctr"/>
                </a:tc>
                <a:tc>
                  <a:txBody>
                    <a:bodyPr/>
                    <a:lstStyle/>
                    <a:p>
                      <a:pPr algn="ctr" rtl="0" fontAlgn="ctr"/>
                      <a:r>
                        <a:rPr lang="en-IN" sz="800" b="0" i="0" u="none" strike="noStrike">
                          <a:solidFill>
                            <a:srgbClr val="000000"/>
                          </a:solidFill>
                          <a:effectLst/>
                          <a:latin typeface="Calibri" panose="020F0502020204030204" pitchFamily="34" charset="0"/>
                        </a:rPr>
                        <a:t>32%</a:t>
                      </a:r>
                    </a:p>
                  </a:txBody>
                  <a:tcPr marL="9525" marR="9525" marT="9525" marB="0" anchor="ctr"/>
                </a:tc>
              </a:tr>
              <a:tr h="213360">
                <a:tc>
                  <a:txBody>
                    <a:bodyPr/>
                    <a:lstStyle/>
                    <a:p>
                      <a:pPr algn="ctr" fontAlgn="b"/>
                      <a:r>
                        <a:rPr lang="en-IN" sz="800" b="0" i="0" u="none" strike="noStrike" dirty="0">
                          <a:solidFill>
                            <a:srgbClr val="000000"/>
                          </a:solidFill>
                          <a:effectLst/>
                          <a:latin typeface="Calibri" panose="020F0502020204030204" pitchFamily="34" charset="0"/>
                        </a:rPr>
                        <a:t>Rainfall - May 2014</a:t>
                      </a:r>
                    </a:p>
                  </a:txBody>
                  <a:tcPr marL="9525" marR="9525" marT="9525" marB="0" anchor="ctr"/>
                </a:tc>
                <a:tc>
                  <a:txBody>
                    <a:bodyPr/>
                    <a:lstStyle/>
                    <a:p>
                      <a:pPr algn="ctr" rtl="0" fontAlgn="ctr"/>
                      <a:r>
                        <a:rPr lang="en-IN" sz="800" b="0" i="0" u="none" strike="noStrike">
                          <a:solidFill>
                            <a:srgbClr val="000000"/>
                          </a:solidFill>
                          <a:effectLst/>
                          <a:latin typeface="Calibri" panose="020F0502020204030204" pitchFamily="34" charset="0"/>
                        </a:rPr>
                        <a:t>36%</a:t>
                      </a:r>
                    </a:p>
                  </a:txBody>
                  <a:tcPr marL="9525" marR="9525" marT="9525" marB="0" anchor="ctr"/>
                </a:tc>
              </a:tr>
              <a:tr h="213360">
                <a:tc>
                  <a:txBody>
                    <a:bodyPr/>
                    <a:lstStyle/>
                    <a:p>
                      <a:pPr algn="ctr" fontAlgn="b"/>
                      <a:r>
                        <a:rPr lang="en-IN" sz="800" b="0" i="0" u="none" strike="noStrike" dirty="0">
                          <a:solidFill>
                            <a:srgbClr val="000000"/>
                          </a:solidFill>
                          <a:effectLst/>
                          <a:latin typeface="Calibri" panose="020F0502020204030204" pitchFamily="34" charset="0"/>
                        </a:rPr>
                        <a:t>Total Rainfall - 2014</a:t>
                      </a:r>
                    </a:p>
                  </a:txBody>
                  <a:tcPr marL="9525" marR="9525" marT="9525" marB="0" anchor="ctr"/>
                </a:tc>
                <a:tc>
                  <a:txBody>
                    <a:bodyPr/>
                    <a:lstStyle/>
                    <a:p>
                      <a:pPr algn="ctr" rtl="0" fontAlgn="ctr"/>
                      <a:r>
                        <a:rPr lang="en-IN" sz="800" b="0" i="0" u="none" strike="noStrike" dirty="0">
                          <a:solidFill>
                            <a:srgbClr val="000000"/>
                          </a:solidFill>
                          <a:effectLst/>
                          <a:latin typeface="Calibri" panose="020F0502020204030204" pitchFamily="34" charset="0"/>
                        </a:rPr>
                        <a:t>32%</a:t>
                      </a:r>
                    </a:p>
                  </a:txBody>
                  <a:tcPr marL="9525" marR="9525" marT="9525" marB="0" anchor="ctr"/>
                </a:tc>
              </a:tr>
            </a:tbl>
          </a:graphicData>
        </a:graphic>
      </p:graphicFrame>
      <p:sp>
        <p:nvSpPr>
          <p:cNvPr id="51" name="TextBox 50"/>
          <p:cNvSpPr txBox="1"/>
          <p:nvPr/>
        </p:nvSpPr>
        <p:spPr>
          <a:xfrm>
            <a:off x="5103488" y="5593984"/>
            <a:ext cx="2244153" cy="461665"/>
          </a:xfrm>
          <a:prstGeom prst="rect">
            <a:avLst/>
          </a:prstGeom>
          <a:noFill/>
        </p:spPr>
        <p:txBody>
          <a:bodyPr wrap="square" rtlCol="0">
            <a:spAutoFit/>
          </a:bodyPr>
          <a:lstStyle/>
          <a:p>
            <a:r>
              <a:rPr lang="en-IN" sz="800" b="1" dirty="0" smtClean="0"/>
              <a:t>Note: </a:t>
            </a:r>
            <a:r>
              <a:rPr lang="en-IN" sz="800" dirty="0" smtClean="0"/>
              <a:t>Additional factors such as areas irrigated by canal,  tank and alternate sources were the other vital differentiating metrics</a:t>
            </a:r>
            <a:endParaRPr lang="en-IN" sz="800" dirty="0"/>
          </a:p>
        </p:txBody>
      </p:sp>
      <p:sp>
        <p:nvSpPr>
          <p:cNvPr id="2" name="Footer Placeholder 1"/>
          <p:cNvSpPr>
            <a:spLocks noGrp="1"/>
          </p:cNvSpPr>
          <p:nvPr>
            <p:ph type="ftr" sz="quarter" idx="11"/>
          </p:nvPr>
        </p:nvSpPr>
        <p:spPr/>
        <p:txBody>
          <a:bodyPr/>
          <a:lstStyle/>
          <a:p>
            <a:r>
              <a:rPr lang="en-IN" smtClean="0"/>
              <a:t>Version 1                                                                                            Confidential</a:t>
            </a:r>
            <a:endParaRPr lang="en-IN" dirty="0"/>
          </a:p>
        </p:txBody>
      </p:sp>
      <p:sp>
        <p:nvSpPr>
          <p:cNvPr id="5" name="Slide Number Placeholder 4"/>
          <p:cNvSpPr>
            <a:spLocks noGrp="1"/>
          </p:cNvSpPr>
          <p:nvPr>
            <p:ph type="sldNum" sz="quarter" idx="12"/>
          </p:nvPr>
        </p:nvSpPr>
        <p:spPr/>
        <p:txBody>
          <a:bodyPr/>
          <a:lstStyle/>
          <a:p>
            <a:fld id="{3040F425-731D-4835-A38A-9545B9CAE996}" type="slidenum">
              <a:rPr lang="en-IN" smtClean="0"/>
              <a:t>8</a:t>
            </a:fld>
            <a:endParaRPr lang="en-IN" dirty="0"/>
          </a:p>
        </p:txBody>
      </p:sp>
    </p:spTree>
    <p:extLst>
      <p:ext uri="{BB962C8B-B14F-4D97-AF65-F5344CB8AC3E}">
        <p14:creationId xmlns:p14="http://schemas.microsoft.com/office/powerpoint/2010/main" val="178665035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 name="Chart 27"/>
          <p:cNvGraphicFramePr>
            <a:graphicFrameLocks/>
          </p:cNvGraphicFramePr>
          <p:nvPr>
            <p:extLst>
              <p:ext uri="{D42A27DB-BD31-4B8C-83A1-F6EECF244321}">
                <p14:modId xmlns:p14="http://schemas.microsoft.com/office/powerpoint/2010/main" val="725580891"/>
              </p:ext>
            </p:extLst>
          </p:nvPr>
        </p:nvGraphicFramePr>
        <p:xfrm>
          <a:off x="1276335" y="2528203"/>
          <a:ext cx="8217290" cy="3167248"/>
        </p:xfrm>
        <a:graphic>
          <a:graphicData uri="http://schemas.openxmlformats.org/drawingml/2006/chart">
            <c:chart xmlns:c="http://schemas.openxmlformats.org/drawingml/2006/chart" xmlns:r="http://schemas.openxmlformats.org/officeDocument/2006/relationships" r:id="rId3"/>
          </a:graphicData>
        </a:graphic>
      </p:graphicFrame>
      <p:pic>
        <p:nvPicPr>
          <p:cNvPr id="4" name="Picture 3"/>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237066"/>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4127842" y="291779"/>
              <a:ext cx="3936399" cy="523220"/>
            </a:xfrm>
            <a:prstGeom prst="rect">
              <a:avLst/>
            </a:prstGeom>
            <a:solidFill>
              <a:schemeClr val="bg1"/>
            </a:solidFill>
          </p:spPr>
          <p:txBody>
            <a:bodyPr wrap="none" anchor="ctr">
              <a:spAutoFit/>
            </a:bodyPr>
            <a:lstStyle/>
            <a:p>
              <a:pPr algn="ctr"/>
              <a:r>
                <a:rPr lang="en-IN" sz="2800" b="1" dirty="0">
                  <a:solidFill>
                    <a:srgbClr val="0070C0"/>
                  </a:solidFill>
                  <a:latin typeface="Leelawadee UI" panose="020B0502040204020203" pitchFamily="34" charset="-34"/>
                  <a:cs typeface="Leelawadee UI" panose="020B0502040204020203" pitchFamily="34" charset="-34"/>
                </a:rPr>
                <a:t>Geo Location </a:t>
              </a:r>
              <a:r>
                <a:rPr lang="en-IN" sz="2800" b="1" dirty="0" smtClean="0">
                  <a:solidFill>
                    <a:srgbClr val="0070C0"/>
                  </a:solidFill>
                  <a:latin typeface="Leelawadee UI" panose="020B0502040204020203" pitchFamily="34" charset="-34"/>
                  <a:cs typeface="Leelawadee UI" panose="020B0502040204020203" pitchFamily="34" charset="-34"/>
                </a:rPr>
                <a:t>Clusters</a:t>
              </a:r>
            </a:p>
          </p:txBody>
        </p:sp>
      </p:grpSp>
      <p:sp>
        <p:nvSpPr>
          <p:cNvPr id="56" name="TextBox 55"/>
          <p:cNvSpPr txBox="1"/>
          <p:nvPr/>
        </p:nvSpPr>
        <p:spPr>
          <a:xfrm>
            <a:off x="332295" y="720304"/>
            <a:ext cx="11616913" cy="369332"/>
          </a:xfrm>
          <a:prstGeom prst="rect">
            <a:avLst/>
          </a:prstGeom>
          <a:noFill/>
        </p:spPr>
        <p:txBody>
          <a:bodyPr wrap="square" rtlCol="0">
            <a:spAutoFit/>
          </a:bodyPr>
          <a:lstStyle/>
          <a:p>
            <a:pPr algn="ctr"/>
            <a:r>
              <a:rPr lang="en-IN" dirty="0" smtClean="0">
                <a:solidFill>
                  <a:schemeClr val="tx2">
                    <a:lumMod val="60000"/>
                    <a:lumOff val="40000"/>
                  </a:schemeClr>
                </a:solidFill>
              </a:rPr>
              <a:t>The clusters built with the key differentiating factors as input</a:t>
            </a:r>
            <a:endParaRPr lang="en-IN" dirty="0">
              <a:solidFill>
                <a:schemeClr val="tx2">
                  <a:lumMod val="60000"/>
                  <a:lumOff val="40000"/>
                </a:schemeClr>
              </a:solidFill>
            </a:endParaRPr>
          </a:p>
        </p:txBody>
      </p:sp>
      <p:sp>
        <p:nvSpPr>
          <p:cNvPr id="2" name="Right Arrow 1"/>
          <p:cNvSpPr/>
          <p:nvPr/>
        </p:nvSpPr>
        <p:spPr>
          <a:xfrm>
            <a:off x="3619630" y="5743142"/>
            <a:ext cx="3309244" cy="540913"/>
          </a:xfrm>
          <a:prstGeom prst="rightArrow">
            <a:avLst/>
          </a:prstGeom>
          <a:solidFill>
            <a:schemeClr val="accent6">
              <a:lumMod val="20000"/>
              <a:lumOff val="80000"/>
            </a:schemeClr>
          </a:solidFill>
          <a:ln>
            <a:solidFill>
              <a:schemeClr val="bg1"/>
            </a:solidFill>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pPr algn="ctr"/>
            <a:r>
              <a:rPr lang="en-US" dirty="0" smtClean="0">
                <a:solidFill>
                  <a:schemeClr val="tx1"/>
                </a:solidFill>
              </a:rPr>
              <a:t>Tractor purchases</a:t>
            </a:r>
            <a:endParaRPr lang="en-US" dirty="0">
              <a:solidFill>
                <a:schemeClr val="tx1"/>
              </a:solidFill>
            </a:endParaRPr>
          </a:p>
        </p:txBody>
      </p:sp>
      <p:sp>
        <p:nvSpPr>
          <p:cNvPr id="10" name="Right Arrow 9"/>
          <p:cNvSpPr/>
          <p:nvPr/>
        </p:nvSpPr>
        <p:spPr>
          <a:xfrm rot="16200000">
            <a:off x="-741336" y="3896219"/>
            <a:ext cx="3152937" cy="540913"/>
          </a:xfrm>
          <a:prstGeom prst="rightArrow">
            <a:avLst/>
          </a:prstGeom>
          <a:solidFill>
            <a:schemeClr val="accent6">
              <a:lumMod val="20000"/>
              <a:lumOff val="80000"/>
            </a:schemeClr>
          </a:solidFill>
          <a:ln>
            <a:solidFill>
              <a:schemeClr val="bg1"/>
            </a:solidFill>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pPr algn="ctr"/>
            <a:r>
              <a:rPr lang="en-US" dirty="0" smtClean="0">
                <a:solidFill>
                  <a:schemeClr val="tx1"/>
                </a:solidFill>
              </a:rPr>
              <a:t>Rural Cultivator Population</a:t>
            </a:r>
            <a:endParaRPr lang="en-US" dirty="0">
              <a:solidFill>
                <a:schemeClr val="tx1"/>
              </a:solidFill>
            </a:endParaRPr>
          </a:p>
        </p:txBody>
      </p:sp>
      <p:cxnSp>
        <p:nvCxnSpPr>
          <p:cNvPr id="5" name="Straight Connector 4"/>
          <p:cNvCxnSpPr/>
          <p:nvPr/>
        </p:nvCxnSpPr>
        <p:spPr>
          <a:xfrm>
            <a:off x="1103034" y="2590207"/>
            <a:ext cx="0" cy="31553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105587" y="5745531"/>
            <a:ext cx="9906405"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3129118" y="5129250"/>
            <a:ext cx="1094705" cy="413484"/>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solidFill>
                  <a:schemeClr val="tx1"/>
                </a:solidFill>
              </a:rPr>
              <a:t>High Activity and Rainfall</a:t>
            </a:r>
            <a:endParaRPr lang="en-US" sz="1200" dirty="0">
              <a:solidFill>
                <a:schemeClr val="tx1"/>
              </a:solidFill>
            </a:endParaRPr>
          </a:p>
        </p:txBody>
      </p:sp>
      <p:sp>
        <p:nvSpPr>
          <p:cNvPr id="18" name="Rectangle 17"/>
          <p:cNvSpPr/>
          <p:nvPr/>
        </p:nvSpPr>
        <p:spPr>
          <a:xfrm>
            <a:off x="7489111" y="3461280"/>
            <a:ext cx="1553227" cy="881549"/>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solidFill>
                  <a:schemeClr val="tx1"/>
                </a:solidFill>
              </a:rPr>
              <a:t>Mid level Activity, High Rural cultivator and agricultural labor volume</a:t>
            </a:r>
            <a:endParaRPr lang="en-US" sz="1200" dirty="0">
              <a:solidFill>
                <a:schemeClr val="tx1"/>
              </a:solidFill>
            </a:endParaRPr>
          </a:p>
        </p:txBody>
      </p:sp>
      <p:sp>
        <p:nvSpPr>
          <p:cNvPr id="19" name="Rectangle 18"/>
          <p:cNvSpPr/>
          <p:nvPr/>
        </p:nvSpPr>
        <p:spPr>
          <a:xfrm>
            <a:off x="4906961" y="3563317"/>
            <a:ext cx="1397851" cy="662296"/>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solidFill>
                  <a:schemeClr val="tx1"/>
                </a:solidFill>
              </a:rPr>
              <a:t>Moderate Activity, rainfall and irrigation</a:t>
            </a:r>
            <a:endParaRPr lang="en-US" sz="1200" dirty="0">
              <a:solidFill>
                <a:schemeClr val="tx1"/>
              </a:solidFill>
            </a:endParaRPr>
          </a:p>
        </p:txBody>
      </p:sp>
      <p:sp>
        <p:nvSpPr>
          <p:cNvPr id="21" name="Rectangle 20"/>
          <p:cNvSpPr/>
          <p:nvPr/>
        </p:nvSpPr>
        <p:spPr>
          <a:xfrm>
            <a:off x="4726353" y="4684663"/>
            <a:ext cx="1258197" cy="581749"/>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solidFill>
                  <a:schemeClr val="tx1"/>
                </a:solidFill>
              </a:rPr>
              <a:t>Low Rainfall, Limited Food grains cultivation</a:t>
            </a:r>
            <a:endParaRPr lang="en-US" sz="1200" dirty="0">
              <a:solidFill>
                <a:schemeClr val="tx1"/>
              </a:solidFill>
            </a:endParaRPr>
          </a:p>
        </p:txBody>
      </p:sp>
      <p:sp>
        <p:nvSpPr>
          <p:cNvPr id="22" name="Rectangle 21"/>
          <p:cNvSpPr/>
          <p:nvPr/>
        </p:nvSpPr>
        <p:spPr>
          <a:xfrm>
            <a:off x="2524924" y="3726838"/>
            <a:ext cx="1094705" cy="615904"/>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solidFill>
                  <a:schemeClr val="tx1"/>
                </a:solidFill>
              </a:rPr>
              <a:t>Low Activity</a:t>
            </a:r>
          </a:p>
          <a:p>
            <a:pPr algn="ctr"/>
            <a:r>
              <a:rPr lang="en-US" sz="1200" dirty="0" smtClean="0">
                <a:solidFill>
                  <a:schemeClr val="tx1"/>
                </a:solidFill>
              </a:rPr>
              <a:t>Well cropped and irrigated</a:t>
            </a:r>
            <a:endParaRPr lang="en-US" sz="1200" dirty="0">
              <a:solidFill>
                <a:schemeClr val="tx1"/>
              </a:solidFill>
            </a:endParaRPr>
          </a:p>
        </p:txBody>
      </p:sp>
      <p:sp>
        <p:nvSpPr>
          <p:cNvPr id="16" name="TextBox 15"/>
          <p:cNvSpPr txBox="1"/>
          <p:nvPr/>
        </p:nvSpPr>
        <p:spPr>
          <a:xfrm>
            <a:off x="1160902" y="5890487"/>
            <a:ext cx="2377574" cy="246221"/>
          </a:xfrm>
          <a:prstGeom prst="rect">
            <a:avLst/>
          </a:prstGeom>
          <a:noFill/>
        </p:spPr>
        <p:txBody>
          <a:bodyPr wrap="none" rtlCol="0">
            <a:spAutoFit/>
          </a:bodyPr>
          <a:lstStyle/>
          <a:p>
            <a:r>
              <a:rPr lang="en-US" sz="1000" dirty="0" smtClean="0"/>
              <a:t>*Bubble size is indicative of net sown area</a:t>
            </a:r>
            <a:endParaRPr lang="en-US" sz="1000" dirty="0"/>
          </a:p>
        </p:txBody>
      </p:sp>
      <p:sp>
        <p:nvSpPr>
          <p:cNvPr id="23" name="Rounded Rectangle 22"/>
          <p:cNvSpPr/>
          <p:nvPr/>
        </p:nvSpPr>
        <p:spPr>
          <a:xfrm>
            <a:off x="9073075" y="1787353"/>
            <a:ext cx="3068919" cy="2010101"/>
          </a:xfrm>
          <a:prstGeom prst="roundRect">
            <a:avLst/>
          </a:prstGeom>
          <a:solidFill>
            <a:schemeClr val="accent6">
              <a:lumMod val="20000"/>
              <a:lumOff val="80000"/>
            </a:schemeClr>
          </a:solidFill>
          <a:ln>
            <a:solidFill>
              <a:schemeClr val="bg1"/>
            </a:solidFill>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r>
              <a:rPr lang="en-IN" sz="1200" dirty="0">
                <a:solidFill>
                  <a:schemeClr val="tx1"/>
                </a:solidFill>
              </a:rPr>
              <a:t>Cluster </a:t>
            </a:r>
            <a:r>
              <a:rPr lang="en-IN" sz="1200" dirty="0" smtClean="0">
                <a:solidFill>
                  <a:schemeClr val="tx1"/>
                </a:solidFill>
              </a:rPr>
              <a:t>separation achieved </a:t>
            </a:r>
            <a:r>
              <a:rPr lang="en-IN" sz="1200" dirty="0">
                <a:solidFill>
                  <a:schemeClr val="tx1"/>
                </a:solidFill>
              </a:rPr>
              <a:t>in terms of</a:t>
            </a:r>
          </a:p>
          <a:p>
            <a:endParaRPr lang="en-IN" sz="1200" dirty="0">
              <a:solidFill>
                <a:schemeClr val="tx1"/>
              </a:solidFill>
            </a:endParaRPr>
          </a:p>
          <a:p>
            <a:pPr marL="171450" indent="-171450">
              <a:buFont typeface="Wingdings" panose="05000000000000000000" pitchFamily="2" charset="2"/>
              <a:buChar char="Ø"/>
            </a:pPr>
            <a:r>
              <a:rPr lang="en-IN" sz="1200" dirty="0" smtClean="0">
                <a:solidFill>
                  <a:schemeClr val="tx1"/>
                </a:solidFill>
              </a:rPr>
              <a:t>Activity hub</a:t>
            </a:r>
            <a:endParaRPr lang="en-IN" sz="1200" dirty="0">
              <a:solidFill>
                <a:schemeClr val="tx1"/>
              </a:solidFill>
            </a:endParaRPr>
          </a:p>
          <a:p>
            <a:pPr marL="171450" indent="-171450">
              <a:buFont typeface="Wingdings" panose="05000000000000000000" pitchFamily="2" charset="2"/>
              <a:buChar char="Ø"/>
            </a:pPr>
            <a:r>
              <a:rPr lang="en-IN" sz="1200" dirty="0">
                <a:solidFill>
                  <a:schemeClr val="tx1"/>
                </a:solidFill>
              </a:rPr>
              <a:t>Well Irrigated and Cropped</a:t>
            </a:r>
          </a:p>
          <a:p>
            <a:pPr marL="171450" indent="-171450">
              <a:buFont typeface="Wingdings" panose="05000000000000000000" pitchFamily="2" charset="2"/>
              <a:buChar char="Ø"/>
            </a:pPr>
            <a:r>
              <a:rPr lang="en-IN" sz="1200" dirty="0">
                <a:solidFill>
                  <a:schemeClr val="tx1"/>
                </a:solidFill>
              </a:rPr>
              <a:t>Rural, Cultivator population</a:t>
            </a:r>
          </a:p>
          <a:p>
            <a:pPr marL="171450" indent="-171450">
              <a:buFont typeface="Wingdings" panose="05000000000000000000" pitchFamily="2" charset="2"/>
              <a:buChar char="Ø"/>
            </a:pPr>
            <a:r>
              <a:rPr lang="en-IN" sz="1200" dirty="0">
                <a:solidFill>
                  <a:schemeClr val="tx1"/>
                </a:solidFill>
              </a:rPr>
              <a:t>Rainfall</a:t>
            </a:r>
          </a:p>
          <a:p>
            <a:pPr marL="171450" indent="-171450">
              <a:buFont typeface="Wingdings" panose="05000000000000000000" pitchFamily="2" charset="2"/>
              <a:buChar char="Ø"/>
            </a:pPr>
            <a:r>
              <a:rPr lang="en-IN" sz="1200" dirty="0">
                <a:solidFill>
                  <a:schemeClr val="tx1"/>
                </a:solidFill>
              </a:rPr>
              <a:t>High Non Food Crop Irrigated </a:t>
            </a:r>
            <a:r>
              <a:rPr lang="en-IN" sz="1200" dirty="0" smtClean="0">
                <a:solidFill>
                  <a:schemeClr val="tx1"/>
                </a:solidFill>
              </a:rPr>
              <a:t>areas</a:t>
            </a:r>
          </a:p>
          <a:p>
            <a:pPr marL="171450" indent="-171450">
              <a:buFont typeface="Wingdings" panose="05000000000000000000" pitchFamily="2" charset="2"/>
              <a:buChar char="Ø"/>
            </a:pPr>
            <a:r>
              <a:rPr lang="en-IN" sz="1200" dirty="0">
                <a:solidFill>
                  <a:schemeClr val="tx1"/>
                </a:solidFill>
              </a:rPr>
              <a:t>Tractor buying Customers</a:t>
            </a:r>
          </a:p>
          <a:p>
            <a:pPr marL="171450" indent="-171450">
              <a:buFont typeface="Wingdings" panose="05000000000000000000" pitchFamily="2" charset="2"/>
              <a:buChar char="Ø"/>
            </a:pPr>
            <a:r>
              <a:rPr lang="en-IN" sz="1200" dirty="0" smtClean="0">
                <a:solidFill>
                  <a:schemeClr val="tx1"/>
                </a:solidFill>
              </a:rPr>
              <a:t>Irrigation from canals, tanks and alternate sources</a:t>
            </a:r>
            <a:endParaRPr lang="en-IN" sz="1200" dirty="0">
              <a:solidFill>
                <a:schemeClr val="tx1"/>
              </a:solidFill>
            </a:endParaRPr>
          </a:p>
        </p:txBody>
      </p:sp>
      <p:sp>
        <p:nvSpPr>
          <p:cNvPr id="24" name="TextBox 23"/>
          <p:cNvSpPr txBox="1"/>
          <p:nvPr/>
        </p:nvSpPr>
        <p:spPr>
          <a:xfrm>
            <a:off x="5397271" y="3082465"/>
            <a:ext cx="1700012" cy="338554"/>
          </a:xfrm>
          <a:prstGeom prst="rect">
            <a:avLst/>
          </a:prstGeom>
          <a:noFill/>
        </p:spPr>
        <p:txBody>
          <a:bodyPr wrap="square" rtlCol="0">
            <a:spAutoFit/>
          </a:bodyPr>
          <a:lstStyle/>
          <a:p>
            <a:pPr algn="ctr"/>
            <a:r>
              <a:rPr lang="en-IN" sz="800" dirty="0" smtClean="0"/>
              <a:t>Please refer attached excel for details</a:t>
            </a:r>
            <a:endParaRPr lang="en-IN" sz="800" dirty="0"/>
          </a:p>
        </p:txBody>
      </p:sp>
      <p:sp>
        <p:nvSpPr>
          <p:cNvPr id="25" name="Isosceles Triangle 24"/>
          <p:cNvSpPr/>
          <p:nvPr/>
        </p:nvSpPr>
        <p:spPr>
          <a:xfrm rot="10800000">
            <a:off x="2958373" y="1785246"/>
            <a:ext cx="6175241" cy="225971"/>
          </a:xfrm>
          <a:prstGeom prst="triangle">
            <a:avLst/>
          </a:prstGeom>
          <a:solidFill>
            <a:schemeClr val="accent1">
              <a:lumMod val="40000"/>
              <a:lumOff val="60000"/>
            </a:schemeClr>
          </a:solidFill>
          <a:ln>
            <a:solidFill>
              <a:schemeClr val="bg1"/>
            </a:solidFill>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pPr algn="ctr"/>
            <a:endParaRPr lang="en-IN"/>
          </a:p>
        </p:txBody>
      </p:sp>
      <p:sp>
        <p:nvSpPr>
          <p:cNvPr id="26" name="TextBox 25"/>
          <p:cNvSpPr txBox="1"/>
          <p:nvPr/>
        </p:nvSpPr>
        <p:spPr>
          <a:xfrm>
            <a:off x="2028839" y="1397584"/>
            <a:ext cx="8134321" cy="369332"/>
          </a:xfrm>
          <a:prstGeom prst="rect">
            <a:avLst/>
          </a:prstGeom>
          <a:noFill/>
        </p:spPr>
        <p:txBody>
          <a:bodyPr wrap="square" rtlCol="0">
            <a:spAutoFit/>
          </a:bodyPr>
          <a:lstStyle/>
          <a:p>
            <a:pPr algn="ctr"/>
            <a:r>
              <a:rPr lang="en-IN" dirty="0" smtClean="0"/>
              <a:t>Key Differentiating Factors from all Data Sources</a:t>
            </a:r>
            <a:endParaRPr lang="en-IN" i="1" dirty="0"/>
          </a:p>
        </p:txBody>
      </p:sp>
      <p:sp>
        <p:nvSpPr>
          <p:cNvPr id="13" name="Rectangle 12"/>
          <p:cNvSpPr/>
          <p:nvPr/>
        </p:nvSpPr>
        <p:spPr>
          <a:xfrm>
            <a:off x="7891691" y="5793223"/>
            <a:ext cx="3380096" cy="461665"/>
          </a:xfrm>
          <a:prstGeom prst="rect">
            <a:avLst/>
          </a:prstGeom>
        </p:spPr>
        <p:txBody>
          <a:bodyPr wrap="square">
            <a:spAutoFit/>
          </a:bodyPr>
          <a:lstStyle/>
          <a:p>
            <a:r>
              <a:rPr lang="en-IN" sz="800" b="1" dirty="0"/>
              <a:t>Note</a:t>
            </a:r>
            <a:r>
              <a:rPr lang="en-IN" sz="800" dirty="0"/>
              <a:t>: Land usage statistics are based on the latest available month for the different states; the timeframe thereby being different for different states</a:t>
            </a:r>
          </a:p>
          <a:p>
            <a:r>
              <a:rPr lang="en-IN" sz="800" dirty="0"/>
              <a:t>12% of the Sales data could not be mapped to any State and District</a:t>
            </a:r>
          </a:p>
        </p:txBody>
      </p:sp>
      <p:sp>
        <p:nvSpPr>
          <p:cNvPr id="3" name="Footer Placeholder 2"/>
          <p:cNvSpPr>
            <a:spLocks noGrp="1"/>
          </p:cNvSpPr>
          <p:nvPr>
            <p:ph type="ftr" sz="quarter" idx="11"/>
          </p:nvPr>
        </p:nvSpPr>
        <p:spPr/>
        <p:txBody>
          <a:bodyPr/>
          <a:lstStyle/>
          <a:p>
            <a:r>
              <a:rPr lang="en-IN" smtClean="0"/>
              <a:t>Version 1                                                                                            Confidential</a:t>
            </a:r>
            <a:endParaRPr lang="en-IN" dirty="0"/>
          </a:p>
        </p:txBody>
      </p:sp>
      <p:sp>
        <p:nvSpPr>
          <p:cNvPr id="7" name="Slide Number Placeholder 6"/>
          <p:cNvSpPr>
            <a:spLocks noGrp="1"/>
          </p:cNvSpPr>
          <p:nvPr>
            <p:ph type="sldNum" sz="quarter" idx="12"/>
          </p:nvPr>
        </p:nvSpPr>
        <p:spPr/>
        <p:txBody>
          <a:bodyPr/>
          <a:lstStyle/>
          <a:p>
            <a:fld id="{3040F425-731D-4835-A38A-9545B9CAE996}" type="slidenum">
              <a:rPr lang="en-IN" smtClean="0"/>
              <a:t>9</a:t>
            </a:fld>
            <a:endParaRPr lang="en-IN" dirty="0"/>
          </a:p>
        </p:txBody>
      </p:sp>
      <p:graphicFrame>
        <p:nvGraphicFramePr>
          <p:cNvPr id="8" name="Object 7"/>
          <p:cNvGraphicFramePr>
            <a:graphicFrameLocks noChangeAspect="1"/>
          </p:cNvGraphicFramePr>
          <p:nvPr>
            <p:extLst>
              <p:ext uri="{D42A27DB-BD31-4B8C-83A1-F6EECF244321}">
                <p14:modId xmlns:p14="http://schemas.microsoft.com/office/powerpoint/2010/main" val="4084504660"/>
              </p:ext>
            </p:extLst>
          </p:nvPr>
        </p:nvGraphicFramePr>
        <p:xfrm>
          <a:off x="5790075" y="2461712"/>
          <a:ext cx="914400" cy="771525"/>
        </p:xfrm>
        <a:graphic>
          <a:graphicData uri="http://schemas.openxmlformats.org/presentationml/2006/ole">
            <mc:AlternateContent xmlns:mc="http://schemas.openxmlformats.org/markup-compatibility/2006">
              <mc:Choice xmlns:v="urn:schemas-microsoft-com:vml" Requires="v">
                <p:oleObj spid="_x0000_s3170" name="Worksheet" showAsIcon="1" r:id="rId6" imgW="914400" imgH="771480" progId="Excel.Sheet.12">
                  <p:embed/>
                </p:oleObj>
              </mc:Choice>
              <mc:Fallback>
                <p:oleObj name="Worksheet" showAsIcon="1" r:id="rId6" imgW="914400" imgH="771480" progId="Excel.Sheet.12">
                  <p:embed/>
                  <p:pic>
                    <p:nvPicPr>
                      <p:cNvPr id="0" name=""/>
                      <p:cNvPicPr/>
                      <p:nvPr/>
                    </p:nvPicPr>
                    <p:blipFill>
                      <a:blip r:embed="rId7"/>
                      <a:stretch>
                        <a:fillRect/>
                      </a:stretch>
                    </p:blipFill>
                    <p:spPr>
                      <a:xfrm>
                        <a:off x="5790075" y="2461712"/>
                        <a:ext cx="914400" cy="771525"/>
                      </a:xfrm>
                      <a:prstGeom prst="rect">
                        <a:avLst/>
                      </a:prstGeom>
                    </p:spPr>
                  </p:pic>
                </p:oleObj>
              </mc:Fallback>
            </mc:AlternateContent>
          </a:graphicData>
        </a:graphic>
      </p:graphicFrame>
    </p:spTree>
    <p:extLst>
      <p:ext uri="{BB962C8B-B14F-4D97-AF65-F5344CB8AC3E}">
        <p14:creationId xmlns:p14="http://schemas.microsoft.com/office/powerpoint/2010/main" val="183201003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237066"/>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4492338" y="291779"/>
              <a:ext cx="3207417"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Cluster Properties</a:t>
              </a:r>
            </a:p>
          </p:txBody>
        </p:sp>
      </p:grpSp>
      <p:sp>
        <p:nvSpPr>
          <p:cNvPr id="56" name="TextBox 55"/>
          <p:cNvSpPr txBox="1"/>
          <p:nvPr/>
        </p:nvSpPr>
        <p:spPr>
          <a:xfrm>
            <a:off x="332295" y="720304"/>
            <a:ext cx="11616913" cy="369332"/>
          </a:xfrm>
          <a:prstGeom prst="rect">
            <a:avLst/>
          </a:prstGeom>
          <a:noFill/>
        </p:spPr>
        <p:txBody>
          <a:bodyPr wrap="square" rtlCol="0">
            <a:spAutoFit/>
          </a:bodyPr>
          <a:lstStyle/>
          <a:p>
            <a:pPr algn="ctr"/>
            <a:r>
              <a:rPr lang="en-IN" dirty="0" smtClean="0">
                <a:solidFill>
                  <a:schemeClr val="tx2">
                    <a:lumMod val="60000"/>
                    <a:lumOff val="40000"/>
                  </a:schemeClr>
                </a:solidFill>
              </a:rPr>
              <a:t>These clusters are clearly distinguished by inherent properties apart from activity and rural cultivator population</a:t>
            </a:r>
            <a:endParaRPr lang="en-IN" dirty="0">
              <a:solidFill>
                <a:schemeClr val="tx2">
                  <a:lumMod val="60000"/>
                  <a:lumOff val="40000"/>
                </a:schemeClr>
              </a:solidFill>
            </a:endParaRPr>
          </a:p>
        </p:txBody>
      </p:sp>
      <p:graphicFrame>
        <p:nvGraphicFramePr>
          <p:cNvPr id="7" name="Chart 6"/>
          <p:cNvGraphicFramePr/>
          <p:nvPr>
            <p:extLst>
              <p:ext uri="{D42A27DB-BD31-4B8C-83A1-F6EECF244321}">
                <p14:modId xmlns:p14="http://schemas.microsoft.com/office/powerpoint/2010/main" val="2228494233"/>
              </p:ext>
            </p:extLst>
          </p:nvPr>
        </p:nvGraphicFramePr>
        <p:xfrm>
          <a:off x="332295" y="1455312"/>
          <a:ext cx="11616913" cy="3966694"/>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p:cNvSpPr txBox="1"/>
          <p:nvPr/>
        </p:nvSpPr>
        <p:spPr>
          <a:xfrm>
            <a:off x="10001954" y="1522597"/>
            <a:ext cx="1635617" cy="461665"/>
          </a:xfrm>
          <a:prstGeom prst="rect">
            <a:avLst/>
          </a:prstGeom>
          <a:noFill/>
        </p:spPr>
        <p:txBody>
          <a:bodyPr wrap="square" rtlCol="0">
            <a:spAutoFit/>
          </a:bodyPr>
          <a:lstStyle/>
          <a:p>
            <a:r>
              <a:rPr lang="en-IN" sz="800" dirty="0" smtClean="0"/>
              <a:t>Dimension estimates in graph are directional, kindly refer excel sheet for exact details</a:t>
            </a:r>
            <a:endParaRPr lang="en-IN" sz="800" dirty="0"/>
          </a:p>
        </p:txBody>
      </p:sp>
      <p:sp>
        <p:nvSpPr>
          <p:cNvPr id="20" name="TextBox 19"/>
          <p:cNvSpPr txBox="1"/>
          <p:nvPr/>
        </p:nvSpPr>
        <p:spPr>
          <a:xfrm>
            <a:off x="1056068" y="4759209"/>
            <a:ext cx="482957" cy="246221"/>
          </a:xfrm>
          <a:prstGeom prst="rect">
            <a:avLst/>
          </a:prstGeom>
          <a:noFill/>
        </p:spPr>
        <p:txBody>
          <a:bodyPr wrap="square" rtlCol="0">
            <a:spAutoFit/>
          </a:bodyPr>
          <a:lstStyle/>
          <a:p>
            <a:r>
              <a:rPr lang="en-IN" sz="1000" dirty="0" smtClean="0"/>
              <a:t>157</a:t>
            </a:r>
            <a:endParaRPr lang="en-IN" sz="1000" dirty="0"/>
          </a:p>
        </p:txBody>
      </p:sp>
      <p:sp>
        <p:nvSpPr>
          <p:cNvPr id="21" name="TextBox 20"/>
          <p:cNvSpPr txBox="1"/>
          <p:nvPr/>
        </p:nvSpPr>
        <p:spPr>
          <a:xfrm>
            <a:off x="2780691" y="4729965"/>
            <a:ext cx="321971" cy="246221"/>
          </a:xfrm>
          <a:prstGeom prst="rect">
            <a:avLst/>
          </a:prstGeom>
          <a:noFill/>
        </p:spPr>
        <p:txBody>
          <a:bodyPr wrap="square" rtlCol="0">
            <a:spAutoFit/>
          </a:bodyPr>
          <a:lstStyle/>
          <a:p>
            <a:r>
              <a:rPr lang="en-IN" sz="1000" dirty="0" smtClean="0"/>
              <a:t>62</a:t>
            </a:r>
            <a:endParaRPr lang="en-IN" sz="1000" dirty="0"/>
          </a:p>
        </p:txBody>
      </p:sp>
      <p:sp>
        <p:nvSpPr>
          <p:cNvPr id="22" name="TextBox 21"/>
          <p:cNvSpPr txBox="1"/>
          <p:nvPr/>
        </p:nvSpPr>
        <p:spPr>
          <a:xfrm>
            <a:off x="4776713" y="4729964"/>
            <a:ext cx="321971" cy="246221"/>
          </a:xfrm>
          <a:prstGeom prst="rect">
            <a:avLst/>
          </a:prstGeom>
          <a:noFill/>
        </p:spPr>
        <p:txBody>
          <a:bodyPr wrap="square" rtlCol="0">
            <a:spAutoFit/>
          </a:bodyPr>
          <a:lstStyle/>
          <a:p>
            <a:r>
              <a:rPr lang="en-IN" sz="1000" dirty="0" smtClean="0"/>
              <a:t>49</a:t>
            </a:r>
            <a:endParaRPr lang="en-IN" sz="1000" dirty="0"/>
          </a:p>
        </p:txBody>
      </p:sp>
      <p:sp>
        <p:nvSpPr>
          <p:cNvPr id="24" name="TextBox 23"/>
          <p:cNvSpPr txBox="1"/>
          <p:nvPr/>
        </p:nvSpPr>
        <p:spPr>
          <a:xfrm>
            <a:off x="6767640" y="4755222"/>
            <a:ext cx="321971" cy="246221"/>
          </a:xfrm>
          <a:prstGeom prst="rect">
            <a:avLst/>
          </a:prstGeom>
          <a:noFill/>
        </p:spPr>
        <p:txBody>
          <a:bodyPr wrap="square" rtlCol="0">
            <a:spAutoFit/>
          </a:bodyPr>
          <a:lstStyle/>
          <a:p>
            <a:r>
              <a:rPr lang="en-IN" sz="1000" dirty="0" smtClean="0"/>
              <a:t>35</a:t>
            </a:r>
            <a:endParaRPr lang="en-IN" sz="1000" dirty="0"/>
          </a:p>
        </p:txBody>
      </p:sp>
      <p:sp>
        <p:nvSpPr>
          <p:cNvPr id="25" name="TextBox 24"/>
          <p:cNvSpPr txBox="1"/>
          <p:nvPr/>
        </p:nvSpPr>
        <p:spPr>
          <a:xfrm>
            <a:off x="8658345" y="4755222"/>
            <a:ext cx="321971" cy="246221"/>
          </a:xfrm>
          <a:prstGeom prst="rect">
            <a:avLst/>
          </a:prstGeom>
          <a:noFill/>
        </p:spPr>
        <p:txBody>
          <a:bodyPr wrap="square" rtlCol="0">
            <a:spAutoFit/>
          </a:bodyPr>
          <a:lstStyle/>
          <a:p>
            <a:r>
              <a:rPr lang="en-IN" sz="1000" dirty="0" smtClean="0"/>
              <a:t>47</a:t>
            </a:r>
            <a:endParaRPr lang="en-IN" sz="1000" dirty="0"/>
          </a:p>
        </p:txBody>
      </p:sp>
      <p:sp>
        <p:nvSpPr>
          <p:cNvPr id="26" name="TextBox 25"/>
          <p:cNvSpPr txBox="1"/>
          <p:nvPr/>
        </p:nvSpPr>
        <p:spPr>
          <a:xfrm>
            <a:off x="939683" y="5063824"/>
            <a:ext cx="804201" cy="246221"/>
          </a:xfrm>
          <a:prstGeom prst="rect">
            <a:avLst/>
          </a:prstGeom>
          <a:noFill/>
        </p:spPr>
        <p:txBody>
          <a:bodyPr wrap="square" rtlCol="0">
            <a:spAutoFit/>
          </a:bodyPr>
          <a:lstStyle/>
          <a:p>
            <a:r>
              <a:rPr lang="en-IN" sz="1000" dirty="0" smtClean="0"/>
              <a:t># Districts</a:t>
            </a:r>
            <a:endParaRPr lang="en-IN" sz="1000" dirty="0"/>
          </a:p>
        </p:txBody>
      </p:sp>
      <p:sp>
        <p:nvSpPr>
          <p:cNvPr id="27" name="Rectangle 26"/>
          <p:cNvSpPr/>
          <p:nvPr/>
        </p:nvSpPr>
        <p:spPr>
          <a:xfrm>
            <a:off x="8110992" y="5477853"/>
            <a:ext cx="1094705" cy="413484"/>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solidFill>
                  <a:schemeClr val="tx1"/>
                </a:solidFill>
              </a:rPr>
              <a:t>High Activity and Rainfall</a:t>
            </a:r>
            <a:endParaRPr lang="en-US" sz="1200" dirty="0">
              <a:solidFill>
                <a:schemeClr val="tx1"/>
              </a:solidFill>
            </a:endParaRPr>
          </a:p>
        </p:txBody>
      </p:sp>
      <p:sp>
        <p:nvSpPr>
          <p:cNvPr id="28" name="Rectangle 27"/>
          <p:cNvSpPr/>
          <p:nvPr/>
        </p:nvSpPr>
        <p:spPr>
          <a:xfrm>
            <a:off x="6152011" y="5294404"/>
            <a:ext cx="1553227" cy="881549"/>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solidFill>
                  <a:schemeClr val="tx1"/>
                </a:solidFill>
              </a:rPr>
              <a:t>Mid Activity, High Rural cultivator and agricultural labor volume</a:t>
            </a:r>
            <a:endParaRPr lang="en-US" sz="1200" dirty="0">
              <a:solidFill>
                <a:schemeClr val="tx1"/>
              </a:solidFill>
            </a:endParaRPr>
          </a:p>
        </p:txBody>
      </p:sp>
      <p:sp>
        <p:nvSpPr>
          <p:cNvPr id="29" name="Rectangle 28"/>
          <p:cNvSpPr/>
          <p:nvPr/>
        </p:nvSpPr>
        <p:spPr>
          <a:xfrm>
            <a:off x="4238772" y="5353447"/>
            <a:ext cx="1397851" cy="662296"/>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solidFill>
                  <a:schemeClr val="tx1"/>
                </a:solidFill>
              </a:rPr>
              <a:t>Moderate Activity, rainfall and irrigation</a:t>
            </a:r>
            <a:endParaRPr lang="en-US" sz="1200" dirty="0">
              <a:solidFill>
                <a:schemeClr val="tx1"/>
              </a:solidFill>
            </a:endParaRPr>
          </a:p>
        </p:txBody>
      </p:sp>
      <p:sp>
        <p:nvSpPr>
          <p:cNvPr id="31" name="Rectangle 30"/>
          <p:cNvSpPr/>
          <p:nvPr/>
        </p:nvSpPr>
        <p:spPr>
          <a:xfrm>
            <a:off x="2613055" y="5371303"/>
            <a:ext cx="1258197" cy="581749"/>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solidFill>
                  <a:schemeClr val="tx1"/>
                </a:solidFill>
              </a:rPr>
              <a:t>Low Rainfall, Limited Food grains cultivation</a:t>
            </a:r>
            <a:endParaRPr lang="en-US" sz="1200" dirty="0">
              <a:solidFill>
                <a:schemeClr val="tx1"/>
              </a:solidFill>
            </a:endParaRPr>
          </a:p>
        </p:txBody>
      </p:sp>
      <p:sp>
        <p:nvSpPr>
          <p:cNvPr id="32" name="Rectangle 31"/>
          <p:cNvSpPr/>
          <p:nvPr/>
        </p:nvSpPr>
        <p:spPr>
          <a:xfrm>
            <a:off x="833316" y="5364278"/>
            <a:ext cx="1094705" cy="615904"/>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solidFill>
                  <a:schemeClr val="tx1"/>
                </a:solidFill>
              </a:rPr>
              <a:t>Low Activity</a:t>
            </a:r>
          </a:p>
          <a:p>
            <a:pPr algn="ctr"/>
            <a:r>
              <a:rPr lang="en-US" sz="1200" dirty="0" smtClean="0">
                <a:solidFill>
                  <a:schemeClr val="tx1"/>
                </a:solidFill>
              </a:rPr>
              <a:t>Well cropped and irrigated</a:t>
            </a:r>
            <a:endParaRPr lang="en-US" sz="1200" dirty="0">
              <a:solidFill>
                <a:schemeClr val="tx1"/>
              </a:solidFill>
            </a:endParaRPr>
          </a:p>
        </p:txBody>
      </p:sp>
      <p:sp>
        <p:nvSpPr>
          <p:cNvPr id="3" name="Footer Placeholder 2"/>
          <p:cNvSpPr>
            <a:spLocks noGrp="1"/>
          </p:cNvSpPr>
          <p:nvPr>
            <p:ph type="ftr" sz="quarter" idx="11"/>
          </p:nvPr>
        </p:nvSpPr>
        <p:spPr/>
        <p:txBody>
          <a:bodyPr/>
          <a:lstStyle/>
          <a:p>
            <a:r>
              <a:rPr lang="en-IN" smtClean="0"/>
              <a:t>Version 1                                                                                            Confidential</a:t>
            </a:r>
            <a:endParaRPr lang="en-IN" dirty="0"/>
          </a:p>
        </p:txBody>
      </p:sp>
      <p:sp>
        <p:nvSpPr>
          <p:cNvPr id="5" name="Slide Number Placeholder 4"/>
          <p:cNvSpPr>
            <a:spLocks noGrp="1"/>
          </p:cNvSpPr>
          <p:nvPr>
            <p:ph type="sldNum" sz="quarter" idx="12"/>
          </p:nvPr>
        </p:nvSpPr>
        <p:spPr/>
        <p:txBody>
          <a:bodyPr/>
          <a:lstStyle/>
          <a:p>
            <a:fld id="{3040F425-731D-4835-A38A-9545B9CAE996}" type="slidenum">
              <a:rPr lang="en-IN" smtClean="0"/>
              <a:t>10</a:t>
            </a:fld>
            <a:endParaRPr lang="en-IN" dirty="0"/>
          </a:p>
        </p:txBody>
      </p:sp>
    </p:spTree>
    <p:extLst>
      <p:ext uri="{BB962C8B-B14F-4D97-AF65-F5344CB8AC3E}">
        <p14:creationId xmlns:p14="http://schemas.microsoft.com/office/powerpoint/2010/main" val="380376616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Chart 32"/>
          <p:cNvGraphicFramePr/>
          <p:nvPr>
            <p:extLst>
              <p:ext uri="{D42A27DB-BD31-4B8C-83A1-F6EECF244321}">
                <p14:modId xmlns:p14="http://schemas.microsoft.com/office/powerpoint/2010/main" val="4146452308"/>
              </p:ext>
            </p:extLst>
          </p:nvPr>
        </p:nvGraphicFramePr>
        <p:xfrm>
          <a:off x="332295" y="1455312"/>
          <a:ext cx="11616913" cy="3966694"/>
        </p:xfrm>
        <a:graphic>
          <a:graphicData uri="http://schemas.openxmlformats.org/drawingml/2006/chart">
            <c:chart xmlns:c="http://schemas.openxmlformats.org/drawingml/2006/chart" xmlns:r="http://schemas.openxmlformats.org/officeDocument/2006/relationships" r:id="rId2"/>
          </a:graphicData>
        </a:graphic>
      </p:graphicFrame>
      <p:pic>
        <p:nvPicPr>
          <p:cNvPr id="4" name="Picture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237066"/>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4729457" y="291779"/>
              <a:ext cx="2733185"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Cluster Profiles</a:t>
              </a:r>
            </a:p>
          </p:txBody>
        </p:sp>
      </p:grpSp>
      <p:sp>
        <p:nvSpPr>
          <p:cNvPr id="56" name="TextBox 55"/>
          <p:cNvSpPr txBox="1"/>
          <p:nvPr/>
        </p:nvSpPr>
        <p:spPr>
          <a:xfrm>
            <a:off x="332295" y="720304"/>
            <a:ext cx="11616913" cy="369332"/>
          </a:xfrm>
          <a:prstGeom prst="rect">
            <a:avLst/>
          </a:prstGeom>
          <a:noFill/>
        </p:spPr>
        <p:txBody>
          <a:bodyPr wrap="square" rtlCol="0">
            <a:spAutoFit/>
          </a:bodyPr>
          <a:lstStyle/>
          <a:p>
            <a:pPr algn="ctr"/>
            <a:r>
              <a:rPr lang="en-IN" dirty="0" smtClean="0">
                <a:solidFill>
                  <a:schemeClr val="tx2">
                    <a:lumMod val="60000"/>
                    <a:lumOff val="40000"/>
                  </a:schemeClr>
                </a:solidFill>
              </a:rPr>
              <a:t>These clusters properties build a profile that helps build a business opinion on each segment</a:t>
            </a:r>
            <a:endParaRPr lang="en-IN" dirty="0">
              <a:solidFill>
                <a:schemeClr val="tx2">
                  <a:lumMod val="60000"/>
                  <a:lumOff val="40000"/>
                </a:schemeClr>
              </a:solidFill>
            </a:endParaRPr>
          </a:p>
        </p:txBody>
      </p:sp>
      <p:sp>
        <p:nvSpPr>
          <p:cNvPr id="2" name="TextBox 1"/>
          <p:cNvSpPr txBox="1"/>
          <p:nvPr/>
        </p:nvSpPr>
        <p:spPr>
          <a:xfrm>
            <a:off x="10001954" y="1522597"/>
            <a:ext cx="1635617" cy="461665"/>
          </a:xfrm>
          <a:prstGeom prst="rect">
            <a:avLst/>
          </a:prstGeom>
          <a:noFill/>
        </p:spPr>
        <p:txBody>
          <a:bodyPr wrap="square" rtlCol="0">
            <a:spAutoFit/>
          </a:bodyPr>
          <a:lstStyle/>
          <a:p>
            <a:r>
              <a:rPr lang="en-IN" sz="800" dirty="0" smtClean="0"/>
              <a:t>Dimension estimates in graph are directional, kindly refer excel sheet for exact details</a:t>
            </a:r>
            <a:endParaRPr lang="en-IN" sz="800" dirty="0"/>
          </a:p>
        </p:txBody>
      </p:sp>
      <p:sp>
        <p:nvSpPr>
          <p:cNvPr id="5" name="Rectangular Callout 4"/>
          <p:cNvSpPr/>
          <p:nvPr/>
        </p:nvSpPr>
        <p:spPr>
          <a:xfrm>
            <a:off x="583839" y="2281398"/>
            <a:ext cx="1247106" cy="927279"/>
          </a:xfrm>
          <a:prstGeom prst="wedgeRectCallout">
            <a:avLst>
              <a:gd name="adj1" fmla="val -27029"/>
              <a:gd name="adj2" fmla="val 106944"/>
            </a:avLst>
          </a:prstGeom>
          <a:solidFill>
            <a:schemeClr val="accent6">
              <a:lumMod val="20000"/>
              <a:lumOff val="80000"/>
            </a:schemeClr>
          </a:solidFill>
          <a:ln>
            <a:solidFill>
              <a:schemeClr val="bg1"/>
            </a:solidFill>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pPr algn="ctr"/>
            <a:r>
              <a:rPr lang="en-IN" sz="1000" dirty="0" smtClean="0">
                <a:solidFill>
                  <a:schemeClr val="tx1"/>
                </a:solidFill>
              </a:rPr>
              <a:t>Low Affluent and low cultivator population but about </a:t>
            </a:r>
            <a:r>
              <a:rPr lang="en-IN" sz="1000" b="1" dirty="0" smtClean="0">
                <a:solidFill>
                  <a:schemeClr val="tx1"/>
                </a:solidFill>
              </a:rPr>
              <a:t>44% </a:t>
            </a:r>
            <a:r>
              <a:rPr lang="en-IN" sz="1000" dirty="0" smtClean="0">
                <a:solidFill>
                  <a:schemeClr val="tx1"/>
                </a:solidFill>
              </a:rPr>
              <a:t>of the land area is irrigated</a:t>
            </a:r>
            <a:endParaRPr lang="en-IN" sz="1000" dirty="0">
              <a:solidFill>
                <a:schemeClr val="tx1"/>
              </a:solidFill>
            </a:endParaRPr>
          </a:p>
        </p:txBody>
      </p:sp>
      <p:sp>
        <p:nvSpPr>
          <p:cNvPr id="27" name="Rectangular Callout 26"/>
          <p:cNvSpPr/>
          <p:nvPr/>
        </p:nvSpPr>
        <p:spPr>
          <a:xfrm>
            <a:off x="2479109" y="1928341"/>
            <a:ext cx="1247106" cy="927279"/>
          </a:xfrm>
          <a:prstGeom prst="wedgeRectCallout">
            <a:avLst>
              <a:gd name="adj1" fmla="val -27029"/>
              <a:gd name="adj2" fmla="val 106944"/>
            </a:avLst>
          </a:prstGeom>
          <a:solidFill>
            <a:schemeClr val="accent6">
              <a:lumMod val="20000"/>
              <a:lumOff val="80000"/>
            </a:schemeClr>
          </a:solidFill>
          <a:ln>
            <a:solidFill>
              <a:schemeClr val="bg1"/>
            </a:solidFill>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pPr algn="ctr"/>
            <a:r>
              <a:rPr lang="en-IN" sz="1000" dirty="0" smtClean="0">
                <a:solidFill>
                  <a:schemeClr val="tx1"/>
                </a:solidFill>
              </a:rPr>
              <a:t>Low rainfall but about </a:t>
            </a:r>
            <a:r>
              <a:rPr lang="en-IN" sz="1000" b="1" dirty="0" smtClean="0">
                <a:solidFill>
                  <a:schemeClr val="tx1"/>
                </a:solidFill>
              </a:rPr>
              <a:t>45% </a:t>
            </a:r>
            <a:r>
              <a:rPr lang="en-IN" sz="1000" dirty="0" smtClean="0">
                <a:solidFill>
                  <a:schemeClr val="tx1"/>
                </a:solidFill>
              </a:rPr>
              <a:t>of area is under non food crop cultivation</a:t>
            </a:r>
            <a:endParaRPr lang="en-IN" sz="1000" b="1" dirty="0">
              <a:solidFill>
                <a:schemeClr val="tx1"/>
              </a:solidFill>
            </a:endParaRPr>
          </a:p>
        </p:txBody>
      </p:sp>
      <p:sp>
        <p:nvSpPr>
          <p:cNvPr id="28" name="Rectangular Callout 27"/>
          <p:cNvSpPr/>
          <p:nvPr/>
        </p:nvSpPr>
        <p:spPr>
          <a:xfrm>
            <a:off x="4475131" y="2230700"/>
            <a:ext cx="1247106" cy="927279"/>
          </a:xfrm>
          <a:prstGeom prst="wedgeRectCallout">
            <a:avLst>
              <a:gd name="adj1" fmla="val -27029"/>
              <a:gd name="adj2" fmla="val 106944"/>
            </a:avLst>
          </a:prstGeom>
          <a:solidFill>
            <a:schemeClr val="accent6">
              <a:lumMod val="20000"/>
              <a:lumOff val="80000"/>
            </a:schemeClr>
          </a:solidFill>
          <a:ln>
            <a:solidFill>
              <a:schemeClr val="bg1"/>
            </a:solidFill>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pPr algn="ctr"/>
            <a:r>
              <a:rPr lang="en-IN" sz="1000" dirty="0" smtClean="0">
                <a:solidFill>
                  <a:schemeClr val="tx1"/>
                </a:solidFill>
              </a:rPr>
              <a:t>Characterised by </a:t>
            </a:r>
            <a:r>
              <a:rPr lang="en-IN" sz="1000" b="1" dirty="0" smtClean="0">
                <a:solidFill>
                  <a:schemeClr val="tx1"/>
                </a:solidFill>
              </a:rPr>
              <a:t>‘Mid value’ </a:t>
            </a:r>
            <a:r>
              <a:rPr lang="en-IN" sz="1000" dirty="0" smtClean="0">
                <a:solidFill>
                  <a:schemeClr val="tx1"/>
                </a:solidFill>
              </a:rPr>
              <a:t>rainfall, population and irrigation </a:t>
            </a:r>
            <a:endParaRPr lang="en-IN" sz="1000" b="1" dirty="0">
              <a:solidFill>
                <a:schemeClr val="tx1"/>
              </a:solidFill>
            </a:endParaRPr>
          </a:p>
        </p:txBody>
      </p:sp>
      <p:sp>
        <p:nvSpPr>
          <p:cNvPr id="30" name="Rectangular Callout 29"/>
          <p:cNvSpPr/>
          <p:nvPr/>
        </p:nvSpPr>
        <p:spPr>
          <a:xfrm>
            <a:off x="6400201" y="1166272"/>
            <a:ext cx="1305037" cy="1037453"/>
          </a:xfrm>
          <a:prstGeom prst="wedgeRectCallout">
            <a:avLst>
              <a:gd name="adj1" fmla="val -7408"/>
              <a:gd name="adj2" fmla="val 80555"/>
            </a:avLst>
          </a:prstGeom>
          <a:solidFill>
            <a:schemeClr val="accent6">
              <a:lumMod val="20000"/>
              <a:lumOff val="80000"/>
            </a:schemeClr>
          </a:solidFill>
          <a:ln>
            <a:solidFill>
              <a:schemeClr val="bg1"/>
            </a:solidFill>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pPr algn="ctr"/>
            <a:r>
              <a:rPr lang="en-IN" sz="1000" dirty="0" smtClean="0">
                <a:solidFill>
                  <a:schemeClr val="tx1"/>
                </a:solidFill>
              </a:rPr>
              <a:t>High Rural cultivator volume, with the total rural population being nearly </a:t>
            </a:r>
            <a:r>
              <a:rPr lang="en-IN" sz="1000" b="1" dirty="0" smtClean="0">
                <a:solidFill>
                  <a:schemeClr val="tx1"/>
                </a:solidFill>
              </a:rPr>
              <a:t>1.6X higher</a:t>
            </a:r>
            <a:endParaRPr lang="en-IN" sz="1000" b="1" dirty="0">
              <a:solidFill>
                <a:schemeClr val="tx1"/>
              </a:solidFill>
            </a:endParaRPr>
          </a:p>
        </p:txBody>
      </p:sp>
      <p:sp>
        <p:nvSpPr>
          <p:cNvPr id="31" name="Rectangular Callout 30"/>
          <p:cNvSpPr/>
          <p:nvPr/>
        </p:nvSpPr>
        <p:spPr>
          <a:xfrm>
            <a:off x="8183204" y="1718866"/>
            <a:ext cx="1305037" cy="521328"/>
          </a:xfrm>
          <a:prstGeom prst="wedgeRectCallout">
            <a:avLst>
              <a:gd name="adj1" fmla="val -26158"/>
              <a:gd name="adj2" fmla="val 88888"/>
            </a:avLst>
          </a:prstGeom>
          <a:solidFill>
            <a:schemeClr val="accent6">
              <a:lumMod val="20000"/>
              <a:lumOff val="80000"/>
            </a:schemeClr>
          </a:solidFill>
          <a:ln>
            <a:solidFill>
              <a:schemeClr val="bg1"/>
            </a:solidFill>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pPr algn="ctr"/>
            <a:r>
              <a:rPr lang="en-IN" sz="1000" dirty="0" smtClean="0">
                <a:solidFill>
                  <a:schemeClr val="tx1"/>
                </a:solidFill>
              </a:rPr>
              <a:t>Highly </a:t>
            </a:r>
            <a:r>
              <a:rPr lang="en-IN" sz="1000" b="1" dirty="0" smtClean="0">
                <a:solidFill>
                  <a:schemeClr val="tx1"/>
                </a:solidFill>
              </a:rPr>
              <a:t>Affluent</a:t>
            </a:r>
            <a:r>
              <a:rPr lang="en-IN" sz="1000" dirty="0" smtClean="0">
                <a:solidFill>
                  <a:schemeClr val="tx1"/>
                </a:solidFill>
              </a:rPr>
              <a:t> with high rainfall and low total population</a:t>
            </a:r>
            <a:endParaRPr lang="en-IN" sz="1000" b="1" dirty="0">
              <a:solidFill>
                <a:schemeClr val="tx1"/>
              </a:solidFill>
            </a:endParaRPr>
          </a:p>
        </p:txBody>
      </p:sp>
      <p:sp>
        <p:nvSpPr>
          <p:cNvPr id="34" name="TextBox 33"/>
          <p:cNvSpPr txBox="1"/>
          <p:nvPr/>
        </p:nvSpPr>
        <p:spPr>
          <a:xfrm>
            <a:off x="1056068" y="4759209"/>
            <a:ext cx="482957" cy="246221"/>
          </a:xfrm>
          <a:prstGeom prst="rect">
            <a:avLst/>
          </a:prstGeom>
          <a:noFill/>
        </p:spPr>
        <p:txBody>
          <a:bodyPr wrap="square" rtlCol="0">
            <a:spAutoFit/>
          </a:bodyPr>
          <a:lstStyle/>
          <a:p>
            <a:r>
              <a:rPr lang="en-IN" sz="1000" dirty="0" smtClean="0"/>
              <a:t>157</a:t>
            </a:r>
            <a:endParaRPr lang="en-IN" sz="1000" dirty="0"/>
          </a:p>
        </p:txBody>
      </p:sp>
      <p:sp>
        <p:nvSpPr>
          <p:cNvPr id="35" name="TextBox 34"/>
          <p:cNvSpPr txBox="1"/>
          <p:nvPr/>
        </p:nvSpPr>
        <p:spPr>
          <a:xfrm>
            <a:off x="2780691" y="4729965"/>
            <a:ext cx="321971" cy="246221"/>
          </a:xfrm>
          <a:prstGeom prst="rect">
            <a:avLst/>
          </a:prstGeom>
          <a:noFill/>
        </p:spPr>
        <p:txBody>
          <a:bodyPr wrap="square" rtlCol="0">
            <a:spAutoFit/>
          </a:bodyPr>
          <a:lstStyle/>
          <a:p>
            <a:r>
              <a:rPr lang="en-IN" sz="1000" dirty="0" smtClean="0"/>
              <a:t>62</a:t>
            </a:r>
            <a:endParaRPr lang="en-IN" sz="1000" dirty="0"/>
          </a:p>
        </p:txBody>
      </p:sp>
      <p:sp>
        <p:nvSpPr>
          <p:cNvPr id="36" name="TextBox 35"/>
          <p:cNvSpPr txBox="1"/>
          <p:nvPr/>
        </p:nvSpPr>
        <p:spPr>
          <a:xfrm>
            <a:off x="4776713" y="4729964"/>
            <a:ext cx="321971" cy="246221"/>
          </a:xfrm>
          <a:prstGeom prst="rect">
            <a:avLst/>
          </a:prstGeom>
          <a:noFill/>
        </p:spPr>
        <p:txBody>
          <a:bodyPr wrap="square" rtlCol="0">
            <a:spAutoFit/>
          </a:bodyPr>
          <a:lstStyle/>
          <a:p>
            <a:r>
              <a:rPr lang="en-IN" sz="1000" dirty="0" smtClean="0"/>
              <a:t>49</a:t>
            </a:r>
            <a:endParaRPr lang="en-IN" sz="1000" dirty="0"/>
          </a:p>
        </p:txBody>
      </p:sp>
      <p:sp>
        <p:nvSpPr>
          <p:cNvPr id="37" name="TextBox 36"/>
          <p:cNvSpPr txBox="1"/>
          <p:nvPr/>
        </p:nvSpPr>
        <p:spPr>
          <a:xfrm>
            <a:off x="6767640" y="4755222"/>
            <a:ext cx="321971" cy="246221"/>
          </a:xfrm>
          <a:prstGeom prst="rect">
            <a:avLst/>
          </a:prstGeom>
          <a:noFill/>
        </p:spPr>
        <p:txBody>
          <a:bodyPr wrap="square" rtlCol="0">
            <a:spAutoFit/>
          </a:bodyPr>
          <a:lstStyle/>
          <a:p>
            <a:r>
              <a:rPr lang="en-IN" sz="1000" dirty="0" smtClean="0"/>
              <a:t>35</a:t>
            </a:r>
            <a:endParaRPr lang="en-IN" sz="1000" dirty="0"/>
          </a:p>
        </p:txBody>
      </p:sp>
      <p:sp>
        <p:nvSpPr>
          <p:cNvPr id="38" name="TextBox 37"/>
          <p:cNvSpPr txBox="1"/>
          <p:nvPr/>
        </p:nvSpPr>
        <p:spPr>
          <a:xfrm>
            <a:off x="8658345" y="4755222"/>
            <a:ext cx="321971" cy="246221"/>
          </a:xfrm>
          <a:prstGeom prst="rect">
            <a:avLst/>
          </a:prstGeom>
          <a:noFill/>
        </p:spPr>
        <p:txBody>
          <a:bodyPr wrap="square" rtlCol="0">
            <a:spAutoFit/>
          </a:bodyPr>
          <a:lstStyle/>
          <a:p>
            <a:r>
              <a:rPr lang="en-IN" sz="1000" dirty="0" smtClean="0"/>
              <a:t>47</a:t>
            </a:r>
            <a:endParaRPr lang="en-IN" sz="1000" dirty="0"/>
          </a:p>
        </p:txBody>
      </p:sp>
      <p:sp>
        <p:nvSpPr>
          <p:cNvPr id="39" name="TextBox 38"/>
          <p:cNvSpPr txBox="1"/>
          <p:nvPr/>
        </p:nvSpPr>
        <p:spPr>
          <a:xfrm>
            <a:off x="939683" y="5063824"/>
            <a:ext cx="804201" cy="246221"/>
          </a:xfrm>
          <a:prstGeom prst="rect">
            <a:avLst/>
          </a:prstGeom>
          <a:noFill/>
        </p:spPr>
        <p:txBody>
          <a:bodyPr wrap="square" rtlCol="0">
            <a:spAutoFit/>
          </a:bodyPr>
          <a:lstStyle/>
          <a:p>
            <a:r>
              <a:rPr lang="en-IN" sz="1000" dirty="0" smtClean="0"/>
              <a:t># Districts</a:t>
            </a:r>
            <a:endParaRPr lang="en-IN" sz="1000" dirty="0"/>
          </a:p>
        </p:txBody>
      </p:sp>
      <p:sp>
        <p:nvSpPr>
          <p:cNvPr id="41" name="Rectangle 40"/>
          <p:cNvSpPr/>
          <p:nvPr/>
        </p:nvSpPr>
        <p:spPr>
          <a:xfrm>
            <a:off x="8110992" y="5477853"/>
            <a:ext cx="1094705" cy="413484"/>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solidFill>
                  <a:schemeClr val="tx1"/>
                </a:solidFill>
              </a:rPr>
              <a:t>High Activity and Rainfall</a:t>
            </a:r>
            <a:endParaRPr lang="en-US" sz="1200" dirty="0">
              <a:solidFill>
                <a:schemeClr val="tx1"/>
              </a:solidFill>
            </a:endParaRPr>
          </a:p>
        </p:txBody>
      </p:sp>
      <p:sp>
        <p:nvSpPr>
          <p:cNvPr id="42" name="Rectangle 41"/>
          <p:cNvSpPr/>
          <p:nvPr/>
        </p:nvSpPr>
        <p:spPr>
          <a:xfrm>
            <a:off x="6152011" y="5294404"/>
            <a:ext cx="1553227" cy="881549"/>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solidFill>
                  <a:schemeClr val="tx1"/>
                </a:solidFill>
              </a:rPr>
              <a:t>Mid Activity, High Rural cultivator and agricultural labor volume</a:t>
            </a:r>
            <a:endParaRPr lang="en-US" sz="1200" dirty="0">
              <a:solidFill>
                <a:schemeClr val="tx1"/>
              </a:solidFill>
            </a:endParaRPr>
          </a:p>
        </p:txBody>
      </p:sp>
      <p:sp>
        <p:nvSpPr>
          <p:cNvPr id="43" name="Rectangle 42"/>
          <p:cNvSpPr/>
          <p:nvPr/>
        </p:nvSpPr>
        <p:spPr>
          <a:xfrm>
            <a:off x="4238772" y="5353447"/>
            <a:ext cx="1397851" cy="662296"/>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solidFill>
                  <a:schemeClr val="tx1"/>
                </a:solidFill>
              </a:rPr>
              <a:t>Moderate Activity, rainfall and irrigation</a:t>
            </a:r>
            <a:endParaRPr lang="en-US" sz="1200" dirty="0">
              <a:solidFill>
                <a:schemeClr val="tx1"/>
              </a:solidFill>
            </a:endParaRPr>
          </a:p>
        </p:txBody>
      </p:sp>
      <p:sp>
        <p:nvSpPr>
          <p:cNvPr id="44" name="Rectangle 43"/>
          <p:cNvSpPr/>
          <p:nvPr/>
        </p:nvSpPr>
        <p:spPr>
          <a:xfrm>
            <a:off x="2613055" y="5371303"/>
            <a:ext cx="1258197" cy="581749"/>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solidFill>
                  <a:schemeClr val="tx1"/>
                </a:solidFill>
              </a:rPr>
              <a:t>Low Rainfall, Limited Food grains cultivation</a:t>
            </a:r>
            <a:endParaRPr lang="en-US" sz="1200" dirty="0">
              <a:solidFill>
                <a:schemeClr val="tx1"/>
              </a:solidFill>
            </a:endParaRPr>
          </a:p>
        </p:txBody>
      </p:sp>
      <p:sp>
        <p:nvSpPr>
          <p:cNvPr id="45" name="Rectangle 44"/>
          <p:cNvSpPr/>
          <p:nvPr/>
        </p:nvSpPr>
        <p:spPr>
          <a:xfrm>
            <a:off x="833316" y="5364278"/>
            <a:ext cx="1094705" cy="615904"/>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solidFill>
                  <a:schemeClr val="tx1"/>
                </a:solidFill>
              </a:rPr>
              <a:t>Low Activity</a:t>
            </a:r>
          </a:p>
          <a:p>
            <a:pPr algn="ctr"/>
            <a:r>
              <a:rPr lang="en-US" sz="1200" dirty="0" smtClean="0">
                <a:solidFill>
                  <a:schemeClr val="tx1"/>
                </a:solidFill>
              </a:rPr>
              <a:t>Well cropped and irrigated</a:t>
            </a:r>
            <a:endParaRPr lang="en-US" sz="1200" dirty="0">
              <a:solidFill>
                <a:schemeClr val="tx1"/>
              </a:solidFill>
            </a:endParaRPr>
          </a:p>
        </p:txBody>
      </p:sp>
      <p:sp>
        <p:nvSpPr>
          <p:cNvPr id="3" name="Footer Placeholder 2"/>
          <p:cNvSpPr>
            <a:spLocks noGrp="1"/>
          </p:cNvSpPr>
          <p:nvPr>
            <p:ph type="ftr" sz="quarter" idx="11"/>
          </p:nvPr>
        </p:nvSpPr>
        <p:spPr/>
        <p:txBody>
          <a:bodyPr/>
          <a:lstStyle/>
          <a:p>
            <a:r>
              <a:rPr lang="en-IN" smtClean="0"/>
              <a:t>Version 1                                                                                            Confidential</a:t>
            </a:r>
            <a:endParaRPr lang="en-IN" dirty="0"/>
          </a:p>
        </p:txBody>
      </p:sp>
      <p:sp>
        <p:nvSpPr>
          <p:cNvPr id="7" name="Slide Number Placeholder 6"/>
          <p:cNvSpPr>
            <a:spLocks noGrp="1"/>
          </p:cNvSpPr>
          <p:nvPr>
            <p:ph type="sldNum" sz="quarter" idx="12"/>
          </p:nvPr>
        </p:nvSpPr>
        <p:spPr/>
        <p:txBody>
          <a:bodyPr/>
          <a:lstStyle/>
          <a:p>
            <a:fld id="{3040F425-731D-4835-A38A-9545B9CAE996}" type="slidenum">
              <a:rPr lang="en-IN" smtClean="0"/>
              <a:t>11</a:t>
            </a:fld>
            <a:endParaRPr lang="en-IN" dirty="0"/>
          </a:p>
        </p:txBody>
      </p:sp>
    </p:spTree>
    <p:extLst>
      <p:ext uri="{BB962C8B-B14F-4D97-AF65-F5344CB8AC3E}">
        <p14:creationId xmlns:p14="http://schemas.microsoft.com/office/powerpoint/2010/main" val="31643325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Chart 32"/>
          <p:cNvGraphicFramePr/>
          <p:nvPr>
            <p:extLst>
              <p:ext uri="{D42A27DB-BD31-4B8C-83A1-F6EECF244321}">
                <p14:modId xmlns:p14="http://schemas.microsoft.com/office/powerpoint/2010/main" val="1470413697"/>
              </p:ext>
            </p:extLst>
          </p:nvPr>
        </p:nvGraphicFramePr>
        <p:xfrm>
          <a:off x="332295" y="1455312"/>
          <a:ext cx="11616913" cy="3966694"/>
        </p:xfrm>
        <a:graphic>
          <a:graphicData uri="http://schemas.openxmlformats.org/drawingml/2006/chart">
            <c:chart xmlns:c="http://schemas.openxmlformats.org/drawingml/2006/chart" xmlns:r="http://schemas.openxmlformats.org/officeDocument/2006/relationships" r:id="rId2"/>
          </a:graphicData>
        </a:graphic>
      </p:graphicFrame>
      <p:pic>
        <p:nvPicPr>
          <p:cNvPr id="4" name="Picture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237066"/>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4585671" y="291779"/>
              <a:ext cx="3020763"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Composite Score</a:t>
              </a:r>
            </a:p>
          </p:txBody>
        </p:sp>
      </p:grpSp>
      <p:sp>
        <p:nvSpPr>
          <p:cNvPr id="56" name="TextBox 55"/>
          <p:cNvSpPr txBox="1"/>
          <p:nvPr/>
        </p:nvSpPr>
        <p:spPr>
          <a:xfrm>
            <a:off x="332295" y="720304"/>
            <a:ext cx="11616913" cy="369332"/>
          </a:xfrm>
          <a:prstGeom prst="rect">
            <a:avLst/>
          </a:prstGeom>
          <a:noFill/>
        </p:spPr>
        <p:txBody>
          <a:bodyPr wrap="square" rtlCol="0">
            <a:spAutoFit/>
          </a:bodyPr>
          <a:lstStyle/>
          <a:p>
            <a:pPr algn="ctr"/>
            <a:r>
              <a:rPr lang="en-IN" dirty="0" smtClean="0">
                <a:solidFill>
                  <a:schemeClr val="tx2">
                    <a:lumMod val="60000"/>
                    <a:lumOff val="40000"/>
                  </a:schemeClr>
                </a:solidFill>
              </a:rPr>
              <a:t>Cluster properties were leveraged together with the total sales in each district to arrive at a district level composite score </a:t>
            </a:r>
            <a:endParaRPr lang="en-IN" dirty="0">
              <a:solidFill>
                <a:schemeClr val="tx2">
                  <a:lumMod val="60000"/>
                  <a:lumOff val="40000"/>
                </a:schemeClr>
              </a:solidFill>
            </a:endParaRPr>
          </a:p>
        </p:txBody>
      </p:sp>
      <p:sp>
        <p:nvSpPr>
          <p:cNvPr id="2" name="TextBox 1"/>
          <p:cNvSpPr txBox="1"/>
          <p:nvPr/>
        </p:nvSpPr>
        <p:spPr>
          <a:xfrm>
            <a:off x="10001954" y="1522597"/>
            <a:ext cx="1635617" cy="461665"/>
          </a:xfrm>
          <a:prstGeom prst="rect">
            <a:avLst/>
          </a:prstGeom>
          <a:noFill/>
        </p:spPr>
        <p:txBody>
          <a:bodyPr wrap="square" rtlCol="0">
            <a:spAutoFit/>
          </a:bodyPr>
          <a:lstStyle/>
          <a:p>
            <a:r>
              <a:rPr lang="en-IN" sz="800" dirty="0" smtClean="0"/>
              <a:t>Dimension estimates in graph are directional, kindly refer excel sheet for exact details</a:t>
            </a:r>
            <a:endParaRPr lang="en-IN" sz="800" dirty="0"/>
          </a:p>
        </p:txBody>
      </p:sp>
      <p:sp>
        <p:nvSpPr>
          <p:cNvPr id="34" name="TextBox 33"/>
          <p:cNvSpPr txBox="1"/>
          <p:nvPr/>
        </p:nvSpPr>
        <p:spPr>
          <a:xfrm>
            <a:off x="1056068" y="4759209"/>
            <a:ext cx="482957" cy="246221"/>
          </a:xfrm>
          <a:prstGeom prst="rect">
            <a:avLst/>
          </a:prstGeom>
          <a:noFill/>
        </p:spPr>
        <p:txBody>
          <a:bodyPr wrap="square" rtlCol="0">
            <a:spAutoFit/>
          </a:bodyPr>
          <a:lstStyle/>
          <a:p>
            <a:r>
              <a:rPr lang="en-IN" sz="1000" dirty="0" smtClean="0"/>
              <a:t>157</a:t>
            </a:r>
            <a:endParaRPr lang="en-IN" sz="1000" dirty="0"/>
          </a:p>
        </p:txBody>
      </p:sp>
      <p:sp>
        <p:nvSpPr>
          <p:cNvPr id="35" name="TextBox 34"/>
          <p:cNvSpPr txBox="1"/>
          <p:nvPr/>
        </p:nvSpPr>
        <p:spPr>
          <a:xfrm>
            <a:off x="2780691" y="4729965"/>
            <a:ext cx="321971" cy="246221"/>
          </a:xfrm>
          <a:prstGeom prst="rect">
            <a:avLst/>
          </a:prstGeom>
          <a:noFill/>
        </p:spPr>
        <p:txBody>
          <a:bodyPr wrap="square" rtlCol="0">
            <a:spAutoFit/>
          </a:bodyPr>
          <a:lstStyle/>
          <a:p>
            <a:r>
              <a:rPr lang="en-IN" sz="1000" dirty="0" smtClean="0"/>
              <a:t>62</a:t>
            </a:r>
            <a:endParaRPr lang="en-IN" sz="1000" dirty="0"/>
          </a:p>
        </p:txBody>
      </p:sp>
      <p:sp>
        <p:nvSpPr>
          <p:cNvPr id="36" name="TextBox 35"/>
          <p:cNvSpPr txBox="1"/>
          <p:nvPr/>
        </p:nvSpPr>
        <p:spPr>
          <a:xfrm>
            <a:off x="4776713" y="4729964"/>
            <a:ext cx="321971" cy="246221"/>
          </a:xfrm>
          <a:prstGeom prst="rect">
            <a:avLst/>
          </a:prstGeom>
          <a:noFill/>
        </p:spPr>
        <p:txBody>
          <a:bodyPr wrap="square" rtlCol="0">
            <a:spAutoFit/>
          </a:bodyPr>
          <a:lstStyle/>
          <a:p>
            <a:r>
              <a:rPr lang="en-IN" sz="1000" dirty="0" smtClean="0"/>
              <a:t>49</a:t>
            </a:r>
            <a:endParaRPr lang="en-IN" sz="1000" dirty="0"/>
          </a:p>
        </p:txBody>
      </p:sp>
      <p:sp>
        <p:nvSpPr>
          <p:cNvPr id="37" name="TextBox 36"/>
          <p:cNvSpPr txBox="1"/>
          <p:nvPr/>
        </p:nvSpPr>
        <p:spPr>
          <a:xfrm>
            <a:off x="6767640" y="4755222"/>
            <a:ext cx="321971" cy="246221"/>
          </a:xfrm>
          <a:prstGeom prst="rect">
            <a:avLst/>
          </a:prstGeom>
          <a:noFill/>
        </p:spPr>
        <p:txBody>
          <a:bodyPr wrap="square" rtlCol="0">
            <a:spAutoFit/>
          </a:bodyPr>
          <a:lstStyle/>
          <a:p>
            <a:r>
              <a:rPr lang="en-IN" sz="1000" dirty="0" smtClean="0"/>
              <a:t>35</a:t>
            </a:r>
            <a:endParaRPr lang="en-IN" sz="1000" dirty="0"/>
          </a:p>
        </p:txBody>
      </p:sp>
      <p:sp>
        <p:nvSpPr>
          <p:cNvPr id="38" name="TextBox 37"/>
          <p:cNvSpPr txBox="1"/>
          <p:nvPr/>
        </p:nvSpPr>
        <p:spPr>
          <a:xfrm>
            <a:off x="8658345" y="4755222"/>
            <a:ext cx="321971" cy="246221"/>
          </a:xfrm>
          <a:prstGeom prst="rect">
            <a:avLst/>
          </a:prstGeom>
          <a:noFill/>
        </p:spPr>
        <p:txBody>
          <a:bodyPr wrap="square" rtlCol="0">
            <a:spAutoFit/>
          </a:bodyPr>
          <a:lstStyle/>
          <a:p>
            <a:r>
              <a:rPr lang="en-IN" sz="1000" dirty="0" smtClean="0"/>
              <a:t>47</a:t>
            </a:r>
            <a:endParaRPr lang="en-IN" sz="1000" dirty="0"/>
          </a:p>
        </p:txBody>
      </p:sp>
      <p:sp>
        <p:nvSpPr>
          <p:cNvPr id="39" name="TextBox 38"/>
          <p:cNvSpPr txBox="1"/>
          <p:nvPr/>
        </p:nvSpPr>
        <p:spPr>
          <a:xfrm>
            <a:off x="939683" y="5063824"/>
            <a:ext cx="804201" cy="246221"/>
          </a:xfrm>
          <a:prstGeom prst="rect">
            <a:avLst/>
          </a:prstGeom>
          <a:noFill/>
        </p:spPr>
        <p:txBody>
          <a:bodyPr wrap="square" rtlCol="0">
            <a:spAutoFit/>
          </a:bodyPr>
          <a:lstStyle/>
          <a:p>
            <a:r>
              <a:rPr lang="en-IN" sz="1000" dirty="0" smtClean="0"/>
              <a:t># Districts</a:t>
            </a:r>
            <a:endParaRPr lang="en-IN" sz="1000" dirty="0"/>
          </a:p>
        </p:txBody>
      </p:sp>
      <p:sp>
        <p:nvSpPr>
          <p:cNvPr id="41" name="Rectangle 40"/>
          <p:cNvSpPr/>
          <p:nvPr/>
        </p:nvSpPr>
        <p:spPr>
          <a:xfrm>
            <a:off x="8110992" y="5477853"/>
            <a:ext cx="1094705" cy="413484"/>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solidFill>
                  <a:schemeClr val="tx1"/>
                </a:solidFill>
              </a:rPr>
              <a:t>High Activity and Rainfall</a:t>
            </a:r>
            <a:endParaRPr lang="en-US" sz="1200" dirty="0">
              <a:solidFill>
                <a:schemeClr val="tx1"/>
              </a:solidFill>
            </a:endParaRPr>
          </a:p>
        </p:txBody>
      </p:sp>
      <p:sp>
        <p:nvSpPr>
          <p:cNvPr id="42" name="Rectangle 41"/>
          <p:cNvSpPr/>
          <p:nvPr/>
        </p:nvSpPr>
        <p:spPr>
          <a:xfrm>
            <a:off x="6152011" y="5294404"/>
            <a:ext cx="1553227" cy="881549"/>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solidFill>
                  <a:schemeClr val="tx1"/>
                </a:solidFill>
              </a:rPr>
              <a:t>Mid Activity, High Rural cultivator and agricultural labor volume</a:t>
            </a:r>
            <a:endParaRPr lang="en-US" sz="1200" dirty="0">
              <a:solidFill>
                <a:schemeClr val="tx1"/>
              </a:solidFill>
            </a:endParaRPr>
          </a:p>
        </p:txBody>
      </p:sp>
      <p:sp>
        <p:nvSpPr>
          <p:cNvPr id="43" name="Rectangle 42"/>
          <p:cNvSpPr/>
          <p:nvPr/>
        </p:nvSpPr>
        <p:spPr>
          <a:xfrm>
            <a:off x="4238772" y="5353447"/>
            <a:ext cx="1397851" cy="662296"/>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solidFill>
                  <a:schemeClr val="tx1"/>
                </a:solidFill>
              </a:rPr>
              <a:t>Moderate Activity, rainfall and irrigation</a:t>
            </a:r>
            <a:endParaRPr lang="en-US" sz="1200" dirty="0">
              <a:solidFill>
                <a:schemeClr val="tx1"/>
              </a:solidFill>
            </a:endParaRPr>
          </a:p>
        </p:txBody>
      </p:sp>
      <p:sp>
        <p:nvSpPr>
          <p:cNvPr id="44" name="Rectangle 43"/>
          <p:cNvSpPr/>
          <p:nvPr/>
        </p:nvSpPr>
        <p:spPr>
          <a:xfrm>
            <a:off x="2613055" y="5371303"/>
            <a:ext cx="1258197" cy="581749"/>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solidFill>
                  <a:schemeClr val="tx1"/>
                </a:solidFill>
              </a:rPr>
              <a:t>Low Rainfall, Limited Food grains cultivation</a:t>
            </a:r>
            <a:endParaRPr lang="en-US" sz="1200" dirty="0">
              <a:solidFill>
                <a:schemeClr val="tx1"/>
              </a:solidFill>
            </a:endParaRPr>
          </a:p>
        </p:txBody>
      </p:sp>
      <p:sp>
        <p:nvSpPr>
          <p:cNvPr id="45" name="Rectangle 44"/>
          <p:cNvSpPr/>
          <p:nvPr/>
        </p:nvSpPr>
        <p:spPr>
          <a:xfrm>
            <a:off x="833316" y="5364278"/>
            <a:ext cx="1094705" cy="615904"/>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solidFill>
                  <a:schemeClr val="tx1"/>
                </a:solidFill>
              </a:rPr>
              <a:t>Low Activity</a:t>
            </a:r>
          </a:p>
          <a:p>
            <a:pPr algn="ctr"/>
            <a:r>
              <a:rPr lang="en-US" sz="1200" dirty="0" smtClean="0">
                <a:solidFill>
                  <a:schemeClr val="tx1"/>
                </a:solidFill>
              </a:rPr>
              <a:t>Well cropped and irrigated</a:t>
            </a:r>
            <a:endParaRPr lang="en-US" sz="1200" dirty="0">
              <a:solidFill>
                <a:schemeClr val="tx1"/>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3600703157"/>
              </p:ext>
            </p:extLst>
          </p:nvPr>
        </p:nvGraphicFramePr>
        <p:xfrm>
          <a:off x="8101830" y="1646384"/>
          <a:ext cx="910978" cy="548640"/>
        </p:xfrm>
        <a:graphic>
          <a:graphicData uri="http://schemas.openxmlformats.org/drawingml/2006/table">
            <a:tbl>
              <a:tblPr firstRow="1" bandRow="1">
                <a:tableStyleId>{5C22544A-7EE6-4342-B048-85BDC9FD1C3A}</a:tableStyleId>
              </a:tblPr>
              <a:tblGrid>
                <a:gridCol w="910978"/>
              </a:tblGrid>
              <a:tr h="202400">
                <a:tc>
                  <a:txBody>
                    <a:bodyPr/>
                    <a:lstStyle/>
                    <a:p>
                      <a:pPr algn="ctr"/>
                      <a:r>
                        <a:rPr lang="en-IN" sz="1200" dirty="0" smtClean="0"/>
                        <a:t>0.11</a:t>
                      </a:r>
                      <a:endParaRPr lang="en-IN" sz="1200" dirty="0"/>
                    </a:p>
                  </a:txBody>
                  <a:tcPr/>
                </a:tc>
              </a:tr>
              <a:tr h="205212">
                <a:tc>
                  <a:txBody>
                    <a:bodyPr/>
                    <a:lstStyle/>
                    <a:p>
                      <a:pPr algn="ctr"/>
                      <a:r>
                        <a:rPr lang="en-IN" sz="1200" dirty="0" smtClean="0"/>
                        <a:t>15.1</a:t>
                      </a:r>
                      <a:endParaRPr lang="en-IN" sz="1200" dirty="0"/>
                    </a:p>
                  </a:txBody>
                  <a:tcPr/>
                </a:tc>
              </a:tr>
            </a:tbl>
          </a:graphicData>
        </a:graphic>
      </p:graphicFrame>
      <p:graphicFrame>
        <p:nvGraphicFramePr>
          <p:cNvPr id="29" name="Table 28"/>
          <p:cNvGraphicFramePr>
            <a:graphicFrameLocks noGrp="1"/>
          </p:cNvGraphicFramePr>
          <p:nvPr>
            <p:extLst>
              <p:ext uri="{D42A27DB-BD31-4B8C-83A1-F6EECF244321}">
                <p14:modId xmlns:p14="http://schemas.microsoft.com/office/powerpoint/2010/main" val="576604639"/>
              </p:ext>
            </p:extLst>
          </p:nvPr>
        </p:nvGraphicFramePr>
        <p:xfrm>
          <a:off x="6334537" y="1646384"/>
          <a:ext cx="910978" cy="548640"/>
        </p:xfrm>
        <a:graphic>
          <a:graphicData uri="http://schemas.openxmlformats.org/drawingml/2006/table">
            <a:tbl>
              <a:tblPr firstRow="1" bandRow="1">
                <a:tableStyleId>{5C22544A-7EE6-4342-B048-85BDC9FD1C3A}</a:tableStyleId>
              </a:tblPr>
              <a:tblGrid>
                <a:gridCol w="910978"/>
              </a:tblGrid>
              <a:tr h="202400">
                <a:tc>
                  <a:txBody>
                    <a:bodyPr/>
                    <a:lstStyle/>
                    <a:p>
                      <a:pPr algn="ctr"/>
                      <a:r>
                        <a:rPr lang="en-IN" sz="1200" dirty="0" smtClean="0"/>
                        <a:t>0.07</a:t>
                      </a:r>
                      <a:endParaRPr lang="en-IN" sz="1200" dirty="0"/>
                    </a:p>
                  </a:txBody>
                  <a:tcPr/>
                </a:tc>
              </a:tr>
              <a:tr h="205212">
                <a:tc>
                  <a:txBody>
                    <a:bodyPr/>
                    <a:lstStyle/>
                    <a:p>
                      <a:pPr algn="ctr"/>
                      <a:r>
                        <a:rPr lang="en-IN" sz="1200" dirty="0" smtClean="0"/>
                        <a:t>7.3</a:t>
                      </a:r>
                      <a:endParaRPr lang="en-IN" sz="1200" dirty="0"/>
                    </a:p>
                  </a:txBody>
                  <a:tcPr/>
                </a:tc>
              </a:tr>
            </a:tbl>
          </a:graphicData>
        </a:graphic>
      </p:graphicFrame>
      <p:graphicFrame>
        <p:nvGraphicFramePr>
          <p:cNvPr id="32" name="Table 31"/>
          <p:cNvGraphicFramePr>
            <a:graphicFrameLocks noGrp="1"/>
          </p:cNvGraphicFramePr>
          <p:nvPr>
            <p:extLst>
              <p:ext uri="{D42A27DB-BD31-4B8C-83A1-F6EECF244321}">
                <p14:modId xmlns:p14="http://schemas.microsoft.com/office/powerpoint/2010/main" val="392393084"/>
              </p:ext>
            </p:extLst>
          </p:nvPr>
        </p:nvGraphicFramePr>
        <p:xfrm>
          <a:off x="4489075" y="1646384"/>
          <a:ext cx="910978" cy="548640"/>
        </p:xfrm>
        <a:graphic>
          <a:graphicData uri="http://schemas.openxmlformats.org/drawingml/2006/table">
            <a:tbl>
              <a:tblPr firstRow="1" bandRow="1">
                <a:tableStyleId>{5C22544A-7EE6-4342-B048-85BDC9FD1C3A}</a:tableStyleId>
              </a:tblPr>
              <a:tblGrid>
                <a:gridCol w="910978"/>
              </a:tblGrid>
              <a:tr h="202400">
                <a:tc>
                  <a:txBody>
                    <a:bodyPr/>
                    <a:lstStyle/>
                    <a:p>
                      <a:pPr algn="ctr"/>
                      <a:r>
                        <a:rPr lang="en-IN" sz="1200" dirty="0" smtClean="0"/>
                        <a:t>0.05</a:t>
                      </a:r>
                      <a:endParaRPr lang="en-IN" sz="1200" dirty="0"/>
                    </a:p>
                  </a:txBody>
                  <a:tcPr/>
                </a:tc>
              </a:tr>
              <a:tr h="205212">
                <a:tc>
                  <a:txBody>
                    <a:bodyPr/>
                    <a:lstStyle/>
                    <a:p>
                      <a:pPr algn="ctr"/>
                      <a:r>
                        <a:rPr lang="en-IN" sz="1200" dirty="0" smtClean="0"/>
                        <a:t>6.1</a:t>
                      </a:r>
                      <a:endParaRPr lang="en-IN" sz="1200" dirty="0"/>
                    </a:p>
                  </a:txBody>
                  <a:tcPr/>
                </a:tc>
              </a:tr>
            </a:tbl>
          </a:graphicData>
        </a:graphic>
      </p:graphicFrame>
      <p:graphicFrame>
        <p:nvGraphicFramePr>
          <p:cNvPr id="46" name="Table 45"/>
          <p:cNvGraphicFramePr>
            <a:graphicFrameLocks noGrp="1"/>
          </p:cNvGraphicFramePr>
          <p:nvPr>
            <p:extLst>
              <p:ext uri="{D42A27DB-BD31-4B8C-83A1-F6EECF244321}">
                <p14:modId xmlns:p14="http://schemas.microsoft.com/office/powerpoint/2010/main" val="4199727548"/>
              </p:ext>
            </p:extLst>
          </p:nvPr>
        </p:nvGraphicFramePr>
        <p:xfrm>
          <a:off x="2636654" y="1646384"/>
          <a:ext cx="910978" cy="548640"/>
        </p:xfrm>
        <a:graphic>
          <a:graphicData uri="http://schemas.openxmlformats.org/drawingml/2006/table">
            <a:tbl>
              <a:tblPr firstRow="1" bandRow="1">
                <a:tableStyleId>{5C22544A-7EE6-4342-B048-85BDC9FD1C3A}</a:tableStyleId>
              </a:tblPr>
              <a:tblGrid>
                <a:gridCol w="910978"/>
              </a:tblGrid>
              <a:tr h="202400">
                <a:tc>
                  <a:txBody>
                    <a:bodyPr/>
                    <a:lstStyle/>
                    <a:p>
                      <a:pPr algn="ctr"/>
                      <a:r>
                        <a:rPr lang="en-IN" sz="1200" dirty="0" smtClean="0"/>
                        <a:t>0.03</a:t>
                      </a:r>
                      <a:endParaRPr lang="en-IN" sz="1200" dirty="0"/>
                    </a:p>
                  </a:txBody>
                  <a:tcPr/>
                </a:tc>
              </a:tr>
              <a:tr h="205212">
                <a:tc>
                  <a:txBody>
                    <a:bodyPr/>
                    <a:lstStyle/>
                    <a:p>
                      <a:pPr algn="ctr"/>
                      <a:r>
                        <a:rPr lang="en-IN" sz="1200" dirty="0" smtClean="0"/>
                        <a:t>2.9</a:t>
                      </a:r>
                      <a:endParaRPr lang="en-IN" sz="1200" dirty="0"/>
                    </a:p>
                  </a:txBody>
                  <a:tcPr/>
                </a:tc>
              </a:tr>
            </a:tbl>
          </a:graphicData>
        </a:graphic>
      </p:graphicFrame>
      <p:graphicFrame>
        <p:nvGraphicFramePr>
          <p:cNvPr id="47" name="Table 46"/>
          <p:cNvGraphicFramePr>
            <a:graphicFrameLocks noGrp="1"/>
          </p:cNvGraphicFramePr>
          <p:nvPr>
            <p:extLst>
              <p:ext uri="{D42A27DB-BD31-4B8C-83A1-F6EECF244321}">
                <p14:modId xmlns:p14="http://schemas.microsoft.com/office/powerpoint/2010/main" val="1458290367"/>
              </p:ext>
            </p:extLst>
          </p:nvPr>
        </p:nvGraphicFramePr>
        <p:xfrm>
          <a:off x="889337" y="1641826"/>
          <a:ext cx="910978" cy="548640"/>
        </p:xfrm>
        <a:graphic>
          <a:graphicData uri="http://schemas.openxmlformats.org/drawingml/2006/table">
            <a:tbl>
              <a:tblPr firstRow="1" bandRow="1">
                <a:tableStyleId>{5C22544A-7EE6-4342-B048-85BDC9FD1C3A}</a:tableStyleId>
              </a:tblPr>
              <a:tblGrid>
                <a:gridCol w="910978"/>
              </a:tblGrid>
              <a:tr h="202400">
                <a:tc>
                  <a:txBody>
                    <a:bodyPr/>
                    <a:lstStyle/>
                    <a:p>
                      <a:pPr algn="ctr"/>
                      <a:r>
                        <a:rPr lang="en-IN" sz="1200" dirty="0" smtClean="0"/>
                        <a:t>0.02</a:t>
                      </a:r>
                      <a:endParaRPr lang="en-IN" sz="1200" dirty="0"/>
                    </a:p>
                  </a:txBody>
                  <a:tcPr/>
                </a:tc>
              </a:tr>
              <a:tr h="205212">
                <a:tc>
                  <a:txBody>
                    <a:bodyPr/>
                    <a:lstStyle/>
                    <a:p>
                      <a:pPr algn="ctr"/>
                      <a:r>
                        <a:rPr lang="en-IN" sz="1200" dirty="0" smtClean="0"/>
                        <a:t>3.1</a:t>
                      </a:r>
                      <a:endParaRPr lang="en-IN" sz="1200" dirty="0"/>
                    </a:p>
                  </a:txBody>
                  <a:tcPr/>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466481838"/>
              </p:ext>
            </p:extLst>
          </p:nvPr>
        </p:nvGraphicFramePr>
        <p:xfrm>
          <a:off x="860374" y="2456654"/>
          <a:ext cx="1752682" cy="548640"/>
        </p:xfrm>
        <a:graphic>
          <a:graphicData uri="http://schemas.openxmlformats.org/drawingml/2006/table">
            <a:tbl>
              <a:tblPr firstRow="1" bandRow="1">
                <a:tableStyleId>{5C22544A-7EE6-4342-B048-85BDC9FD1C3A}</a:tableStyleId>
              </a:tblPr>
              <a:tblGrid>
                <a:gridCol w="1752682"/>
              </a:tblGrid>
              <a:tr h="194002">
                <a:tc>
                  <a:txBody>
                    <a:bodyPr/>
                    <a:lstStyle/>
                    <a:p>
                      <a:r>
                        <a:rPr lang="en-IN" sz="800" dirty="0" smtClean="0"/>
                        <a:t>Average Sales per square kilometre (tonnage per sq. km)</a:t>
                      </a:r>
                      <a:endParaRPr lang="en-IN" sz="800" dirty="0"/>
                    </a:p>
                  </a:txBody>
                  <a:tcPr/>
                </a:tc>
              </a:tr>
              <a:tr h="194002">
                <a:tc>
                  <a:txBody>
                    <a:bodyPr/>
                    <a:lstStyle/>
                    <a:p>
                      <a:r>
                        <a:rPr lang="en-IN" sz="800" dirty="0" smtClean="0"/>
                        <a:t>Composite Score</a:t>
                      </a:r>
                      <a:endParaRPr lang="en-IN" sz="800" dirty="0"/>
                    </a:p>
                  </a:txBody>
                  <a:tcPr/>
                </a:tc>
              </a:tr>
            </a:tbl>
          </a:graphicData>
        </a:graphic>
      </p:graphicFrame>
      <p:sp>
        <p:nvSpPr>
          <p:cNvPr id="48" name="Rectangular Callout 47"/>
          <p:cNvSpPr/>
          <p:nvPr/>
        </p:nvSpPr>
        <p:spPr>
          <a:xfrm>
            <a:off x="4331586" y="2529159"/>
            <a:ext cx="1305037" cy="766068"/>
          </a:xfrm>
          <a:prstGeom prst="wedgeRectCallout">
            <a:avLst>
              <a:gd name="adj1" fmla="val -77475"/>
              <a:gd name="adj2" fmla="val -65933"/>
            </a:avLst>
          </a:prstGeom>
          <a:solidFill>
            <a:schemeClr val="accent6">
              <a:lumMod val="20000"/>
              <a:lumOff val="80000"/>
            </a:schemeClr>
          </a:solidFill>
          <a:ln>
            <a:solidFill>
              <a:schemeClr val="bg1"/>
            </a:solidFill>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pPr algn="ctr"/>
            <a:r>
              <a:rPr lang="en-IN" sz="1000" dirty="0" smtClean="0">
                <a:solidFill>
                  <a:schemeClr val="tx1"/>
                </a:solidFill>
              </a:rPr>
              <a:t>The Composite score rank orders the sales at a segment level</a:t>
            </a:r>
            <a:endParaRPr lang="en-IN" sz="1000" b="1" dirty="0">
              <a:solidFill>
                <a:schemeClr val="tx1"/>
              </a:solidFill>
            </a:endParaRPr>
          </a:p>
        </p:txBody>
      </p:sp>
      <p:sp>
        <p:nvSpPr>
          <p:cNvPr id="5" name="Footer Placeholder 4"/>
          <p:cNvSpPr>
            <a:spLocks noGrp="1"/>
          </p:cNvSpPr>
          <p:nvPr>
            <p:ph type="ftr" sz="quarter" idx="11"/>
          </p:nvPr>
        </p:nvSpPr>
        <p:spPr/>
        <p:txBody>
          <a:bodyPr/>
          <a:lstStyle/>
          <a:p>
            <a:r>
              <a:rPr lang="en-IN" smtClean="0"/>
              <a:t>Version 1                                                                                            Confidential</a:t>
            </a:r>
            <a:endParaRPr lang="en-IN" dirty="0"/>
          </a:p>
        </p:txBody>
      </p:sp>
      <p:sp>
        <p:nvSpPr>
          <p:cNvPr id="30" name="Rectangle 29"/>
          <p:cNvSpPr/>
          <p:nvPr/>
        </p:nvSpPr>
        <p:spPr>
          <a:xfrm>
            <a:off x="7947374" y="5995903"/>
            <a:ext cx="4001834" cy="338554"/>
          </a:xfrm>
          <a:prstGeom prst="rect">
            <a:avLst/>
          </a:prstGeom>
        </p:spPr>
        <p:txBody>
          <a:bodyPr wrap="square">
            <a:spAutoFit/>
          </a:bodyPr>
          <a:lstStyle/>
          <a:p>
            <a:r>
              <a:rPr lang="en-IN" sz="800" b="1" dirty="0"/>
              <a:t>Note</a:t>
            </a:r>
            <a:r>
              <a:rPr lang="en-IN" sz="800" dirty="0"/>
              <a:t>: </a:t>
            </a:r>
            <a:r>
              <a:rPr lang="en-IN" sz="800" dirty="0" smtClean="0"/>
              <a:t>12</a:t>
            </a:r>
            <a:r>
              <a:rPr lang="en-IN" sz="800" dirty="0"/>
              <a:t>% of the Sales data could not be mapped to any State and </a:t>
            </a:r>
            <a:r>
              <a:rPr lang="en-IN" sz="800" dirty="0" smtClean="0"/>
              <a:t>District</a:t>
            </a:r>
          </a:p>
          <a:p>
            <a:r>
              <a:rPr lang="en-IN" sz="800" dirty="0" smtClean="0"/>
              <a:t>Score developed and applied only on those districts where sales was non zero</a:t>
            </a:r>
            <a:endParaRPr lang="en-IN" sz="800" dirty="0"/>
          </a:p>
        </p:txBody>
      </p:sp>
      <p:sp>
        <p:nvSpPr>
          <p:cNvPr id="8" name="Slide Number Placeholder 7"/>
          <p:cNvSpPr>
            <a:spLocks noGrp="1"/>
          </p:cNvSpPr>
          <p:nvPr>
            <p:ph type="sldNum" sz="quarter" idx="12"/>
          </p:nvPr>
        </p:nvSpPr>
        <p:spPr/>
        <p:txBody>
          <a:bodyPr/>
          <a:lstStyle/>
          <a:p>
            <a:fld id="{3040F425-731D-4835-A38A-9545B9CAE996}" type="slidenum">
              <a:rPr lang="en-IN" smtClean="0"/>
              <a:t>12</a:t>
            </a:fld>
            <a:endParaRPr lang="en-IN" dirty="0"/>
          </a:p>
        </p:txBody>
      </p:sp>
    </p:spTree>
    <p:extLst>
      <p:ext uri="{BB962C8B-B14F-4D97-AF65-F5344CB8AC3E}">
        <p14:creationId xmlns:p14="http://schemas.microsoft.com/office/powerpoint/2010/main" val="273954100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237066"/>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3256689" y="291779"/>
              <a:ext cx="5678734"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Composite Score – Sales Capture</a:t>
              </a:r>
            </a:p>
          </p:txBody>
        </p:sp>
      </p:grpSp>
      <p:sp>
        <p:nvSpPr>
          <p:cNvPr id="56" name="TextBox 55"/>
          <p:cNvSpPr txBox="1"/>
          <p:nvPr/>
        </p:nvSpPr>
        <p:spPr>
          <a:xfrm>
            <a:off x="332295" y="720304"/>
            <a:ext cx="11616913" cy="369332"/>
          </a:xfrm>
          <a:prstGeom prst="rect">
            <a:avLst/>
          </a:prstGeom>
          <a:noFill/>
        </p:spPr>
        <p:txBody>
          <a:bodyPr wrap="square" rtlCol="0">
            <a:spAutoFit/>
          </a:bodyPr>
          <a:lstStyle/>
          <a:p>
            <a:pPr algn="ctr"/>
            <a:r>
              <a:rPr lang="en-IN" dirty="0" smtClean="0">
                <a:solidFill>
                  <a:schemeClr val="tx2">
                    <a:lumMod val="60000"/>
                    <a:lumOff val="40000"/>
                  </a:schemeClr>
                </a:solidFill>
              </a:rPr>
              <a:t>The composite score rank orders the districts with respect to sales </a:t>
            </a:r>
            <a:endParaRPr lang="en-IN" dirty="0">
              <a:solidFill>
                <a:schemeClr val="tx2">
                  <a:lumMod val="60000"/>
                  <a:lumOff val="40000"/>
                </a:schemeClr>
              </a:solidFill>
            </a:endParaRPr>
          </a:p>
        </p:txBody>
      </p:sp>
      <p:sp>
        <p:nvSpPr>
          <p:cNvPr id="5" name="Footer Placeholder 4"/>
          <p:cNvSpPr>
            <a:spLocks noGrp="1"/>
          </p:cNvSpPr>
          <p:nvPr>
            <p:ph type="ftr" sz="quarter" idx="11"/>
          </p:nvPr>
        </p:nvSpPr>
        <p:spPr/>
        <p:txBody>
          <a:bodyPr/>
          <a:lstStyle/>
          <a:p>
            <a:r>
              <a:rPr lang="en-IN" smtClean="0"/>
              <a:t>Version 1                                                                                            Confidential</a:t>
            </a:r>
            <a:endParaRPr lang="en-IN" dirty="0"/>
          </a:p>
        </p:txBody>
      </p:sp>
      <p:sp>
        <p:nvSpPr>
          <p:cNvPr id="30" name="Rectangle 29"/>
          <p:cNvSpPr/>
          <p:nvPr/>
        </p:nvSpPr>
        <p:spPr>
          <a:xfrm>
            <a:off x="7947374" y="5995903"/>
            <a:ext cx="3630544" cy="461665"/>
          </a:xfrm>
          <a:prstGeom prst="rect">
            <a:avLst/>
          </a:prstGeom>
        </p:spPr>
        <p:txBody>
          <a:bodyPr wrap="square">
            <a:spAutoFit/>
          </a:bodyPr>
          <a:lstStyle/>
          <a:p>
            <a:r>
              <a:rPr lang="en-IN" sz="800" b="1" dirty="0"/>
              <a:t>Note</a:t>
            </a:r>
            <a:r>
              <a:rPr lang="en-IN" sz="800" dirty="0"/>
              <a:t>: </a:t>
            </a:r>
            <a:r>
              <a:rPr lang="en-IN" sz="800" dirty="0" smtClean="0"/>
              <a:t>12</a:t>
            </a:r>
            <a:r>
              <a:rPr lang="en-IN" sz="800" dirty="0"/>
              <a:t>% of the Sales data could not be mapped to any State and </a:t>
            </a:r>
            <a:r>
              <a:rPr lang="en-IN" sz="800" dirty="0" smtClean="0"/>
              <a:t>District</a:t>
            </a:r>
          </a:p>
          <a:p>
            <a:r>
              <a:rPr lang="en-IN" sz="800" dirty="0"/>
              <a:t>Score developed and applied only on those districts where sales was non zero</a:t>
            </a:r>
          </a:p>
          <a:p>
            <a:endParaRPr lang="en-IN" sz="800" dirty="0"/>
          </a:p>
        </p:txBody>
      </p:sp>
      <p:graphicFrame>
        <p:nvGraphicFramePr>
          <p:cNvPr id="16" name="Chart 15"/>
          <p:cNvGraphicFramePr/>
          <p:nvPr>
            <p:extLst>
              <p:ext uri="{D42A27DB-BD31-4B8C-83A1-F6EECF244321}">
                <p14:modId xmlns:p14="http://schemas.microsoft.com/office/powerpoint/2010/main" val="254891191"/>
              </p:ext>
            </p:extLst>
          </p:nvPr>
        </p:nvGraphicFramePr>
        <p:xfrm>
          <a:off x="2205315" y="1378739"/>
          <a:ext cx="6602669" cy="4013549"/>
        </p:xfrm>
        <a:graphic>
          <a:graphicData uri="http://schemas.openxmlformats.org/drawingml/2006/chart">
            <c:chart xmlns:c="http://schemas.openxmlformats.org/drawingml/2006/chart" xmlns:r="http://schemas.openxmlformats.org/officeDocument/2006/relationships" r:id="rId4"/>
          </a:graphicData>
        </a:graphic>
      </p:graphicFrame>
      <p:sp>
        <p:nvSpPr>
          <p:cNvPr id="17" name="TextBox 16"/>
          <p:cNvSpPr txBox="1"/>
          <p:nvPr/>
        </p:nvSpPr>
        <p:spPr>
          <a:xfrm>
            <a:off x="5880846" y="5406703"/>
            <a:ext cx="1689847" cy="412733"/>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defPPr>
              <a:defRPr lang="en-US"/>
            </a:defPPr>
            <a:lvl1pPr algn="ctr">
              <a:defRPr sz="1200"/>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IN" dirty="0"/>
              <a:t>% of total districts scored</a:t>
            </a:r>
          </a:p>
        </p:txBody>
      </p:sp>
      <p:sp>
        <p:nvSpPr>
          <p:cNvPr id="49" name="TextBox 48"/>
          <p:cNvSpPr txBox="1"/>
          <p:nvPr/>
        </p:nvSpPr>
        <p:spPr>
          <a:xfrm>
            <a:off x="1044985" y="3010605"/>
            <a:ext cx="1160330" cy="579760"/>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defPPr>
              <a:defRPr lang="en-US"/>
            </a:defPPr>
            <a:lvl1pPr algn="ctr">
              <a:defRPr sz="1200"/>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IN" dirty="0"/>
              <a:t>% of total sales </a:t>
            </a:r>
            <a:r>
              <a:rPr lang="en-IN" dirty="0" smtClean="0"/>
              <a:t>captured</a:t>
            </a:r>
            <a:endParaRPr lang="en-IN" dirty="0"/>
          </a:p>
        </p:txBody>
      </p:sp>
      <p:cxnSp>
        <p:nvCxnSpPr>
          <p:cNvPr id="19" name="Straight Arrow Connector 18"/>
          <p:cNvCxnSpPr/>
          <p:nvPr/>
        </p:nvCxnSpPr>
        <p:spPr>
          <a:xfrm flipV="1">
            <a:off x="1665490" y="2191871"/>
            <a:ext cx="0" cy="7126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a:off x="7684846" y="5613069"/>
            <a:ext cx="8136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Rectangular Callout 50"/>
          <p:cNvSpPr/>
          <p:nvPr/>
        </p:nvSpPr>
        <p:spPr>
          <a:xfrm>
            <a:off x="9347808" y="3044999"/>
            <a:ext cx="1838465" cy="766068"/>
          </a:xfrm>
          <a:prstGeom prst="wedgeRectCallout">
            <a:avLst>
              <a:gd name="adj1" fmla="val -335677"/>
              <a:gd name="adj2" fmla="val 20079"/>
            </a:avLst>
          </a:prstGeom>
          <a:solidFill>
            <a:schemeClr val="accent6">
              <a:lumMod val="20000"/>
              <a:lumOff val="80000"/>
            </a:schemeClr>
          </a:solidFill>
          <a:ln>
            <a:solidFill>
              <a:schemeClr val="bg1"/>
            </a:solidFill>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pPr algn="ctr"/>
            <a:r>
              <a:rPr lang="en-IN" sz="1000" dirty="0" smtClean="0">
                <a:solidFill>
                  <a:schemeClr val="tx1"/>
                </a:solidFill>
              </a:rPr>
              <a:t>The top </a:t>
            </a:r>
            <a:r>
              <a:rPr lang="en-IN" sz="1000" b="1" dirty="0" smtClean="0">
                <a:solidFill>
                  <a:schemeClr val="tx1"/>
                </a:solidFill>
              </a:rPr>
              <a:t>20% </a:t>
            </a:r>
            <a:r>
              <a:rPr lang="en-IN" sz="1000" dirty="0" smtClean="0">
                <a:solidFill>
                  <a:schemeClr val="tx1"/>
                </a:solidFill>
              </a:rPr>
              <a:t>of the total districts selected as per the score capture more than </a:t>
            </a:r>
            <a:r>
              <a:rPr lang="en-IN" sz="1000" b="1" dirty="0" smtClean="0">
                <a:solidFill>
                  <a:schemeClr val="tx1"/>
                </a:solidFill>
              </a:rPr>
              <a:t>50% </a:t>
            </a:r>
            <a:r>
              <a:rPr lang="en-IN" sz="1000" dirty="0" smtClean="0">
                <a:solidFill>
                  <a:schemeClr val="tx1"/>
                </a:solidFill>
              </a:rPr>
              <a:t>of the total sales</a:t>
            </a:r>
            <a:endParaRPr lang="en-IN" sz="1000" b="1" dirty="0">
              <a:solidFill>
                <a:schemeClr val="tx1"/>
              </a:solidFill>
            </a:endParaRPr>
          </a:p>
        </p:txBody>
      </p:sp>
      <p:cxnSp>
        <p:nvCxnSpPr>
          <p:cNvPr id="26" name="Straight Connector 25"/>
          <p:cNvCxnSpPr/>
          <p:nvPr/>
        </p:nvCxnSpPr>
        <p:spPr>
          <a:xfrm>
            <a:off x="3908514" y="3515336"/>
            <a:ext cx="0" cy="115079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2810434" y="3515336"/>
            <a:ext cx="109808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fld id="{3040F425-731D-4835-A38A-9545B9CAE996}" type="slidenum">
              <a:rPr lang="en-IN" smtClean="0"/>
              <a:t>13</a:t>
            </a:fld>
            <a:endParaRPr lang="en-IN" dirty="0"/>
          </a:p>
        </p:txBody>
      </p:sp>
    </p:spTree>
    <p:extLst>
      <p:ext uri="{BB962C8B-B14F-4D97-AF65-F5344CB8AC3E}">
        <p14:creationId xmlns:p14="http://schemas.microsoft.com/office/powerpoint/2010/main" val="269017112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237066"/>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5093562" y="291779"/>
              <a:ext cx="2004972"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Next Steps</a:t>
              </a:r>
            </a:p>
          </p:txBody>
        </p:sp>
      </p:grpSp>
      <p:sp>
        <p:nvSpPr>
          <p:cNvPr id="8" name="TextBox 7"/>
          <p:cNvSpPr txBox="1"/>
          <p:nvPr/>
        </p:nvSpPr>
        <p:spPr>
          <a:xfrm>
            <a:off x="875763" y="1043189"/>
            <a:ext cx="10728102" cy="1754326"/>
          </a:xfrm>
          <a:prstGeom prst="rect">
            <a:avLst/>
          </a:prstGeom>
          <a:noFill/>
        </p:spPr>
        <p:txBody>
          <a:bodyPr wrap="square" rtlCol="0">
            <a:spAutoFit/>
          </a:bodyPr>
          <a:lstStyle/>
          <a:p>
            <a:pPr marL="285750" indent="-285750">
              <a:buFont typeface="Wingdings" panose="05000000000000000000" pitchFamily="2" charset="2"/>
              <a:buChar char="Ø"/>
            </a:pPr>
            <a:r>
              <a:rPr lang="en-IN" dirty="0" smtClean="0"/>
              <a:t>Incorporate additional data elements for granularity in recommendation</a:t>
            </a:r>
          </a:p>
          <a:p>
            <a:pPr marL="285750" indent="-285750">
              <a:buFont typeface="Wingdings" panose="05000000000000000000" pitchFamily="2" charset="2"/>
              <a:buChar char="Ø"/>
            </a:pPr>
            <a:endParaRPr lang="en-IN" b="1" dirty="0"/>
          </a:p>
          <a:p>
            <a:pPr marL="742950" lvl="1" indent="-285750">
              <a:buFont typeface="Wingdings" panose="05000000000000000000" pitchFamily="2" charset="2"/>
              <a:buChar char="Ø"/>
            </a:pPr>
            <a:r>
              <a:rPr lang="en-IN" dirty="0" smtClean="0"/>
              <a:t>GDP values and growth (for districts and states available)</a:t>
            </a:r>
          </a:p>
          <a:p>
            <a:pPr marL="742950" lvl="1" indent="-285750">
              <a:buFont typeface="Wingdings" panose="05000000000000000000" pitchFamily="2" charset="2"/>
              <a:buChar char="Ø"/>
            </a:pPr>
            <a:endParaRPr lang="en-IN" dirty="0"/>
          </a:p>
          <a:p>
            <a:pPr marL="742950" lvl="1" indent="-285750">
              <a:buFont typeface="Wingdings" panose="05000000000000000000" pitchFamily="2" charset="2"/>
              <a:buChar char="Ø"/>
            </a:pPr>
            <a:r>
              <a:rPr lang="en-IN" dirty="0" smtClean="0"/>
              <a:t>Market level sales price by crop</a:t>
            </a:r>
          </a:p>
          <a:p>
            <a:pPr lvl="1"/>
            <a:endParaRPr lang="en-IN" dirty="0" smtClean="0"/>
          </a:p>
        </p:txBody>
      </p:sp>
      <p:sp>
        <p:nvSpPr>
          <p:cNvPr id="2" name="Footer Placeholder 1"/>
          <p:cNvSpPr>
            <a:spLocks noGrp="1"/>
          </p:cNvSpPr>
          <p:nvPr>
            <p:ph type="ftr" sz="quarter" idx="11"/>
          </p:nvPr>
        </p:nvSpPr>
        <p:spPr/>
        <p:txBody>
          <a:bodyPr/>
          <a:lstStyle/>
          <a:p>
            <a:r>
              <a:rPr lang="en-IN" smtClean="0"/>
              <a:t>Version 1                                                                                            Confidential</a:t>
            </a:r>
            <a:endParaRPr lang="en-IN" dirty="0"/>
          </a:p>
        </p:txBody>
      </p:sp>
      <p:sp>
        <p:nvSpPr>
          <p:cNvPr id="3" name="Slide Number Placeholder 2"/>
          <p:cNvSpPr>
            <a:spLocks noGrp="1"/>
          </p:cNvSpPr>
          <p:nvPr>
            <p:ph type="sldNum" sz="quarter" idx="12"/>
          </p:nvPr>
        </p:nvSpPr>
        <p:spPr/>
        <p:txBody>
          <a:bodyPr/>
          <a:lstStyle/>
          <a:p>
            <a:fld id="{3040F425-731D-4835-A38A-9545B9CAE996}" type="slidenum">
              <a:rPr lang="en-IN" smtClean="0"/>
              <a:t>14</a:t>
            </a:fld>
            <a:endParaRPr lang="en-IN" dirty="0"/>
          </a:p>
        </p:txBody>
      </p:sp>
    </p:spTree>
    <p:extLst>
      <p:ext uri="{BB962C8B-B14F-4D97-AF65-F5344CB8AC3E}">
        <p14:creationId xmlns:p14="http://schemas.microsoft.com/office/powerpoint/2010/main" val="88167970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endParaRPr>
          </a:p>
        </p:txBody>
      </p:sp>
      <p:sp>
        <p:nvSpPr>
          <p:cNvPr id="3" name="Rectangle 2"/>
          <p:cNvSpPr/>
          <p:nvPr/>
        </p:nvSpPr>
        <p:spPr>
          <a:xfrm>
            <a:off x="0" y="0"/>
            <a:ext cx="12192000" cy="5410200"/>
          </a:xfrm>
          <a:prstGeom prst="rect">
            <a:avLst/>
          </a:prstGeom>
          <a:solidFill>
            <a:srgbClr val="5DB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8" name="Group 7"/>
          <p:cNvGrpSpPr/>
          <p:nvPr/>
        </p:nvGrpSpPr>
        <p:grpSpPr>
          <a:xfrm>
            <a:off x="2895600" y="2547738"/>
            <a:ext cx="6400800" cy="830997"/>
            <a:chOff x="2895600" y="1960714"/>
            <a:chExt cx="6400800" cy="830997"/>
          </a:xfrm>
        </p:grpSpPr>
        <p:sp>
          <p:nvSpPr>
            <p:cNvPr id="5" name="Rectangle 4"/>
            <p:cNvSpPr/>
            <p:nvPr/>
          </p:nvSpPr>
          <p:spPr>
            <a:xfrm>
              <a:off x="3210841" y="1960714"/>
              <a:ext cx="5775812" cy="830997"/>
            </a:xfrm>
            <a:prstGeom prst="rect">
              <a:avLst/>
            </a:prstGeom>
          </p:spPr>
          <p:txBody>
            <a:bodyPr wrap="none">
              <a:spAutoFit/>
            </a:bodyPr>
            <a:lstStyle/>
            <a:p>
              <a:pPr algn="ctr"/>
              <a:r>
                <a:rPr lang="en-IN" sz="4800" dirty="0" smtClean="0">
                  <a:ln/>
                  <a:solidFill>
                    <a:schemeClr val="bg1"/>
                  </a:solidFill>
                  <a:latin typeface="Leelawadee UI" panose="020B0502040204020203" pitchFamily="34" charset="-34"/>
                  <a:cs typeface="Leelawadee UI" panose="020B0502040204020203" pitchFamily="34" charset="-34"/>
                </a:rPr>
                <a:t>Demand Forecasting</a:t>
              </a:r>
              <a:endParaRPr lang="en-IN" sz="4800" dirty="0">
                <a:ln/>
                <a:solidFill>
                  <a:schemeClr val="bg1"/>
                </a:solidFill>
                <a:latin typeface="Leelawadee UI" panose="020B0502040204020203" pitchFamily="34" charset="-34"/>
                <a:cs typeface="Leelawadee UI" panose="020B0502040204020203" pitchFamily="34" charset="-34"/>
              </a:endParaRPr>
            </a:p>
          </p:txBody>
        </p:sp>
        <p:cxnSp>
          <p:nvCxnSpPr>
            <p:cNvPr id="34" name="Straight Connector 33"/>
            <p:cNvCxnSpPr/>
            <p:nvPr/>
          </p:nvCxnSpPr>
          <p:spPr>
            <a:xfrm>
              <a:off x="2895600" y="1960714"/>
              <a:ext cx="6400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Footer Placeholder 1"/>
          <p:cNvSpPr>
            <a:spLocks noGrp="1"/>
          </p:cNvSpPr>
          <p:nvPr>
            <p:ph type="ftr" sz="quarter" idx="11"/>
          </p:nvPr>
        </p:nvSpPr>
        <p:spPr/>
        <p:txBody>
          <a:bodyPr/>
          <a:lstStyle/>
          <a:p>
            <a:r>
              <a:rPr lang="en-IN" smtClean="0"/>
              <a:t>Version 1                                                                                            Confidential</a:t>
            </a:r>
            <a:endParaRPr lang="en-IN" dirty="0"/>
          </a:p>
        </p:txBody>
      </p:sp>
      <p:sp>
        <p:nvSpPr>
          <p:cNvPr id="7" name="Slide Number Placeholder 6"/>
          <p:cNvSpPr>
            <a:spLocks noGrp="1"/>
          </p:cNvSpPr>
          <p:nvPr>
            <p:ph type="sldNum" sz="quarter" idx="12"/>
          </p:nvPr>
        </p:nvSpPr>
        <p:spPr/>
        <p:txBody>
          <a:bodyPr/>
          <a:lstStyle/>
          <a:p>
            <a:fld id="{3040F425-731D-4835-A38A-9545B9CAE996}" type="slidenum">
              <a:rPr lang="en-IN" smtClean="0"/>
              <a:t>15</a:t>
            </a:fld>
            <a:endParaRPr lang="en-IN" dirty="0"/>
          </a:p>
        </p:txBody>
      </p:sp>
    </p:spTree>
    <p:extLst>
      <p:ext uri="{BB962C8B-B14F-4D97-AF65-F5344CB8AC3E}">
        <p14:creationId xmlns:p14="http://schemas.microsoft.com/office/powerpoint/2010/main" val="359493553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58924" y="154048"/>
            <a:ext cx="12049471" cy="523220"/>
            <a:chOff x="142530" y="291779"/>
            <a:chExt cx="12049471" cy="523220"/>
          </a:xfrm>
        </p:grpSpPr>
        <p:cxnSp>
          <p:nvCxnSpPr>
            <p:cNvPr id="6" name="Straight Connector 5"/>
            <p:cNvCxnSpPr/>
            <p:nvPr/>
          </p:nvCxnSpPr>
          <p:spPr>
            <a:xfrm flipV="1">
              <a:off x="142530" y="567627"/>
              <a:ext cx="12049471" cy="29443"/>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4510416" y="291779"/>
              <a:ext cx="3171381" cy="523220"/>
            </a:xfrm>
            <a:prstGeom prst="rect">
              <a:avLst/>
            </a:prstGeom>
            <a:solidFill>
              <a:schemeClr val="bg1"/>
            </a:solidFill>
          </p:spPr>
          <p:txBody>
            <a:bodyPr wrap="none" anchor="ctr">
              <a:spAutoFit/>
            </a:bodyPr>
            <a:lstStyle/>
            <a:p>
              <a:pPr algn="ctr"/>
              <a:r>
                <a:rPr lang="en-IN" sz="2800" b="1" dirty="0" smtClean="0">
                  <a:solidFill>
                    <a:srgbClr val="0070C0"/>
                  </a:solidFill>
                  <a:latin typeface="Calibri" charset="0"/>
                  <a:ea typeface="Calibri" charset="0"/>
                  <a:cs typeface="Calibri" charset="0"/>
                </a:rPr>
                <a:t>Forecasting Process </a:t>
              </a:r>
              <a:endParaRPr lang="en-IN" sz="2800" b="1" dirty="0">
                <a:solidFill>
                  <a:srgbClr val="0070C0"/>
                </a:solidFill>
                <a:latin typeface="Calibri" charset="0"/>
                <a:ea typeface="Calibri" charset="0"/>
                <a:cs typeface="Calibri" charset="0"/>
              </a:endParaRPr>
            </a:p>
          </p:txBody>
        </p:sp>
      </p:grpSp>
      <p:sp>
        <p:nvSpPr>
          <p:cNvPr id="61" name="Rectangle 60"/>
          <p:cNvSpPr/>
          <p:nvPr/>
        </p:nvSpPr>
        <p:spPr>
          <a:xfrm>
            <a:off x="6085828" y="6606884"/>
            <a:ext cx="6096000" cy="230832"/>
          </a:xfrm>
          <a:prstGeom prst="rect">
            <a:avLst/>
          </a:prstGeom>
        </p:spPr>
        <p:txBody>
          <a:bodyPr>
            <a:spAutoFit/>
          </a:bodyPr>
          <a:lstStyle/>
          <a:p>
            <a:pPr algn="r"/>
            <a:r>
              <a:rPr lang="en-IN" sz="900" dirty="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p>
        </p:txBody>
      </p:sp>
      <p:sp>
        <p:nvSpPr>
          <p:cNvPr id="2" name="Footer Placeholder 1"/>
          <p:cNvSpPr>
            <a:spLocks noGrp="1"/>
          </p:cNvSpPr>
          <p:nvPr>
            <p:ph type="ftr" sz="quarter" idx="11"/>
          </p:nvPr>
        </p:nvSpPr>
        <p:spPr/>
        <p:txBody>
          <a:bodyPr/>
          <a:lstStyle/>
          <a:p>
            <a:r>
              <a:rPr lang="en-IN" smtClean="0">
                <a:solidFill>
                  <a:srgbClr val="000000">
                    <a:tint val="75000"/>
                  </a:srgbClr>
                </a:solidFill>
              </a:rPr>
              <a:t>Version 1                                                                                            Confidential</a:t>
            </a:r>
            <a:endParaRPr lang="en-IN" dirty="0">
              <a:solidFill>
                <a:srgbClr val="000000">
                  <a:tint val="75000"/>
                </a:srgbClr>
              </a:solidFill>
            </a:endParaRPr>
          </a:p>
        </p:txBody>
      </p:sp>
      <p:sp>
        <p:nvSpPr>
          <p:cNvPr id="3" name="Slide Number Placeholder 2"/>
          <p:cNvSpPr>
            <a:spLocks noGrp="1"/>
          </p:cNvSpPr>
          <p:nvPr>
            <p:ph type="sldNum" sz="quarter" idx="12"/>
          </p:nvPr>
        </p:nvSpPr>
        <p:spPr/>
        <p:txBody>
          <a:bodyPr/>
          <a:lstStyle/>
          <a:p>
            <a:fld id="{3040F425-731D-4835-A38A-9545B9CAE996}" type="slidenum">
              <a:rPr lang="en-IN" smtClean="0">
                <a:solidFill>
                  <a:srgbClr val="000000">
                    <a:tint val="75000"/>
                  </a:srgbClr>
                </a:solidFill>
              </a:rPr>
              <a:pPr/>
              <a:t>16</a:t>
            </a:fld>
            <a:endParaRPr lang="en-IN" dirty="0">
              <a:solidFill>
                <a:srgbClr val="000000">
                  <a:tint val="75000"/>
                </a:srgbClr>
              </a:solidFill>
            </a:endParaRPr>
          </a:p>
        </p:txBody>
      </p:sp>
      <p:sp>
        <p:nvSpPr>
          <p:cNvPr id="10" name="TextBox 9"/>
          <p:cNvSpPr txBox="1"/>
          <p:nvPr/>
        </p:nvSpPr>
        <p:spPr>
          <a:xfrm>
            <a:off x="1302750" y="861547"/>
            <a:ext cx="2434107" cy="369332"/>
          </a:xfrm>
          <a:prstGeom prst="rect">
            <a:avLst/>
          </a:prstGeom>
          <a:noFill/>
        </p:spPr>
        <p:txBody>
          <a:bodyPr wrap="square" rtlCol="0">
            <a:spAutoFit/>
          </a:bodyPr>
          <a:lstStyle/>
          <a:p>
            <a:pPr algn="ctr"/>
            <a:r>
              <a:rPr lang="en-IN" dirty="0" smtClean="0"/>
              <a:t>Metrics and proxies</a:t>
            </a:r>
            <a:endParaRPr lang="en-IN" dirty="0"/>
          </a:p>
        </p:txBody>
      </p:sp>
      <p:pic>
        <p:nvPicPr>
          <p:cNvPr id="11" name="Picture 2" descr="http://www.lisa.stat.vt.edu/sites/default/files/images/K-means-clustering.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8579921" y="1206163"/>
            <a:ext cx="3159437" cy="1777284"/>
          </a:xfrm>
          <a:prstGeom prst="rect">
            <a:avLst/>
          </a:prstGeom>
          <a:noFill/>
          <a:ln>
            <a:solidFill>
              <a:schemeClr val="tx1"/>
            </a:solidFill>
            <a:prstDash val="dash"/>
          </a:ln>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8684967" y="1275016"/>
            <a:ext cx="1061429" cy="246221"/>
          </a:xfrm>
          <a:prstGeom prst="rect">
            <a:avLst/>
          </a:prstGeom>
          <a:noFill/>
        </p:spPr>
        <p:txBody>
          <a:bodyPr wrap="square" rtlCol="0">
            <a:spAutoFit/>
          </a:bodyPr>
          <a:lstStyle/>
          <a:p>
            <a:r>
              <a:rPr lang="en-IN" sz="1000" dirty="0" smtClean="0"/>
              <a:t>Illustrative</a:t>
            </a:r>
            <a:endParaRPr lang="en-IN" sz="1000" dirty="0"/>
          </a:p>
        </p:txBody>
      </p:sp>
      <p:sp>
        <p:nvSpPr>
          <p:cNvPr id="14" name="TextBox 13"/>
          <p:cNvSpPr txBox="1"/>
          <p:nvPr/>
        </p:nvSpPr>
        <p:spPr>
          <a:xfrm>
            <a:off x="5255344" y="866137"/>
            <a:ext cx="2583800" cy="369332"/>
          </a:xfrm>
          <a:prstGeom prst="rect">
            <a:avLst/>
          </a:prstGeom>
          <a:noFill/>
        </p:spPr>
        <p:txBody>
          <a:bodyPr wrap="square" rtlCol="0">
            <a:spAutoFit/>
          </a:bodyPr>
          <a:lstStyle/>
          <a:p>
            <a:pPr algn="ctr"/>
            <a:r>
              <a:rPr lang="en-IN" dirty="0" smtClean="0"/>
              <a:t>Key Components </a:t>
            </a:r>
            <a:endParaRPr lang="en-IN" dirty="0"/>
          </a:p>
        </p:txBody>
      </p:sp>
      <p:grpSp>
        <p:nvGrpSpPr>
          <p:cNvPr id="4" name="Group 3"/>
          <p:cNvGrpSpPr/>
          <p:nvPr/>
        </p:nvGrpSpPr>
        <p:grpSpPr>
          <a:xfrm>
            <a:off x="4967525" y="1427933"/>
            <a:ext cx="3159437" cy="1333746"/>
            <a:chOff x="5125008" y="1395016"/>
            <a:chExt cx="3159437" cy="1333746"/>
          </a:xfrm>
        </p:grpSpPr>
        <p:sp>
          <p:nvSpPr>
            <p:cNvPr id="12" name="Rectangle 11"/>
            <p:cNvSpPr/>
            <p:nvPr/>
          </p:nvSpPr>
          <p:spPr>
            <a:xfrm>
              <a:off x="5125008" y="1395016"/>
              <a:ext cx="3159437" cy="1333746"/>
            </a:xfrm>
            <a:prstGeom prst="rect">
              <a:avLst/>
            </a:prstGeom>
            <a:noFill/>
            <a:ln>
              <a:solidFill>
                <a:schemeClr val="tx2"/>
              </a:solidFill>
              <a:prstDash val="dash"/>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endParaRPr lang="en-IN" sz="1200" dirty="0">
                <a:solidFill>
                  <a:schemeClr val="tx1"/>
                </a:solidFill>
              </a:endParaRPr>
            </a:p>
          </p:txBody>
        </p:sp>
        <p:pic>
          <p:nvPicPr>
            <p:cNvPr id="15" name="Picture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55344" y="1677368"/>
              <a:ext cx="786473" cy="786473"/>
            </a:xfrm>
            <a:prstGeom prst="rect">
              <a:avLst/>
            </a:prstGeom>
          </p:spPr>
        </p:pic>
        <p:sp>
          <p:nvSpPr>
            <p:cNvPr id="16" name="TextBox 15"/>
            <p:cNvSpPr txBox="1"/>
            <p:nvPr/>
          </p:nvSpPr>
          <p:spPr bwMode="gray">
            <a:xfrm>
              <a:off x="6078130" y="1883183"/>
              <a:ext cx="1253191" cy="357411"/>
            </a:xfrm>
            <a:prstGeom prst="rect">
              <a:avLst/>
            </a:prstGeom>
          </p:spPr>
          <p:txBody>
            <a:bodyPr vert="horz" wrap="square" lIns="91440" tIns="45720" rIns="91440" bIns="45720" rtlCol="0" anchor="ctr">
              <a:noAutofit/>
            </a:bodyPr>
            <a:lstStyle/>
            <a:p>
              <a:pPr algn="ctr"/>
              <a:r>
                <a:rPr lang="en-IN" sz="1200" dirty="0" smtClean="0"/>
                <a:t>Statistical technique to derive vital few metrics from the exhaustive list</a:t>
              </a:r>
            </a:p>
          </p:txBody>
        </p:sp>
        <p:pic>
          <p:nvPicPr>
            <p:cNvPr id="17" name="Picture 16"/>
            <p:cNvPicPr>
              <a:picLocks noChangeAspect="1"/>
            </p:cNvPicPr>
            <p:nvPr/>
          </p:nvPicPr>
          <p:blipFill>
            <a:blip r:embed="rId5"/>
            <a:stretch>
              <a:fillRect/>
            </a:stretch>
          </p:blipFill>
          <p:spPr>
            <a:xfrm>
              <a:off x="7447900" y="1662736"/>
              <a:ext cx="719966" cy="719966"/>
            </a:xfrm>
            <a:prstGeom prst="rect">
              <a:avLst/>
            </a:prstGeom>
          </p:spPr>
        </p:pic>
      </p:grpSp>
      <p:sp>
        <p:nvSpPr>
          <p:cNvPr id="18" name="Isosceles Triangle 17"/>
          <p:cNvSpPr/>
          <p:nvPr/>
        </p:nvSpPr>
        <p:spPr>
          <a:xfrm rot="5400000">
            <a:off x="4144580" y="1947476"/>
            <a:ext cx="1287888" cy="251047"/>
          </a:xfrm>
          <a:prstGeom prst="triangle">
            <a:avLst/>
          </a:prstGeom>
          <a:solidFill>
            <a:schemeClr val="accent6">
              <a:lumMod val="20000"/>
              <a:lumOff val="80000"/>
            </a:schemeClr>
          </a:solidFill>
          <a:ln>
            <a:solidFill>
              <a:schemeClr val="bg1"/>
            </a:solidFill>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pPr algn="ctr"/>
            <a:endParaRPr lang="en-IN"/>
          </a:p>
        </p:txBody>
      </p:sp>
      <p:sp>
        <p:nvSpPr>
          <p:cNvPr id="19" name="Isosceles Triangle 18"/>
          <p:cNvSpPr/>
          <p:nvPr/>
        </p:nvSpPr>
        <p:spPr>
          <a:xfrm rot="5400000">
            <a:off x="7725120" y="1969282"/>
            <a:ext cx="1287888" cy="251047"/>
          </a:xfrm>
          <a:prstGeom prst="triangle">
            <a:avLst/>
          </a:prstGeom>
          <a:solidFill>
            <a:schemeClr val="accent6">
              <a:lumMod val="20000"/>
              <a:lumOff val="80000"/>
            </a:schemeClr>
          </a:solidFill>
          <a:ln>
            <a:solidFill>
              <a:schemeClr val="bg1"/>
            </a:solidFill>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pPr algn="ctr"/>
            <a:endParaRPr lang="en-IN"/>
          </a:p>
        </p:txBody>
      </p:sp>
      <p:sp>
        <p:nvSpPr>
          <p:cNvPr id="20" name="TextBox 19"/>
          <p:cNvSpPr txBox="1"/>
          <p:nvPr/>
        </p:nvSpPr>
        <p:spPr>
          <a:xfrm>
            <a:off x="8867739" y="789443"/>
            <a:ext cx="2583800" cy="369332"/>
          </a:xfrm>
          <a:prstGeom prst="rect">
            <a:avLst/>
          </a:prstGeom>
          <a:noFill/>
        </p:spPr>
        <p:txBody>
          <a:bodyPr wrap="square" rtlCol="0">
            <a:spAutoFit/>
          </a:bodyPr>
          <a:lstStyle/>
          <a:p>
            <a:pPr algn="ctr"/>
            <a:r>
              <a:rPr lang="en-IN" dirty="0" smtClean="0"/>
              <a:t>Segmentation Algorithm</a:t>
            </a:r>
            <a:endParaRPr lang="en-IN" dirty="0"/>
          </a:p>
        </p:txBody>
      </p:sp>
      <p:cxnSp>
        <p:nvCxnSpPr>
          <p:cNvPr id="21" name="Straight Arrow Connector 20"/>
          <p:cNvCxnSpPr/>
          <p:nvPr/>
        </p:nvCxnSpPr>
        <p:spPr>
          <a:xfrm flipH="1">
            <a:off x="9278471" y="2716944"/>
            <a:ext cx="0" cy="7658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10031506" y="2070847"/>
            <a:ext cx="0" cy="14119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0838329" y="2891117"/>
            <a:ext cx="0" cy="5916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bwMode="gray">
          <a:xfrm>
            <a:off x="8867739" y="2056074"/>
            <a:ext cx="528034" cy="401259"/>
          </a:xfrm>
          <a:prstGeom prst="rect">
            <a:avLst/>
          </a:prstGeom>
        </p:spPr>
        <p:txBody>
          <a:bodyPr vert="horz" wrap="none" lIns="91440" tIns="45720" rIns="91440" bIns="45720" rtlCol="0" anchor="ctr">
            <a:noAutofit/>
          </a:bodyPr>
          <a:lstStyle/>
          <a:p>
            <a:r>
              <a:rPr lang="en-IN" sz="1200" b="1" dirty="0" smtClean="0"/>
              <a:t>Segment 1</a:t>
            </a:r>
          </a:p>
        </p:txBody>
      </p:sp>
      <p:sp>
        <p:nvSpPr>
          <p:cNvPr id="28" name="TextBox 27"/>
          <p:cNvSpPr txBox="1"/>
          <p:nvPr/>
        </p:nvSpPr>
        <p:spPr bwMode="gray">
          <a:xfrm>
            <a:off x="9876496" y="1521688"/>
            <a:ext cx="528034" cy="401259"/>
          </a:xfrm>
          <a:prstGeom prst="rect">
            <a:avLst/>
          </a:prstGeom>
        </p:spPr>
        <p:txBody>
          <a:bodyPr vert="horz" wrap="none" lIns="91440" tIns="45720" rIns="91440" bIns="45720" rtlCol="0" anchor="ctr">
            <a:noAutofit/>
          </a:bodyPr>
          <a:lstStyle/>
          <a:p>
            <a:r>
              <a:rPr lang="en-IN" sz="1200" b="1" dirty="0" smtClean="0"/>
              <a:t>Segment 2</a:t>
            </a:r>
          </a:p>
        </p:txBody>
      </p:sp>
      <p:sp>
        <p:nvSpPr>
          <p:cNvPr id="29" name="TextBox 28"/>
          <p:cNvSpPr txBox="1"/>
          <p:nvPr/>
        </p:nvSpPr>
        <p:spPr bwMode="gray">
          <a:xfrm>
            <a:off x="10541536" y="2180477"/>
            <a:ext cx="528034" cy="401259"/>
          </a:xfrm>
          <a:prstGeom prst="rect">
            <a:avLst/>
          </a:prstGeom>
        </p:spPr>
        <p:txBody>
          <a:bodyPr vert="horz" wrap="none" lIns="91440" tIns="45720" rIns="91440" bIns="45720" rtlCol="0" anchor="ctr">
            <a:noAutofit/>
          </a:bodyPr>
          <a:lstStyle/>
          <a:p>
            <a:r>
              <a:rPr lang="en-IN" sz="1200" b="1" dirty="0" smtClean="0"/>
              <a:t>Segment 3</a:t>
            </a:r>
          </a:p>
        </p:txBody>
      </p:sp>
      <p:graphicFrame>
        <p:nvGraphicFramePr>
          <p:cNvPr id="30" name="Chart 29"/>
          <p:cNvGraphicFramePr>
            <a:graphicFrameLocks/>
          </p:cNvGraphicFramePr>
          <p:nvPr>
            <p:extLst/>
          </p:nvPr>
        </p:nvGraphicFramePr>
        <p:xfrm>
          <a:off x="6615953" y="3957761"/>
          <a:ext cx="5148026" cy="2492109"/>
        </p:xfrm>
        <a:graphic>
          <a:graphicData uri="http://schemas.openxmlformats.org/drawingml/2006/chart">
            <c:chart xmlns:c="http://schemas.openxmlformats.org/drawingml/2006/chart" xmlns:r="http://schemas.openxmlformats.org/officeDocument/2006/relationships" r:id="rId6"/>
          </a:graphicData>
        </a:graphic>
      </p:graphicFrame>
      <p:sp>
        <p:nvSpPr>
          <p:cNvPr id="34" name="TextBox 33"/>
          <p:cNvSpPr txBox="1"/>
          <p:nvPr/>
        </p:nvSpPr>
        <p:spPr>
          <a:xfrm>
            <a:off x="6993873" y="3566374"/>
            <a:ext cx="4497049" cy="369332"/>
          </a:xfrm>
          <a:prstGeom prst="rect">
            <a:avLst/>
          </a:prstGeom>
          <a:noFill/>
        </p:spPr>
        <p:txBody>
          <a:bodyPr wrap="square" rtlCol="0">
            <a:spAutoFit/>
          </a:bodyPr>
          <a:lstStyle/>
          <a:p>
            <a:pPr algn="ctr"/>
            <a:r>
              <a:rPr lang="en-IN" dirty="0" smtClean="0"/>
              <a:t>Segment level time series metric for forecast</a:t>
            </a:r>
            <a:endParaRPr lang="en-IN" dirty="0"/>
          </a:p>
        </p:txBody>
      </p:sp>
      <p:sp>
        <p:nvSpPr>
          <p:cNvPr id="35" name="Rectangle 34"/>
          <p:cNvSpPr/>
          <p:nvPr/>
        </p:nvSpPr>
        <p:spPr>
          <a:xfrm>
            <a:off x="3318913" y="4113440"/>
            <a:ext cx="2789968" cy="835349"/>
          </a:xfrm>
          <a:prstGeom prst="rect">
            <a:avLst/>
          </a:prstGeom>
          <a:noFill/>
          <a:ln>
            <a:solidFill>
              <a:schemeClr val="tx2"/>
            </a:solidFill>
            <a:prstDash val="dash"/>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r>
              <a:rPr lang="en-IN" sz="1200" dirty="0" smtClean="0">
                <a:solidFill>
                  <a:schemeClr val="tx1"/>
                </a:solidFill>
              </a:rPr>
              <a:t>Time series forecasting methodology accounts for </a:t>
            </a:r>
          </a:p>
          <a:p>
            <a:pPr marL="171450" indent="-171450">
              <a:buFont typeface="Wingdings" panose="05000000000000000000" pitchFamily="2" charset="2"/>
              <a:buChar char="Ø"/>
            </a:pPr>
            <a:r>
              <a:rPr lang="en-IN" sz="1200" dirty="0" smtClean="0">
                <a:solidFill>
                  <a:schemeClr val="tx1"/>
                </a:solidFill>
              </a:rPr>
              <a:t>Trend</a:t>
            </a:r>
          </a:p>
          <a:p>
            <a:pPr marL="171450" indent="-171450">
              <a:buFont typeface="Wingdings" panose="05000000000000000000" pitchFamily="2" charset="2"/>
              <a:buChar char="Ø"/>
            </a:pPr>
            <a:r>
              <a:rPr lang="en-IN" sz="1200" dirty="0" smtClean="0">
                <a:solidFill>
                  <a:schemeClr val="tx1"/>
                </a:solidFill>
              </a:rPr>
              <a:t>Seasonality</a:t>
            </a:r>
            <a:endParaRPr lang="en-IN" sz="1200" dirty="0">
              <a:solidFill>
                <a:schemeClr val="tx1"/>
              </a:solidFill>
            </a:endParaRPr>
          </a:p>
        </p:txBody>
      </p:sp>
      <p:sp>
        <p:nvSpPr>
          <p:cNvPr id="36" name="Isosceles Triangle 35"/>
          <p:cNvSpPr/>
          <p:nvPr/>
        </p:nvSpPr>
        <p:spPr>
          <a:xfrm rot="16200000">
            <a:off x="5718473" y="5068205"/>
            <a:ext cx="1287888" cy="251047"/>
          </a:xfrm>
          <a:prstGeom prst="triangle">
            <a:avLst/>
          </a:prstGeom>
          <a:solidFill>
            <a:schemeClr val="accent6">
              <a:lumMod val="20000"/>
              <a:lumOff val="80000"/>
            </a:schemeClr>
          </a:solidFill>
          <a:ln>
            <a:solidFill>
              <a:schemeClr val="bg1"/>
            </a:solidFill>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pPr algn="ctr"/>
            <a:endParaRPr lang="en-IN"/>
          </a:p>
        </p:txBody>
      </p:sp>
      <p:sp>
        <p:nvSpPr>
          <p:cNvPr id="37" name="TextBox 36"/>
          <p:cNvSpPr txBox="1"/>
          <p:nvPr/>
        </p:nvSpPr>
        <p:spPr>
          <a:xfrm>
            <a:off x="3352185" y="3695477"/>
            <a:ext cx="2731474" cy="369332"/>
          </a:xfrm>
          <a:prstGeom prst="rect">
            <a:avLst/>
          </a:prstGeom>
          <a:noFill/>
        </p:spPr>
        <p:txBody>
          <a:bodyPr wrap="square" rtlCol="0">
            <a:spAutoFit/>
          </a:bodyPr>
          <a:lstStyle/>
          <a:p>
            <a:pPr algn="ctr"/>
            <a:r>
              <a:rPr lang="en-IN" dirty="0" smtClean="0"/>
              <a:t>Forecasting Process</a:t>
            </a:r>
            <a:endParaRPr lang="en-IN" dirty="0"/>
          </a:p>
        </p:txBody>
      </p:sp>
      <p:sp>
        <p:nvSpPr>
          <p:cNvPr id="38" name="Rectangle 37"/>
          <p:cNvSpPr/>
          <p:nvPr/>
        </p:nvSpPr>
        <p:spPr>
          <a:xfrm>
            <a:off x="3320548" y="5396844"/>
            <a:ext cx="2789968" cy="781906"/>
          </a:xfrm>
          <a:prstGeom prst="rect">
            <a:avLst/>
          </a:prstGeom>
          <a:solidFill>
            <a:schemeClr val="accent1">
              <a:lumMod val="40000"/>
              <a:lumOff val="60000"/>
            </a:schemeClr>
          </a:solidFill>
          <a:ln>
            <a:solidFill>
              <a:schemeClr val="tx2"/>
            </a:solidFill>
            <a:prstDash val="dash"/>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r>
              <a:rPr lang="en-IN" sz="1200" dirty="0" smtClean="0">
                <a:solidFill>
                  <a:schemeClr val="tx1"/>
                </a:solidFill>
              </a:rPr>
              <a:t>Alternate time varying metrics, apart from the metric to be forecasted, e.g.</a:t>
            </a:r>
          </a:p>
          <a:p>
            <a:pPr marL="171450" indent="-171450">
              <a:buFont typeface="Wingdings" panose="05000000000000000000" pitchFamily="2" charset="2"/>
              <a:buChar char="Ø"/>
            </a:pPr>
            <a:r>
              <a:rPr lang="en-IN" sz="1200" dirty="0" smtClean="0">
                <a:solidFill>
                  <a:schemeClr val="tx1"/>
                </a:solidFill>
              </a:rPr>
              <a:t>Rainfall</a:t>
            </a:r>
          </a:p>
          <a:p>
            <a:pPr marL="171450" indent="-171450">
              <a:buFont typeface="Wingdings" panose="05000000000000000000" pitchFamily="2" charset="2"/>
              <a:buChar char="Ø"/>
            </a:pPr>
            <a:r>
              <a:rPr lang="en-IN" sz="1200" dirty="0" smtClean="0">
                <a:solidFill>
                  <a:schemeClr val="tx1"/>
                </a:solidFill>
              </a:rPr>
              <a:t>GDP growth etc.</a:t>
            </a:r>
            <a:endParaRPr lang="en-IN" sz="1200" dirty="0">
              <a:solidFill>
                <a:schemeClr val="tx1"/>
              </a:solidFill>
            </a:endParaRPr>
          </a:p>
        </p:txBody>
      </p:sp>
      <p:cxnSp>
        <p:nvCxnSpPr>
          <p:cNvPr id="39" name="Straight Arrow Connector 38"/>
          <p:cNvCxnSpPr/>
          <p:nvPr/>
        </p:nvCxnSpPr>
        <p:spPr>
          <a:xfrm flipV="1">
            <a:off x="4730711" y="4989476"/>
            <a:ext cx="0" cy="316991"/>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3" name="Isosceles Triangle 42"/>
          <p:cNvSpPr/>
          <p:nvPr/>
        </p:nvSpPr>
        <p:spPr>
          <a:xfrm rot="16200000">
            <a:off x="2394286" y="4999761"/>
            <a:ext cx="1287888" cy="251047"/>
          </a:xfrm>
          <a:prstGeom prst="triangle">
            <a:avLst/>
          </a:prstGeom>
          <a:solidFill>
            <a:schemeClr val="accent6">
              <a:lumMod val="20000"/>
              <a:lumOff val="80000"/>
            </a:schemeClr>
          </a:solidFill>
          <a:ln>
            <a:solidFill>
              <a:schemeClr val="bg1"/>
            </a:solidFill>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pPr algn="ctr"/>
            <a:endParaRPr lang="en-IN"/>
          </a:p>
        </p:txBody>
      </p:sp>
      <p:sp>
        <p:nvSpPr>
          <p:cNvPr id="44" name="TextBox 43"/>
          <p:cNvSpPr txBox="1"/>
          <p:nvPr/>
        </p:nvSpPr>
        <p:spPr>
          <a:xfrm>
            <a:off x="284186" y="3695477"/>
            <a:ext cx="2731474" cy="369332"/>
          </a:xfrm>
          <a:prstGeom prst="rect">
            <a:avLst/>
          </a:prstGeom>
          <a:noFill/>
        </p:spPr>
        <p:txBody>
          <a:bodyPr wrap="square" rtlCol="0">
            <a:spAutoFit/>
          </a:bodyPr>
          <a:lstStyle/>
          <a:p>
            <a:pPr algn="ctr"/>
            <a:r>
              <a:rPr lang="en-IN" dirty="0" smtClean="0"/>
              <a:t>Forecasting Results</a:t>
            </a:r>
            <a:endParaRPr lang="en-IN" dirty="0"/>
          </a:p>
        </p:txBody>
      </p:sp>
      <p:sp>
        <p:nvSpPr>
          <p:cNvPr id="45" name="Rectangle 44"/>
          <p:cNvSpPr/>
          <p:nvPr/>
        </p:nvSpPr>
        <p:spPr>
          <a:xfrm>
            <a:off x="543934" y="4113440"/>
            <a:ext cx="2211978" cy="1050231"/>
          </a:xfrm>
          <a:prstGeom prst="rect">
            <a:avLst/>
          </a:prstGeom>
          <a:noFill/>
          <a:ln>
            <a:solidFill>
              <a:schemeClr val="tx2"/>
            </a:solidFill>
            <a:prstDash val="dash"/>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r>
              <a:rPr lang="en-IN" sz="1200" dirty="0" smtClean="0">
                <a:solidFill>
                  <a:schemeClr val="tx1"/>
                </a:solidFill>
              </a:rPr>
              <a:t>Segment level forecast</a:t>
            </a:r>
          </a:p>
          <a:p>
            <a:r>
              <a:rPr lang="en-IN" sz="1200" dirty="0" smtClean="0">
                <a:solidFill>
                  <a:schemeClr val="tx1"/>
                </a:solidFill>
              </a:rPr>
              <a:t> </a:t>
            </a:r>
          </a:p>
          <a:p>
            <a:pPr marL="171450" indent="-171450">
              <a:buFont typeface="Wingdings" panose="05000000000000000000" pitchFamily="2" charset="2"/>
              <a:buChar char="Ø"/>
            </a:pPr>
            <a:r>
              <a:rPr lang="en-IN" sz="1200" dirty="0" smtClean="0">
                <a:solidFill>
                  <a:schemeClr val="tx1"/>
                </a:solidFill>
              </a:rPr>
              <a:t>With a specified future timeframe</a:t>
            </a:r>
          </a:p>
          <a:p>
            <a:pPr marL="171450" indent="-171450">
              <a:buFont typeface="Wingdings" panose="05000000000000000000" pitchFamily="2" charset="2"/>
              <a:buChar char="Ø"/>
            </a:pPr>
            <a:r>
              <a:rPr lang="en-IN" sz="1200" dirty="0" smtClean="0">
                <a:solidFill>
                  <a:schemeClr val="tx1"/>
                </a:solidFill>
              </a:rPr>
              <a:t>Overall and For each segment</a:t>
            </a:r>
            <a:endParaRPr lang="en-IN" sz="1200" dirty="0">
              <a:solidFill>
                <a:schemeClr val="tx1"/>
              </a:solidFill>
            </a:endParaRPr>
          </a:p>
        </p:txBody>
      </p:sp>
      <p:sp>
        <p:nvSpPr>
          <p:cNvPr id="8" name="TextBox 7"/>
          <p:cNvSpPr txBox="1"/>
          <p:nvPr/>
        </p:nvSpPr>
        <p:spPr>
          <a:xfrm>
            <a:off x="3318913" y="6178750"/>
            <a:ext cx="1648612" cy="338554"/>
          </a:xfrm>
          <a:prstGeom prst="rect">
            <a:avLst/>
          </a:prstGeom>
          <a:noFill/>
        </p:spPr>
        <p:txBody>
          <a:bodyPr wrap="square" rtlCol="0">
            <a:spAutoFit/>
          </a:bodyPr>
          <a:lstStyle/>
          <a:p>
            <a:r>
              <a:rPr lang="en-IN" sz="800" dirty="0" smtClean="0"/>
              <a:t>To be evaluated for incorporation subsequently</a:t>
            </a:r>
            <a:endParaRPr lang="en-IN" sz="800" dirty="0"/>
          </a:p>
        </p:txBody>
      </p:sp>
      <p:sp>
        <p:nvSpPr>
          <p:cNvPr id="40" name="Rectangle 39"/>
          <p:cNvSpPr/>
          <p:nvPr/>
        </p:nvSpPr>
        <p:spPr>
          <a:xfrm>
            <a:off x="409521" y="1283314"/>
            <a:ext cx="4080384" cy="1700011"/>
          </a:xfrm>
          <a:prstGeom prst="rect">
            <a:avLst/>
          </a:prstGeom>
          <a:noFill/>
          <a:ln>
            <a:solidFill>
              <a:schemeClr val="tx2"/>
            </a:solidFill>
            <a:prstDash val="dash"/>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pPr marL="171450" indent="-171450">
              <a:buFont typeface="Wingdings" panose="05000000000000000000" pitchFamily="2" charset="2"/>
              <a:buChar char="Ø"/>
            </a:pPr>
            <a:r>
              <a:rPr lang="en-IN" sz="1200" dirty="0" smtClean="0">
                <a:solidFill>
                  <a:schemeClr val="tx1"/>
                </a:solidFill>
              </a:rPr>
              <a:t>Monthly and Annual rainfall</a:t>
            </a:r>
          </a:p>
          <a:p>
            <a:pPr marL="171450" indent="-171450">
              <a:buFont typeface="Wingdings" panose="05000000000000000000" pitchFamily="2" charset="2"/>
              <a:buChar char="Ø"/>
            </a:pPr>
            <a:r>
              <a:rPr lang="en-IN" sz="1200" dirty="0" smtClean="0">
                <a:solidFill>
                  <a:schemeClr val="tx1"/>
                </a:solidFill>
              </a:rPr>
              <a:t>Banking population proxy</a:t>
            </a:r>
          </a:p>
          <a:p>
            <a:pPr marL="171450" indent="-171450">
              <a:buFont typeface="Wingdings" panose="05000000000000000000" pitchFamily="2" charset="2"/>
              <a:buChar char="Ø"/>
            </a:pPr>
            <a:r>
              <a:rPr lang="en-IN" sz="1200" dirty="0" smtClean="0">
                <a:solidFill>
                  <a:schemeClr val="tx1"/>
                </a:solidFill>
              </a:rPr>
              <a:t>Two wheeler, Commercial vehicle buyer population proxy</a:t>
            </a:r>
          </a:p>
          <a:p>
            <a:pPr marL="171450" indent="-171450">
              <a:buFont typeface="Wingdings" panose="05000000000000000000" pitchFamily="2" charset="2"/>
              <a:buChar char="Ø"/>
            </a:pPr>
            <a:r>
              <a:rPr lang="en-IN" sz="1200" dirty="0" smtClean="0">
                <a:solidFill>
                  <a:schemeClr val="tx1"/>
                </a:solidFill>
              </a:rPr>
              <a:t>Percentage of land are under cultivation, by crop</a:t>
            </a:r>
          </a:p>
          <a:p>
            <a:pPr marL="171450" indent="-171450">
              <a:buFont typeface="Wingdings" panose="05000000000000000000" pitchFamily="2" charset="2"/>
              <a:buChar char="Ø"/>
            </a:pPr>
            <a:r>
              <a:rPr lang="en-IN" sz="1200" dirty="0" smtClean="0">
                <a:solidFill>
                  <a:schemeClr val="tx1"/>
                </a:solidFill>
              </a:rPr>
              <a:t>Percentage of land are under irrigation, by crop</a:t>
            </a:r>
          </a:p>
          <a:p>
            <a:pPr marL="171450" indent="-171450">
              <a:buFont typeface="Wingdings" panose="05000000000000000000" pitchFamily="2" charset="2"/>
              <a:buChar char="Ø"/>
            </a:pPr>
            <a:r>
              <a:rPr lang="en-IN" sz="1200" dirty="0">
                <a:solidFill>
                  <a:schemeClr val="tx1"/>
                </a:solidFill>
              </a:rPr>
              <a:t>Percentage of land are under irrigation, by </a:t>
            </a:r>
            <a:r>
              <a:rPr lang="en-IN" sz="1200" dirty="0" smtClean="0">
                <a:solidFill>
                  <a:schemeClr val="tx1"/>
                </a:solidFill>
              </a:rPr>
              <a:t>channel</a:t>
            </a:r>
          </a:p>
          <a:p>
            <a:pPr marL="171450" indent="-171450">
              <a:buFont typeface="Wingdings" panose="05000000000000000000" pitchFamily="2" charset="2"/>
              <a:buChar char="Ø"/>
            </a:pPr>
            <a:r>
              <a:rPr lang="en-IN" sz="1200" dirty="0" smtClean="0">
                <a:solidFill>
                  <a:schemeClr val="tx1"/>
                </a:solidFill>
              </a:rPr>
              <a:t>Rural population </a:t>
            </a:r>
          </a:p>
          <a:p>
            <a:pPr marL="171450" indent="-171450">
              <a:buFont typeface="Wingdings" panose="05000000000000000000" pitchFamily="2" charset="2"/>
              <a:buChar char="Ø"/>
            </a:pPr>
            <a:r>
              <a:rPr lang="en-IN" sz="1200" dirty="0" smtClean="0">
                <a:solidFill>
                  <a:schemeClr val="tx1"/>
                </a:solidFill>
              </a:rPr>
              <a:t>Working, Cultivator and Agricultural labour population</a:t>
            </a:r>
            <a:endParaRPr lang="en-IN" sz="1200" dirty="0">
              <a:solidFill>
                <a:schemeClr val="tx1"/>
              </a:solidFill>
            </a:endParaRPr>
          </a:p>
        </p:txBody>
      </p:sp>
      <p:sp>
        <p:nvSpPr>
          <p:cNvPr id="22" name="TextBox 21"/>
          <p:cNvSpPr txBox="1"/>
          <p:nvPr/>
        </p:nvSpPr>
        <p:spPr>
          <a:xfrm>
            <a:off x="6723530" y="4024468"/>
            <a:ext cx="1061826" cy="246221"/>
          </a:xfrm>
          <a:prstGeom prst="rect">
            <a:avLst/>
          </a:prstGeom>
          <a:noFill/>
        </p:spPr>
        <p:txBody>
          <a:bodyPr wrap="square" rtlCol="0">
            <a:spAutoFit/>
          </a:bodyPr>
          <a:lstStyle/>
          <a:p>
            <a:r>
              <a:rPr lang="en-IN" sz="1000" i="1" dirty="0" smtClean="0"/>
              <a:t>illustrative</a:t>
            </a:r>
            <a:endParaRPr lang="en-IN" sz="1000" i="1" dirty="0"/>
          </a:p>
        </p:txBody>
      </p:sp>
    </p:spTree>
    <p:extLst>
      <p:ext uri="{BB962C8B-B14F-4D97-AF65-F5344CB8AC3E}">
        <p14:creationId xmlns:p14="http://schemas.microsoft.com/office/powerpoint/2010/main" val="157772304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 name="Chart 40"/>
          <p:cNvGraphicFramePr/>
          <p:nvPr>
            <p:extLst/>
          </p:nvPr>
        </p:nvGraphicFramePr>
        <p:xfrm>
          <a:off x="3257882" y="3818078"/>
          <a:ext cx="2941212" cy="1230126"/>
        </p:xfrm>
        <a:graphic>
          <a:graphicData uri="http://schemas.openxmlformats.org/drawingml/2006/chart">
            <c:chart xmlns:c="http://schemas.openxmlformats.org/drawingml/2006/chart" xmlns:r="http://schemas.openxmlformats.org/officeDocument/2006/relationships" r:id="rId2"/>
          </a:graphicData>
        </a:graphic>
      </p:graphicFrame>
      <p:pic>
        <p:nvPicPr>
          <p:cNvPr id="4" name="Picture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237066"/>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3528970" y="291779"/>
              <a:ext cx="5134162" cy="523220"/>
            </a:xfrm>
            <a:prstGeom prst="rect">
              <a:avLst/>
            </a:prstGeom>
            <a:solidFill>
              <a:schemeClr val="bg1"/>
            </a:solidFill>
          </p:spPr>
          <p:txBody>
            <a:bodyPr wrap="none" anchor="ctr">
              <a:spAutoFit/>
            </a:bodyPr>
            <a:lstStyle/>
            <a:p>
              <a:pPr algn="ctr"/>
              <a:r>
                <a:rPr lang="en-IN" sz="2800" b="1" dirty="0">
                  <a:solidFill>
                    <a:srgbClr val="0070C0"/>
                  </a:solidFill>
                  <a:latin typeface="Calibri" charset="0"/>
                  <a:ea typeface="Calibri" charset="0"/>
                  <a:cs typeface="Calibri" charset="0"/>
                </a:rPr>
                <a:t>Primary Sales Forecasting Results</a:t>
              </a:r>
            </a:p>
          </p:txBody>
        </p:sp>
      </p:grpSp>
      <p:sp>
        <p:nvSpPr>
          <p:cNvPr id="2" name="Footer Placeholder 1"/>
          <p:cNvSpPr>
            <a:spLocks noGrp="1"/>
          </p:cNvSpPr>
          <p:nvPr>
            <p:ph type="ftr" sz="quarter" idx="11"/>
          </p:nvPr>
        </p:nvSpPr>
        <p:spPr/>
        <p:txBody>
          <a:bodyPr/>
          <a:lstStyle/>
          <a:p>
            <a:r>
              <a:rPr lang="en-IN" smtClean="0"/>
              <a:t>Version 1                                                                                            Confidential</a:t>
            </a:r>
            <a:endParaRPr lang="en-IN" dirty="0"/>
          </a:p>
        </p:txBody>
      </p:sp>
      <p:sp>
        <p:nvSpPr>
          <p:cNvPr id="7" name="Slide Number Placeholder 6"/>
          <p:cNvSpPr>
            <a:spLocks noGrp="1"/>
          </p:cNvSpPr>
          <p:nvPr>
            <p:ph type="sldNum" sz="quarter" idx="12"/>
          </p:nvPr>
        </p:nvSpPr>
        <p:spPr/>
        <p:txBody>
          <a:bodyPr/>
          <a:lstStyle/>
          <a:p>
            <a:fld id="{3040F425-731D-4835-A38A-9545B9CAE996}" type="slidenum">
              <a:rPr lang="en-IN" smtClean="0"/>
              <a:t>17</a:t>
            </a:fld>
            <a:endParaRPr lang="en-IN" dirty="0"/>
          </a:p>
        </p:txBody>
      </p:sp>
      <p:graphicFrame>
        <p:nvGraphicFramePr>
          <p:cNvPr id="18" name="Chart 17"/>
          <p:cNvGraphicFramePr/>
          <p:nvPr>
            <p:extLst/>
          </p:nvPr>
        </p:nvGraphicFramePr>
        <p:xfrm>
          <a:off x="45505" y="771646"/>
          <a:ext cx="2531861" cy="4220683"/>
        </p:xfrm>
        <a:graphic>
          <a:graphicData uri="http://schemas.openxmlformats.org/drawingml/2006/chart">
            <c:chart xmlns:c="http://schemas.openxmlformats.org/drawingml/2006/chart" xmlns:r="http://schemas.openxmlformats.org/officeDocument/2006/relationships" r:id="rId4"/>
          </a:graphicData>
        </a:graphic>
      </p:graphicFrame>
      <p:cxnSp>
        <p:nvCxnSpPr>
          <p:cNvPr id="23" name="Straight Arrow Connector 22"/>
          <p:cNvCxnSpPr>
            <a:endCxn id="37" idx="1"/>
          </p:cNvCxnSpPr>
          <p:nvPr/>
        </p:nvCxnSpPr>
        <p:spPr>
          <a:xfrm flipV="1">
            <a:off x="2514603" y="1419799"/>
            <a:ext cx="743279" cy="11883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endCxn id="39" idx="1"/>
          </p:cNvCxnSpPr>
          <p:nvPr/>
        </p:nvCxnSpPr>
        <p:spPr>
          <a:xfrm>
            <a:off x="2514603" y="2614076"/>
            <a:ext cx="743279" cy="11717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endCxn id="38" idx="1"/>
          </p:cNvCxnSpPr>
          <p:nvPr/>
        </p:nvCxnSpPr>
        <p:spPr>
          <a:xfrm flipV="1">
            <a:off x="2514603" y="2575919"/>
            <a:ext cx="743279" cy="215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37" name="Chart 36"/>
          <p:cNvGraphicFramePr/>
          <p:nvPr>
            <p:extLst/>
          </p:nvPr>
        </p:nvGraphicFramePr>
        <p:xfrm>
          <a:off x="3257882" y="804736"/>
          <a:ext cx="2941212" cy="1230126"/>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38" name="Chart 37"/>
          <p:cNvGraphicFramePr/>
          <p:nvPr>
            <p:extLst/>
          </p:nvPr>
        </p:nvGraphicFramePr>
        <p:xfrm>
          <a:off x="3257882" y="1960856"/>
          <a:ext cx="2941212" cy="1230126"/>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39" name="Chart 38"/>
          <p:cNvGraphicFramePr/>
          <p:nvPr>
            <p:extLst/>
          </p:nvPr>
        </p:nvGraphicFramePr>
        <p:xfrm>
          <a:off x="3257882" y="3170764"/>
          <a:ext cx="2941212" cy="1230126"/>
        </p:xfrm>
        <a:graphic>
          <a:graphicData uri="http://schemas.openxmlformats.org/drawingml/2006/chart">
            <c:chart xmlns:c="http://schemas.openxmlformats.org/drawingml/2006/chart" xmlns:r="http://schemas.openxmlformats.org/officeDocument/2006/relationships" r:id="rId7"/>
          </a:graphicData>
        </a:graphic>
      </p:graphicFrame>
      <p:sp>
        <p:nvSpPr>
          <p:cNvPr id="44" name="TextBox 43"/>
          <p:cNvSpPr txBox="1"/>
          <p:nvPr/>
        </p:nvSpPr>
        <p:spPr>
          <a:xfrm>
            <a:off x="3675531" y="770563"/>
            <a:ext cx="2517024" cy="338554"/>
          </a:xfrm>
          <a:prstGeom prst="rect">
            <a:avLst/>
          </a:prstGeom>
          <a:noFill/>
        </p:spPr>
        <p:txBody>
          <a:bodyPr wrap="square" rtlCol="0">
            <a:spAutoFit/>
          </a:bodyPr>
          <a:lstStyle/>
          <a:p>
            <a:pPr algn="ctr"/>
            <a:r>
              <a:rPr lang="en-IN" sz="1600" b="1" dirty="0" smtClean="0">
                <a:solidFill>
                  <a:schemeClr val="bg1">
                    <a:lumMod val="50000"/>
                  </a:schemeClr>
                </a:solidFill>
              </a:rPr>
              <a:t>Trend Component</a:t>
            </a:r>
            <a:endParaRPr lang="en-IN" sz="1600" b="1" dirty="0">
              <a:solidFill>
                <a:schemeClr val="bg1">
                  <a:lumMod val="50000"/>
                </a:schemeClr>
              </a:solidFill>
            </a:endParaRPr>
          </a:p>
        </p:txBody>
      </p:sp>
      <p:sp>
        <p:nvSpPr>
          <p:cNvPr id="46" name="TextBox 45"/>
          <p:cNvSpPr txBox="1"/>
          <p:nvPr/>
        </p:nvSpPr>
        <p:spPr>
          <a:xfrm>
            <a:off x="3680014" y="1971829"/>
            <a:ext cx="2517024" cy="338554"/>
          </a:xfrm>
          <a:prstGeom prst="rect">
            <a:avLst/>
          </a:prstGeom>
          <a:noFill/>
        </p:spPr>
        <p:txBody>
          <a:bodyPr wrap="square" rtlCol="0">
            <a:spAutoFit/>
          </a:bodyPr>
          <a:lstStyle/>
          <a:p>
            <a:pPr algn="ctr"/>
            <a:r>
              <a:rPr lang="en-IN" sz="1600" b="1" dirty="0" smtClean="0">
                <a:solidFill>
                  <a:schemeClr val="bg1">
                    <a:lumMod val="50000"/>
                  </a:schemeClr>
                </a:solidFill>
              </a:rPr>
              <a:t>Seasonal Component</a:t>
            </a:r>
            <a:endParaRPr lang="en-IN" sz="1600" b="1" dirty="0">
              <a:solidFill>
                <a:schemeClr val="bg1">
                  <a:lumMod val="50000"/>
                </a:schemeClr>
              </a:solidFill>
            </a:endParaRPr>
          </a:p>
        </p:txBody>
      </p:sp>
      <p:sp>
        <p:nvSpPr>
          <p:cNvPr id="47" name="TextBox 46"/>
          <p:cNvSpPr txBox="1"/>
          <p:nvPr/>
        </p:nvSpPr>
        <p:spPr>
          <a:xfrm>
            <a:off x="3751732" y="3186542"/>
            <a:ext cx="2517024" cy="338554"/>
          </a:xfrm>
          <a:prstGeom prst="rect">
            <a:avLst/>
          </a:prstGeom>
          <a:noFill/>
        </p:spPr>
        <p:txBody>
          <a:bodyPr wrap="square" rtlCol="0">
            <a:spAutoFit/>
          </a:bodyPr>
          <a:lstStyle/>
          <a:p>
            <a:pPr algn="ctr"/>
            <a:r>
              <a:rPr lang="en-IN" sz="1600" b="1" dirty="0" smtClean="0">
                <a:solidFill>
                  <a:schemeClr val="bg1">
                    <a:lumMod val="50000"/>
                  </a:schemeClr>
                </a:solidFill>
              </a:rPr>
              <a:t>Random Component</a:t>
            </a:r>
            <a:endParaRPr lang="en-IN" sz="1600" b="1" dirty="0">
              <a:solidFill>
                <a:schemeClr val="bg1">
                  <a:lumMod val="50000"/>
                </a:schemeClr>
              </a:solidFill>
            </a:endParaRPr>
          </a:p>
        </p:txBody>
      </p:sp>
      <p:sp>
        <p:nvSpPr>
          <p:cNvPr id="71" name="TextBox 70"/>
          <p:cNvSpPr txBox="1"/>
          <p:nvPr/>
        </p:nvSpPr>
        <p:spPr>
          <a:xfrm rot="18095878">
            <a:off x="2057824" y="4127733"/>
            <a:ext cx="1493252" cy="307777"/>
          </a:xfrm>
          <a:prstGeom prst="rect">
            <a:avLst/>
          </a:prstGeom>
          <a:noFill/>
        </p:spPr>
        <p:txBody>
          <a:bodyPr wrap="square" rtlCol="0">
            <a:spAutoFit/>
          </a:bodyPr>
          <a:lstStyle/>
          <a:p>
            <a:pPr algn="ctr"/>
            <a:r>
              <a:rPr lang="en-IN" sz="1400" b="1" dirty="0" smtClean="0">
                <a:solidFill>
                  <a:schemeClr val="accent5"/>
                </a:solidFill>
              </a:rPr>
              <a:t>Decomposed</a:t>
            </a:r>
            <a:endParaRPr lang="en-IN" sz="1400" b="1" dirty="0">
              <a:solidFill>
                <a:schemeClr val="accent5"/>
              </a:solidFill>
            </a:endParaRPr>
          </a:p>
        </p:txBody>
      </p:sp>
      <p:graphicFrame>
        <p:nvGraphicFramePr>
          <p:cNvPr id="73" name="Chart 72"/>
          <p:cNvGraphicFramePr/>
          <p:nvPr>
            <p:extLst/>
          </p:nvPr>
        </p:nvGraphicFramePr>
        <p:xfrm>
          <a:off x="7019365" y="777435"/>
          <a:ext cx="5117750" cy="4220683"/>
        </p:xfrm>
        <a:graphic>
          <a:graphicData uri="http://schemas.openxmlformats.org/drawingml/2006/chart">
            <c:chart xmlns:c="http://schemas.openxmlformats.org/drawingml/2006/chart" xmlns:r="http://schemas.openxmlformats.org/officeDocument/2006/relationships" r:id="rId8"/>
          </a:graphicData>
        </a:graphic>
      </p:graphicFrame>
      <p:cxnSp>
        <p:nvCxnSpPr>
          <p:cNvPr id="78" name="Straight Arrow Connector 77"/>
          <p:cNvCxnSpPr/>
          <p:nvPr/>
        </p:nvCxnSpPr>
        <p:spPr>
          <a:xfrm>
            <a:off x="6199094" y="1419799"/>
            <a:ext cx="820271" cy="12830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p:nvPr/>
        </p:nvCxnSpPr>
        <p:spPr>
          <a:xfrm flipV="1">
            <a:off x="6199094" y="2702859"/>
            <a:ext cx="820271" cy="11152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p:nvPr/>
        </p:nvCxnSpPr>
        <p:spPr>
          <a:xfrm>
            <a:off x="6192555" y="2702859"/>
            <a:ext cx="8268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8" name="TextBox 87"/>
          <p:cNvSpPr txBox="1"/>
          <p:nvPr/>
        </p:nvSpPr>
        <p:spPr>
          <a:xfrm rot="18206622">
            <a:off x="5851788" y="3682887"/>
            <a:ext cx="1956106" cy="738664"/>
          </a:xfrm>
          <a:prstGeom prst="rect">
            <a:avLst/>
          </a:prstGeom>
          <a:noFill/>
        </p:spPr>
        <p:txBody>
          <a:bodyPr wrap="square" rtlCol="0">
            <a:spAutoFit/>
          </a:bodyPr>
          <a:lstStyle/>
          <a:p>
            <a:pPr algn="ctr"/>
            <a:r>
              <a:rPr lang="en-IN" sz="1400" b="1" dirty="0" smtClean="0">
                <a:solidFill>
                  <a:schemeClr val="accent5"/>
                </a:solidFill>
              </a:rPr>
              <a:t>Each Component projected and combined to forecast</a:t>
            </a:r>
            <a:endParaRPr lang="en-IN" sz="1400" b="1" dirty="0">
              <a:solidFill>
                <a:schemeClr val="accent5"/>
              </a:solidFill>
            </a:endParaRPr>
          </a:p>
        </p:txBody>
      </p:sp>
      <p:sp>
        <p:nvSpPr>
          <p:cNvPr id="91" name="TextBox 90"/>
          <p:cNvSpPr txBox="1"/>
          <p:nvPr/>
        </p:nvSpPr>
        <p:spPr>
          <a:xfrm>
            <a:off x="115448" y="5193890"/>
            <a:ext cx="11066930" cy="646331"/>
          </a:xfrm>
          <a:prstGeom prst="rect">
            <a:avLst/>
          </a:prstGeom>
          <a:noFill/>
        </p:spPr>
        <p:txBody>
          <a:bodyPr wrap="square" rtlCol="0">
            <a:spAutoFit/>
          </a:bodyPr>
          <a:lstStyle/>
          <a:p>
            <a:r>
              <a:rPr lang="en-IN" b="1" dirty="0" smtClean="0">
                <a:solidFill>
                  <a:srgbClr val="002060"/>
                </a:solidFill>
              </a:rPr>
              <a:t>Data Used For Forecasting : </a:t>
            </a:r>
            <a:r>
              <a:rPr lang="en-IN" dirty="0" smtClean="0"/>
              <a:t>TATA </a:t>
            </a:r>
            <a:r>
              <a:rPr lang="en-IN" dirty="0" err="1" smtClean="0"/>
              <a:t>Wiron’s</a:t>
            </a:r>
            <a:r>
              <a:rPr lang="en-IN" dirty="0" smtClean="0"/>
              <a:t> Primary sales data from Jan2014 to April2016 are used</a:t>
            </a:r>
            <a:endParaRPr lang="en-IN" dirty="0"/>
          </a:p>
          <a:p>
            <a:r>
              <a:rPr lang="en-IN" b="1" dirty="0" smtClean="0">
                <a:solidFill>
                  <a:srgbClr val="002060"/>
                </a:solidFill>
              </a:rPr>
              <a:t>Forecasted Values : </a:t>
            </a:r>
            <a:r>
              <a:rPr lang="en-IN" dirty="0" smtClean="0"/>
              <a:t>TATA </a:t>
            </a:r>
            <a:r>
              <a:rPr lang="en-IN" dirty="0" err="1" smtClean="0"/>
              <a:t>Wiron’s</a:t>
            </a:r>
            <a:r>
              <a:rPr lang="en-IN" dirty="0" smtClean="0"/>
              <a:t> Primary Sales is forecasted for the months May, June and July of the year 2016</a:t>
            </a:r>
            <a:endParaRPr lang="en-IN" dirty="0"/>
          </a:p>
        </p:txBody>
      </p:sp>
      <p:sp>
        <p:nvSpPr>
          <p:cNvPr id="92" name="Rectangular Callout 91"/>
          <p:cNvSpPr/>
          <p:nvPr/>
        </p:nvSpPr>
        <p:spPr>
          <a:xfrm>
            <a:off x="10582835" y="4827494"/>
            <a:ext cx="1518775" cy="1402471"/>
          </a:xfrm>
          <a:prstGeom prst="wedgeRectCallout">
            <a:avLst>
              <a:gd name="adj1" fmla="val 9557"/>
              <a:gd name="adj2" fmla="val -70327"/>
            </a:avLst>
          </a:prstGeom>
          <a:solidFill>
            <a:schemeClr val="accent6">
              <a:lumMod val="20000"/>
              <a:lumOff val="80000"/>
            </a:schemeClr>
          </a:solidFill>
          <a:ln>
            <a:solidFill>
              <a:schemeClr val="bg1"/>
            </a:solidFill>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pPr algn="ctr"/>
            <a:r>
              <a:rPr lang="en-IN" sz="1400" dirty="0" smtClean="0">
                <a:solidFill>
                  <a:schemeClr val="tx1"/>
                </a:solidFill>
              </a:rPr>
              <a:t>The predicted values move in the </a:t>
            </a:r>
            <a:r>
              <a:rPr lang="en-IN" sz="1400" b="1" dirty="0" smtClean="0">
                <a:solidFill>
                  <a:schemeClr val="tx1"/>
                </a:solidFill>
              </a:rPr>
              <a:t>same direction </a:t>
            </a:r>
            <a:r>
              <a:rPr lang="en-IN" sz="1400" dirty="0" smtClean="0">
                <a:solidFill>
                  <a:schemeClr val="tx1"/>
                </a:solidFill>
              </a:rPr>
              <a:t>as the actual values</a:t>
            </a:r>
            <a:endParaRPr lang="en-IN" sz="1400" b="1" dirty="0">
              <a:solidFill>
                <a:schemeClr val="tx1"/>
              </a:solidFill>
            </a:endParaRPr>
          </a:p>
        </p:txBody>
      </p:sp>
    </p:spTree>
    <p:extLst>
      <p:ext uri="{BB962C8B-B14F-4D97-AF65-F5344CB8AC3E}">
        <p14:creationId xmlns:p14="http://schemas.microsoft.com/office/powerpoint/2010/main" val="350304955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237066"/>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1403460" y="291779"/>
              <a:ext cx="9385197" cy="523220"/>
            </a:xfrm>
            <a:prstGeom prst="rect">
              <a:avLst/>
            </a:prstGeom>
            <a:solidFill>
              <a:schemeClr val="bg1"/>
            </a:solidFill>
          </p:spPr>
          <p:txBody>
            <a:bodyPr wrap="none" anchor="ctr">
              <a:spAutoFit/>
            </a:bodyPr>
            <a:lstStyle/>
            <a:p>
              <a:pPr algn="ctr"/>
              <a:r>
                <a:rPr lang="en-IN" sz="2800" b="1" dirty="0">
                  <a:solidFill>
                    <a:srgbClr val="0070C0"/>
                  </a:solidFill>
                  <a:latin typeface="Calibri" charset="0"/>
                  <a:ea typeface="Calibri" charset="0"/>
                  <a:cs typeface="Calibri" charset="0"/>
                </a:rPr>
                <a:t>Clustered Segments Level Secondary Sales Forecasting Results</a:t>
              </a:r>
            </a:p>
          </p:txBody>
        </p:sp>
      </p:grpSp>
      <p:sp>
        <p:nvSpPr>
          <p:cNvPr id="2" name="Footer Placeholder 1"/>
          <p:cNvSpPr>
            <a:spLocks noGrp="1"/>
          </p:cNvSpPr>
          <p:nvPr>
            <p:ph type="ftr" sz="quarter" idx="11"/>
          </p:nvPr>
        </p:nvSpPr>
        <p:spPr/>
        <p:txBody>
          <a:bodyPr/>
          <a:lstStyle/>
          <a:p>
            <a:r>
              <a:rPr lang="en-IN" smtClean="0">
                <a:solidFill>
                  <a:prstClr val="black">
                    <a:tint val="75000"/>
                  </a:prstClr>
                </a:solidFill>
              </a:rPr>
              <a:t>Version 1                                                                                            Confidential</a:t>
            </a:r>
            <a:endParaRPr lang="en-IN" dirty="0">
              <a:solidFill>
                <a:prstClr val="black">
                  <a:tint val="75000"/>
                </a:prstClr>
              </a:solidFill>
            </a:endParaRPr>
          </a:p>
        </p:txBody>
      </p:sp>
      <p:sp>
        <p:nvSpPr>
          <p:cNvPr id="3" name="TextBox 2"/>
          <p:cNvSpPr txBox="1"/>
          <p:nvPr/>
        </p:nvSpPr>
        <p:spPr>
          <a:xfrm>
            <a:off x="178364" y="1523871"/>
            <a:ext cx="5760000" cy="2031325"/>
          </a:xfrm>
          <a:prstGeom prst="rect">
            <a:avLst/>
          </a:prstGeom>
          <a:noFill/>
        </p:spPr>
        <p:txBody>
          <a:bodyPr wrap="square" rtlCol="0">
            <a:spAutoFit/>
          </a:bodyPr>
          <a:lstStyle/>
          <a:p>
            <a:r>
              <a:rPr lang="en-IN" sz="1400" b="1" dirty="0" smtClean="0">
                <a:solidFill>
                  <a:srgbClr val="002060"/>
                </a:solidFill>
              </a:rPr>
              <a:t>Data Used For Forecasting : </a:t>
            </a:r>
            <a:r>
              <a:rPr lang="en-IN" sz="1400" dirty="0" smtClean="0">
                <a:solidFill>
                  <a:prstClr val="black"/>
                </a:solidFill>
              </a:rPr>
              <a:t>TATA </a:t>
            </a:r>
            <a:r>
              <a:rPr lang="en-IN" sz="1400" dirty="0" err="1" smtClean="0">
                <a:solidFill>
                  <a:prstClr val="black"/>
                </a:solidFill>
              </a:rPr>
              <a:t>Wiron’s</a:t>
            </a:r>
            <a:r>
              <a:rPr lang="en-IN" sz="1400" dirty="0" smtClean="0">
                <a:solidFill>
                  <a:prstClr val="black"/>
                </a:solidFill>
              </a:rPr>
              <a:t> Secondary sales data for “Activity” cluster from April2014 to December2015 are used</a:t>
            </a:r>
          </a:p>
          <a:p>
            <a:endParaRPr lang="en-IN" sz="1400" dirty="0">
              <a:solidFill>
                <a:prstClr val="black"/>
              </a:solidFill>
            </a:endParaRPr>
          </a:p>
          <a:p>
            <a:r>
              <a:rPr lang="en-IN" sz="1400" b="1" dirty="0" smtClean="0">
                <a:solidFill>
                  <a:srgbClr val="002060"/>
                </a:solidFill>
              </a:rPr>
              <a:t>Forecasted Values : </a:t>
            </a:r>
            <a:r>
              <a:rPr lang="en-IN" sz="1400" dirty="0" smtClean="0">
                <a:solidFill>
                  <a:prstClr val="black"/>
                </a:solidFill>
              </a:rPr>
              <a:t>TATA </a:t>
            </a:r>
            <a:r>
              <a:rPr lang="en-IN" sz="1400" dirty="0" err="1" smtClean="0">
                <a:solidFill>
                  <a:prstClr val="black"/>
                </a:solidFill>
              </a:rPr>
              <a:t>Wiron’s</a:t>
            </a:r>
            <a:r>
              <a:rPr lang="en-IN" sz="1400" dirty="0" smtClean="0">
                <a:solidFill>
                  <a:prstClr val="black"/>
                </a:solidFill>
              </a:rPr>
              <a:t> Secondary Sales for the “Activity” cluster is forecasted for the months January, February and March of the year 2016</a:t>
            </a:r>
          </a:p>
          <a:p>
            <a:endParaRPr lang="en-IN" sz="1400" dirty="0">
              <a:solidFill>
                <a:prstClr val="black"/>
              </a:solidFill>
            </a:endParaRPr>
          </a:p>
          <a:p>
            <a:r>
              <a:rPr lang="en-IN" sz="1400" b="1" dirty="0">
                <a:solidFill>
                  <a:srgbClr val="002060"/>
                </a:solidFill>
              </a:rPr>
              <a:t>Forecasting Results: </a:t>
            </a:r>
            <a:endParaRPr lang="en-IN" sz="1400" dirty="0">
              <a:solidFill>
                <a:prstClr val="black"/>
              </a:solidFill>
            </a:endParaRPr>
          </a:p>
          <a:p>
            <a:endParaRPr lang="en-IN" sz="1400" dirty="0" smtClean="0">
              <a:solidFill>
                <a:prstClr val="black"/>
              </a:solidFill>
            </a:endParaRPr>
          </a:p>
          <a:p>
            <a:endParaRPr lang="en-IN" sz="1400" dirty="0" smtClean="0">
              <a:solidFill>
                <a:prstClr val="black"/>
              </a:solidFill>
            </a:endParaRPr>
          </a:p>
        </p:txBody>
      </p:sp>
      <p:sp>
        <p:nvSpPr>
          <p:cNvPr id="19" name="Rectangle 18"/>
          <p:cNvSpPr/>
          <p:nvPr/>
        </p:nvSpPr>
        <p:spPr>
          <a:xfrm>
            <a:off x="1649871" y="763582"/>
            <a:ext cx="2141164" cy="400110"/>
          </a:xfrm>
          <a:prstGeom prst="rect">
            <a:avLst/>
          </a:prstGeom>
          <a:solidFill>
            <a:schemeClr val="bg2"/>
          </a:solidFill>
        </p:spPr>
        <p:txBody>
          <a:bodyPr wrap="none">
            <a:spAutoFit/>
          </a:bodyPr>
          <a:lstStyle/>
          <a:p>
            <a:r>
              <a:rPr lang="en-IN" sz="2000" b="1" u="sng" dirty="0" smtClean="0">
                <a:solidFill>
                  <a:srgbClr val="002060"/>
                </a:solidFill>
              </a:rPr>
              <a:t>Cluster - “Activity”</a:t>
            </a:r>
            <a:endParaRPr lang="en-IN" sz="2000" u="sng" dirty="0">
              <a:solidFill>
                <a:prstClr val="black"/>
              </a:solidFill>
            </a:endParaRPr>
          </a:p>
        </p:txBody>
      </p:sp>
      <p:sp>
        <p:nvSpPr>
          <p:cNvPr id="14" name="TextBox 13"/>
          <p:cNvSpPr txBox="1"/>
          <p:nvPr/>
        </p:nvSpPr>
        <p:spPr>
          <a:xfrm>
            <a:off x="6278661" y="1485665"/>
            <a:ext cx="5760000" cy="2031325"/>
          </a:xfrm>
          <a:prstGeom prst="rect">
            <a:avLst/>
          </a:prstGeom>
          <a:noFill/>
        </p:spPr>
        <p:txBody>
          <a:bodyPr wrap="square" rtlCol="0">
            <a:spAutoFit/>
          </a:bodyPr>
          <a:lstStyle/>
          <a:p>
            <a:r>
              <a:rPr lang="en-IN" sz="1400" b="1" dirty="0" smtClean="0">
                <a:solidFill>
                  <a:srgbClr val="002060"/>
                </a:solidFill>
              </a:rPr>
              <a:t>Data Used For Forecasting : </a:t>
            </a:r>
            <a:r>
              <a:rPr lang="en-IN" sz="1400" dirty="0">
                <a:solidFill>
                  <a:prstClr val="black"/>
                </a:solidFill>
              </a:rPr>
              <a:t>TATA </a:t>
            </a:r>
            <a:r>
              <a:rPr lang="en-IN" sz="1400" dirty="0" err="1">
                <a:solidFill>
                  <a:prstClr val="black"/>
                </a:solidFill>
              </a:rPr>
              <a:t>Wiron’s</a:t>
            </a:r>
            <a:r>
              <a:rPr lang="en-IN" sz="1400" dirty="0">
                <a:solidFill>
                  <a:prstClr val="black"/>
                </a:solidFill>
              </a:rPr>
              <a:t> Secondary sales data for </a:t>
            </a:r>
            <a:r>
              <a:rPr lang="en-IN" sz="1400" dirty="0" smtClean="0">
                <a:solidFill>
                  <a:prstClr val="black"/>
                </a:solidFill>
              </a:rPr>
              <a:t>“Rural Cultivator” </a:t>
            </a:r>
            <a:r>
              <a:rPr lang="en-IN" sz="1400" dirty="0">
                <a:solidFill>
                  <a:prstClr val="black"/>
                </a:solidFill>
              </a:rPr>
              <a:t>cluster from April2014 to December2015 are used</a:t>
            </a:r>
          </a:p>
          <a:p>
            <a:endParaRPr lang="en-IN" sz="1400" dirty="0">
              <a:solidFill>
                <a:prstClr val="black"/>
              </a:solidFill>
            </a:endParaRPr>
          </a:p>
          <a:p>
            <a:r>
              <a:rPr lang="en-IN" sz="1400" b="1" dirty="0" smtClean="0">
                <a:solidFill>
                  <a:srgbClr val="002060"/>
                </a:solidFill>
              </a:rPr>
              <a:t>Forecasted Values : </a:t>
            </a:r>
            <a:r>
              <a:rPr lang="en-IN" sz="1400" dirty="0">
                <a:solidFill>
                  <a:prstClr val="black"/>
                </a:solidFill>
              </a:rPr>
              <a:t>TATA </a:t>
            </a:r>
            <a:r>
              <a:rPr lang="en-IN" sz="1400" dirty="0" err="1">
                <a:solidFill>
                  <a:prstClr val="black"/>
                </a:solidFill>
              </a:rPr>
              <a:t>Wiron’s</a:t>
            </a:r>
            <a:r>
              <a:rPr lang="en-IN" sz="1400" dirty="0">
                <a:solidFill>
                  <a:prstClr val="black"/>
                </a:solidFill>
              </a:rPr>
              <a:t> Secondary Sales for the </a:t>
            </a:r>
            <a:r>
              <a:rPr lang="en-IN" sz="1400" dirty="0" smtClean="0">
                <a:solidFill>
                  <a:prstClr val="black"/>
                </a:solidFill>
              </a:rPr>
              <a:t>“Rural Cultivator” </a:t>
            </a:r>
            <a:r>
              <a:rPr lang="en-IN" sz="1400" dirty="0">
                <a:solidFill>
                  <a:prstClr val="black"/>
                </a:solidFill>
              </a:rPr>
              <a:t>cluster is forecasted for the months January, February and March </a:t>
            </a:r>
            <a:r>
              <a:rPr lang="en-IN" sz="1400" dirty="0" smtClean="0">
                <a:solidFill>
                  <a:prstClr val="black"/>
                </a:solidFill>
              </a:rPr>
              <a:t>of </a:t>
            </a:r>
            <a:r>
              <a:rPr lang="en-IN" sz="1400" dirty="0">
                <a:solidFill>
                  <a:prstClr val="black"/>
                </a:solidFill>
              </a:rPr>
              <a:t>2016</a:t>
            </a:r>
          </a:p>
          <a:p>
            <a:endParaRPr lang="en-IN" sz="1400" dirty="0">
              <a:solidFill>
                <a:prstClr val="black"/>
              </a:solidFill>
            </a:endParaRPr>
          </a:p>
          <a:p>
            <a:r>
              <a:rPr lang="en-IN" sz="1400" b="1" dirty="0">
                <a:solidFill>
                  <a:srgbClr val="002060"/>
                </a:solidFill>
              </a:rPr>
              <a:t>Forecasting Results: </a:t>
            </a:r>
            <a:endParaRPr lang="en-IN" sz="1400" dirty="0">
              <a:solidFill>
                <a:prstClr val="black"/>
              </a:solidFill>
            </a:endParaRPr>
          </a:p>
          <a:p>
            <a:endParaRPr lang="en-IN" sz="1400" dirty="0" smtClean="0">
              <a:solidFill>
                <a:prstClr val="black"/>
              </a:solidFill>
            </a:endParaRPr>
          </a:p>
          <a:p>
            <a:endParaRPr lang="en-IN" sz="1400" dirty="0" smtClean="0">
              <a:solidFill>
                <a:prstClr val="black"/>
              </a:solidFill>
            </a:endParaRPr>
          </a:p>
        </p:txBody>
      </p:sp>
      <p:graphicFrame>
        <p:nvGraphicFramePr>
          <p:cNvPr id="9" name="Table 8"/>
          <p:cNvGraphicFramePr>
            <a:graphicFrameLocks noGrp="1"/>
          </p:cNvGraphicFramePr>
          <p:nvPr>
            <p:extLst/>
          </p:nvPr>
        </p:nvGraphicFramePr>
        <p:xfrm>
          <a:off x="294299" y="4817201"/>
          <a:ext cx="2514600" cy="939165"/>
        </p:xfrm>
        <a:graphic>
          <a:graphicData uri="http://schemas.openxmlformats.org/drawingml/2006/table">
            <a:tbl>
              <a:tblPr/>
              <a:tblGrid>
                <a:gridCol w="609600"/>
                <a:gridCol w="609600"/>
                <a:gridCol w="685800"/>
                <a:gridCol w="609600"/>
              </a:tblGrid>
              <a:tr h="0">
                <a:tc>
                  <a:txBody>
                    <a:bodyPr/>
                    <a:lstStyle/>
                    <a:p>
                      <a:pPr algn="l" fontAlgn="b"/>
                      <a:endParaRPr lang="en-IN" sz="1100" b="0" i="0" u="none" strike="noStrike" dirty="0">
                        <a:solidFill>
                          <a:srgbClr val="000000"/>
                        </a:solidFill>
                        <a:effectLst/>
                        <a:latin typeface="Calibri" panose="020F0502020204030204" pitchFamily="34" charset="0"/>
                      </a:endParaRP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a:solidFill>
                            <a:srgbClr val="000000"/>
                          </a:solidFill>
                          <a:effectLst/>
                          <a:latin typeface="Calibri" panose="020F0502020204030204" pitchFamily="34" charset="0"/>
                        </a:rPr>
                        <a:t>Actuals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a:solidFill>
                            <a:srgbClr val="000000"/>
                          </a:solidFill>
                          <a:effectLst/>
                          <a:latin typeface="Calibri" panose="020F0502020204030204" pitchFamily="34" charset="0"/>
                        </a:rPr>
                        <a:t>Predicted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dirty="0">
                          <a:solidFill>
                            <a:srgbClr val="000000"/>
                          </a:solidFill>
                          <a:effectLst/>
                          <a:latin typeface="Calibri" panose="020F0502020204030204" pitchFamily="34" charset="0"/>
                        </a:rPr>
                        <a:t>MAPE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ctr" fontAlgn="b"/>
                      <a:r>
                        <a:rPr lang="en-IN" sz="1100" b="0" i="0" u="none" strike="noStrike" dirty="0">
                          <a:solidFill>
                            <a:srgbClr val="000000"/>
                          </a:solidFill>
                          <a:effectLst/>
                          <a:latin typeface="Calibri" panose="020F0502020204030204" pitchFamily="34" charset="0"/>
                        </a:rPr>
                        <a:t>Jan-16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IN" sz="1100" b="0" i="0" u="none" strike="noStrike" dirty="0">
                          <a:solidFill>
                            <a:srgbClr val="000000"/>
                          </a:solidFill>
                          <a:effectLst/>
                          <a:latin typeface="Calibri" panose="020F0502020204030204" pitchFamily="34" charset="0"/>
                        </a:rPr>
                        <a:t>759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IN" sz="1100" b="0" i="0" u="none" strike="noStrike">
                          <a:solidFill>
                            <a:srgbClr val="000000"/>
                          </a:solidFill>
                          <a:effectLst/>
                          <a:latin typeface="Calibri" panose="020F0502020204030204" pitchFamily="34" charset="0"/>
                        </a:rPr>
                        <a:t>1020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
                      <a:r>
                        <a:rPr lang="en-IN" sz="1100" b="0" i="0" u="none" strike="noStrike">
                          <a:solidFill>
                            <a:srgbClr val="000000"/>
                          </a:solidFill>
                          <a:effectLst/>
                          <a:latin typeface="Calibri" panose="020F0502020204030204" pitchFamily="34" charset="0"/>
                        </a:rPr>
                        <a:t>34.4%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r>
              <a:tr h="190500">
                <a:tc>
                  <a:txBody>
                    <a:bodyPr/>
                    <a:lstStyle/>
                    <a:p>
                      <a:pPr algn="ctr" fontAlgn="b"/>
                      <a:r>
                        <a:rPr lang="en-IN" sz="1100" b="0" i="0" u="none" strike="noStrike" dirty="0">
                          <a:solidFill>
                            <a:srgbClr val="000000"/>
                          </a:solidFill>
                          <a:effectLst/>
                          <a:latin typeface="Calibri" panose="020F0502020204030204" pitchFamily="34" charset="0"/>
                        </a:rPr>
                        <a:t>Feb-16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IN" sz="1100" b="0" i="0" u="none" strike="noStrike" dirty="0">
                          <a:solidFill>
                            <a:srgbClr val="000000"/>
                          </a:solidFill>
                          <a:effectLst/>
                          <a:latin typeface="Calibri" panose="020F0502020204030204" pitchFamily="34" charset="0"/>
                        </a:rPr>
                        <a:t>896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IN" sz="1100" b="0" i="0" u="none" strike="noStrike" dirty="0">
                          <a:solidFill>
                            <a:srgbClr val="000000"/>
                          </a:solidFill>
                          <a:effectLst/>
                          <a:latin typeface="Calibri" panose="020F0502020204030204" pitchFamily="34" charset="0"/>
                        </a:rPr>
                        <a:t>1033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
                      <a:r>
                        <a:rPr lang="en-IN" sz="1100" b="0" i="0" u="none" strike="noStrike" dirty="0">
                          <a:solidFill>
                            <a:srgbClr val="000000"/>
                          </a:solidFill>
                          <a:effectLst/>
                          <a:latin typeface="Calibri" panose="020F0502020204030204" pitchFamily="34" charset="0"/>
                        </a:rPr>
                        <a:t>15.3%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r>
              <a:tr h="190500">
                <a:tc>
                  <a:txBody>
                    <a:bodyPr/>
                    <a:lstStyle/>
                    <a:p>
                      <a:pPr algn="ctr" fontAlgn="b"/>
                      <a:r>
                        <a:rPr lang="en-IN" sz="1100" b="0" i="0" u="none" strike="noStrike">
                          <a:solidFill>
                            <a:srgbClr val="000000"/>
                          </a:solidFill>
                          <a:effectLst/>
                          <a:latin typeface="Calibri" panose="020F0502020204030204" pitchFamily="34" charset="0"/>
                        </a:rPr>
                        <a:t>Mar-16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IN" sz="1100" b="0" i="0" u="none" strike="noStrike" dirty="0">
                          <a:solidFill>
                            <a:srgbClr val="000000"/>
                          </a:solidFill>
                          <a:effectLst/>
                          <a:latin typeface="Calibri" panose="020F0502020204030204" pitchFamily="34" charset="0"/>
                        </a:rPr>
                        <a:t>982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IN" sz="1100" b="0" i="0" u="none" strike="noStrike" dirty="0">
                          <a:solidFill>
                            <a:srgbClr val="000000"/>
                          </a:solidFill>
                          <a:effectLst/>
                          <a:latin typeface="Calibri" panose="020F0502020204030204" pitchFamily="34" charset="0"/>
                        </a:rPr>
                        <a:t>1105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
                      <a:r>
                        <a:rPr lang="en-IN" sz="1100" b="0" i="0" u="none" strike="noStrike">
                          <a:solidFill>
                            <a:srgbClr val="000000"/>
                          </a:solidFill>
                          <a:effectLst/>
                          <a:latin typeface="Calibri" panose="020F0502020204030204" pitchFamily="34" charset="0"/>
                        </a:rPr>
                        <a:t>12.5%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r>
              <a:tr h="190500">
                <a:tc>
                  <a:txBody>
                    <a:bodyPr/>
                    <a:lstStyle/>
                    <a:p>
                      <a:pPr algn="ctr" fontAlgn="b"/>
                      <a:endParaRPr lang="en-IN" sz="11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endParaRPr lang="en-IN" sz="11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endParaRPr lang="en-IN" sz="1100" b="0" i="0" u="none" strike="noStrike" dirty="0">
                        <a:solidFill>
                          <a:srgbClr val="000000"/>
                        </a:solidFill>
                        <a:effectLst/>
                        <a:latin typeface="Calibri" panose="020F0502020204030204" pitchFamily="34" charset="0"/>
                      </a:endParaRP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en-IN" sz="1100" b="0" i="0" u="none" strike="noStrike" dirty="0">
                          <a:solidFill>
                            <a:srgbClr val="000000"/>
                          </a:solidFill>
                          <a:effectLst/>
                          <a:latin typeface="Calibri" panose="020F0502020204030204" pitchFamily="34" charset="0"/>
                        </a:rPr>
                        <a:t>20.8%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bl>
          </a:graphicData>
        </a:graphic>
      </p:graphicFrame>
      <p:sp>
        <p:nvSpPr>
          <p:cNvPr id="21" name="Rectangle 20"/>
          <p:cNvSpPr/>
          <p:nvPr/>
        </p:nvSpPr>
        <p:spPr>
          <a:xfrm>
            <a:off x="7521324" y="800139"/>
            <a:ext cx="3014223" cy="400110"/>
          </a:xfrm>
          <a:prstGeom prst="rect">
            <a:avLst/>
          </a:prstGeom>
          <a:solidFill>
            <a:schemeClr val="bg2"/>
          </a:solidFill>
        </p:spPr>
        <p:txBody>
          <a:bodyPr wrap="none">
            <a:spAutoFit/>
          </a:bodyPr>
          <a:lstStyle/>
          <a:p>
            <a:r>
              <a:rPr lang="en-IN" sz="2000" b="1" u="sng" dirty="0" smtClean="0">
                <a:solidFill>
                  <a:srgbClr val="002060"/>
                </a:solidFill>
              </a:rPr>
              <a:t>Cluster - “Rural Cultivator”</a:t>
            </a:r>
            <a:endParaRPr lang="en-IN" sz="2000" u="sng" dirty="0">
              <a:solidFill>
                <a:prstClr val="black"/>
              </a:solidFill>
            </a:endParaRPr>
          </a:p>
        </p:txBody>
      </p:sp>
      <p:cxnSp>
        <p:nvCxnSpPr>
          <p:cNvPr id="16" name="Straight Connector 15"/>
          <p:cNvCxnSpPr/>
          <p:nvPr/>
        </p:nvCxnSpPr>
        <p:spPr>
          <a:xfrm>
            <a:off x="5931491" y="925000"/>
            <a:ext cx="0" cy="5166707"/>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extLst/>
          </p:nvPr>
        </p:nvGraphicFramePr>
        <p:xfrm>
          <a:off x="6446241" y="4802656"/>
          <a:ext cx="2514600" cy="952500"/>
        </p:xfrm>
        <a:graphic>
          <a:graphicData uri="http://schemas.openxmlformats.org/drawingml/2006/table">
            <a:tbl>
              <a:tblPr/>
              <a:tblGrid>
                <a:gridCol w="609600"/>
                <a:gridCol w="609600"/>
                <a:gridCol w="685800"/>
                <a:gridCol w="609600"/>
              </a:tblGrid>
              <a:tr h="190500">
                <a:tc>
                  <a:txBody>
                    <a:bodyPr/>
                    <a:lstStyle/>
                    <a:p>
                      <a:pPr algn="l" fontAlgn="b"/>
                      <a:endParaRPr lang="en-IN" sz="1100" b="0" i="0" u="none" strike="noStrike" dirty="0">
                        <a:solidFill>
                          <a:srgbClr val="000000"/>
                        </a:solidFill>
                        <a:effectLst/>
                        <a:latin typeface="Calibri" panose="020F0502020204030204" pitchFamily="34" charset="0"/>
                      </a:endParaRP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Actuals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Calibri" panose="020F0502020204030204" pitchFamily="34" charset="0"/>
                        </a:rPr>
                        <a:t>Predicted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dirty="0">
                          <a:solidFill>
                            <a:srgbClr val="000000"/>
                          </a:solidFill>
                          <a:effectLst/>
                          <a:latin typeface="Calibri" panose="020F0502020204030204" pitchFamily="34" charset="0"/>
                        </a:rPr>
                        <a:t>MAPE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ctr" fontAlgn="b"/>
                      <a:r>
                        <a:rPr lang="en-IN" sz="1100" b="0" i="0" u="none" strike="noStrike" dirty="0">
                          <a:solidFill>
                            <a:srgbClr val="000000"/>
                          </a:solidFill>
                          <a:effectLst/>
                          <a:latin typeface="Calibri" panose="020F0502020204030204" pitchFamily="34" charset="0"/>
                        </a:rPr>
                        <a:t>Jan-16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IN" sz="1100" b="0" i="0" u="none" strike="noStrike" dirty="0">
                          <a:solidFill>
                            <a:srgbClr val="000000"/>
                          </a:solidFill>
                          <a:effectLst/>
                          <a:latin typeface="Calibri" panose="020F0502020204030204" pitchFamily="34" charset="0"/>
                        </a:rPr>
                        <a:t>1248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IN" sz="1100" b="0" i="0" u="none" strike="noStrike">
                          <a:solidFill>
                            <a:srgbClr val="000000"/>
                          </a:solidFill>
                          <a:effectLst/>
                          <a:latin typeface="Calibri" panose="020F0502020204030204" pitchFamily="34" charset="0"/>
                        </a:rPr>
                        <a:t>831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
                      <a:r>
                        <a:rPr lang="en-IN" sz="1100" b="0" i="0" u="none" strike="noStrike">
                          <a:solidFill>
                            <a:srgbClr val="000000"/>
                          </a:solidFill>
                          <a:effectLst/>
                          <a:latin typeface="Calibri" panose="020F0502020204030204" pitchFamily="34" charset="0"/>
                        </a:rPr>
                        <a:t>33.4%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r>
              <a:tr h="190500">
                <a:tc>
                  <a:txBody>
                    <a:bodyPr/>
                    <a:lstStyle/>
                    <a:p>
                      <a:pPr algn="ctr" fontAlgn="b"/>
                      <a:r>
                        <a:rPr lang="en-IN" sz="1100" b="0" i="0" u="none" strike="noStrike">
                          <a:solidFill>
                            <a:srgbClr val="000000"/>
                          </a:solidFill>
                          <a:effectLst/>
                          <a:latin typeface="Calibri" panose="020F0502020204030204" pitchFamily="34" charset="0"/>
                        </a:rPr>
                        <a:t>Feb-16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IN" sz="1100" b="0" i="0" u="none" strike="noStrike" dirty="0">
                          <a:solidFill>
                            <a:srgbClr val="000000"/>
                          </a:solidFill>
                          <a:effectLst/>
                          <a:latin typeface="Calibri" panose="020F0502020204030204" pitchFamily="34" charset="0"/>
                        </a:rPr>
                        <a:t>1339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IN" sz="1100" b="0" i="0" u="none" strike="noStrike" dirty="0">
                          <a:solidFill>
                            <a:srgbClr val="000000"/>
                          </a:solidFill>
                          <a:effectLst/>
                          <a:latin typeface="Calibri" panose="020F0502020204030204" pitchFamily="34" charset="0"/>
                        </a:rPr>
                        <a:t>1161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
                      <a:r>
                        <a:rPr lang="en-IN" sz="1100" b="0" i="0" u="none" strike="noStrike">
                          <a:solidFill>
                            <a:srgbClr val="000000"/>
                          </a:solidFill>
                          <a:effectLst/>
                          <a:latin typeface="Calibri" panose="020F0502020204030204" pitchFamily="34" charset="0"/>
                        </a:rPr>
                        <a:t>13.3%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r>
              <a:tr h="190500">
                <a:tc>
                  <a:txBody>
                    <a:bodyPr/>
                    <a:lstStyle/>
                    <a:p>
                      <a:pPr algn="ctr" fontAlgn="b"/>
                      <a:r>
                        <a:rPr lang="en-IN" sz="1100" b="0" i="0" u="none" strike="noStrike">
                          <a:solidFill>
                            <a:srgbClr val="000000"/>
                          </a:solidFill>
                          <a:effectLst/>
                          <a:latin typeface="Calibri" panose="020F0502020204030204" pitchFamily="34" charset="0"/>
                        </a:rPr>
                        <a:t>Mar-16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IN" sz="1100" b="0" i="0" u="none" strike="noStrike">
                          <a:solidFill>
                            <a:srgbClr val="000000"/>
                          </a:solidFill>
                          <a:effectLst/>
                          <a:latin typeface="Calibri" panose="020F0502020204030204" pitchFamily="34" charset="0"/>
                        </a:rPr>
                        <a:t>1550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IN" sz="1100" b="0" i="0" u="none" strike="noStrike" dirty="0">
                          <a:solidFill>
                            <a:srgbClr val="000000"/>
                          </a:solidFill>
                          <a:effectLst/>
                          <a:latin typeface="Calibri" panose="020F0502020204030204" pitchFamily="34" charset="0"/>
                        </a:rPr>
                        <a:t>1154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
                      <a:r>
                        <a:rPr lang="en-IN" sz="1100" b="0" i="0" u="none" strike="noStrike" dirty="0">
                          <a:solidFill>
                            <a:srgbClr val="000000"/>
                          </a:solidFill>
                          <a:effectLst/>
                          <a:latin typeface="Calibri" panose="020F0502020204030204" pitchFamily="34" charset="0"/>
                        </a:rPr>
                        <a:t>25.5%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r>
              <a:tr h="190500">
                <a:tc>
                  <a:txBody>
                    <a:bodyPr/>
                    <a:lstStyle/>
                    <a:p>
                      <a:pPr algn="ctr" fontAlgn="b"/>
                      <a:endParaRPr lang="en-IN" sz="11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endParaRPr lang="en-IN" sz="11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endParaRPr lang="en-IN" sz="1100" b="0" i="0" u="none" strike="noStrike">
                        <a:solidFill>
                          <a:srgbClr val="000000"/>
                        </a:solidFill>
                        <a:effectLst/>
                        <a:latin typeface="Calibri" panose="020F0502020204030204" pitchFamily="34" charset="0"/>
                      </a:endParaRP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en-IN" sz="1100" b="0" i="0" u="none" strike="noStrike" dirty="0">
                          <a:solidFill>
                            <a:srgbClr val="000000"/>
                          </a:solidFill>
                          <a:effectLst/>
                          <a:latin typeface="Calibri" panose="020F0502020204030204" pitchFamily="34" charset="0"/>
                        </a:rPr>
                        <a:t>24.1%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r>
            </a:tbl>
          </a:graphicData>
        </a:graphic>
      </p:graphicFrame>
      <p:sp>
        <p:nvSpPr>
          <p:cNvPr id="18" name="Rectangular Callout 17"/>
          <p:cNvSpPr/>
          <p:nvPr/>
        </p:nvSpPr>
        <p:spPr>
          <a:xfrm>
            <a:off x="4933786" y="3970152"/>
            <a:ext cx="817604" cy="1652262"/>
          </a:xfrm>
          <a:prstGeom prst="wedgeRectCallout">
            <a:avLst>
              <a:gd name="adj1" fmla="val -60891"/>
              <a:gd name="adj2" fmla="val -20322"/>
            </a:avLst>
          </a:prstGeom>
          <a:solidFill>
            <a:schemeClr val="accent6">
              <a:lumMod val="20000"/>
              <a:lumOff val="80000"/>
            </a:schemeClr>
          </a:solidFill>
          <a:ln>
            <a:solidFill>
              <a:schemeClr val="bg1"/>
            </a:solidFill>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pPr algn="ctr"/>
            <a:r>
              <a:rPr lang="en-IN" sz="1000" dirty="0" smtClean="0">
                <a:solidFill>
                  <a:schemeClr val="tx1"/>
                </a:solidFill>
              </a:rPr>
              <a:t>The predicted values move in the </a:t>
            </a:r>
            <a:r>
              <a:rPr lang="en-IN" sz="1000" b="1" dirty="0" smtClean="0">
                <a:solidFill>
                  <a:schemeClr val="tx1"/>
                </a:solidFill>
              </a:rPr>
              <a:t>same direction </a:t>
            </a:r>
            <a:r>
              <a:rPr lang="en-IN" sz="1000" dirty="0" smtClean="0">
                <a:solidFill>
                  <a:schemeClr val="tx1"/>
                </a:solidFill>
              </a:rPr>
              <a:t>as the actual values</a:t>
            </a:r>
            <a:endParaRPr lang="en-IN" sz="1000" b="1" dirty="0">
              <a:solidFill>
                <a:schemeClr val="tx1"/>
              </a:solidFill>
            </a:endParaRPr>
          </a:p>
        </p:txBody>
      </p:sp>
      <p:sp>
        <p:nvSpPr>
          <p:cNvPr id="5" name="Slide Number Placeholder 4"/>
          <p:cNvSpPr>
            <a:spLocks noGrp="1"/>
          </p:cNvSpPr>
          <p:nvPr>
            <p:ph type="sldNum" sz="quarter" idx="12"/>
          </p:nvPr>
        </p:nvSpPr>
        <p:spPr/>
        <p:txBody>
          <a:bodyPr/>
          <a:lstStyle/>
          <a:p>
            <a:fld id="{3040F425-731D-4835-A38A-9545B9CAE996}" type="slidenum">
              <a:rPr lang="en-IN" smtClean="0"/>
              <a:t>18</a:t>
            </a:fld>
            <a:endParaRPr lang="en-IN" dirty="0"/>
          </a:p>
        </p:txBody>
      </p:sp>
      <p:graphicFrame>
        <p:nvGraphicFramePr>
          <p:cNvPr id="25" name="Chart 24"/>
          <p:cNvGraphicFramePr/>
          <p:nvPr>
            <p:extLst>
              <p:ext uri="{D42A27DB-BD31-4B8C-83A1-F6EECF244321}">
                <p14:modId xmlns:p14="http://schemas.microsoft.com/office/powerpoint/2010/main" val="3103790701"/>
              </p:ext>
            </p:extLst>
          </p:nvPr>
        </p:nvGraphicFramePr>
        <p:xfrm>
          <a:off x="150231" y="3446172"/>
          <a:ext cx="4603454" cy="274205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8" name="Chart 27"/>
          <p:cNvGraphicFramePr/>
          <p:nvPr>
            <p:extLst/>
          </p:nvPr>
        </p:nvGraphicFramePr>
        <p:xfrm>
          <a:off x="6185203" y="3459746"/>
          <a:ext cx="4603454" cy="2742058"/>
        </p:xfrm>
        <a:graphic>
          <a:graphicData uri="http://schemas.openxmlformats.org/drawingml/2006/chart">
            <c:chart xmlns:c="http://schemas.openxmlformats.org/drawingml/2006/chart" xmlns:r="http://schemas.openxmlformats.org/officeDocument/2006/relationships" r:id="rId4"/>
          </a:graphicData>
        </a:graphic>
      </p:graphicFrame>
      <p:sp>
        <p:nvSpPr>
          <p:cNvPr id="22" name="Rectangular Callout 21"/>
          <p:cNvSpPr/>
          <p:nvPr/>
        </p:nvSpPr>
        <p:spPr>
          <a:xfrm>
            <a:off x="10996627" y="3952116"/>
            <a:ext cx="817604" cy="1652262"/>
          </a:xfrm>
          <a:prstGeom prst="wedgeRectCallout">
            <a:avLst>
              <a:gd name="adj1" fmla="val -60891"/>
              <a:gd name="adj2" fmla="val -20322"/>
            </a:avLst>
          </a:prstGeom>
          <a:solidFill>
            <a:schemeClr val="accent6">
              <a:lumMod val="20000"/>
              <a:lumOff val="80000"/>
            </a:schemeClr>
          </a:solidFill>
          <a:ln>
            <a:solidFill>
              <a:schemeClr val="bg1"/>
            </a:solidFill>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pPr algn="ctr"/>
            <a:r>
              <a:rPr lang="en-IN" sz="1000" dirty="0" smtClean="0">
                <a:solidFill>
                  <a:schemeClr val="tx1"/>
                </a:solidFill>
              </a:rPr>
              <a:t>The predicted values move in the </a:t>
            </a:r>
            <a:r>
              <a:rPr lang="en-IN" sz="1000" b="1" dirty="0" smtClean="0">
                <a:solidFill>
                  <a:schemeClr val="tx1"/>
                </a:solidFill>
              </a:rPr>
              <a:t>same direction </a:t>
            </a:r>
            <a:r>
              <a:rPr lang="en-IN" sz="1000" dirty="0" smtClean="0">
                <a:solidFill>
                  <a:schemeClr val="tx1"/>
                </a:solidFill>
              </a:rPr>
              <a:t>as the actual values</a:t>
            </a:r>
            <a:endParaRPr lang="en-IN" sz="1000" b="1" dirty="0">
              <a:solidFill>
                <a:schemeClr val="tx1"/>
              </a:solidFill>
            </a:endParaRPr>
          </a:p>
        </p:txBody>
      </p:sp>
    </p:spTree>
    <p:extLst>
      <p:ext uri="{BB962C8B-B14F-4D97-AF65-F5344CB8AC3E}">
        <p14:creationId xmlns:p14="http://schemas.microsoft.com/office/powerpoint/2010/main" val="18264307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237066"/>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5208882" y="291779"/>
              <a:ext cx="1774332" cy="523220"/>
            </a:xfrm>
            <a:prstGeom prst="rect">
              <a:avLst/>
            </a:prstGeom>
            <a:solidFill>
              <a:schemeClr val="bg1"/>
            </a:solidFill>
          </p:spPr>
          <p:txBody>
            <a:bodyPr wrap="none" anchor="ctr">
              <a:spAutoFit/>
            </a:bodyPr>
            <a:lstStyle/>
            <a:p>
              <a:pPr algn="ctr"/>
              <a:r>
                <a:rPr lang="en-IN" sz="2800" b="1" dirty="0">
                  <a:solidFill>
                    <a:srgbClr val="0070C0"/>
                  </a:solidFill>
                  <a:latin typeface="Calibri" charset="0"/>
                  <a:ea typeface="Calibri" charset="0"/>
                  <a:cs typeface="Calibri" charset="0"/>
                </a:rPr>
                <a:t>Next Steps</a:t>
              </a:r>
            </a:p>
          </p:txBody>
        </p:sp>
      </p:grpSp>
      <p:sp>
        <p:nvSpPr>
          <p:cNvPr id="8" name="TextBox 7"/>
          <p:cNvSpPr txBox="1"/>
          <p:nvPr/>
        </p:nvSpPr>
        <p:spPr>
          <a:xfrm>
            <a:off x="579928" y="1036134"/>
            <a:ext cx="10728102" cy="1477328"/>
          </a:xfrm>
          <a:prstGeom prst="rect">
            <a:avLst/>
          </a:prstGeom>
          <a:noFill/>
        </p:spPr>
        <p:txBody>
          <a:bodyPr wrap="square" rtlCol="0">
            <a:spAutoFit/>
          </a:bodyPr>
          <a:lstStyle/>
          <a:p>
            <a:endParaRPr lang="en-IN" b="1" dirty="0"/>
          </a:p>
          <a:p>
            <a:pPr marL="742950" lvl="1" indent="-285750">
              <a:buFont typeface="Wingdings" panose="05000000000000000000" pitchFamily="2" charset="2"/>
              <a:buChar char="Ø"/>
            </a:pPr>
            <a:r>
              <a:rPr lang="en-IN" dirty="0" smtClean="0"/>
              <a:t>Refine and fine-tune forecasting results  </a:t>
            </a:r>
          </a:p>
          <a:p>
            <a:pPr marL="742950" lvl="1" indent="-285750">
              <a:buFont typeface="Wingdings" panose="05000000000000000000" pitchFamily="2" charset="2"/>
              <a:buChar char="Ø"/>
            </a:pPr>
            <a:endParaRPr lang="en-IN" dirty="0"/>
          </a:p>
          <a:p>
            <a:pPr marL="742950" lvl="1" indent="-285750">
              <a:buFont typeface="Wingdings" panose="05000000000000000000" pitchFamily="2" charset="2"/>
              <a:buChar char="Ø"/>
            </a:pPr>
            <a:r>
              <a:rPr lang="en-IN" dirty="0" smtClean="0"/>
              <a:t>Evaluate incorporating other independent data sources for forecasting</a:t>
            </a:r>
          </a:p>
          <a:p>
            <a:pPr lvl="1"/>
            <a:endParaRPr lang="en-IN" dirty="0" smtClean="0"/>
          </a:p>
        </p:txBody>
      </p:sp>
      <p:sp>
        <p:nvSpPr>
          <p:cNvPr id="2" name="Footer Placeholder 1"/>
          <p:cNvSpPr>
            <a:spLocks noGrp="1"/>
          </p:cNvSpPr>
          <p:nvPr>
            <p:ph type="ftr" sz="quarter" idx="11"/>
          </p:nvPr>
        </p:nvSpPr>
        <p:spPr/>
        <p:txBody>
          <a:bodyPr/>
          <a:lstStyle/>
          <a:p>
            <a:r>
              <a:rPr lang="en-IN" smtClean="0"/>
              <a:t>Version 1                                                                                            Confidential</a:t>
            </a:r>
            <a:endParaRPr lang="en-IN" dirty="0"/>
          </a:p>
        </p:txBody>
      </p:sp>
      <p:sp>
        <p:nvSpPr>
          <p:cNvPr id="3" name="Slide Number Placeholder 2"/>
          <p:cNvSpPr>
            <a:spLocks noGrp="1"/>
          </p:cNvSpPr>
          <p:nvPr>
            <p:ph type="sldNum" sz="quarter" idx="12"/>
          </p:nvPr>
        </p:nvSpPr>
        <p:spPr/>
        <p:txBody>
          <a:bodyPr/>
          <a:lstStyle/>
          <a:p>
            <a:fld id="{3040F425-731D-4835-A38A-9545B9CAE996}" type="slidenum">
              <a:rPr lang="en-IN" smtClean="0"/>
              <a:t>19</a:t>
            </a:fld>
            <a:endParaRPr lang="en-IN" dirty="0"/>
          </a:p>
        </p:txBody>
      </p:sp>
    </p:spTree>
    <p:extLst>
      <p:ext uri="{BB962C8B-B14F-4D97-AF65-F5344CB8AC3E}">
        <p14:creationId xmlns:p14="http://schemas.microsoft.com/office/powerpoint/2010/main" val="311909347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0" y="0"/>
            <a:ext cx="12192000" cy="6858000"/>
          </a:xfrm>
          <a:prstGeom prst="rect">
            <a:avLst/>
          </a:prstGeom>
        </p:spPr>
      </p:pic>
      <p:grpSp>
        <p:nvGrpSpPr>
          <p:cNvPr id="6" name="Group 5"/>
          <p:cNvGrpSpPr/>
          <p:nvPr/>
        </p:nvGrpSpPr>
        <p:grpSpPr>
          <a:xfrm>
            <a:off x="0" y="5341203"/>
            <a:ext cx="12192001" cy="830997"/>
            <a:chOff x="0" y="2598003"/>
            <a:chExt cx="12192001" cy="830997"/>
          </a:xfrm>
        </p:grpSpPr>
        <p:sp>
          <p:nvSpPr>
            <p:cNvPr id="8" name="Rectangle 7"/>
            <p:cNvSpPr/>
            <p:nvPr/>
          </p:nvSpPr>
          <p:spPr>
            <a:xfrm>
              <a:off x="4496459" y="2598003"/>
              <a:ext cx="3199082" cy="830997"/>
            </a:xfrm>
            <a:prstGeom prst="rect">
              <a:avLst/>
            </a:prstGeom>
          </p:spPr>
          <p:txBody>
            <a:bodyPr wrap="none">
              <a:spAutoFit/>
            </a:bodyPr>
            <a:lstStyle/>
            <a:p>
              <a:pPr algn="ctr"/>
              <a:r>
                <a:rPr lang="en-US" sz="4800" b="1" dirty="0" smtClean="0">
                  <a:solidFill>
                    <a:schemeClr val="bg1"/>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rPr>
                <a:t>Thank You</a:t>
              </a:r>
              <a:endParaRPr lang="en-US" sz="4800" b="1" dirty="0">
                <a:solidFill>
                  <a:schemeClr val="bg1"/>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endParaRPr>
            </a:p>
          </p:txBody>
        </p:sp>
        <p:cxnSp>
          <p:nvCxnSpPr>
            <p:cNvPr id="9" name="Straight Connector 8"/>
            <p:cNvCxnSpPr/>
            <p:nvPr/>
          </p:nvCxnSpPr>
          <p:spPr>
            <a:xfrm>
              <a:off x="7802880" y="3014443"/>
              <a:ext cx="438912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3014443"/>
              <a:ext cx="438912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Footer Placeholder 1"/>
          <p:cNvSpPr>
            <a:spLocks noGrp="1"/>
          </p:cNvSpPr>
          <p:nvPr>
            <p:ph type="ftr" sz="quarter" idx="11"/>
          </p:nvPr>
        </p:nvSpPr>
        <p:spPr/>
        <p:txBody>
          <a:bodyPr/>
          <a:lstStyle/>
          <a:p>
            <a:r>
              <a:rPr lang="en-IN" smtClean="0"/>
              <a:t>Version 1                                                                                            Confidential</a:t>
            </a:r>
            <a:endParaRPr lang="en-IN" dirty="0"/>
          </a:p>
        </p:txBody>
      </p:sp>
      <p:sp>
        <p:nvSpPr>
          <p:cNvPr id="3" name="Slide Number Placeholder 2"/>
          <p:cNvSpPr>
            <a:spLocks noGrp="1"/>
          </p:cNvSpPr>
          <p:nvPr>
            <p:ph type="sldNum" sz="quarter" idx="12"/>
          </p:nvPr>
        </p:nvSpPr>
        <p:spPr/>
        <p:txBody>
          <a:bodyPr/>
          <a:lstStyle/>
          <a:p>
            <a:fld id="{3040F425-731D-4835-A38A-9545B9CAE996}" type="slidenum">
              <a:rPr lang="en-IN" smtClean="0"/>
              <a:t>20</a:t>
            </a:fld>
            <a:endParaRPr lang="en-IN" dirty="0"/>
          </a:p>
        </p:txBody>
      </p:sp>
    </p:spTree>
    <p:extLst>
      <p:ext uri="{BB962C8B-B14F-4D97-AF65-F5344CB8AC3E}">
        <p14:creationId xmlns:p14="http://schemas.microsoft.com/office/powerpoint/2010/main" val="194622757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237066"/>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4492338" y="291779"/>
              <a:ext cx="3207417"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Cluster Properties</a:t>
              </a:r>
            </a:p>
          </p:txBody>
        </p:sp>
      </p:grpSp>
      <p:sp>
        <p:nvSpPr>
          <p:cNvPr id="56" name="TextBox 55"/>
          <p:cNvSpPr txBox="1"/>
          <p:nvPr/>
        </p:nvSpPr>
        <p:spPr>
          <a:xfrm>
            <a:off x="332295" y="720304"/>
            <a:ext cx="11616913" cy="369332"/>
          </a:xfrm>
          <a:prstGeom prst="rect">
            <a:avLst/>
          </a:prstGeom>
          <a:noFill/>
        </p:spPr>
        <p:txBody>
          <a:bodyPr wrap="square" rtlCol="0">
            <a:spAutoFit/>
          </a:bodyPr>
          <a:lstStyle/>
          <a:p>
            <a:pPr algn="ctr"/>
            <a:r>
              <a:rPr lang="en-IN" dirty="0" smtClean="0">
                <a:solidFill>
                  <a:schemeClr val="tx2">
                    <a:lumMod val="60000"/>
                    <a:lumOff val="40000"/>
                  </a:schemeClr>
                </a:solidFill>
              </a:rPr>
              <a:t>These clusters are clearly distinguished by inherent properties apart from activity and cultivator population</a:t>
            </a:r>
            <a:endParaRPr lang="en-IN" dirty="0">
              <a:solidFill>
                <a:schemeClr val="tx2">
                  <a:lumMod val="60000"/>
                  <a:lumOff val="40000"/>
                </a:schemeClr>
              </a:solidFill>
            </a:endParaRPr>
          </a:p>
        </p:txBody>
      </p:sp>
      <p:graphicFrame>
        <p:nvGraphicFramePr>
          <p:cNvPr id="7" name="Chart 6"/>
          <p:cNvGraphicFramePr/>
          <p:nvPr>
            <p:extLst>
              <p:ext uri="{D42A27DB-BD31-4B8C-83A1-F6EECF244321}">
                <p14:modId xmlns:p14="http://schemas.microsoft.com/office/powerpoint/2010/main" val="1061473263"/>
              </p:ext>
            </p:extLst>
          </p:nvPr>
        </p:nvGraphicFramePr>
        <p:xfrm>
          <a:off x="332295" y="1455312"/>
          <a:ext cx="11616913" cy="3966694"/>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p:cNvSpPr txBox="1"/>
          <p:nvPr/>
        </p:nvSpPr>
        <p:spPr>
          <a:xfrm>
            <a:off x="10001954" y="1522597"/>
            <a:ext cx="1635617" cy="461665"/>
          </a:xfrm>
          <a:prstGeom prst="rect">
            <a:avLst/>
          </a:prstGeom>
          <a:noFill/>
        </p:spPr>
        <p:txBody>
          <a:bodyPr wrap="square" rtlCol="0">
            <a:spAutoFit/>
          </a:bodyPr>
          <a:lstStyle/>
          <a:p>
            <a:r>
              <a:rPr lang="en-IN" sz="800" dirty="0" smtClean="0"/>
              <a:t>Dimension estimates in graph are directional, kindly refer excel sheet for exact details</a:t>
            </a:r>
            <a:endParaRPr lang="en-IN" sz="800" dirty="0"/>
          </a:p>
        </p:txBody>
      </p:sp>
      <p:sp>
        <p:nvSpPr>
          <p:cNvPr id="3" name="Footer Placeholder 2"/>
          <p:cNvSpPr>
            <a:spLocks noGrp="1"/>
          </p:cNvSpPr>
          <p:nvPr>
            <p:ph type="ftr" sz="quarter" idx="11"/>
          </p:nvPr>
        </p:nvSpPr>
        <p:spPr/>
        <p:txBody>
          <a:bodyPr/>
          <a:lstStyle/>
          <a:p>
            <a:r>
              <a:rPr lang="en-IN" smtClean="0"/>
              <a:t>Version 1                                                                                            Confidential</a:t>
            </a:r>
            <a:endParaRPr lang="en-IN" dirty="0"/>
          </a:p>
        </p:txBody>
      </p:sp>
      <p:sp>
        <p:nvSpPr>
          <p:cNvPr id="27" name="TextBox 26"/>
          <p:cNvSpPr txBox="1"/>
          <p:nvPr/>
        </p:nvSpPr>
        <p:spPr>
          <a:xfrm>
            <a:off x="1056068" y="4759209"/>
            <a:ext cx="482957" cy="246221"/>
          </a:xfrm>
          <a:prstGeom prst="rect">
            <a:avLst/>
          </a:prstGeom>
          <a:noFill/>
        </p:spPr>
        <p:txBody>
          <a:bodyPr wrap="square" rtlCol="0">
            <a:spAutoFit/>
          </a:bodyPr>
          <a:lstStyle/>
          <a:p>
            <a:r>
              <a:rPr lang="en-IN" sz="1000" dirty="0" smtClean="0"/>
              <a:t>157</a:t>
            </a:r>
            <a:endParaRPr lang="en-IN" sz="1000" dirty="0"/>
          </a:p>
        </p:txBody>
      </p:sp>
      <p:sp>
        <p:nvSpPr>
          <p:cNvPr id="28" name="TextBox 27"/>
          <p:cNvSpPr txBox="1"/>
          <p:nvPr/>
        </p:nvSpPr>
        <p:spPr>
          <a:xfrm>
            <a:off x="2780691" y="4729965"/>
            <a:ext cx="321971" cy="246221"/>
          </a:xfrm>
          <a:prstGeom prst="rect">
            <a:avLst/>
          </a:prstGeom>
          <a:noFill/>
        </p:spPr>
        <p:txBody>
          <a:bodyPr wrap="square" rtlCol="0">
            <a:spAutoFit/>
          </a:bodyPr>
          <a:lstStyle/>
          <a:p>
            <a:r>
              <a:rPr lang="en-IN" sz="1000" dirty="0" smtClean="0"/>
              <a:t>62</a:t>
            </a:r>
            <a:endParaRPr lang="en-IN" sz="1000" dirty="0"/>
          </a:p>
        </p:txBody>
      </p:sp>
      <p:sp>
        <p:nvSpPr>
          <p:cNvPr id="29" name="TextBox 28"/>
          <p:cNvSpPr txBox="1"/>
          <p:nvPr/>
        </p:nvSpPr>
        <p:spPr>
          <a:xfrm>
            <a:off x="4776713" y="4729964"/>
            <a:ext cx="321971" cy="246221"/>
          </a:xfrm>
          <a:prstGeom prst="rect">
            <a:avLst/>
          </a:prstGeom>
          <a:noFill/>
        </p:spPr>
        <p:txBody>
          <a:bodyPr wrap="square" rtlCol="0">
            <a:spAutoFit/>
          </a:bodyPr>
          <a:lstStyle/>
          <a:p>
            <a:r>
              <a:rPr lang="en-IN" sz="1000" dirty="0" smtClean="0"/>
              <a:t>49</a:t>
            </a:r>
            <a:endParaRPr lang="en-IN" sz="1000" dirty="0"/>
          </a:p>
        </p:txBody>
      </p:sp>
      <p:sp>
        <p:nvSpPr>
          <p:cNvPr id="30" name="TextBox 29"/>
          <p:cNvSpPr txBox="1"/>
          <p:nvPr/>
        </p:nvSpPr>
        <p:spPr>
          <a:xfrm>
            <a:off x="6767640" y="4755222"/>
            <a:ext cx="321971" cy="246221"/>
          </a:xfrm>
          <a:prstGeom prst="rect">
            <a:avLst/>
          </a:prstGeom>
          <a:noFill/>
        </p:spPr>
        <p:txBody>
          <a:bodyPr wrap="square" rtlCol="0">
            <a:spAutoFit/>
          </a:bodyPr>
          <a:lstStyle/>
          <a:p>
            <a:r>
              <a:rPr lang="en-IN" sz="1000" dirty="0" smtClean="0"/>
              <a:t>35</a:t>
            </a:r>
            <a:endParaRPr lang="en-IN" sz="1000" dirty="0"/>
          </a:p>
        </p:txBody>
      </p:sp>
      <p:sp>
        <p:nvSpPr>
          <p:cNvPr id="31" name="TextBox 30"/>
          <p:cNvSpPr txBox="1"/>
          <p:nvPr/>
        </p:nvSpPr>
        <p:spPr>
          <a:xfrm>
            <a:off x="8658345" y="4755222"/>
            <a:ext cx="321971" cy="246221"/>
          </a:xfrm>
          <a:prstGeom prst="rect">
            <a:avLst/>
          </a:prstGeom>
          <a:noFill/>
        </p:spPr>
        <p:txBody>
          <a:bodyPr wrap="square" rtlCol="0">
            <a:spAutoFit/>
          </a:bodyPr>
          <a:lstStyle/>
          <a:p>
            <a:r>
              <a:rPr lang="en-IN" sz="1000" dirty="0" smtClean="0"/>
              <a:t>47</a:t>
            </a:r>
            <a:endParaRPr lang="en-IN" sz="1000" dirty="0"/>
          </a:p>
        </p:txBody>
      </p:sp>
      <p:sp>
        <p:nvSpPr>
          <p:cNvPr id="32" name="TextBox 31"/>
          <p:cNvSpPr txBox="1"/>
          <p:nvPr/>
        </p:nvSpPr>
        <p:spPr>
          <a:xfrm>
            <a:off x="939683" y="5063824"/>
            <a:ext cx="804201" cy="246221"/>
          </a:xfrm>
          <a:prstGeom prst="rect">
            <a:avLst/>
          </a:prstGeom>
          <a:noFill/>
        </p:spPr>
        <p:txBody>
          <a:bodyPr wrap="square" rtlCol="0">
            <a:spAutoFit/>
          </a:bodyPr>
          <a:lstStyle/>
          <a:p>
            <a:r>
              <a:rPr lang="en-IN" sz="1000" dirty="0" smtClean="0"/>
              <a:t># Districts</a:t>
            </a:r>
            <a:endParaRPr lang="en-IN" sz="1000" dirty="0"/>
          </a:p>
        </p:txBody>
      </p:sp>
      <p:sp>
        <p:nvSpPr>
          <p:cNvPr id="33" name="Rectangle 32"/>
          <p:cNvSpPr/>
          <p:nvPr/>
        </p:nvSpPr>
        <p:spPr>
          <a:xfrm>
            <a:off x="8110992" y="5477853"/>
            <a:ext cx="1094705" cy="413484"/>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solidFill>
                  <a:schemeClr val="tx1"/>
                </a:solidFill>
              </a:rPr>
              <a:t>High Activity and Rainfall</a:t>
            </a:r>
            <a:endParaRPr lang="en-US" sz="1200" dirty="0">
              <a:solidFill>
                <a:schemeClr val="tx1"/>
              </a:solidFill>
            </a:endParaRPr>
          </a:p>
        </p:txBody>
      </p:sp>
      <p:sp>
        <p:nvSpPr>
          <p:cNvPr id="34" name="Rectangle 33"/>
          <p:cNvSpPr/>
          <p:nvPr/>
        </p:nvSpPr>
        <p:spPr>
          <a:xfrm>
            <a:off x="6152011" y="5294404"/>
            <a:ext cx="1553227" cy="881549"/>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solidFill>
                  <a:schemeClr val="tx1"/>
                </a:solidFill>
              </a:rPr>
              <a:t>Mid Activity, High Rural cultivator and agricultural labor volume</a:t>
            </a:r>
            <a:endParaRPr lang="en-US" sz="1200" dirty="0">
              <a:solidFill>
                <a:schemeClr val="tx1"/>
              </a:solidFill>
            </a:endParaRPr>
          </a:p>
        </p:txBody>
      </p:sp>
      <p:sp>
        <p:nvSpPr>
          <p:cNvPr id="35" name="Rectangle 34"/>
          <p:cNvSpPr/>
          <p:nvPr/>
        </p:nvSpPr>
        <p:spPr>
          <a:xfrm>
            <a:off x="4238772" y="5353447"/>
            <a:ext cx="1397851" cy="662296"/>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solidFill>
                  <a:schemeClr val="tx1"/>
                </a:solidFill>
              </a:rPr>
              <a:t>Moderate Activity, rainfall and irrigation</a:t>
            </a:r>
            <a:endParaRPr lang="en-US" sz="1200" dirty="0">
              <a:solidFill>
                <a:schemeClr val="tx1"/>
              </a:solidFill>
            </a:endParaRPr>
          </a:p>
        </p:txBody>
      </p:sp>
      <p:sp>
        <p:nvSpPr>
          <p:cNvPr id="36" name="Rectangle 35"/>
          <p:cNvSpPr/>
          <p:nvPr/>
        </p:nvSpPr>
        <p:spPr>
          <a:xfrm>
            <a:off x="2613055" y="5371303"/>
            <a:ext cx="1258197" cy="581749"/>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solidFill>
                  <a:schemeClr val="tx1"/>
                </a:solidFill>
              </a:rPr>
              <a:t>Low Rainfall, Limited Food grains cultivation</a:t>
            </a:r>
            <a:endParaRPr lang="en-US" sz="1200" dirty="0">
              <a:solidFill>
                <a:schemeClr val="tx1"/>
              </a:solidFill>
            </a:endParaRPr>
          </a:p>
        </p:txBody>
      </p:sp>
      <p:sp>
        <p:nvSpPr>
          <p:cNvPr id="37" name="Rectangle 36"/>
          <p:cNvSpPr/>
          <p:nvPr/>
        </p:nvSpPr>
        <p:spPr>
          <a:xfrm>
            <a:off x="833316" y="5364278"/>
            <a:ext cx="1094705" cy="615904"/>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solidFill>
                  <a:schemeClr val="tx1"/>
                </a:solidFill>
              </a:rPr>
              <a:t>Low Activity</a:t>
            </a:r>
          </a:p>
          <a:p>
            <a:pPr algn="ctr"/>
            <a:r>
              <a:rPr lang="en-US" sz="1200" dirty="0" smtClean="0">
                <a:solidFill>
                  <a:schemeClr val="tx1"/>
                </a:solidFill>
              </a:rPr>
              <a:t>Well cropped and irrigated</a:t>
            </a:r>
            <a:endParaRPr lang="en-US" sz="1200" dirty="0">
              <a:solidFill>
                <a:schemeClr val="tx1"/>
              </a:solidFill>
            </a:endParaRPr>
          </a:p>
        </p:txBody>
      </p:sp>
      <p:sp>
        <p:nvSpPr>
          <p:cNvPr id="5" name="Slide Number Placeholder 4"/>
          <p:cNvSpPr>
            <a:spLocks noGrp="1"/>
          </p:cNvSpPr>
          <p:nvPr>
            <p:ph type="sldNum" sz="quarter" idx="12"/>
          </p:nvPr>
        </p:nvSpPr>
        <p:spPr/>
        <p:txBody>
          <a:bodyPr/>
          <a:lstStyle/>
          <a:p>
            <a:fld id="{3040F425-731D-4835-A38A-9545B9CAE996}" type="slidenum">
              <a:rPr lang="en-IN" smtClean="0"/>
              <a:t>21</a:t>
            </a:fld>
            <a:endParaRPr lang="en-IN" dirty="0"/>
          </a:p>
        </p:txBody>
      </p:sp>
    </p:spTree>
    <p:extLst>
      <p:ext uri="{BB962C8B-B14F-4D97-AF65-F5344CB8AC3E}">
        <p14:creationId xmlns:p14="http://schemas.microsoft.com/office/powerpoint/2010/main" val="245615363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Chart 32"/>
          <p:cNvGraphicFramePr/>
          <p:nvPr>
            <p:extLst>
              <p:ext uri="{D42A27DB-BD31-4B8C-83A1-F6EECF244321}">
                <p14:modId xmlns:p14="http://schemas.microsoft.com/office/powerpoint/2010/main" val="3042381955"/>
              </p:ext>
            </p:extLst>
          </p:nvPr>
        </p:nvGraphicFramePr>
        <p:xfrm>
          <a:off x="332295" y="1455312"/>
          <a:ext cx="11616913" cy="3966694"/>
        </p:xfrm>
        <a:graphic>
          <a:graphicData uri="http://schemas.openxmlformats.org/drawingml/2006/chart">
            <c:chart xmlns:c="http://schemas.openxmlformats.org/drawingml/2006/chart" xmlns:r="http://schemas.openxmlformats.org/officeDocument/2006/relationships" r:id="rId2"/>
          </a:graphicData>
        </a:graphic>
      </p:graphicFrame>
      <p:pic>
        <p:nvPicPr>
          <p:cNvPr id="4" name="Picture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237066"/>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4585671" y="291779"/>
              <a:ext cx="3020763"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Composite Score</a:t>
              </a:r>
            </a:p>
          </p:txBody>
        </p:sp>
      </p:grpSp>
      <p:sp>
        <p:nvSpPr>
          <p:cNvPr id="56" name="TextBox 55"/>
          <p:cNvSpPr txBox="1"/>
          <p:nvPr/>
        </p:nvSpPr>
        <p:spPr>
          <a:xfrm>
            <a:off x="332295" y="720304"/>
            <a:ext cx="11616913" cy="369332"/>
          </a:xfrm>
          <a:prstGeom prst="rect">
            <a:avLst/>
          </a:prstGeom>
          <a:noFill/>
        </p:spPr>
        <p:txBody>
          <a:bodyPr wrap="square" rtlCol="0">
            <a:spAutoFit/>
          </a:bodyPr>
          <a:lstStyle/>
          <a:p>
            <a:pPr algn="ctr"/>
            <a:r>
              <a:rPr lang="en-IN" dirty="0" smtClean="0">
                <a:solidFill>
                  <a:schemeClr val="tx2">
                    <a:lumMod val="60000"/>
                    <a:lumOff val="40000"/>
                  </a:schemeClr>
                </a:solidFill>
              </a:rPr>
              <a:t>Cluster properties were leveraged together with the total sales in each district to arrive at a district level composite score </a:t>
            </a:r>
            <a:endParaRPr lang="en-IN" dirty="0">
              <a:solidFill>
                <a:schemeClr val="tx2">
                  <a:lumMod val="60000"/>
                  <a:lumOff val="40000"/>
                </a:schemeClr>
              </a:solidFill>
            </a:endParaRPr>
          </a:p>
        </p:txBody>
      </p:sp>
      <p:sp>
        <p:nvSpPr>
          <p:cNvPr id="2" name="TextBox 1"/>
          <p:cNvSpPr txBox="1"/>
          <p:nvPr/>
        </p:nvSpPr>
        <p:spPr>
          <a:xfrm>
            <a:off x="10001954" y="1522597"/>
            <a:ext cx="1635617" cy="461665"/>
          </a:xfrm>
          <a:prstGeom prst="rect">
            <a:avLst/>
          </a:prstGeom>
          <a:noFill/>
        </p:spPr>
        <p:txBody>
          <a:bodyPr wrap="square" rtlCol="0">
            <a:spAutoFit/>
          </a:bodyPr>
          <a:lstStyle/>
          <a:p>
            <a:r>
              <a:rPr lang="en-IN" sz="800" dirty="0" smtClean="0"/>
              <a:t>Dimension estimates in graph are directional, kindly refer excel sheet for exact details</a:t>
            </a:r>
            <a:endParaRPr lang="en-IN" sz="800" dirty="0"/>
          </a:p>
        </p:txBody>
      </p:sp>
      <p:sp>
        <p:nvSpPr>
          <p:cNvPr id="34" name="TextBox 33"/>
          <p:cNvSpPr txBox="1"/>
          <p:nvPr/>
        </p:nvSpPr>
        <p:spPr>
          <a:xfrm>
            <a:off x="1056068" y="4759209"/>
            <a:ext cx="482957" cy="246221"/>
          </a:xfrm>
          <a:prstGeom prst="rect">
            <a:avLst/>
          </a:prstGeom>
          <a:noFill/>
        </p:spPr>
        <p:txBody>
          <a:bodyPr wrap="square" rtlCol="0">
            <a:spAutoFit/>
          </a:bodyPr>
          <a:lstStyle/>
          <a:p>
            <a:r>
              <a:rPr lang="en-IN" sz="1000" dirty="0" smtClean="0"/>
              <a:t>157</a:t>
            </a:r>
            <a:endParaRPr lang="en-IN" sz="1000" dirty="0"/>
          </a:p>
        </p:txBody>
      </p:sp>
      <p:sp>
        <p:nvSpPr>
          <p:cNvPr id="35" name="TextBox 34"/>
          <p:cNvSpPr txBox="1"/>
          <p:nvPr/>
        </p:nvSpPr>
        <p:spPr>
          <a:xfrm>
            <a:off x="2780691" y="4729965"/>
            <a:ext cx="321971" cy="246221"/>
          </a:xfrm>
          <a:prstGeom prst="rect">
            <a:avLst/>
          </a:prstGeom>
          <a:noFill/>
        </p:spPr>
        <p:txBody>
          <a:bodyPr wrap="square" rtlCol="0">
            <a:spAutoFit/>
          </a:bodyPr>
          <a:lstStyle/>
          <a:p>
            <a:r>
              <a:rPr lang="en-IN" sz="1000" dirty="0" smtClean="0"/>
              <a:t>62</a:t>
            </a:r>
            <a:endParaRPr lang="en-IN" sz="1000" dirty="0"/>
          </a:p>
        </p:txBody>
      </p:sp>
      <p:sp>
        <p:nvSpPr>
          <p:cNvPr id="36" name="TextBox 35"/>
          <p:cNvSpPr txBox="1"/>
          <p:nvPr/>
        </p:nvSpPr>
        <p:spPr>
          <a:xfrm>
            <a:off x="4776713" y="4729964"/>
            <a:ext cx="321971" cy="246221"/>
          </a:xfrm>
          <a:prstGeom prst="rect">
            <a:avLst/>
          </a:prstGeom>
          <a:noFill/>
        </p:spPr>
        <p:txBody>
          <a:bodyPr wrap="square" rtlCol="0">
            <a:spAutoFit/>
          </a:bodyPr>
          <a:lstStyle/>
          <a:p>
            <a:r>
              <a:rPr lang="en-IN" sz="1000" dirty="0" smtClean="0"/>
              <a:t>49</a:t>
            </a:r>
            <a:endParaRPr lang="en-IN" sz="1000" dirty="0"/>
          </a:p>
        </p:txBody>
      </p:sp>
      <p:sp>
        <p:nvSpPr>
          <p:cNvPr id="37" name="TextBox 36"/>
          <p:cNvSpPr txBox="1"/>
          <p:nvPr/>
        </p:nvSpPr>
        <p:spPr>
          <a:xfrm>
            <a:off x="6767640" y="4755222"/>
            <a:ext cx="321971" cy="246221"/>
          </a:xfrm>
          <a:prstGeom prst="rect">
            <a:avLst/>
          </a:prstGeom>
          <a:noFill/>
        </p:spPr>
        <p:txBody>
          <a:bodyPr wrap="square" rtlCol="0">
            <a:spAutoFit/>
          </a:bodyPr>
          <a:lstStyle/>
          <a:p>
            <a:r>
              <a:rPr lang="en-IN" sz="1000" dirty="0" smtClean="0"/>
              <a:t>35</a:t>
            </a:r>
            <a:endParaRPr lang="en-IN" sz="1000" dirty="0"/>
          </a:p>
        </p:txBody>
      </p:sp>
      <p:sp>
        <p:nvSpPr>
          <p:cNvPr id="38" name="TextBox 37"/>
          <p:cNvSpPr txBox="1"/>
          <p:nvPr/>
        </p:nvSpPr>
        <p:spPr>
          <a:xfrm>
            <a:off x="8658345" y="4755222"/>
            <a:ext cx="321971" cy="246221"/>
          </a:xfrm>
          <a:prstGeom prst="rect">
            <a:avLst/>
          </a:prstGeom>
          <a:noFill/>
        </p:spPr>
        <p:txBody>
          <a:bodyPr wrap="square" rtlCol="0">
            <a:spAutoFit/>
          </a:bodyPr>
          <a:lstStyle/>
          <a:p>
            <a:r>
              <a:rPr lang="en-IN" sz="1000" dirty="0" smtClean="0"/>
              <a:t>47</a:t>
            </a:r>
            <a:endParaRPr lang="en-IN" sz="1000" dirty="0"/>
          </a:p>
        </p:txBody>
      </p:sp>
      <p:sp>
        <p:nvSpPr>
          <p:cNvPr id="39" name="TextBox 38"/>
          <p:cNvSpPr txBox="1"/>
          <p:nvPr/>
        </p:nvSpPr>
        <p:spPr>
          <a:xfrm>
            <a:off x="939683" y="5063824"/>
            <a:ext cx="804201" cy="246221"/>
          </a:xfrm>
          <a:prstGeom prst="rect">
            <a:avLst/>
          </a:prstGeom>
          <a:noFill/>
        </p:spPr>
        <p:txBody>
          <a:bodyPr wrap="square" rtlCol="0">
            <a:spAutoFit/>
          </a:bodyPr>
          <a:lstStyle/>
          <a:p>
            <a:r>
              <a:rPr lang="en-IN" sz="1000" dirty="0" smtClean="0"/>
              <a:t># Districts</a:t>
            </a:r>
            <a:endParaRPr lang="en-IN" sz="1000" dirty="0"/>
          </a:p>
        </p:txBody>
      </p:sp>
      <p:sp>
        <p:nvSpPr>
          <p:cNvPr id="41" name="Rectangle 40"/>
          <p:cNvSpPr/>
          <p:nvPr/>
        </p:nvSpPr>
        <p:spPr>
          <a:xfrm>
            <a:off x="8110992" y="5477853"/>
            <a:ext cx="1094705" cy="413484"/>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solidFill>
                  <a:schemeClr val="tx1"/>
                </a:solidFill>
              </a:rPr>
              <a:t>High Activity and Rainfall</a:t>
            </a:r>
            <a:endParaRPr lang="en-US" sz="1200" dirty="0">
              <a:solidFill>
                <a:schemeClr val="tx1"/>
              </a:solidFill>
            </a:endParaRPr>
          </a:p>
        </p:txBody>
      </p:sp>
      <p:sp>
        <p:nvSpPr>
          <p:cNvPr id="42" name="Rectangle 41"/>
          <p:cNvSpPr/>
          <p:nvPr/>
        </p:nvSpPr>
        <p:spPr>
          <a:xfrm>
            <a:off x="6152011" y="5294404"/>
            <a:ext cx="1553227" cy="881549"/>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solidFill>
                  <a:schemeClr val="tx1"/>
                </a:solidFill>
              </a:rPr>
              <a:t>Mid Activity, High Rural cultivator and agricultural labor volume</a:t>
            </a:r>
            <a:endParaRPr lang="en-US" sz="1200" dirty="0">
              <a:solidFill>
                <a:schemeClr val="tx1"/>
              </a:solidFill>
            </a:endParaRPr>
          </a:p>
        </p:txBody>
      </p:sp>
      <p:sp>
        <p:nvSpPr>
          <p:cNvPr id="43" name="Rectangle 42"/>
          <p:cNvSpPr/>
          <p:nvPr/>
        </p:nvSpPr>
        <p:spPr>
          <a:xfrm>
            <a:off x="4238772" y="5353447"/>
            <a:ext cx="1397851" cy="662296"/>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solidFill>
                  <a:schemeClr val="tx1"/>
                </a:solidFill>
              </a:rPr>
              <a:t>Moderate Activity, rainfall and irrigation</a:t>
            </a:r>
            <a:endParaRPr lang="en-US" sz="1200" dirty="0">
              <a:solidFill>
                <a:schemeClr val="tx1"/>
              </a:solidFill>
            </a:endParaRPr>
          </a:p>
        </p:txBody>
      </p:sp>
      <p:sp>
        <p:nvSpPr>
          <p:cNvPr id="44" name="Rectangle 43"/>
          <p:cNvSpPr/>
          <p:nvPr/>
        </p:nvSpPr>
        <p:spPr>
          <a:xfrm>
            <a:off x="2613055" y="5371303"/>
            <a:ext cx="1258197" cy="581749"/>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solidFill>
                  <a:schemeClr val="tx1"/>
                </a:solidFill>
              </a:rPr>
              <a:t>Low Rainfall, Limited Food grains cultivation</a:t>
            </a:r>
            <a:endParaRPr lang="en-US" sz="1200" dirty="0">
              <a:solidFill>
                <a:schemeClr val="tx1"/>
              </a:solidFill>
            </a:endParaRPr>
          </a:p>
        </p:txBody>
      </p:sp>
      <p:sp>
        <p:nvSpPr>
          <p:cNvPr id="45" name="Rectangle 44"/>
          <p:cNvSpPr/>
          <p:nvPr/>
        </p:nvSpPr>
        <p:spPr>
          <a:xfrm>
            <a:off x="833316" y="5364278"/>
            <a:ext cx="1094705" cy="615904"/>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solidFill>
                  <a:schemeClr val="tx1"/>
                </a:solidFill>
              </a:rPr>
              <a:t>Low Activity</a:t>
            </a:r>
          </a:p>
          <a:p>
            <a:pPr algn="ctr"/>
            <a:r>
              <a:rPr lang="en-US" sz="1200" dirty="0" smtClean="0">
                <a:solidFill>
                  <a:schemeClr val="tx1"/>
                </a:solidFill>
              </a:rPr>
              <a:t>Well cropped and irrigated</a:t>
            </a:r>
            <a:endParaRPr lang="en-US" sz="1200" dirty="0">
              <a:solidFill>
                <a:schemeClr val="tx1"/>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4045524226"/>
              </p:ext>
            </p:extLst>
          </p:nvPr>
        </p:nvGraphicFramePr>
        <p:xfrm>
          <a:off x="8101830" y="1646384"/>
          <a:ext cx="910978" cy="548640"/>
        </p:xfrm>
        <a:graphic>
          <a:graphicData uri="http://schemas.openxmlformats.org/drawingml/2006/table">
            <a:tbl>
              <a:tblPr firstRow="1" bandRow="1">
                <a:tableStyleId>{5C22544A-7EE6-4342-B048-85BDC9FD1C3A}</a:tableStyleId>
              </a:tblPr>
              <a:tblGrid>
                <a:gridCol w="910978"/>
              </a:tblGrid>
              <a:tr h="202400">
                <a:tc>
                  <a:txBody>
                    <a:bodyPr/>
                    <a:lstStyle/>
                    <a:p>
                      <a:pPr algn="ctr"/>
                      <a:r>
                        <a:rPr lang="en-IN" sz="1200" dirty="0" smtClean="0"/>
                        <a:t>0.18</a:t>
                      </a:r>
                      <a:endParaRPr lang="en-IN" sz="1200" dirty="0"/>
                    </a:p>
                  </a:txBody>
                  <a:tcPr/>
                </a:tc>
              </a:tr>
              <a:tr h="205212">
                <a:tc>
                  <a:txBody>
                    <a:bodyPr/>
                    <a:lstStyle/>
                    <a:p>
                      <a:pPr algn="ctr"/>
                      <a:r>
                        <a:rPr lang="en-IN" sz="1200" dirty="0" smtClean="0"/>
                        <a:t>15.1</a:t>
                      </a:r>
                      <a:endParaRPr lang="en-IN" sz="1200" dirty="0"/>
                    </a:p>
                  </a:txBody>
                  <a:tcPr/>
                </a:tc>
              </a:tr>
            </a:tbl>
          </a:graphicData>
        </a:graphic>
      </p:graphicFrame>
      <p:graphicFrame>
        <p:nvGraphicFramePr>
          <p:cNvPr id="29" name="Table 28"/>
          <p:cNvGraphicFramePr>
            <a:graphicFrameLocks noGrp="1"/>
          </p:cNvGraphicFramePr>
          <p:nvPr>
            <p:extLst/>
          </p:nvPr>
        </p:nvGraphicFramePr>
        <p:xfrm>
          <a:off x="6334537" y="1646384"/>
          <a:ext cx="910978" cy="548640"/>
        </p:xfrm>
        <a:graphic>
          <a:graphicData uri="http://schemas.openxmlformats.org/drawingml/2006/table">
            <a:tbl>
              <a:tblPr firstRow="1" bandRow="1">
                <a:tableStyleId>{5C22544A-7EE6-4342-B048-85BDC9FD1C3A}</a:tableStyleId>
              </a:tblPr>
              <a:tblGrid>
                <a:gridCol w="910978"/>
              </a:tblGrid>
              <a:tr h="202400">
                <a:tc>
                  <a:txBody>
                    <a:bodyPr/>
                    <a:lstStyle/>
                    <a:p>
                      <a:pPr algn="ctr"/>
                      <a:r>
                        <a:rPr lang="en-IN" sz="1200" dirty="0" smtClean="0"/>
                        <a:t>0.07</a:t>
                      </a:r>
                      <a:endParaRPr lang="en-IN" sz="1200" dirty="0"/>
                    </a:p>
                  </a:txBody>
                  <a:tcPr/>
                </a:tc>
              </a:tr>
              <a:tr h="205212">
                <a:tc>
                  <a:txBody>
                    <a:bodyPr/>
                    <a:lstStyle/>
                    <a:p>
                      <a:pPr algn="ctr"/>
                      <a:r>
                        <a:rPr lang="en-IN" sz="1200" dirty="0" smtClean="0"/>
                        <a:t>7.3</a:t>
                      </a:r>
                      <a:endParaRPr lang="en-IN" sz="1200" dirty="0"/>
                    </a:p>
                  </a:txBody>
                  <a:tcPr/>
                </a:tc>
              </a:tr>
            </a:tbl>
          </a:graphicData>
        </a:graphic>
      </p:graphicFrame>
      <p:graphicFrame>
        <p:nvGraphicFramePr>
          <p:cNvPr id="32" name="Table 31"/>
          <p:cNvGraphicFramePr>
            <a:graphicFrameLocks noGrp="1"/>
          </p:cNvGraphicFramePr>
          <p:nvPr>
            <p:extLst>
              <p:ext uri="{D42A27DB-BD31-4B8C-83A1-F6EECF244321}">
                <p14:modId xmlns:p14="http://schemas.microsoft.com/office/powerpoint/2010/main" val="2683348336"/>
              </p:ext>
            </p:extLst>
          </p:nvPr>
        </p:nvGraphicFramePr>
        <p:xfrm>
          <a:off x="4489075" y="1646384"/>
          <a:ext cx="910978" cy="548640"/>
        </p:xfrm>
        <a:graphic>
          <a:graphicData uri="http://schemas.openxmlformats.org/drawingml/2006/table">
            <a:tbl>
              <a:tblPr firstRow="1" bandRow="1">
                <a:tableStyleId>{5C22544A-7EE6-4342-B048-85BDC9FD1C3A}</a:tableStyleId>
              </a:tblPr>
              <a:tblGrid>
                <a:gridCol w="910978"/>
              </a:tblGrid>
              <a:tr h="202400">
                <a:tc>
                  <a:txBody>
                    <a:bodyPr/>
                    <a:lstStyle/>
                    <a:p>
                      <a:pPr algn="ctr"/>
                      <a:r>
                        <a:rPr lang="en-IN" sz="1200" dirty="0" smtClean="0"/>
                        <a:t>0.06</a:t>
                      </a:r>
                      <a:endParaRPr lang="en-IN" sz="1200" dirty="0"/>
                    </a:p>
                  </a:txBody>
                  <a:tcPr/>
                </a:tc>
              </a:tr>
              <a:tr h="205212">
                <a:tc>
                  <a:txBody>
                    <a:bodyPr/>
                    <a:lstStyle/>
                    <a:p>
                      <a:pPr algn="ctr"/>
                      <a:r>
                        <a:rPr lang="en-IN" sz="1200" dirty="0" smtClean="0"/>
                        <a:t>6.1</a:t>
                      </a:r>
                      <a:endParaRPr lang="en-IN" sz="1200" dirty="0"/>
                    </a:p>
                  </a:txBody>
                  <a:tcPr/>
                </a:tc>
              </a:tr>
            </a:tbl>
          </a:graphicData>
        </a:graphic>
      </p:graphicFrame>
      <p:graphicFrame>
        <p:nvGraphicFramePr>
          <p:cNvPr id="46" name="Table 45"/>
          <p:cNvGraphicFramePr>
            <a:graphicFrameLocks noGrp="1"/>
          </p:cNvGraphicFramePr>
          <p:nvPr>
            <p:extLst/>
          </p:nvPr>
        </p:nvGraphicFramePr>
        <p:xfrm>
          <a:off x="2636654" y="1646384"/>
          <a:ext cx="910978" cy="548640"/>
        </p:xfrm>
        <a:graphic>
          <a:graphicData uri="http://schemas.openxmlformats.org/drawingml/2006/table">
            <a:tbl>
              <a:tblPr firstRow="1" bandRow="1">
                <a:tableStyleId>{5C22544A-7EE6-4342-B048-85BDC9FD1C3A}</a:tableStyleId>
              </a:tblPr>
              <a:tblGrid>
                <a:gridCol w="910978"/>
              </a:tblGrid>
              <a:tr h="202400">
                <a:tc>
                  <a:txBody>
                    <a:bodyPr/>
                    <a:lstStyle/>
                    <a:p>
                      <a:pPr algn="ctr"/>
                      <a:r>
                        <a:rPr lang="en-IN" sz="1200" dirty="0" smtClean="0"/>
                        <a:t>0.03</a:t>
                      </a:r>
                      <a:endParaRPr lang="en-IN" sz="1200" dirty="0"/>
                    </a:p>
                  </a:txBody>
                  <a:tcPr/>
                </a:tc>
              </a:tr>
              <a:tr h="205212">
                <a:tc>
                  <a:txBody>
                    <a:bodyPr/>
                    <a:lstStyle/>
                    <a:p>
                      <a:pPr algn="ctr"/>
                      <a:r>
                        <a:rPr lang="en-IN" sz="1200" dirty="0" smtClean="0"/>
                        <a:t>2.9</a:t>
                      </a:r>
                      <a:endParaRPr lang="en-IN" sz="1200" dirty="0"/>
                    </a:p>
                  </a:txBody>
                  <a:tcPr/>
                </a:tc>
              </a:tr>
            </a:tbl>
          </a:graphicData>
        </a:graphic>
      </p:graphicFrame>
      <p:graphicFrame>
        <p:nvGraphicFramePr>
          <p:cNvPr id="47" name="Table 46"/>
          <p:cNvGraphicFramePr>
            <a:graphicFrameLocks noGrp="1"/>
          </p:cNvGraphicFramePr>
          <p:nvPr>
            <p:extLst>
              <p:ext uri="{D42A27DB-BD31-4B8C-83A1-F6EECF244321}">
                <p14:modId xmlns:p14="http://schemas.microsoft.com/office/powerpoint/2010/main" val="769512160"/>
              </p:ext>
            </p:extLst>
          </p:nvPr>
        </p:nvGraphicFramePr>
        <p:xfrm>
          <a:off x="889337" y="1641826"/>
          <a:ext cx="910978" cy="548640"/>
        </p:xfrm>
        <a:graphic>
          <a:graphicData uri="http://schemas.openxmlformats.org/drawingml/2006/table">
            <a:tbl>
              <a:tblPr firstRow="1" bandRow="1">
                <a:tableStyleId>{5C22544A-7EE6-4342-B048-85BDC9FD1C3A}</a:tableStyleId>
              </a:tblPr>
              <a:tblGrid>
                <a:gridCol w="910978"/>
              </a:tblGrid>
              <a:tr h="202400">
                <a:tc>
                  <a:txBody>
                    <a:bodyPr/>
                    <a:lstStyle/>
                    <a:p>
                      <a:pPr algn="ctr"/>
                      <a:r>
                        <a:rPr lang="en-IN" sz="1200" dirty="0" smtClean="0"/>
                        <a:t>0.03</a:t>
                      </a:r>
                      <a:endParaRPr lang="en-IN" sz="1200" dirty="0"/>
                    </a:p>
                  </a:txBody>
                  <a:tcPr/>
                </a:tc>
              </a:tr>
              <a:tr h="205212">
                <a:tc>
                  <a:txBody>
                    <a:bodyPr/>
                    <a:lstStyle/>
                    <a:p>
                      <a:pPr algn="ctr"/>
                      <a:r>
                        <a:rPr lang="en-IN" sz="1200" dirty="0" smtClean="0"/>
                        <a:t>3.1</a:t>
                      </a:r>
                      <a:endParaRPr lang="en-IN" sz="1200" dirty="0"/>
                    </a:p>
                  </a:txBody>
                  <a:tcPr/>
                </a:tc>
              </a:tr>
            </a:tbl>
          </a:graphicData>
        </a:graphic>
      </p:graphicFrame>
      <p:graphicFrame>
        <p:nvGraphicFramePr>
          <p:cNvPr id="7" name="Table 6"/>
          <p:cNvGraphicFramePr>
            <a:graphicFrameLocks noGrp="1"/>
          </p:cNvGraphicFramePr>
          <p:nvPr>
            <p:extLst/>
          </p:nvPr>
        </p:nvGraphicFramePr>
        <p:xfrm>
          <a:off x="860374" y="2456654"/>
          <a:ext cx="1752682" cy="548640"/>
        </p:xfrm>
        <a:graphic>
          <a:graphicData uri="http://schemas.openxmlformats.org/drawingml/2006/table">
            <a:tbl>
              <a:tblPr firstRow="1" bandRow="1">
                <a:tableStyleId>{5C22544A-7EE6-4342-B048-85BDC9FD1C3A}</a:tableStyleId>
              </a:tblPr>
              <a:tblGrid>
                <a:gridCol w="1752682"/>
              </a:tblGrid>
              <a:tr h="194002">
                <a:tc>
                  <a:txBody>
                    <a:bodyPr/>
                    <a:lstStyle/>
                    <a:p>
                      <a:r>
                        <a:rPr lang="en-IN" sz="800" dirty="0" smtClean="0"/>
                        <a:t>Average Sales per square kilometre (tonnage per sq. km)</a:t>
                      </a:r>
                      <a:endParaRPr lang="en-IN" sz="800" dirty="0"/>
                    </a:p>
                  </a:txBody>
                  <a:tcPr/>
                </a:tc>
              </a:tr>
              <a:tr h="194002">
                <a:tc>
                  <a:txBody>
                    <a:bodyPr/>
                    <a:lstStyle/>
                    <a:p>
                      <a:r>
                        <a:rPr lang="en-IN" sz="800" dirty="0" smtClean="0"/>
                        <a:t>Composite Score</a:t>
                      </a:r>
                      <a:endParaRPr lang="en-IN" sz="800" dirty="0"/>
                    </a:p>
                  </a:txBody>
                  <a:tcPr/>
                </a:tc>
              </a:tr>
            </a:tbl>
          </a:graphicData>
        </a:graphic>
      </p:graphicFrame>
      <p:sp>
        <p:nvSpPr>
          <p:cNvPr id="48" name="Rectangular Callout 47"/>
          <p:cNvSpPr/>
          <p:nvPr/>
        </p:nvSpPr>
        <p:spPr>
          <a:xfrm>
            <a:off x="4331586" y="2529159"/>
            <a:ext cx="1305037" cy="766068"/>
          </a:xfrm>
          <a:prstGeom prst="wedgeRectCallout">
            <a:avLst>
              <a:gd name="adj1" fmla="val -77475"/>
              <a:gd name="adj2" fmla="val -65933"/>
            </a:avLst>
          </a:prstGeom>
          <a:solidFill>
            <a:schemeClr val="accent6">
              <a:lumMod val="20000"/>
              <a:lumOff val="80000"/>
            </a:schemeClr>
          </a:solidFill>
          <a:ln>
            <a:solidFill>
              <a:schemeClr val="bg1"/>
            </a:solidFill>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pPr algn="ctr"/>
            <a:r>
              <a:rPr lang="en-IN" sz="1000" dirty="0" smtClean="0">
                <a:solidFill>
                  <a:schemeClr val="tx1"/>
                </a:solidFill>
              </a:rPr>
              <a:t>The Composite score rank orders the sales at a segment level</a:t>
            </a:r>
            <a:endParaRPr lang="en-IN" sz="1000" b="1" dirty="0">
              <a:solidFill>
                <a:schemeClr val="tx1"/>
              </a:solidFill>
            </a:endParaRPr>
          </a:p>
        </p:txBody>
      </p:sp>
      <p:sp>
        <p:nvSpPr>
          <p:cNvPr id="5" name="Footer Placeholder 4"/>
          <p:cNvSpPr>
            <a:spLocks noGrp="1"/>
          </p:cNvSpPr>
          <p:nvPr>
            <p:ph type="ftr" sz="quarter" idx="11"/>
          </p:nvPr>
        </p:nvSpPr>
        <p:spPr/>
        <p:txBody>
          <a:bodyPr/>
          <a:lstStyle/>
          <a:p>
            <a:r>
              <a:rPr lang="en-IN" smtClean="0"/>
              <a:t>Version 1                                                                                            Confidential</a:t>
            </a:r>
            <a:endParaRPr lang="en-IN" dirty="0"/>
          </a:p>
        </p:txBody>
      </p:sp>
      <p:sp>
        <p:nvSpPr>
          <p:cNvPr id="30" name="Rectangle 29"/>
          <p:cNvSpPr/>
          <p:nvPr/>
        </p:nvSpPr>
        <p:spPr>
          <a:xfrm>
            <a:off x="7947374" y="5901644"/>
            <a:ext cx="3832250" cy="584775"/>
          </a:xfrm>
          <a:prstGeom prst="rect">
            <a:avLst/>
          </a:prstGeom>
        </p:spPr>
        <p:txBody>
          <a:bodyPr wrap="square">
            <a:spAutoFit/>
          </a:bodyPr>
          <a:lstStyle/>
          <a:p>
            <a:r>
              <a:rPr lang="en-IN" sz="800" b="1" dirty="0"/>
              <a:t>Note</a:t>
            </a:r>
            <a:r>
              <a:rPr lang="en-IN" sz="800" dirty="0"/>
              <a:t>: </a:t>
            </a:r>
            <a:r>
              <a:rPr lang="en-IN" sz="800" dirty="0" smtClean="0"/>
              <a:t>12</a:t>
            </a:r>
            <a:r>
              <a:rPr lang="en-IN" sz="800" dirty="0"/>
              <a:t>% of the Sales data could not be mapped to any State and </a:t>
            </a:r>
            <a:r>
              <a:rPr lang="en-IN" sz="800" dirty="0" smtClean="0"/>
              <a:t>District</a:t>
            </a:r>
          </a:p>
          <a:p>
            <a:r>
              <a:rPr lang="en-IN" sz="800" dirty="0"/>
              <a:t>Score developed and applied only on those districts where sales was non </a:t>
            </a:r>
            <a:r>
              <a:rPr lang="en-IN" sz="800" dirty="0" smtClean="0"/>
              <a:t>zero</a:t>
            </a:r>
          </a:p>
          <a:p>
            <a:r>
              <a:rPr lang="en-IN" sz="800" dirty="0" smtClean="0"/>
              <a:t>Sales per sq. KM has also been calculated only for districts where sales is non zero</a:t>
            </a:r>
            <a:endParaRPr lang="en-IN" sz="800" dirty="0"/>
          </a:p>
          <a:p>
            <a:endParaRPr lang="en-IN" sz="800" dirty="0"/>
          </a:p>
        </p:txBody>
      </p:sp>
      <p:sp>
        <p:nvSpPr>
          <p:cNvPr id="8" name="Slide Number Placeholder 7"/>
          <p:cNvSpPr>
            <a:spLocks noGrp="1"/>
          </p:cNvSpPr>
          <p:nvPr>
            <p:ph type="sldNum" sz="quarter" idx="12"/>
          </p:nvPr>
        </p:nvSpPr>
        <p:spPr/>
        <p:txBody>
          <a:bodyPr/>
          <a:lstStyle/>
          <a:p>
            <a:fld id="{3040F425-731D-4835-A38A-9545B9CAE996}" type="slidenum">
              <a:rPr lang="en-IN" smtClean="0"/>
              <a:t>22</a:t>
            </a:fld>
            <a:endParaRPr lang="en-IN" dirty="0"/>
          </a:p>
        </p:txBody>
      </p:sp>
    </p:spTree>
    <p:extLst>
      <p:ext uri="{BB962C8B-B14F-4D97-AF65-F5344CB8AC3E}">
        <p14:creationId xmlns:p14="http://schemas.microsoft.com/office/powerpoint/2010/main" val="348539948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Chart 32"/>
          <p:cNvGraphicFramePr/>
          <p:nvPr>
            <p:extLst>
              <p:ext uri="{D42A27DB-BD31-4B8C-83A1-F6EECF244321}">
                <p14:modId xmlns:p14="http://schemas.microsoft.com/office/powerpoint/2010/main" val="1339619585"/>
              </p:ext>
            </p:extLst>
          </p:nvPr>
        </p:nvGraphicFramePr>
        <p:xfrm>
          <a:off x="332295" y="1455312"/>
          <a:ext cx="11616913" cy="3966694"/>
        </p:xfrm>
        <a:graphic>
          <a:graphicData uri="http://schemas.openxmlformats.org/drawingml/2006/chart">
            <c:chart xmlns:c="http://schemas.openxmlformats.org/drawingml/2006/chart" xmlns:r="http://schemas.openxmlformats.org/officeDocument/2006/relationships" r:id="rId2"/>
          </a:graphicData>
        </a:graphic>
      </p:graphicFrame>
      <p:pic>
        <p:nvPicPr>
          <p:cNvPr id="4" name="Picture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237066"/>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4585671" y="291779"/>
              <a:ext cx="3020763"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Composite Score</a:t>
              </a:r>
            </a:p>
          </p:txBody>
        </p:sp>
      </p:grpSp>
      <p:sp>
        <p:nvSpPr>
          <p:cNvPr id="56" name="TextBox 55"/>
          <p:cNvSpPr txBox="1"/>
          <p:nvPr/>
        </p:nvSpPr>
        <p:spPr>
          <a:xfrm>
            <a:off x="332295" y="720304"/>
            <a:ext cx="11616913" cy="369332"/>
          </a:xfrm>
          <a:prstGeom prst="rect">
            <a:avLst/>
          </a:prstGeom>
          <a:noFill/>
        </p:spPr>
        <p:txBody>
          <a:bodyPr wrap="square" rtlCol="0">
            <a:spAutoFit/>
          </a:bodyPr>
          <a:lstStyle/>
          <a:p>
            <a:pPr algn="ctr"/>
            <a:r>
              <a:rPr lang="en-IN" dirty="0" smtClean="0">
                <a:solidFill>
                  <a:schemeClr val="tx2">
                    <a:lumMod val="60000"/>
                    <a:lumOff val="40000"/>
                  </a:schemeClr>
                </a:solidFill>
              </a:rPr>
              <a:t>Cluster properties were leveraged together with the total sales in each district to arrive at a district level composite score </a:t>
            </a:r>
            <a:endParaRPr lang="en-IN" dirty="0">
              <a:solidFill>
                <a:schemeClr val="tx2">
                  <a:lumMod val="60000"/>
                  <a:lumOff val="40000"/>
                </a:schemeClr>
              </a:solidFill>
            </a:endParaRPr>
          </a:p>
        </p:txBody>
      </p:sp>
      <p:sp>
        <p:nvSpPr>
          <p:cNvPr id="2" name="TextBox 1"/>
          <p:cNvSpPr txBox="1"/>
          <p:nvPr/>
        </p:nvSpPr>
        <p:spPr>
          <a:xfrm>
            <a:off x="10001954" y="1522597"/>
            <a:ext cx="1635617" cy="461665"/>
          </a:xfrm>
          <a:prstGeom prst="rect">
            <a:avLst/>
          </a:prstGeom>
          <a:noFill/>
        </p:spPr>
        <p:txBody>
          <a:bodyPr wrap="square" rtlCol="0">
            <a:spAutoFit/>
          </a:bodyPr>
          <a:lstStyle/>
          <a:p>
            <a:r>
              <a:rPr lang="en-IN" sz="800" dirty="0" smtClean="0"/>
              <a:t>Dimension estimates in graph are directional, kindly refer excel sheet for exact details</a:t>
            </a:r>
            <a:endParaRPr lang="en-IN" sz="800" dirty="0"/>
          </a:p>
        </p:txBody>
      </p:sp>
      <p:sp>
        <p:nvSpPr>
          <p:cNvPr id="34" name="TextBox 33"/>
          <p:cNvSpPr txBox="1"/>
          <p:nvPr/>
        </p:nvSpPr>
        <p:spPr>
          <a:xfrm>
            <a:off x="1056068" y="4759209"/>
            <a:ext cx="482957" cy="246221"/>
          </a:xfrm>
          <a:prstGeom prst="rect">
            <a:avLst/>
          </a:prstGeom>
          <a:noFill/>
        </p:spPr>
        <p:txBody>
          <a:bodyPr wrap="square" rtlCol="0">
            <a:spAutoFit/>
          </a:bodyPr>
          <a:lstStyle/>
          <a:p>
            <a:r>
              <a:rPr lang="en-IN" sz="1000" dirty="0" smtClean="0"/>
              <a:t>157</a:t>
            </a:r>
            <a:endParaRPr lang="en-IN" sz="1000" dirty="0"/>
          </a:p>
        </p:txBody>
      </p:sp>
      <p:sp>
        <p:nvSpPr>
          <p:cNvPr id="35" name="TextBox 34"/>
          <p:cNvSpPr txBox="1"/>
          <p:nvPr/>
        </p:nvSpPr>
        <p:spPr>
          <a:xfrm>
            <a:off x="2780691" y="4729965"/>
            <a:ext cx="321971" cy="246221"/>
          </a:xfrm>
          <a:prstGeom prst="rect">
            <a:avLst/>
          </a:prstGeom>
          <a:noFill/>
        </p:spPr>
        <p:txBody>
          <a:bodyPr wrap="square" rtlCol="0">
            <a:spAutoFit/>
          </a:bodyPr>
          <a:lstStyle/>
          <a:p>
            <a:r>
              <a:rPr lang="en-IN" sz="1000" dirty="0" smtClean="0"/>
              <a:t>62</a:t>
            </a:r>
            <a:endParaRPr lang="en-IN" sz="1000" dirty="0"/>
          </a:p>
        </p:txBody>
      </p:sp>
      <p:sp>
        <p:nvSpPr>
          <p:cNvPr id="36" name="TextBox 35"/>
          <p:cNvSpPr txBox="1"/>
          <p:nvPr/>
        </p:nvSpPr>
        <p:spPr>
          <a:xfrm>
            <a:off x="4776713" y="4729964"/>
            <a:ext cx="321971" cy="246221"/>
          </a:xfrm>
          <a:prstGeom prst="rect">
            <a:avLst/>
          </a:prstGeom>
          <a:noFill/>
        </p:spPr>
        <p:txBody>
          <a:bodyPr wrap="square" rtlCol="0">
            <a:spAutoFit/>
          </a:bodyPr>
          <a:lstStyle/>
          <a:p>
            <a:r>
              <a:rPr lang="en-IN" sz="1000" dirty="0" smtClean="0"/>
              <a:t>49</a:t>
            </a:r>
            <a:endParaRPr lang="en-IN" sz="1000" dirty="0"/>
          </a:p>
        </p:txBody>
      </p:sp>
      <p:sp>
        <p:nvSpPr>
          <p:cNvPr id="37" name="TextBox 36"/>
          <p:cNvSpPr txBox="1"/>
          <p:nvPr/>
        </p:nvSpPr>
        <p:spPr>
          <a:xfrm>
            <a:off x="6767640" y="4755222"/>
            <a:ext cx="321971" cy="246221"/>
          </a:xfrm>
          <a:prstGeom prst="rect">
            <a:avLst/>
          </a:prstGeom>
          <a:noFill/>
        </p:spPr>
        <p:txBody>
          <a:bodyPr wrap="square" rtlCol="0">
            <a:spAutoFit/>
          </a:bodyPr>
          <a:lstStyle/>
          <a:p>
            <a:r>
              <a:rPr lang="en-IN" sz="1000" dirty="0" smtClean="0"/>
              <a:t>35</a:t>
            </a:r>
            <a:endParaRPr lang="en-IN" sz="1000" dirty="0"/>
          </a:p>
        </p:txBody>
      </p:sp>
      <p:sp>
        <p:nvSpPr>
          <p:cNvPr id="38" name="TextBox 37"/>
          <p:cNvSpPr txBox="1"/>
          <p:nvPr/>
        </p:nvSpPr>
        <p:spPr>
          <a:xfrm>
            <a:off x="8658345" y="4755222"/>
            <a:ext cx="321971" cy="246221"/>
          </a:xfrm>
          <a:prstGeom prst="rect">
            <a:avLst/>
          </a:prstGeom>
          <a:noFill/>
        </p:spPr>
        <p:txBody>
          <a:bodyPr wrap="square" rtlCol="0">
            <a:spAutoFit/>
          </a:bodyPr>
          <a:lstStyle/>
          <a:p>
            <a:r>
              <a:rPr lang="en-IN" sz="1000" dirty="0" smtClean="0"/>
              <a:t>47</a:t>
            </a:r>
            <a:endParaRPr lang="en-IN" sz="1000" dirty="0"/>
          </a:p>
        </p:txBody>
      </p:sp>
      <p:sp>
        <p:nvSpPr>
          <p:cNvPr id="39" name="TextBox 38"/>
          <p:cNvSpPr txBox="1"/>
          <p:nvPr/>
        </p:nvSpPr>
        <p:spPr>
          <a:xfrm>
            <a:off x="939683" y="5063824"/>
            <a:ext cx="804201" cy="246221"/>
          </a:xfrm>
          <a:prstGeom prst="rect">
            <a:avLst/>
          </a:prstGeom>
          <a:noFill/>
        </p:spPr>
        <p:txBody>
          <a:bodyPr wrap="square" rtlCol="0">
            <a:spAutoFit/>
          </a:bodyPr>
          <a:lstStyle/>
          <a:p>
            <a:r>
              <a:rPr lang="en-IN" sz="1000" dirty="0" smtClean="0"/>
              <a:t># Districts</a:t>
            </a:r>
            <a:endParaRPr lang="en-IN" sz="1000" dirty="0"/>
          </a:p>
        </p:txBody>
      </p:sp>
      <p:sp>
        <p:nvSpPr>
          <p:cNvPr id="41" name="Rectangle 40"/>
          <p:cNvSpPr/>
          <p:nvPr/>
        </p:nvSpPr>
        <p:spPr>
          <a:xfrm>
            <a:off x="8110992" y="5477853"/>
            <a:ext cx="1094705" cy="413484"/>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solidFill>
                  <a:schemeClr val="tx1"/>
                </a:solidFill>
              </a:rPr>
              <a:t>High Activity and Rainfall</a:t>
            </a:r>
            <a:endParaRPr lang="en-US" sz="1200" dirty="0">
              <a:solidFill>
                <a:schemeClr val="tx1"/>
              </a:solidFill>
            </a:endParaRPr>
          </a:p>
        </p:txBody>
      </p:sp>
      <p:sp>
        <p:nvSpPr>
          <p:cNvPr id="42" name="Rectangle 41"/>
          <p:cNvSpPr/>
          <p:nvPr/>
        </p:nvSpPr>
        <p:spPr>
          <a:xfrm>
            <a:off x="6152011" y="5294404"/>
            <a:ext cx="1553227" cy="881549"/>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solidFill>
                  <a:schemeClr val="tx1"/>
                </a:solidFill>
              </a:rPr>
              <a:t>Mid Activity, High Rural cultivator and agricultural labor volume</a:t>
            </a:r>
            <a:endParaRPr lang="en-US" sz="1200" dirty="0">
              <a:solidFill>
                <a:schemeClr val="tx1"/>
              </a:solidFill>
            </a:endParaRPr>
          </a:p>
        </p:txBody>
      </p:sp>
      <p:sp>
        <p:nvSpPr>
          <p:cNvPr id="43" name="Rectangle 42"/>
          <p:cNvSpPr/>
          <p:nvPr/>
        </p:nvSpPr>
        <p:spPr>
          <a:xfrm>
            <a:off x="4238772" y="5353447"/>
            <a:ext cx="1397851" cy="662296"/>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solidFill>
                  <a:schemeClr val="tx1"/>
                </a:solidFill>
              </a:rPr>
              <a:t>Moderate Activity, rainfall and irrigation</a:t>
            </a:r>
            <a:endParaRPr lang="en-US" sz="1200" dirty="0">
              <a:solidFill>
                <a:schemeClr val="tx1"/>
              </a:solidFill>
            </a:endParaRPr>
          </a:p>
        </p:txBody>
      </p:sp>
      <p:sp>
        <p:nvSpPr>
          <p:cNvPr id="44" name="Rectangle 43"/>
          <p:cNvSpPr/>
          <p:nvPr/>
        </p:nvSpPr>
        <p:spPr>
          <a:xfrm>
            <a:off x="2613055" y="5371303"/>
            <a:ext cx="1258197" cy="581749"/>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solidFill>
                  <a:schemeClr val="tx1"/>
                </a:solidFill>
              </a:rPr>
              <a:t>Low Rainfall, Limited Food grains cultivation</a:t>
            </a:r>
            <a:endParaRPr lang="en-US" sz="1200" dirty="0">
              <a:solidFill>
                <a:schemeClr val="tx1"/>
              </a:solidFill>
            </a:endParaRPr>
          </a:p>
        </p:txBody>
      </p:sp>
      <p:sp>
        <p:nvSpPr>
          <p:cNvPr id="45" name="Rectangle 44"/>
          <p:cNvSpPr/>
          <p:nvPr/>
        </p:nvSpPr>
        <p:spPr>
          <a:xfrm>
            <a:off x="833316" y="5364278"/>
            <a:ext cx="1094705" cy="615904"/>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solidFill>
                  <a:schemeClr val="tx1"/>
                </a:solidFill>
              </a:rPr>
              <a:t>Low Activity</a:t>
            </a:r>
          </a:p>
          <a:p>
            <a:pPr algn="ctr"/>
            <a:r>
              <a:rPr lang="en-US" sz="1200" dirty="0" smtClean="0">
                <a:solidFill>
                  <a:schemeClr val="tx1"/>
                </a:solidFill>
              </a:rPr>
              <a:t>Well cropped and irrigated</a:t>
            </a:r>
            <a:endParaRPr lang="en-US" sz="1200" dirty="0">
              <a:solidFill>
                <a:schemeClr val="tx1"/>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2902816112"/>
              </p:ext>
            </p:extLst>
          </p:nvPr>
        </p:nvGraphicFramePr>
        <p:xfrm>
          <a:off x="8101830" y="1646384"/>
          <a:ext cx="910978" cy="548640"/>
        </p:xfrm>
        <a:graphic>
          <a:graphicData uri="http://schemas.openxmlformats.org/drawingml/2006/table">
            <a:tbl>
              <a:tblPr firstRow="1" bandRow="1">
                <a:tableStyleId>{5C22544A-7EE6-4342-B048-85BDC9FD1C3A}</a:tableStyleId>
              </a:tblPr>
              <a:tblGrid>
                <a:gridCol w="910978"/>
              </a:tblGrid>
              <a:tr h="202400">
                <a:tc>
                  <a:txBody>
                    <a:bodyPr/>
                    <a:lstStyle/>
                    <a:p>
                      <a:pPr algn="ctr"/>
                      <a:r>
                        <a:rPr lang="en-IN" sz="1200" dirty="0" smtClean="0"/>
                        <a:t>735</a:t>
                      </a:r>
                      <a:endParaRPr lang="en-IN" sz="1200" dirty="0"/>
                    </a:p>
                  </a:txBody>
                  <a:tcPr/>
                </a:tc>
              </a:tr>
              <a:tr h="205212">
                <a:tc>
                  <a:txBody>
                    <a:bodyPr/>
                    <a:lstStyle/>
                    <a:p>
                      <a:pPr algn="ctr"/>
                      <a:r>
                        <a:rPr lang="en-IN" sz="1200" dirty="0" smtClean="0"/>
                        <a:t>619</a:t>
                      </a:r>
                      <a:endParaRPr lang="en-IN" sz="1200" dirty="0"/>
                    </a:p>
                  </a:txBody>
                  <a:tcPr/>
                </a:tc>
              </a:tr>
            </a:tbl>
          </a:graphicData>
        </a:graphic>
      </p:graphicFrame>
      <p:graphicFrame>
        <p:nvGraphicFramePr>
          <p:cNvPr id="29" name="Table 28"/>
          <p:cNvGraphicFramePr>
            <a:graphicFrameLocks noGrp="1"/>
          </p:cNvGraphicFramePr>
          <p:nvPr>
            <p:extLst>
              <p:ext uri="{D42A27DB-BD31-4B8C-83A1-F6EECF244321}">
                <p14:modId xmlns:p14="http://schemas.microsoft.com/office/powerpoint/2010/main" val="2215751173"/>
              </p:ext>
            </p:extLst>
          </p:nvPr>
        </p:nvGraphicFramePr>
        <p:xfrm>
          <a:off x="6334537" y="1646384"/>
          <a:ext cx="910978" cy="548640"/>
        </p:xfrm>
        <a:graphic>
          <a:graphicData uri="http://schemas.openxmlformats.org/drawingml/2006/table">
            <a:tbl>
              <a:tblPr firstRow="1" bandRow="1">
                <a:tableStyleId>{5C22544A-7EE6-4342-B048-85BDC9FD1C3A}</a:tableStyleId>
              </a:tblPr>
              <a:tblGrid>
                <a:gridCol w="910978"/>
              </a:tblGrid>
              <a:tr h="202400">
                <a:tc>
                  <a:txBody>
                    <a:bodyPr/>
                    <a:lstStyle/>
                    <a:p>
                      <a:pPr algn="ctr"/>
                      <a:r>
                        <a:rPr lang="en-IN" sz="1200" dirty="0" smtClean="0"/>
                        <a:t>870</a:t>
                      </a:r>
                      <a:endParaRPr lang="en-IN" sz="1200" dirty="0"/>
                    </a:p>
                  </a:txBody>
                  <a:tcPr/>
                </a:tc>
              </a:tr>
              <a:tr h="205212">
                <a:tc>
                  <a:txBody>
                    <a:bodyPr/>
                    <a:lstStyle/>
                    <a:p>
                      <a:pPr algn="ctr"/>
                      <a:r>
                        <a:rPr lang="en-IN" sz="1200" dirty="0" smtClean="0"/>
                        <a:t>931</a:t>
                      </a:r>
                      <a:endParaRPr lang="en-IN" sz="1200" dirty="0"/>
                    </a:p>
                  </a:txBody>
                  <a:tcPr/>
                </a:tc>
              </a:tr>
            </a:tbl>
          </a:graphicData>
        </a:graphic>
      </p:graphicFrame>
      <p:graphicFrame>
        <p:nvGraphicFramePr>
          <p:cNvPr id="32" name="Table 31"/>
          <p:cNvGraphicFramePr>
            <a:graphicFrameLocks noGrp="1"/>
          </p:cNvGraphicFramePr>
          <p:nvPr>
            <p:extLst>
              <p:ext uri="{D42A27DB-BD31-4B8C-83A1-F6EECF244321}">
                <p14:modId xmlns:p14="http://schemas.microsoft.com/office/powerpoint/2010/main" val="2084246457"/>
              </p:ext>
            </p:extLst>
          </p:nvPr>
        </p:nvGraphicFramePr>
        <p:xfrm>
          <a:off x="4489075" y="1646384"/>
          <a:ext cx="910978" cy="548640"/>
        </p:xfrm>
        <a:graphic>
          <a:graphicData uri="http://schemas.openxmlformats.org/drawingml/2006/table">
            <a:tbl>
              <a:tblPr firstRow="1" bandRow="1">
                <a:tableStyleId>{5C22544A-7EE6-4342-B048-85BDC9FD1C3A}</a:tableStyleId>
              </a:tblPr>
              <a:tblGrid>
                <a:gridCol w="910978"/>
              </a:tblGrid>
              <a:tr h="202400">
                <a:tc>
                  <a:txBody>
                    <a:bodyPr/>
                    <a:lstStyle/>
                    <a:p>
                      <a:pPr algn="ctr"/>
                      <a:r>
                        <a:rPr lang="en-IN" sz="1200" dirty="0" smtClean="0"/>
                        <a:t>411</a:t>
                      </a:r>
                      <a:endParaRPr lang="en-IN" sz="1200" dirty="0"/>
                    </a:p>
                  </a:txBody>
                  <a:tcPr/>
                </a:tc>
              </a:tr>
              <a:tr h="205212">
                <a:tc>
                  <a:txBody>
                    <a:bodyPr/>
                    <a:lstStyle/>
                    <a:p>
                      <a:pPr algn="ctr"/>
                      <a:r>
                        <a:rPr lang="en-IN" sz="1200" dirty="0" smtClean="0"/>
                        <a:t>394</a:t>
                      </a:r>
                      <a:endParaRPr lang="en-IN" sz="1200" dirty="0"/>
                    </a:p>
                  </a:txBody>
                  <a:tcPr/>
                </a:tc>
              </a:tr>
            </a:tbl>
          </a:graphicData>
        </a:graphic>
      </p:graphicFrame>
      <p:graphicFrame>
        <p:nvGraphicFramePr>
          <p:cNvPr id="46" name="Table 45"/>
          <p:cNvGraphicFramePr>
            <a:graphicFrameLocks noGrp="1"/>
          </p:cNvGraphicFramePr>
          <p:nvPr>
            <p:extLst>
              <p:ext uri="{D42A27DB-BD31-4B8C-83A1-F6EECF244321}">
                <p14:modId xmlns:p14="http://schemas.microsoft.com/office/powerpoint/2010/main" val="455206854"/>
              </p:ext>
            </p:extLst>
          </p:nvPr>
        </p:nvGraphicFramePr>
        <p:xfrm>
          <a:off x="2636654" y="1646384"/>
          <a:ext cx="910978" cy="548640"/>
        </p:xfrm>
        <a:graphic>
          <a:graphicData uri="http://schemas.openxmlformats.org/drawingml/2006/table">
            <a:tbl>
              <a:tblPr firstRow="1" bandRow="1">
                <a:tableStyleId>{5C22544A-7EE6-4342-B048-85BDC9FD1C3A}</a:tableStyleId>
              </a:tblPr>
              <a:tblGrid>
                <a:gridCol w="910978"/>
              </a:tblGrid>
              <a:tr h="202400">
                <a:tc>
                  <a:txBody>
                    <a:bodyPr/>
                    <a:lstStyle/>
                    <a:p>
                      <a:pPr algn="ctr"/>
                      <a:r>
                        <a:rPr lang="en-IN" sz="1200" dirty="0" smtClean="0"/>
                        <a:t>240</a:t>
                      </a:r>
                      <a:endParaRPr lang="en-IN" sz="1200" dirty="0"/>
                    </a:p>
                  </a:txBody>
                  <a:tcPr/>
                </a:tc>
              </a:tr>
              <a:tr h="205212">
                <a:tc>
                  <a:txBody>
                    <a:bodyPr/>
                    <a:lstStyle/>
                    <a:p>
                      <a:pPr algn="ctr"/>
                      <a:r>
                        <a:rPr lang="en-IN" sz="1200" dirty="0" smtClean="0"/>
                        <a:t>246</a:t>
                      </a:r>
                      <a:endParaRPr lang="en-IN" sz="1200" dirty="0"/>
                    </a:p>
                  </a:txBody>
                  <a:tcPr/>
                </a:tc>
              </a:tr>
            </a:tbl>
          </a:graphicData>
        </a:graphic>
      </p:graphicFrame>
      <p:graphicFrame>
        <p:nvGraphicFramePr>
          <p:cNvPr id="47" name="Table 46"/>
          <p:cNvGraphicFramePr>
            <a:graphicFrameLocks noGrp="1"/>
          </p:cNvGraphicFramePr>
          <p:nvPr>
            <p:extLst>
              <p:ext uri="{D42A27DB-BD31-4B8C-83A1-F6EECF244321}">
                <p14:modId xmlns:p14="http://schemas.microsoft.com/office/powerpoint/2010/main" val="3674991119"/>
              </p:ext>
            </p:extLst>
          </p:nvPr>
        </p:nvGraphicFramePr>
        <p:xfrm>
          <a:off x="889337" y="1641826"/>
          <a:ext cx="910978" cy="548640"/>
        </p:xfrm>
        <a:graphic>
          <a:graphicData uri="http://schemas.openxmlformats.org/drawingml/2006/table">
            <a:tbl>
              <a:tblPr firstRow="1" bandRow="1">
                <a:tableStyleId>{5C22544A-7EE6-4342-B048-85BDC9FD1C3A}</a:tableStyleId>
              </a:tblPr>
              <a:tblGrid>
                <a:gridCol w="910978"/>
              </a:tblGrid>
              <a:tr h="202400">
                <a:tc>
                  <a:txBody>
                    <a:bodyPr/>
                    <a:lstStyle/>
                    <a:p>
                      <a:pPr algn="ctr"/>
                      <a:r>
                        <a:rPr lang="en-IN" sz="1200" dirty="0" smtClean="0"/>
                        <a:t>124</a:t>
                      </a:r>
                    </a:p>
                  </a:txBody>
                  <a:tcPr/>
                </a:tc>
              </a:tr>
              <a:tr h="205212">
                <a:tc>
                  <a:txBody>
                    <a:bodyPr/>
                    <a:lstStyle/>
                    <a:p>
                      <a:pPr algn="ctr"/>
                      <a:r>
                        <a:rPr lang="en-IN" sz="1200" dirty="0" smtClean="0"/>
                        <a:t>136</a:t>
                      </a:r>
                      <a:endParaRPr lang="en-IN" sz="1200" dirty="0"/>
                    </a:p>
                  </a:txBody>
                  <a:tcPr/>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502471904"/>
              </p:ext>
            </p:extLst>
          </p:nvPr>
        </p:nvGraphicFramePr>
        <p:xfrm>
          <a:off x="860374" y="2456654"/>
          <a:ext cx="1752682" cy="426720"/>
        </p:xfrm>
        <a:graphic>
          <a:graphicData uri="http://schemas.openxmlformats.org/drawingml/2006/table">
            <a:tbl>
              <a:tblPr firstRow="1" bandRow="1">
                <a:tableStyleId>{5C22544A-7EE6-4342-B048-85BDC9FD1C3A}</a:tableStyleId>
              </a:tblPr>
              <a:tblGrid>
                <a:gridCol w="1752682"/>
              </a:tblGrid>
              <a:tr h="194002">
                <a:tc>
                  <a:txBody>
                    <a:bodyPr/>
                    <a:lstStyle/>
                    <a:p>
                      <a:r>
                        <a:rPr lang="en-IN" sz="800" dirty="0" smtClean="0"/>
                        <a:t>Average Sales per district (in tonnes)</a:t>
                      </a:r>
                      <a:endParaRPr lang="en-IN" sz="800" dirty="0"/>
                    </a:p>
                  </a:txBody>
                  <a:tcPr/>
                </a:tc>
              </a:tr>
              <a:tr h="194002">
                <a:tc>
                  <a:txBody>
                    <a:bodyPr/>
                    <a:lstStyle/>
                    <a:p>
                      <a:r>
                        <a:rPr lang="en-IN" sz="800" dirty="0" smtClean="0"/>
                        <a:t>Composite Score per district</a:t>
                      </a:r>
                      <a:endParaRPr lang="en-IN" sz="800" dirty="0"/>
                    </a:p>
                  </a:txBody>
                  <a:tcPr/>
                </a:tc>
              </a:tr>
            </a:tbl>
          </a:graphicData>
        </a:graphic>
      </p:graphicFrame>
      <p:sp>
        <p:nvSpPr>
          <p:cNvPr id="48" name="Rectangular Callout 47"/>
          <p:cNvSpPr/>
          <p:nvPr/>
        </p:nvSpPr>
        <p:spPr>
          <a:xfrm>
            <a:off x="4331586" y="2529159"/>
            <a:ext cx="1305037" cy="766068"/>
          </a:xfrm>
          <a:prstGeom prst="wedgeRectCallout">
            <a:avLst>
              <a:gd name="adj1" fmla="val -77475"/>
              <a:gd name="adj2" fmla="val -65933"/>
            </a:avLst>
          </a:prstGeom>
          <a:solidFill>
            <a:schemeClr val="accent6">
              <a:lumMod val="20000"/>
              <a:lumOff val="80000"/>
            </a:schemeClr>
          </a:solidFill>
          <a:ln>
            <a:solidFill>
              <a:schemeClr val="bg1"/>
            </a:solidFill>
          </a:ln>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0" anchor="ctr"/>
          <a:lstStyle/>
          <a:p>
            <a:pPr algn="ctr"/>
            <a:r>
              <a:rPr lang="en-IN" sz="1000" dirty="0" smtClean="0">
                <a:solidFill>
                  <a:schemeClr val="tx1"/>
                </a:solidFill>
              </a:rPr>
              <a:t>The Composite score rank orders the sales at a segment level</a:t>
            </a:r>
            <a:endParaRPr lang="en-IN" sz="1000" b="1" dirty="0">
              <a:solidFill>
                <a:schemeClr val="tx1"/>
              </a:solidFill>
            </a:endParaRPr>
          </a:p>
        </p:txBody>
      </p:sp>
      <p:sp>
        <p:nvSpPr>
          <p:cNvPr id="5" name="Footer Placeholder 4"/>
          <p:cNvSpPr>
            <a:spLocks noGrp="1"/>
          </p:cNvSpPr>
          <p:nvPr>
            <p:ph type="ftr" sz="quarter" idx="11"/>
          </p:nvPr>
        </p:nvSpPr>
        <p:spPr/>
        <p:txBody>
          <a:bodyPr/>
          <a:lstStyle/>
          <a:p>
            <a:r>
              <a:rPr lang="en-IN" smtClean="0"/>
              <a:t>Version 1                                                                                            Confidential</a:t>
            </a:r>
            <a:endParaRPr lang="en-IN" dirty="0"/>
          </a:p>
        </p:txBody>
      </p:sp>
      <p:sp>
        <p:nvSpPr>
          <p:cNvPr id="30" name="Rectangle 29"/>
          <p:cNvSpPr/>
          <p:nvPr/>
        </p:nvSpPr>
        <p:spPr>
          <a:xfrm>
            <a:off x="7947374" y="5901644"/>
            <a:ext cx="3832250" cy="584775"/>
          </a:xfrm>
          <a:prstGeom prst="rect">
            <a:avLst/>
          </a:prstGeom>
        </p:spPr>
        <p:txBody>
          <a:bodyPr wrap="square">
            <a:spAutoFit/>
          </a:bodyPr>
          <a:lstStyle/>
          <a:p>
            <a:r>
              <a:rPr lang="en-IN" sz="800" b="1" dirty="0"/>
              <a:t>Note</a:t>
            </a:r>
            <a:r>
              <a:rPr lang="en-IN" sz="800" dirty="0"/>
              <a:t>: </a:t>
            </a:r>
            <a:r>
              <a:rPr lang="en-IN" sz="800" dirty="0" smtClean="0"/>
              <a:t>12</a:t>
            </a:r>
            <a:r>
              <a:rPr lang="en-IN" sz="800" dirty="0"/>
              <a:t>% of the Sales data could not be mapped to any State and </a:t>
            </a:r>
            <a:r>
              <a:rPr lang="en-IN" sz="800" dirty="0" smtClean="0"/>
              <a:t>District</a:t>
            </a:r>
          </a:p>
          <a:p>
            <a:r>
              <a:rPr lang="en-IN" sz="800" dirty="0"/>
              <a:t>Score developed and applied only on those districts where sales was non </a:t>
            </a:r>
            <a:r>
              <a:rPr lang="en-IN" sz="800" dirty="0" smtClean="0"/>
              <a:t>zero</a:t>
            </a:r>
          </a:p>
          <a:p>
            <a:r>
              <a:rPr lang="en-IN" sz="800" dirty="0" smtClean="0"/>
              <a:t>Sales per sq. KM has also been calculated only for districts where sales is non zero</a:t>
            </a:r>
            <a:endParaRPr lang="en-IN" sz="800" dirty="0"/>
          </a:p>
          <a:p>
            <a:endParaRPr lang="en-IN" sz="800" dirty="0"/>
          </a:p>
        </p:txBody>
      </p:sp>
      <p:sp>
        <p:nvSpPr>
          <p:cNvPr id="8" name="Slide Number Placeholder 7"/>
          <p:cNvSpPr>
            <a:spLocks noGrp="1"/>
          </p:cNvSpPr>
          <p:nvPr>
            <p:ph type="sldNum" sz="quarter" idx="12"/>
          </p:nvPr>
        </p:nvSpPr>
        <p:spPr/>
        <p:txBody>
          <a:bodyPr/>
          <a:lstStyle/>
          <a:p>
            <a:fld id="{3040F425-731D-4835-A38A-9545B9CAE996}" type="slidenum">
              <a:rPr lang="en-IN" smtClean="0"/>
              <a:t>23</a:t>
            </a:fld>
            <a:endParaRPr lang="en-IN" dirty="0"/>
          </a:p>
        </p:txBody>
      </p:sp>
    </p:spTree>
    <p:extLst>
      <p:ext uri="{BB962C8B-B14F-4D97-AF65-F5344CB8AC3E}">
        <p14:creationId xmlns:p14="http://schemas.microsoft.com/office/powerpoint/2010/main" val="317185980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chemeClr val="tx1">
                  <a:lumMod val="50000"/>
                  <a:lumOff val="50000"/>
                </a:scheme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237066"/>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2980972" y="291779"/>
              <a:ext cx="6230167"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Holt-Winters Forecasting Technique</a:t>
              </a:r>
            </a:p>
          </p:txBody>
        </p:sp>
      </p:grpSp>
      <p:sp>
        <p:nvSpPr>
          <p:cNvPr id="8" name="TextBox 7"/>
          <p:cNvSpPr txBox="1"/>
          <p:nvPr/>
        </p:nvSpPr>
        <p:spPr>
          <a:xfrm>
            <a:off x="283335" y="725875"/>
            <a:ext cx="6027313" cy="2636286"/>
          </a:xfrm>
          <a:prstGeom prst="rect">
            <a:avLst/>
          </a:prstGeom>
          <a:noFill/>
        </p:spPr>
        <p:txBody>
          <a:bodyPr wrap="square" rtlCol="0">
            <a:spAutoFit/>
          </a:bodyPr>
          <a:lstStyle/>
          <a:p>
            <a:pPr lvl="1"/>
            <a:r>
              <a:rPr lang="en-IN" dirty="0"/>
              <a:t>Holt (1957) and Winters (1960) extended Holt’s method to capture seasonality. The Holt-Winters seasonal method comprises the forecast equation and three smoothing equations — one for the level L</a:t>
            </a:r>
            <a:r>
              <a:rPr lang="en-IN" baseline="-25000" dirty="0" smtClean="0"/>
              <a:t>t</a:t>
            </a:r>
            <a:r>
              <a:rPr lang="en-IN" dirty="0" smtClean="0"/>
              <a:t>, </a:t>
            </a:r>
            <a:r>
              <a:rPr lang="en-IN" dirty="0"/>
              <a:t>one for trend T</a:t>
            </a:r>
            <a:r>
              <a:rPr lang="en-IN" baseline="-25000" dirty="0" smtClean="0"/>
              <a:t>t</a:t>
            </a:r>
            <a:r>
              <a:rPr lang="en-IN" dirty="0" smtClean="0"/>
              <a:t>, </a:t>
            </a:r>
            <a:r>
              <a:rPr lang="en-IN" dirty="0"/>
              <a:t>and one for the seasonal component denoted by S</a:t>
            </a:r>
            <a:r>
              <a:rPr lang="en-IN" baseline="-25000" dirty="0" smtClean="0"/>
              <a:t>t</a:t>
            </a:r>
            <a:r>
              <a:rPr lang="en-IN" dirty="0" smtClean="0"/>
              <a:t>, </a:t>
            </a:r>
            <a:r>
              <a:rPr lang="en-IN" dirty="0"/>
              <a:t>with smoothing parameters </a:t>
            </a:r>
            <a:r>
              <a:rPr lang="en-IN" dirty="0" smtClean="0"/>
              <a:t>α, β and γ. </a:t>
            </a:r>
            <a:r>
              <a:rPr lang="en-IN" dirty="0"/>
              <a:t>We use s</a:t>
            </a:r>
            <a:r>
              <a:rPr lang="en-IN" dirty="0" smtClean="0"/>
              <a:t> </a:t>
            </a:r>
            <a:r>
              <a:rPr lang="en-IN" dirty="0"/>
              <a:t>to denote the period of the seasonality, i.e., the number of seasons in a year. For example, for quarterly data s</a:t>
            </a:r>
            <a:r>
              <a:rPr lang="en-IN" dirty="0" smtClean="0"/>
              <a:t>=4</a:t>
            </a:r>
            <a:r>
              <a:rPr lang="en-IN" dirty="0"/>
              <a:t>, and for monthly data s</a:t>
            </a:r>
            <a:r>
              <a:rPr lang="en-IN" dirty="0" smtClean="0"/>
              <a:t>=12</a:t>
            </a:r>
          </a:p>
        </p:txBody>
      </p:sp>
      <p:sp>
        <p:nvSpPr>
          <p:cNvPr id="2" name="Footer Placeholder 1"/>
          <p:cNvSpPr>
            <a:spLocks noGrp="1"/>
          </p:cNvSpPr>
          <p:nvPr>
            <p:ph type="ftr" sz="quarter" idx="11"/>
          </p:nvPr>
        </p:nvSpPr>
        <p:spPr/>
        <p:txBody>
          <a:bodyPr/>
          <a:lstStyle/>
          <a:p>
            <a:r>
              <a:rPr lang="en-IN" smtClean="0"/>
              <a:t>Version 1                                                                                            Confidential</a:t>
            </a:r>
            <a:endParaRPr lang="en-IN" dirty="0"/>
          </a:p>
        </p:txBody>
      </p:sp>
      <p:pic>
        <p:nvPicPr>
          <p:cNvPr id="3" name="Picture 2"/>
          <p:cNvPicPr>
            <a:picLocks noChangeAspect="1"/>
          </p:cNvPicPr>
          <p:nvPr/>
        </p:nvPicPr>
        <p:blipFill rotWithShape="1">
          <a:blip r:embed="rId3"/>
          <a:srcRect l="774"/>
          <a:stretch/>
        </p:blipFill>
        <p:spPr>
          <a:xfrm>
            <a:off x="888642" y="3204943"/>
            <a:ext cx="5035640" cy="3066710"/>
          </a:xfrm>
          <a:prstGeom prst="rect">
            <a:avLst/>
          </a:prstGeom>
        </p:spPr>
      </p:pic>
      <p:pic>
        <p:nvPicPr>
          <p:cNvPr id="5" name="Picture 4"/>
          <p:cNvPicPr>
            <a:picLocks noChangeAspect="1"/>
          </p:cNvPicPr>
          <p:nvPr/>
        </p:nvPicPr>
        <p:blipFill>
          <a:blip r:embed="rId4"/>
          <a:stretch>
            <a:fillRect/>
          </a:stretch>
        </p:blipFill>
        <p:spPr>
          <a:xfrm>
            <a:off x="7199289" y="3210615"/>
            <a:ext cx="4768135" cy="3045543"/>
          </a:xfrm>
          <a:prstGeom prst="rect">
            <a:avLst/>
          </a:prstGeom>
        </p:spPr>
      </p:pic>
      <p:pic>
        <p:nvPicPr>
          <p:cNvPr id="13" name="Picture 12"/>
          <p:cNvPicPr>
            <a:picLocks noChangeAspect="1"/>
          </p:cNvPicPr>
          <p:nvPr/>
        </p:nvPicPr>
        <p:blipFill rotWithShape="1">
          <a:blip r:embed="rId5"/>
          <a:srcRect l="62106"/>
          <a:stretch/>
        </p:blipFill>
        <p:spPr>
          <a:xfrm>
            <a:off x="7460310" y="914863"/>
            <a:ext cx="3715258" cy="1414633"/>
          </a:xfrm>
          <a:prstGeom prst="rect">
            <a:avLst/>
          </a:prstGeom>
        </p:spPr>
      </p:pic>
      <p:pic>
        <p:nvPicPr>
          <p:cNvPr id="14" name="Picture 13"/>
          <p:cNvPicPr>
            <a:picLocks noChangeAspect="1"/>
          </p:cNvPicPr>
          <p:nvPr/>
        </p:nvPicPr>
        <p:blipFill rotWithShape="1">
          <a:blip r:embed="rId5"/>
          <a:srcRect t="28243" r="44848" b="30251"/>
          <a:stretch/>
        </p:blipFill>
        <p:spPr>
          <a:xfrm>
            <a:off x="7498797" y="2656793"/>
            <a:ext cx="3676771" cy="399245"/>
          </a:xfrm>
          <a:prstGeom prst="rect">
            <a:avLst/>
          </a:prstGeom>
        </p:spPr>
      </p:pic>
      <p:sp>
        <p:nvSpPr>
          <p:cNvPr id="7" name="Slide Number Placeholder 6"/>
          <p:cNvSpPr>
            <a:spLocks noGrp="1"/>
          </p:cNvSpPr>
          <p:nvPr>
            <p:ph type="sldNum" sz="quarter" idx="12"/>
          </p:nvPr>
        </p:nvSpPr>
        <p:spPr/>
        <p:txBody>
          <a:bodyPr/>
          <a:lstStyle/>
          <a:p>
            <a:fld id="{3040F425-731D-4835-A38A-9545B9CAE996}" type="slidenum">
              <a:rPr lang="en-IN" smtClean="0"/>
              <a:t>24</a:t>
            </a:fld>
            <a:endParaRPr lang="en-IN" dirty="0"/>
          </a:p>
        </p:txBody>
      </p:sp>
    </p:spTree>
    <p:extLst>
      <p:ext uri="{BB962C8B-B14F-4D97-AF65-F5344CB8AC3E}">
        <p14:creationId xmlns:p14="http://schemas.microsoft.com/office/powerpoint/2010/main" val="12587746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20000"/>
            <a:lumOff val="80000"/>
          </a:schemeClr>
        </a:solidFill>
        <a:ln>
          <a:solidFill>
            <a:schemeClr val="bg1"/>
          </a:solidFill>
        </a:ln>
      </a:spPr>
      <a:bodyPr/>
      <a:lstStyle/>
      <a: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2555</TotalTime>
  <Words>2660</Words>
  <Application>Microsoft Office PowerPoint</Application>
  <PresentationFormat>Widescreen</PresentationFormat>
  <Paragraphs>505</Paragraphs>
  <Slides>24</Slides>
  <Notes>4</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24</vt:i4>
      </vt:variant>
    </vt:vector>
  </HeadingPairs>
  <TitlesOfParts>
    <vt:vector size="32" baseType="lpstr">
      <vt:lpstr>Arial</vt:lpstr>
      <vt:lpstr>Calibri</vt:lpstr>
      <vt:lpstr>Calibri Light</vt:lpstr>
      <vt:lpstr>Century Gothic</vt:lpstr>
      <vt:lpstr>Leelawadee UI</vt:lpstr>
      <vt:lpstr>Wingdings</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Hindol Basu</cp:lastModifiedBy>
  <cp:revision>276</cp:revision>
  <dcterms:created xsi:type="dcterms:W3CDTF">2016-01-28T03:55:22Z</dcterms:created>
  <dcterms:modified xsi:type="dcterms:W3CDTF">2016-12-19T04:46:25Z</dcterms:modified>
</cp:coreProperties>
</file>